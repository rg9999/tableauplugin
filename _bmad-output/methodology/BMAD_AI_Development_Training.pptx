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7.xml"/><Relationship Id="rId4" Type="http://schemas.openxmlformats.org/officeDocument/2006/relationships/slide" Target="slide7.xml"/><Relationship Id="rId5" Type="http://schemas.openxmlformats.org/officeDocument/2006/relationships/slide" Target="slide10.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19.xml"/><Relationship Id="rId9" Type="http://schemas.openxmlformats.org/officeDocument/2006/relationships/slide" Target="slide48.xml"/><Relationship Id="rId10" Type="http://schemas.openxmlformats.org/officeDocument/2006/relationships/slide" Target="slide48.xml"/><Relationship Id="rId11" Type="http://schemas.openxmlformats.org/officeDocument/2006/relationships/slide" Target="slide54.xml"/><Relationship Id="rId12" Type="http://schemas.openxmlformats.org/officeDocument/2006/relationships/slide" Target="slide54.xml"/><Relationship Id="rId13" Type="http://schemas.openxmlformats.org/officeDocument/2006/relationships/slide" Target="slide61.xml"/><Relationship Id="rId14" Type="http://schemas.openxmlformats.org/officeDocument/2006/relationships/slide" Target="slide61.xml"/><Relationship Id="rId15" Type="http://schemas.openxmlformats.org/officeDocument/2006/relationships/slide" Target="slide65.xml"/><Relationship Id="rId16" Type="http://schemas.openxmlformats.org/officeDocument/2006/relationships/slide" Target="slide65.xml"/><Relationship Id="rId17" Type="http://schemas.openxmlformats.org/officeDocument/2006/relationships/slide" Target="slide77.xml"/><Relationship Id="rId18" Type="http://schemas.openxmlformats.org/officeDocument/2006/relationships/slide" Target="slide77.xml"/><Relationship Id="rId19" Type="http://schemas.openxmlformats.org/officeDocument/2006/relationships/slide" Target="slide84.xml"/><Relationship Id="rId20" Type="http://schemas.openxmlformats.org/officeDocument/2006/relationships/slide" Target="slide84.xml"/><Relationship Id="rId21" Type="http://schemas.openxmlformats.org/officeDocument/2006/relationships/slideLayout" Target="../slideLayouts/slideLayout1.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slideLayout" Target="../slideLayouts/slideLayout1.xml"/><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slideLayout" Target="../slideLayouts/slideLayout1.xml"/><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image" Target="../media/image-78-6.png"/><Relationship Id="rId7" Type="http://schemas.openxmlformats.org/officeDocument/2006/relationships/image" Target="../media/image-78-7.png"/><Relationship Id="rId8" Type="http://schemas.openxmlformats.org/officeDocument/2006/relationships/slideLayout" Target="../slideLayouts/slideLayout1.xml"/><Relationship Id="rId9"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image" Target="../media/image-91-4.png"/><Relationship Id="rId5" Type="http://schemas.openxmlformats.org/officeDocument/2006/relationships/slideLayout" Target="../slideLayouts/slideLayout1.xml"/><Relationship Id="rId6"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548640" y="1097280"/>
            <a:ext cx="64008" cy="2560320"/>
          </a:xfrm>
          <a:prstGeom prst="rect">
            <a:avLst/>
          </a:prstGeom>
          <a:solidFill>
            <a:srgbClr val="0D9488"/>
          </a:solidFill>
          <a:ln/>
        </p:spPr>
      </p:sp>
      <p:sp>
        <p:nvSpPr>
          <p:cNvPr id="4" name="Text 2"/>
          <p:cNvSpPr/>
          <p:nvPr/>
        </p:nvSpPr>
        <p:spPr>
          <a:xfrm>
            <a:off x="868680" y="1188720"/>
            <a:ext cx="731520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AI-Driven Development</a:t>
            </a:r>
            <a:endParaRPr lang="en-US" sz="4000" dirty="0"/>
          </a:p>
        </p:txBody>
      </p:sp>
      <p:sp>
        <p:nvSpPr>
          <p:cNvPr id="5" name="Text 3"/>
          <p:cNvSpPr/>
          <p:nvPr/>
        </p:nvSpPr>
        <p:spPr>
          <a:xfrm>
            <a:off x="868680" y="1828800"/>
            <a:ext cx="7315200" cy="640080"/>
          </a:xfrm>
          <a:prstGeom prst="rect">
            <a:avLst/>
          </a:prstGeom>
          <a:noFill/>
          <a:ln/>
        </p:spPr>
        <p:txBody>
          <a:bodyPr wrap="square" lIns="0" tIns="0" rIns="0" bIns="0" rtlCol="0" anchor="ctr"/>
          <a:lstStyle/>
          <a:p>
            <a:pPr indent="0" marL="0">
              <a:buNone/>
            </a:pPr>
            <a:r>
              <a:rPr lang="en-US" sz="3600" b="1" dirty="0">
                <a:solidFill>
                  <a:srgbClr val="14B8A6"/>
                </a:solidFill>
                <a:latin typeface="Georgia" pitchFamily="34" charset="0"/>
                <a:ea typeface="Georgia" pitchFamily="34" charset="-122"/>
                <a:cs typeface="Georgia" pitchFamily="34" charset="-120"/>
              </a:rPr>
              <a:t>with BMAD Method</a:t>
            </a:r>
            <a:endParaRPr lang="en-US" sz="3600" dirty="0"/>
          </a:p>
        </p:txBody>
      </p:sp>
      <p:sp>
        <p:nvSpPr>
          <p:cNvPr id="6" name="Text 4"/>
          <p:cNvSpPr/>
          <p:nvPr/>
        </p:nvSpPr>
        <p:spPr>
          <a:xfrm>
            <a:off x="868680" y="2560320"/>
            <a:ext cx="640080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Breakthrough Method of Agile AI-Driven Development</a:t>
            </a:r>
            <a:endParaRPr lang="en-US" sz="1400" dirty="0"/>
          </a:p>
        </p:txBody>
      </p:sp>
      <p:sp>
        <p:nvSpPr>
          <p:cNvPr id="7" name="Shape 5"/>
          <p:cNvSpPr/>
          <p:nvPr/>
        </p:nvSpPr>
        <p:spPr>
          <a:xfrm>
            <a:off x="0" y="4023360"/>
            <a:ext cx="9144000" cy="1120140"/>
          </a:xfrm>
          <a:prstGeom prst="rect">
            <a:avLst/>
          </a:prstGeom>
          <a:solidFill>
            <a:srgbClr val="1A2744"/>
          </a:solidFill>
          <a:ln/>
        </p:spPr>
      </p:sp>
      <p:sp>
        <p:nvSpPr>
          <p:cNvPr id="8" name="Text 6"/>
          <p:cNvSpPr/>
          <p:nvPr/>
        </p:nvSpPr>
        <p:spPr>
          <a:xfrm>
            <a:off x="868680" y="416052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Developer Onboarding &amp; Training Guide</a:t>
            </a:r>
            <a:endParaRPr lang="en-US" sz="1600" dirty="0"/>
          </a:p>
        </p:txBody>
      </p:sp>
      <p:sp>
        <p:nvSpPr>
          <p:cNvPr id="9" name="Text 7"/>
          <p:cNvSpPr/>
          <p:nvPr/>
        </p:nvSpPr>
        <p:spPr>
          <a:xfrm>
            <a:off x="868680" y="4526280"/>
            <a:ext cx="45720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Chief Architect - Software CTO  |  2026</a:t>
            </a:r>
            <a:endParaRPr lang="en-US" sz="1200" dirty="0"/>
          </a:p>
        </p:txBody>
      </p:sp>
      <p:pic>
        <p:nvPicPr>
          <p:cNvPr id="10" name="Image 0" descr="preencoded.png">    </p:cNvPr>
          <p:cNvPicPr>
            <a:picLocks noChangeAspect="1"/>
          </p:cNvPicPr>
          <p:nvPr/>
        </p:nvPicPr>
        <p:blipFill>
          <a:blip r:embed="rId1"/>
          <a:stretch>
            <a:fillRect/>
          </a:stretch>
        </p:blipFill>
        <p:spPr>
          <a:xfrm>
            <a:off x="7132320" y="1371600"/>
            <a:ext cx="548640" cy="548640"/>
          </a:xfrm>
          <a:prstGeom prst="rect">
            <a:avLst/>
          </a:prstGeom>
        </p:spPr>
      </p:pic>
      <p:pic>
        <p:nvPicPr>
          <p:cNvPr id="11" name="Image 1" descr="preencoded.png">    </p:cNvPr>
          <p:cNvPicPr>
            <a:picLocks noChangeAspect="1"/>
          </p:cNvPicPr>
          <p:nvPr/>
        </p:nvPicPr>
        <p:blipFill>
          <a:blip r:embed="rId2"/>
          <a:stretch>
            <a:fillRect/>
          </a:stretch>
        </p:blipFill>
        <p:spPr>
          <a:xfrm>
            <a:off x="7863840" y="1371600"/>
            <a:ext cx="548640" cy="548640"/>
          </a:xfrm>
          <a:prstGeom prst="rect">
            <a:avLst/>
          </a:prstGeom>
        </p:spPr>
      </p:pic>
      <p:pic>
        <p:nvPicPr>
          <p:cNvPr id="12" name="Image 2" descr="preencoded.png">    </p:cNvPr>
          <p:cNvPicPr>
            <a:picLocks noChangeAspect="1"/>
          </p:cNvPicPr>
          <p:nvPr/>
        </p:nvPicPr>
        <p:blipFill>
          <a:blip r:embed="rId3"/>
          <a:stretch>
            <a:fillRect/>
          </a:stretch>
        </p:blipFill>
        <p:spPr>
          <a:xfrm>
            <a:off x="7498080" y="2103120"/>
            <a:ext cx="548640" cy="548640"/>
          </a:xfrm>
          <a:prstGeom prst="rect">
            <a:avLst/>
          </a:prstGeom>
        </p:spPr>
      </p:pic>
      <p:pic>
        <p:nvPicPr>
          <p:cNvPr id="13" name="Image 3" descr="preencoded.png">    </p:cNvPr>
          <p:cNvPicPr>
            <a:picLocks noChangeAspect="1"/>
          </p:cNvPicPr>
          <p:nvPr/>
        </p:nvPicPr>
        <p:blipFill>
          <a:blip r:embed="rId4"/>
          <a:stretch>
            <a:fillRect/>
          </a:stretch>
        </p:blipFill>
        <p:spPr>
          <a:xfrm>
            <a:off x="7132320" y="2834640"/>
            <a:ext cx="548640" cy="548640"/>
          </a:xfrm>
          <a:prstGeom prst="rect">
            <a:avLst/>
          </a:prstGeom>
        </p:spPr>
      </p:pic>
      <p:pic>
        <p:nvPicPr>
          <p:cNvPr id="14" name="Image 4" descr="preencoded.png">    </p:cNvPr>
          <p:cNvPicPr>
            <a:picLocks noChangeAspect="1"/>
          </p:cNvPicPr>
          <p:nvPr/>
        </p:nvPicPr>
        <p:blipFill>
          <a:blip r:embed="rId5"/>
          <a:stretch>
            <a:fillRect/>
          </a:stretch>
        </p:blipFill>
        <p:spPr>
          <a:xfrm>
            <a:off x="7863840" y="283464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Agenda</a:t>
            </a:r>
            <a:endParaRPr lang="en-US" sz="2800" dirty="0"/>
          </a:p>
        </p:txBody>
      </p:sp>
      <p:sp>
        <p:nvSpPr>
          <p:cNvPr id="4" name="Shape 2"/>
          <p:cNvSpPr/>
          <p:nvPr/>
        </p:nvSpPr>
        <p:spPr>
          <a:xfrm>
            <a:off x="457200" y="960120"/>
            <a:ext cx="54864" cy="320040"/>
          </a:xfrm>
          <a:prstGeom prst="rect">
            <a:avLst/>
          </a:prstGeom>
          <a:solidFill>
            <a:srgbClr val="0D9488"/>
          </a:solidFill>
          <a:ln/>
        </p:spPr>
      </p:sp>
      <p:sp>
        <p:nvSpPr>
          <p:cNvPr id="5" name="Shape 3"/>
          <p:cNvSpPr/>
          <p:nvPr/>
        </p:nvSpPr>
        <p:spPr>
          <a:xfrm>
            <a:off x="603504" y="960120"/>
            <a:ext cx="347472" cy="329184"/>
          </a:xfrm>
          <a:prstGeom prst="ellipse">
            <a:avLst/>
          </a:prstGeom>
          <a:solidFill>
            <a:srgbClr val="0D9488"/>
          </a:solidFill>
          <a:ln/>
        </p:spPr>
      </p:sp>
      <p:sp>
        <p:nvSpPr>
          <p:cNvPr id="6" name="Text 4"/>
          <p:cNvSpPr/>
          <p:nvPr/>
        </p:nvSpPr>
        <p:spPr>
          <a:xfrm>
            <a:off x="603504" y="96012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a:hlinkClick r:id="rId1" tooltip="" action="ppaction://hlinksldjump"/>
          </p:cNvPr>
          <p:cNvSpPr/>
          <p:nvPr/>
        </p:nvSpPr>
        <p:spPr>
          <a:xfrm>
            <a:off x="1097280" y="960120"/>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The AI Revolution &amp; Context</a:t>
            </a:r>
            <a:endParaRPr lang="en-US" sz="1400" dirty="0"/>
          </a:p>
        </p:txBody>
      </p:sp>
      <p:sp>
        <p:nvSpPr>
          <p:cNvPr id="8" name="Text 6">
            <a:hlinkClick r:id="rId2" tooltip="" action="ppaction://hlinksldjump"/>
          </p:cNvPr>
          <p:cNvSpPr/>
          <p:nvPr/>
        </p:nvSpPr>
        <p:spPr>
          <a:xfrm>
            <a:off x="7772400" y="960120"/>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3</a:t>
            </a:r>
            <a:endParaRPr lang="en-US" sz="1200" dirty="0"/>
          </a:p>
        </p:txBody>
      </p:sp>
      <p:sp>
        <p:nvSpPr>
          <p:cNvPr id="9" name="Shape 7"/>
          <p:cNvSpPr/>
          <p:nvPr/>
        </p:nvSpPr>
        <p:spPr>
          <a:xfrm>
            <a:off x="457200" y="1298448"/>
            <a:ext cx="8229600" cy="4572"/>
          </a:xfrm>
          <a:prstGeom prst="rect">
            <a:avLst/>
          </a:prstGeom>
          <a:solidFill>
            <a:srgbClr val="334155"/>
          </a:solidFill>
          <a:ln/>
        </p:spPr>
      </p:sp>
      <p:sp>
        <p:nvSpPr>
          <p:cNvPr id="10" name="Shape 8"/>
          <p:cNvSpPr/>
          <p:nvPr/>
        </p:nvSpPr>
        <p:spPr>
          <a:xfrm>
            <a:off x="457200" y="1344168"/>
            <a:ext cx="54864" cy="320040"/>
          </a:xfrm>
          <a:prstGeom prst="rect">
            <a:avLst/>
          </a:prstGeom>
          <a:solidFill>
            <a:srgbClr val="0D9488"/>
          </a:solidFill>
          <a:ln/>
        </p:spPr>
      </p:sp>
      <p:sp>
        <p:nvSpPr>
          <p:cNvPr id="11" name="Shape 9"/>
          <p:cNvSpPr/>
          <p:nvPr/>
        </p:nvSpPr>
        <p:spPr>
          <a:xfrm>
            <a:off x="603504" y="1344168"/>
            <a:ext cx="347472" cy="329184"/>
          </a:xfrm>
          <a:prstGeom prst="ellipse">
            <a:avLst/>
          </a:prstGeom>
          <a:solidFill>
            <a:srgbClr val="0D9488"/>
          </a:solidFill>
          <a:ln/>
        </p:spPr>
      </p:sp>
      <p:sp>
        <p:nvSpPr>
          <p:cNvPr id="12" name="Text 10"/>
          <p:cNvSpPr/>
          <p:nvPr/>
        </p:nvSpPr>
        <p:spPr>
          <a:xfrm>
            <a:off x="603504" y="1344168"/>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a:hlinkClick r:id="rId3" tooltip="" action="ppaction://hlinksldjump"/>
          </p:cNvPr>
          <p:cNvSpPr/>
          <p:nvPr/>
        </p:nvSpPr>
        <p:spPr>
          <a:xfrm>
            <a:off x="1097280" y="1344168"/>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What is BMAD-METHOD?</a:t>
            </a:r>
            <a:endParaRPr lang="en-US" sz="1400" dirty="0"/>
          </a:p>
        </p:txBody>
      </p:sp>
      <p:sp>
        <p:nvSpPr>
          <p:cNvPr id="14" name="Text 12">
            <a:hlinkClick r:id="rId4" tooltip="" action="ppaction://hlinksldjump"/>
          </p:cNvPr>
          <p:cNvSpPr/>
          <p:nvPr/>
        </p:nvSpPr>
        <p:spPr>
          <a:xfrm>
            <a:off x="7772400" y="1344168"/>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7</a:t>
            </a:r>
            <a:endParaRPr lang="en-US" sz="1200" dirty="0"/>
          </a:p>
        </p:txBody>
      </p:sp>
      <p:sp>
        <p:nvSpPr>
          <p:cNvPr id="15" name="Shape 13"/>
          <p:cNvSpPr/>
          <p:nvPr/>
        </p:nvSpPr>
        <p:spPr>
          <a:xfrm>
            <a:off x="457200" y="1682496"/>
            <a:ext cx="8229600" cy="4572"/>
          </a:xfrm>
          <a:prstGeom prst="rect">
            <a:avLst/>
          </a:prstGeom>
          <a:solidFill>
            <a:srgbClr val="334155"/>
          </a:solidFill>
          <a:ln/>
        </p:spPr>
      </p:sp>
      <p:sp>
        <p:nvSpPr>
          <p:cNvPr id="16" name="Shape 14"/>
          <p:cNvSpPr/>
          <p:nvPr/>
        </p:nvSpPr>
        <p:spPr>
          <a:xfrm>
            <a:off x="457200" y="1728216"/>
            <a:ext cx="54864" cy="320040"/>
          </a:xfrm>
          <a:prstGeom prst="rect">
            <a:avLst/>
          </a:prstGeom>
          <a:solidFill>
            <a:srgbClr val="0D9488"/>
          </a:solidFill>
          <a:ln/>
        </p:spPr>
      </p:sp>
      <p:sp>
        <p:nvSpPr>
          <p:cNvPr id="17" name="Shape 15"/>
          <p:cNvSpPr/>
          <p:nvPr/>
        </p:nvSpPr>
        <p:spPr>
          <a:xfrm>
            <a:off x="603504" y="1728216"/>
            <a:ext cx="347472" cy="329184"/>
          </a:xfrm>
          <a:prstGeom prst="ellipse">
            <a:avLst/>
          </a:prstGeom>
          <a:solidFill>
            <a:srgbClr val="0D9488"/>
          </a:solidFill>
          <a:ln/>
        </p:spPr>
      </p:sp>
      <p:sp>
        <p:nvSpPr>
          <p:cNvPr id="18" name="Text 16"/>
          <p:cNvSpPr/>
          <p:nvPr/>
        </p:nvSpPr>
        <p:spPr>
          <a:xfrm>
            <a:off x="603504" y="1728216"/>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a:hlinkClick r:id="rId5" tooltip="" action="ppaction://hlinksldjump"/>
          </p:cNvPr>
          <p:cNvSpPr/>
          <p:nvPr/>
        </p:nvSpPr>
        <p:spPr>
          <a:xfrm>
            <a:off x="1097280" y="1728216"/>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MIL-STD-498 &amp; BMAD Compliance</a:t>
            </a:r>
            <a:endParaRPr lang="en-US" sz="1400" dirty="0"/>
          </a:p>
        </p:txBody>
      </p:sp>
      <p:sp>
        <p:nvSpPr>
          <p:cNvPr id="20" name="Text 18">
            <a:hlinkClick r:id="rId6" tooltip="" action="ppaction://hlinksldjump"/>
          </p:cNvPr>
          <p:cNvSpPr/>
          <p:nvPr/>
        </p:nvSpPr>
        <p:spPr>
          <a:xfrm>
            <a:off x="7772400" y="1728216"/>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10</a:t>
            </a:r>
            <a:endParaRPr lang="en-US" sz="1200" dirty="0"/>
          </a:p>
        </p:txBody>
      </p:sp>
      <p:sp>
        <p:nvSpPr>
          <p:cNvPr id="21" name="Shape 19"/>
          <p:cNvSpPr/>
          <p:nvPr/>
        </p:nvSpPr>
        <p:spPr>
          <a:xfrm>
            <a:off x="457200" y="2066544"/>
            <a:ext cx="8229600" cy="4572"/>
          </a:xfrm>
          <a:prstGeom prst="rect">
            <a:avLst/>
          </a:prstGeom>
          <a:solidFill>
            <a:srgbClr val="334155"/>
          </a:solidFill>
          <a:ln/>
        </p:spPr>
      </p:sp>
      <p:sp>
        <p:nvSpPr>
          <p:cNvPr id="22" name="Shape 20"/>
          <p:cNvSpPr/>
          <p:nvPr/>
        </p:nvSpPr>
        <p:spPr>
          <a:xfrm>
            <a:off x="457200" y="2112264"/>
            <a:ext cx="54864" cy="320040"/>
          </a:xfrm>
          <a:prstGeom prst="rect">
            <a:avLst/>
          </a:prstGeom>
          <a:solidFill>
            <a:srgbClr val="F59E0B"/>
          </a:solidFill>
          <a:ln/>
        </p:spPr>
      </p:sp>
      <p:sp>
        <p:nvSpPr>
          <p:cNvPr id="23" name="Shape 21"/>
          <p:cNvSpPr/>
          <p:nvPr/>
        </p:nvSpPr>
        <p:spPr>
          <a:xfrm>
            <a:off x="603504" y="2112264"/>
            <a:ext cx="347472" cy="329184"/>
          </a:xfrm>
          <a:prstGeom prst="ellipse">
            <a:avLst/>
          </a:prstGeom>
          <a:solidFill>
            <a:srgbClr val="F59E0B"/>
          </a:solidFill>
          <a:ln/>
        </p:spPr>
      </p:sp>
      <p:sp>
        <p:nvSpPr>
          <p:cNvPr id="24" name="Text 22"/>
          <p:cNvSpPr/>
          <p:nvPr/>
        </p:nvSpPr>
        <p:spPr>
          <a:xfrm>
            <a:off x="603504" y="2112264"/>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a:hlinkClick r:id="rId7" tooltip="" action="ppaction://hlinksldjump"/>
          </p:cNvPr>
          <p:cNvSpPr/>
          <p:nvPr/>
        </p:nvSpPr>
        <p:spPr>
          <a:xfrm>
            <a:off x="1097280" y="2112264"/>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Full Planning Path (New Projects)</a:t>
            </a:r>
            <a:endParaRPr lang="en-US" sz="1400" dirty="0"/>
          </a:p>
        </p:txBody>
      </p:sp>
      <p:sp>
        <p:nvSpPr>
          <p:cNvPr id="26" name="Text 24">
            <a:hlinkClick r:id="rId8" tooltip="" action="ppaction://hlinksldjump"/>
          </p:cNvPr>
          <p:cNvSpPr/>
          <p:nvPr/>
        </p:nvSpPr>
        <p:spPr>
          <a:xfrm>
            <a:off x="7772400" y="2112264"/>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19</a:t>
            </a:r>
            <a:endParaRPr lang="en-US" sz="1200" dirty="0"/>
          </a:p>
        </p:txBody>
      </p:sp>
      <p:sp>
        <p:nvSpPr>
          <p:cNvPr id="27" name="Shape 25"/>
          <p:cNvSpPr/>
          <p:nvPr/>
        </p:nvSpPr>
        <p:spPr>
          <a:xfrm>
            <a:off x="457200" y="2450592"/>
            <a:ext cx="8229600" cy="4572"/>
          </a:xfrm>
          <a:prstGeom prst="rect">
            <a:avLst/>
          </a:prstGeom>
          <a:solidFill>
            <a:srgbClr val="334155"/>
          </a:solidFill>
          <a:ln/>
        </p:spPr>
      </p:sp>
      <p:sp>
        <p:nvSpPr>
          <p:cNvPr id="28" name="Shape 26"/>
          <p:cNvSpPr/>
          <p:nvPr/>
        </p:nvSpPr>
        <p:spPr>
          <a:xfrm>
            <a:off x="457200" y="2496312"/>
            <a:ext cx="54864" cy="320040"/>
          </a:xfrm>
          <a:prstGeom prst="rect">
            <a:avLst/>
          </a:prstGeom>
          <a:solidFill>
            <a:srgbClr val="F59E0B"/>
          </a:solidFill>
          <a:ln/>
        </p:spPr>
      </p:sp>
      <p:sp>
        <p:nvSpPr>
          <p:cNvPr id="29" name="Shape 27"/>
          <p:cNvSpPr/>
          <p:nvPr/>
        </p:nvSpPr>
        <p:spPr>
          <a:xfrm>
            <a:off x="603504" y="2496312"/>
            <a:ext cx="347472" cy="329184"/>
          </a:xfrm>
          <a:prstGeom prst="ellipse">
            <a:avLst/>
          </a:prstGeom>
          <a:solidFill>
            <a:srgbClr val="F59E0B"/>
          </a:solidFill>
          <a:ln/>
        </p:spPr>
      </p:sp>
      <p:sp>
        <p:nvSpPr>
          <p:cNvPr id="30" name="Text 28"/>
          <p:cNvSpPr/>
          <p:nvPr/>
        </p:nvSpPr>
        <p:spPr>
          <a:xfrm>
            <a:off x="603504" y="2496312"/>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a:hlinkClick r:id="rId9" tooltip="" action="ppaction://hlinksldjump"/>
          </p:cNvPr>
          <p:cNvSpPr/>
          <p:nvPr/>
        </p:nvSpPr>
        <p:spPr>
          <a:xfrm>
            <a:off x="1097280" y="2496312"/>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Working with Existing Projects</a:t>
            </a:r>
            <a:endParaRPr lang="en-US" sz="1400" dirty="0"/>
          </a:p>
        </p:txBody>
      </p:sp>
      <p:sp>
        <p:nvSpPr>
          <p:cNvPr id="32" name="Text 30">
            <a:hlinkClick r:id="rId10" tooltip="" action="ppaction://hlinksldjump"/>
          </p:cNvPr>
          <p:cNvSpPr/>
          <p:nvPr/>
        </p:nvSpPr>
        <p:spPr>
          <a:xfrm>
            <a:off x="7772400" y="2496312"/>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48</a:t>
            </a:r>
            <a:endParaRPr lang="en-US" sz="1200" dirty="0"/>
          </a:p>
        </p:txBody>
      </p:sp>
      <p:sp>
        <p:nvSpPr>
          <p:cNvPr id="33" name="Shape 31"/>
          <p:cNvSpPr/>
          <p:nvPr/>
        </p:nvSpPr>
        <p:spPr>
          <a:xfrm>
            <a:off x="457200" y="2834640"/>
            <a:ext cx="8229600" cy="4572"/>
          </a:xfrm>
          <a:prstGeom prst="rect">
            <a:avLst/>
          </a:prstGeom>
          <a:solidFill>
            <a:srgbClr val="334155"/>
          </a:solidFill>
          <a:ln/>
        </p:spPr>
      </p:sp>
      <p:sp>
        <p:nvSpPr>
          <p:cNvPr id="34" name="Shape 32"/>
          <p:cNvSpPr/>
          <p:nvPr/>
        </p:nvSpPr>
        <p:spPr>
          <a:xfrm>
            <a:off x="457200" y="2880360"/>
            <a:ext cx="54864" cy="320040"/>
          </a:xfrm>
          <a:prstGeom prst="rect">
            <a:avLst/>
          </a:prstGeom>
          <a:solidFill>
            <a:srgbClr val="8B5CF6"/>
          </a:solidFill>
          <a:ln/>
        </p:spPr>
      </p:sp>
      <p:sp>
        <p:nvSpPr>
          <p:cNvPr id="35" name="Shape 33"/>
          <p:cNvSpPr/>
          <p:nvPr/>
        </p:nvSpPr>
        <p:spPr>
          <a:xfrm>
            <a:off x="603504" y="2880360"/>
            <a:ext cx="347472" cy="329184"/>
          </a:xfrm>
          <a:prstGeom prst="ellipse">
            <a:avLst/>
          </a:prstGeom>
          <a:solidFill>
            <a:srgbClr val="8B5CF6"/>
          </a:solidFill>
          <a:ln/>
        </p:spPr>
      </p:sp>
      <p:sp>
        <p:nvSpPr>
          <p:cNvPr id="36" name="Text 34"/>
          <p:cNvSpPr/>
          <p:nvPr/>
        </p:nvSpPr>
        <p:spPr>
          <a:xfrm>
            <a:off x="603504" y="2880360"/>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a:hlinkClick r:id="rId11" tooltip="" action="ppaction://hlinksldjump"/>
          </p:cNvPr>
          <p:cNvSpPr/>
          <p:nvPr/>
        </p:nvSpPr>
        <p:spPr>
          <a:xfrm>
            <a:off x="1097280" y="2880360"/>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MA-Agents — Organizational Layer</a:t>
            </a:r>
            <a:endParaRPr lang="en-US" sz="1400" dirty="0"/>
          </a:p>
        </p:txBody>
      </p:sp>
      <p:sp>
        <p:nvSpPr>
          <p:cNvPr id="38" name="Text 36">
            <a:hlinkClick r:id="rId12" tooltip="" action="ppaction://hlinksldjump"/>
          </p:cNvPr>
          <p:cNvSpPr/>
          <p:nvPr/>
        </p:nvSpPr>
        <p:spPr>
          <a:xfrm>
            <a:off x="7772400" y="2880360"/>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12" action="ppaction://hlinksldjump" tooltip="">
                  <a:extLst>
                    <a:ext uri="{A12FA001-AC4F-418D-AE19-62706E023703}">
                      <ahyp:hlinkClr xmlns:ahyp="http://schemas.microsoft.com/office/drawing/2018/hyperlinkcolor" val="tx"/>
                    </a:ext>
                  </a:extLst>
                </a:hlinkClick>
              </a:rPr>
              <a:t>54</a:t>
            </a:r>
            <a:endParaRPr lang="en-US" sz="1200" dirty="0"/>
          </a:p>
        </p:txBody>
      </p:sp>
      <p:sp>
        <p:nvSpPr>
          <p:cNvPr id="39" name="Shape 37"/>
          <p:cNvSpPr/>
          <p:nvPr/>
        </p:nvSpPr>
        <p:spPr>
          <a:xfrm>
            <a:off x="457200" y="3218688"/>
            <a:ext cx="8229600" cy="4572"/>
          </a:xfrm>
          <a:prstGeom prst="rect">
            <a:avLst/>
          </a:prstGeom>
          <a:solidFill>
            <a:srgbClr val="334155"/>
          </a:solidFill>
          <a:ln/>
        </p:spPr>
      </p:sp>
      <p:sp>
        <p:nvSpPr>
          <p:cNvPr id="40" name="Shape 38"/>
          <p:cNvSpPr/>
          <p:nvPr/>
        </p:nvSpPr>
        <p:spPr>
          <a:xfrm>
            <a:off x="457200" y="3264408"/>
            <a:ext cx="54864" cy="320040"/>
          </a:xfrm>
          <a:prstGeom prst="rect">
            <a:avLst/>
          </a:prstGeom>
          <a:solidFill>
            <a:srgbClr val="8B5CF6"/>
          </a:solidFill>
          <a:ln/>
        </p:spPr>
      </p:sp>
      <p:sp>
        <p:nvSpPr>
          <p:cNvPr id="41" name="Shape 39"/>
          <p:cNvSpPr/>
          <p:nvPr/>
        </p:nvSpPr>
        <p:spPr>
          <a:xfrm>
            <a:off x="603504" y="3264408"/>
            <a:ext cx="347472" cy="329184"/>
          </a:xfrm>
          <a:prstGeom prst="ellipse">
            <a:avLst/>
          </a:prstGeom>
          <a:solidFill>
            <a:srgbClr val="8B5CF6"/>
          </a:solidFill>
          <a:ln/>
        </p:spPr>
      </p:sp>
      <p:sp>
        <p:nvSpPr>
          <p:cNvPr id="42" name="Text 40"/>
          <p:cNvSpPr/>
          <p:nvPr/>
        </p:nvSpPr>
        <p:spPr>
          <a:xfrm>
            <a:off x="603504" y="3264408"/>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3" name="Text 41">
            <a:hlinkClick r:id="rId13" tooltip="" action="ppaction://hlinksldjump"/>
          </p:cNvPr>
          <p:cNvSpPr/>
          <p:nvPr/>
        </p:nvSpPr>
        <p:spPr>
          <a:xfrm>
            <a:off x="1097280" y="3264408"/>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3" action="ppaction://hlinksldjump" tooltip="">
                  <a:extLst>
                    <a:ext uri="{A12FA001-AC4F-418D-AE19-62706E023703}">
                      <ahyp:hlinkClr xmlns:ahyp="http://schemas.microsoft.com/office/drawing/2018/hyperlinkcolor" val="tx"/>
                    </a:ext>
                  </a:extLst>
                </a:hlinkClick>
              </a:rPr>
              <a:t>Custom BMAD Agents</a:t>
            </a:r>
            <a:endParaRPr lang="en-US" sz="1400" dirty="0"/>
          </a:p>
        </p:txBody>
      </p:sp>
      <p:sp>
        <p:nvSpPr>
          <p:cNvPr id="44" name="Text 42">
            <a:hlinkClick r:id="rId14" tooltip="" action="ppaction://hlinksldjump"/>
          </p:cNvPr>
          <p:cNvSpPr/>
          <p:nvPr/>
        </p:nvSpPr>
        <p:spPr>
          <a:xfrm>
            <a:off x="7772400" y="3264408"/>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14" action="ppaction://hlinksldjump" tooltip="">
                  <a:extLst>
                    <a:ext uri="{A12FA001-AC4F-418D-AE19-62706E023703}">
                      <ahyp:hlinkClr xmlns:ahyp="http://schemas.microsoft.com/office/drawing/2018/hyperlinkcolor" val="tx"/>
                    </a:ext>
                  </a:extLst>
                </a:hlinkClick>
              </a:rPr>
              <a:t>61</a:t>
            </a:r>
            <a:endParaRPr lang="en-US" sz="1200" dirty="0"/>
          </a:p>
        </p:txBody>
      </p:sp>
      <p:sp>
        <p:nvSpPr>
          <p:cNvPr id="45" name="Shape 43"/>
          <p:cNvSpPr/>
          <p:nvPr/>
        </p:nvSpPr>
        <p:spPr>
          <a:xfrm>
            <a:off x="457200" y="3602736"/>
            <a:ext cx="8229600" cy="4572"/>
          </a:xfrm>
          <a:prstGeom prst="rect">
            <a:avLst/>
          </a:prstGeom>
          <a:solidFill>
            <a:srgbClr val="334155"/>
          </a:solidFill>
          <a:ln/>
        </p:spPr>
      </p:sp>
      <p:sp>
        <p:nvSpPr>
          <p:cNvPr id="46" name="Shape 44"/>
          <p:cNvSpPr/>
          <p:nvPr/>
        </p:nvSpPr>
        <p:spPr>
          <a:xfrm>
            <a:off x="457200" y="3648456"/>
            <a:ext cx="54864" cy="320040"/>
          </a:xfrm>
          <a:prstGeom prst="rect">
            <a:avLst/>
          </a:prstGeom>
          <a:solidFill>
            <a:srgbClr val="F59E0B"/>
          </a:solidFill>
          <a:ln/>
        </p:spPr>
      </p:sp>
      <p:sp>
        <p:nvSpPr>
          <p:cNvPr id="47" name="Shape 45"/>
          <p:cNvSpPr/>
          <p:nvPr/>
        </p:nvSpPr>
        <p:spPr>
          <a:xfrm>
            <a:off x="603504" y="3648456"/>
            <a:ext cx="347472" cy="329184"/>
          </a:xfrm>
          <a:prstGeom prst="ellipse">
            <a:avLst/>
          </a:prstGeom>
          <a:solidFill>
            <a:srgbClr val="F59E0B"/>
          </a:solidFill>
          <a:ln/>
        </p:spPr>
      </p:sp>
      <p:sp>
        <p:nvSpPr>
          <p:cNvPr id="48" name="Text 46"/>
          <p:cNvSpPr/>
          <p:nvPr/>
        </p:nvSpPr>
        <p:spPr>
          <a:xfrm>
            <a:off x="603504" y="3648456"/>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9" name="Text 47">
            <a:hlinkClick r:id="rId15" tooltip="" action="ppaction://hlinksldjump"/>
          </p:cNvPr>
          <p:cNvSpPr/>
          <p:nvPr/>
        </p:nvSpPr>
        <p:spPr>
          <a:xfrm>
            <a:off x="1097280" y="3648456"/>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5" action="ppaction://hlinksldjump" tooltip="">
                  <a:extLst>
                    <a:ext uri="{A12FA001-AC4F-418D-AE19-62706E023703}">
                      <ahyp:hlinkClr xmlns:ahyp="http://schemas.microsoft.com/office/drawing/2018/hyperlinkcolor" val="tx"/>
                    </a:ext>
                  </a:extLst>
                </a:hlinkClick>
              </a:rPr>
              <a:t>Best Practices</a:t>
            </a:r>
            <a:endParaRPr lang="en-US" sz="1400" dirty="0"/>
          </a:p>
        </p:txBody>
      </p:sp>
      <p:sp>
        <p:nvSpPr>
          <p:cNvPr id="50" name="Text 48">
            <a:hlinkClick r:id="rId16" tooltip="" action="ppaction://hlinksldjump"/>
          </p:cNvPr>
          <p:cNvSpPr/>
          <p:nvPr/>
        </p:nvSpPr>
        <p:spPr>
          <a:xfrm>
            <a:off x="7772400" y="3648456"/>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16" action="ppaction://hlinksldjump" tooltip="">
                  <a:extLst>
                    <a:ext uri="{A12FA001-AC4F-418D-AE19-62706E023703}">
                      <ahyp:hlinkClr xmlns:ahyp="http://schemas.microsoft.com/office/drawing/2018/hyperlinkcolor" val="tx"/>
                    </a:ext>
                  </a:extLst>
                </a:hlinkClick>
              </a:rPr>
              <a:t>65</a:t>
            </a:r>
            <a:endParaRPr lang="en-US" sz="1200" dirty="0"/>
          </a:p>
        </p:txBody>
      </p:sp>
      <p:sp>
        <p:nvSpPr>
          <p:cNvPr id="51" name="Shape 49"/>
          <p:cNvSpPr/>
          <p:nvPr/>
        </p:nvSpPr>
        <p:spPr>
          <a:xfrm>
            <a:off x="457200" y="3986784"/>
            <a:ext cx="8229600" cy="4572"/>
          </a:xfrm>
          <a:prstGeom prst="rect">
            <a:avLst/>
          </a:prstGeom>
          <a:solidFill>
            <a:srgbClr val="334155"/>
          </a:solidFill>
          <a:ln/>
        </p:spPr>
      </p:sp>
      <p:sp>
        <p:nvSpPr>
          <p:cNvPr id="52" name="Shape 50"/>
          <p:cNvSpPr/>
          <p:nvPr/>
        </p:nvSpPr>
        <p:spPr>
          <a:xfrm>
            <a:off x="457200" y="4032504"/>
            <a:ext cx="54864" cy="320040"/>
          </a:xfrm>
          <a:prstGeom prst="rect">
            <a:avLst/>
          </a:prstGeom>
          <a:solidFill>
            <a:srgbClr val="10B981"/>
          </a:solidFill>
          <a:ln/>
        </p:spPr>
      </p:sp>
      <p:sp>
        <p:nvSpPr>
          <p:cNvPr id="53" name="Shape 51"/>
          <p:cNvSpPr/>
          <p:nvPr/>
        </p:nvSpPr>
        <p:spPr>
          <a:xfrm>
            <a:off x="603504" y="4032504"/>
            <a:ext cx="347472" cy="329184"/>
          </a:xfrm>
          <a:prstGeom prst="ellipse">
            <a:avLst/>
          </a:prstGeom>
          <a:solidFill>
            <a:srgbClr val="10B981"/>
          </a:solidFill>
          <a:ln/>
        </p:spPr>
      </p:sp>
      <p:sp>
        <p:nvSpPr>
          <p:cNvPr id="54" name="Text 52"/>
          <p:cNvSpPr/>
          <p:nvPr/>
        </p:nvSpPr>
        <p:spPr>
          <a:xfrm>
            <a:off x="603504" y="4032504"/>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5" name="Text 53">
            <a:hlinkClick r:id="rId17" tooltip="" action="ppaction://hlinksldjump"/>
          </p:cNvPr>
          <p:cNvSpPr/>
          <p:nvPr/>
        </p:nvSpPr>
        <p:spPr>
          <a:xfrm>
            <a:off x="1097280" y="4032504"/>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7" action="ppaction://hlinksldjump" tooltip="">
                  <a:extLst>
                    <a:ext uri="{A12FA001-AC4F-418D-AE19-62706E023703}">
                      <ahyp:hlinkClr xmlns:ahyp="http://schemas.microsoft.com/office/drawing/2018/hyperlinkcolor" val="tx"/>
                    </a:ext>
                  </a:extLst>
                </a:hlinkClick>
              </a:rPr>
              <a:t>Getting Started</a:t>
            </a:r>
            <a:endParaRPr lang="en-US" sz="1400" dirty="0"/>
          </a:p>
        </p:txBody>
      </p:sp>
      <p:sp>
        <p:nvSpPr>
          <p:cNvPr id="56" name="Text 54">
            <a:hlinkClick r:id="rId18" tooltip="" action="ppaction://hlinksldjump"/>
          </p:cNvPr>
          <p:cNvSpPr/>
          <p:nvPr/>
        </p:nvSpPr>
        <p:spPr>
          <a:xfrm>
            <a:off x="7772400" y="4032504"/>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18" action="ppaction://hlinksldjump" tooltip="">
                  <a:extLst>
                    <a:ext uri="{A12FA001-AC4F-418D-AE19-62706E023703}">
                      <ahyp:hlinkClr xmlns:ahyp="http://schemas.microsoft.com/office/drawing/2018/hyperlinkcolor" val="tx"/>
                    </a:ext>
                  </a:extLst>
                </a:hlinkClick>
              </a:rPr>
              <a:t>77</a:t>
            </a:r>
            <a:endParaRPr lang="en-US" sz="1200" dirty="0"/>
          </a:p>
        </p:txBody>
      </p:sp>
      <p:sp>
        <p:nvSpPr>
          <p:cNvPr id="57" name="Shape 55"/>
          <p:cNvSpPr/>
          <p:nvPr/>
        </p:nvSpPr>
        <p:spPr>
          <a:xfrm>
            <a:off x="457200" y="4370832"/>
            <a:ext cx="8229600" cy="4572"/>
          </a:xfrm>
          <a:prstGeom prst="rect">
            <a:avLst/>
          </a:prstGeom>
          <a:solidFill>
            <a:srgbClr val="334155"/>
          </a:solidFill>
          <a:ln/>
        </p:spPr>
      </p:sp>
      <p:sp>
        <p:nvSpPr>
          <p:cNvPr id="58" name="Shape 56"/>
          <p:cNvSpPr/>
          <p:nvPr/>
        </p:nvSpPr>
        <p:spPr>
          <a:xfrm>
            <a:off x="457200" y="4416552"/>
            <a:ext cx="54864" cy="320040"/>
          </a:xfrm>
          <a:prstGeom prst="rect">
            <a:avLst/>
          </a:prstGeom>
          <a:solidFill>
            <a:srgbClr val="10B981"/>
          </a:solidFill>
          <a:ln/>
        </p:spPr>
      </p:sp>
      <p:sp>
        <p:nvSpPr>
          <p:cNvPr id="59" name="Shape 57"/>
          <p:cNvSpPr/>
          <p:nvPr/>
        </p:nvSpPr>
        <p:spPr>
          <a:xfrm>
            <a:off x="603504" y="4416552"/>
            <a:ext cx="347472" cy="329184"/>
          </a:xfrm>
          <a:prstGeom prst="ellipse">
            <a:avLst/>
          </a:prstGeom>
          <a:solidFill>
            <a:srgbClr val="10B981"/>
          </a:solidFill>
          <a:ln/>
        </p:spPr>
      </p:sp>
      <p:sp>
        <p:nvSpPr>
          <p:cNvPr id="60" name="Text 58"/>
          <p:cNvSpPr/>
          <p:nvPr/>
        </p:nvSpPr>
        <p:spPr>
          <a:xfrm>
            <a:off x="603504" y="4416552"/>
            <a:ext cx="347472"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61" name="Text 59">
            <a:hlinkClick r:id="rId19" tooltip="" action="ppaction://hlinksldjump"/>
          </p:cNvPr>
          <p:cNvSpPr/>
          <p:nvPr/>
        </p:nvSpPr>
        <p:spPr>
          <a:xfrm>
            <a:off x="1097280" y="4416552"/>
            <a:ext cx="5943600" cy="32004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19" action="ppaction://hlinksldjump" tooltip="">
                  <a:extLst>
                    <a:ext uri="{A12FA001-AC4F-418D-AE19-62706E023703}">
                      <ahyp:hlinkClr xmlns:ahyp="http://schemas.microsoft.com/office/drawing/2018/hyperlinkcolor" val="tx"/>
                    </a:ext>
                  </a:extLst>
                </a:hlinkClick>
              </a:rPr>
              <a:t>Team Collaboration with Git</a:t>
            </a:r>
            <a:endParaRPr lang="en-US" sz="1400" dirty="0"/>
          </a:p>
        </p:txBody>
      </p:sp>
      <p:sp>
        <p:nvSpPr>
          <p:cNvPr id="62" name="Text 60">
            <a:hlinkClick r:id="rId20" tooltip="" action="ppaction://hlinksldjump"/>
          </p:cNvPr>
          <p:cNvSpPr/>
          <p:nvPr/>
        </p:nvSpPr>
        <p:spPr>
          <a:xfrm>
            <a:off x="7772400" y="4416552"/>
            <a:ext cx="914400" cy="320040"/>
          </a:xfrm>
          <a:prstGeom prst="rect">
            <a:avLst/>
          </a:prstGeom>
          <a:noFill/>
          <a:ln/>
        </p:spPr>
        <p:txBody>
          <a:bodyPr wrap="square" lIns="0" tIns="0" rIns="0" bIns="0" rtlCol="0" anchor="ctr"/>
          <a:lstStyle/>
          <a:p>
            <a:pPr algn="r" indent="0" marL="0">
              <a:buNone/>
            </a:pPr>
            <a:r>
              <a:rPr lang="en-US" sz="1200" u="sng" dirty="0">
                <a:solidFill>
                  <a:srgbClr val="94A3B8"/>
                </a:solidFill>
                <a:latin typeface="Calibri" pitchFamily="34" charset="0"/>
                <a:ea typeface="Calibri" pitchFamily="34" charset="-122"/>
                <a:cs typeface="Calibri" pitchFamily="34" charset="-120"/>
                <a:hlinkClick r:id="rId20" action="ppaction://hlinksldjump" tooltip="">
                  <a:extLst>
                    <a:ext uri="{A12FA001-AC4F-418D-AE19-62706E023703}">
                      <ahyp:hlinkClr xmlns:ahyp="http://schemas.microsoft.com/office/drawing/2018/hyperlinkcolor" val="tx"/>
                    </a:ext>
                  </a:extLst>
                </a:hlinkClick>
              </a:rPr>
              <a:t>84</a:t>
            </a:r>
            <a:endParaRPr lang="en-US" sz="1200" dirty="0"/>
          </a:p>
        </p:txBody>
      </p:sp>
      <p:sp>
        <p:nvSpPr>
          <p:cNvPr id="63" name="Shape 61"/>
          <p:cNvSpPr/>
          <p:nvPr/>
        </p:nvSpPr>
        <p:spPr>
          <a:xfrm>
            <a:off x="457200" y="4754880"/>
            <a:ext cx="8229600" cy="4572"/>
          </a:xfrm>
          <a:prstGeom prst="rect">
            <a:avLst/>
          </a:prstGeom>
          <a:solidFill>
            <a:srgbClr val="334155"/>
          </a:solidFill>
          <a:ln/>
        </p:spPr>
      </p:sp>
      <p:sp>
        <p:nvSpPr>
          <p:cNvPr id="64" name="Text 62"/>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Click any section to jump directly  →</a:t>
            </a:r>
            <a:endParaRPr lang="en-US" sz="1000" dirty="0"/>
          </a:p>
        </p:txBody>
      </p:sp>
      <p:sp>
        <p:nvSpPr>
          <p:cNvPr id="65" name="Text 6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 / 93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AI-Driven Development?</a:t>
            </a:r>
            <a:endParaRPr lang="en-US" sz="2600" dirty="0"/>
          </a:p>
        </p:txBody>
      </p:sp>
      <p:sp>
        <p:nvSpPr>
          <p:cNvPr id="5" name="Shape 3"/>
          <p:cNvSpPr/>
          <p:nvPr/>
        </p:nvSpPr>
        <p:spPr>
          <a:xfrm>
            <a:off x="457200" y="1188720"/>
            <a:ext cx="3840480" cy="3383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88720"/>
            <a:ext cx="3840480" cy="457200"/>
          </a:xfrm>
          <a:prstGeom prst="rect">
            <a:avLst/>
          </a:prstGeom>
          <a:solidFill>
            <a:srgbClr val="DC2626"/>
          </a:solidFill>
          <a:ln/>
        </p:spPr>
      </p:sp>
      <p:sp>
        <p:nvSpPr>
          <p:cNvPr id="7" name="Text 5"/>
          <p:cNvSpPr/>
          <p:nvPr/>
        </p:nvSpPr>
        <p:spPr>
          <a:xfrm>
            <a:off x="457200" y="1188720"/>
            <a:ext cx="38404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8" name="Text 6"/>
          <p:cNvSpPr/>
          <p:nvPr/>
        </p:nvSpPr>
        <p:spPr>
          <a:xfrm>
            <a:off x="731520" y="1783080"/>
            <a:ext cx="338328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1.  Unstructured AI prompting leads to inconsistent results</a:t>
            </a:r>
            <a:endParaRPr lang="en-US" sz="1150" dirty="0"/>
          </a:p>
        </p:txBody>
      </p:sp>
      <p:sp>
        <p:nvSpPr>
          <p:cNvPr id="9" name="Text 7"/>
          <p:cNvSpPr/>
          <p:nvPr/>
        </p:nvSpPr>
        <p:spPr>
          <a:xfrm>
            <a:off x="731520" y="2286000"/>
            <a:ext cx="338328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2.  Context is lost between sessions — AI starts from scratch</a:t>
            </a:r>
            <a:endParaRPr lang="en-US" sz="1150" dirty="0"/>
          </a:p>
        </p:txBody>
      </p:sp>
      <p:sp>
        <p:nvSpPr>
          <p:cNvPr id="10" name="Text 8"/>
          <p:cNvSpPr/>
          <p:nvPr/>
        </p:nvSpPr>
        <p:spPr>
          <a:xfrm>
            <a:off x="731520" y="2788920"/>
            <a:ext cx="338328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3.  No traceability from requirements to code</a:t>
            </a:r>
            <a:endParaRPr lang="en-US" sz="1150" dirty="0"/>
          </a:p>
        </p:txBody>
      </p:sp>
      <p:sp>
        <p:nvSpPr>
          <p:cNvPr id="11" name="Text 9"/>
          <p:cNvSpPr/>
          <p:nvPr/>
        </p:nvSpPr>
        <p:spPr>
          <a:xfrm>
            <a:off x="731520" y="3291840"/>
            <a:ext cx="338328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4.  Each developer uses AI differently — no standard process</a:t>
            </a:r>
            <a:endParaRPr lang="en-US" sz="1150" dirty="0"/>
          </a:p>
        </p:txBody>
      </p:sp>
      <p:sp>
        <p:nvSpPr>
          <p:cNvPr id="12" name="Text 10"/>
          <p:cNvSpPr/>
          <p:nvPr/>
        </p:nvSpPr>
        <p:spPr>
          <a:xfrm>
            <a:off x="731520" y="3794760"/>
            <a:ext cx="338328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5.  AI-generated code lacks architectural oversight</a:t>
            </a:r>
            <a:endParaRPr lang="en-US" sz="1150" dirty="0"/>
          </a:p>
        </p:txBody>
      </p:sp>
      <p:sp>
        <p:nvSpPr>
          <p:cNvPr id="13" name="Shape 11"/>
          <p:cNvSpPr/>
          <p:nvPr/>
        </p:nvSpPr>
        <p:spPr>
          <a:xfrm>
            <a:off x="4846320" y="1188720"/>
            <a:ext cx="3840480" cy="3383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4846320" y="1188720"/>
            <a:ext cx="3840480" cy="457200"/>
          </a:xfrm>
          <a:prstGeom prst="rect">
            <a:avLst/>
          </a:prstGeom>
          <a:solidFill>
            <a:srgbClr val="0D9488"/>
          </a:solidFill>
          <a:ln/>
        </p:spPr>
      </p:sp>
      <p:sp>
        <p:nvSpPr>
          <p:cNvPr id="15" name="Text 13"/>
          <p:cNvSpPr/>
          <p:nvPr/>
        </p:nvSpPr>
        <p:spPr>
          <a:xfrm>
            <a:off x="4846320" y="1188720"/>
            <a:ext cx="38404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BMAD Solution</a:t>
            </a:r>
            <a:endParaRPr lang="en-US" sz="1600" dirty="0"/>
          </a:p>
        </p:txBody>
      </p:sp>
      <p:pic>
        <p:nvPicPr>
          <p:cNvPr id="16" name="Image 0" descr="preencoded.png">    </p:cNvPr>
          <p:cNvPicPr>
            <a:picLocks noChangeAspect="1"/>
          </p:cNvPicPr>
          <p:nvPr/>
        </p:nvPicPr>
        <p:blipFill>
          <a:blip r:embed="rId1"/>
          <a:stretch>
            <a:fillRect/>
          </a:stretch>
        </p:blipFill>
        <p:spPr>
          <a:xfrm>
            <a:off x="5074920" y="1828800"/>
            <a:ext cx="201168" cy="201168"/>
          </a:xfrm>
          <a:prstGeom prst="rect">
            <a:avLst/>
          </a:prstGeom>
        </p:spPr>
      </p:pic>
      <p:sp>
        <p:nvSpPr>
          <p:cNvPr id="17" name="Text 14"/>
          <p:cNvSpPr/>
          <p:nvPr/>
        </p:nvSpPr>
        <p:spPr>
          <a:xfrm>
            <a:off x="5394960" y="1783080"/>
            <a:ext cx="310896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Specialized agents with defined roles and responsibilities</a:t>
            </a:r>
            <a:endParaRPr lang="en-US" sz="1150" dirty="0"/>
          </a:p>
        </p:txBody>
      </p:sp>
      <p:pic>
        <p:nvPicPr>
          <p:cNvPr id="18" name="Image 1" descr="preencoded.png">    </p:cNvPr>
          <p:cNvPicPr>
            <a:picLocks noChangeAspect="1"/>
          </p:cNvPicPr>
          <p:nvPr/>
        </p:nvPicPr>
        <p:blipFill>
          <a:blip r:embed="rId2"/>
          <a:stretch>
            <a:fillRect/>
          </a:stretch>
        </p:blipFill>
        <p:spPr>
          <a:xfrm>
            <a:off x="5074920" y="2331720"/>
            <a:ext cx="201168" cy="201168"/>
          </a:xfrm>
          <a:prstGeom prst="rect">
            <a:avLst/>
          </a:prstGeom>
        </p:spPr>
      </p:pic>
      <p:sp>
        <p:nvSpPr>
          <p:cNvPr id="19" name="Text 15"/>
          <p:cNvSpPr/>
          <p:nvPr/>
        </p:nvSpPr>
        <p:spPr>
          <a:xfrm>
            <a:off x="5394960" y="2286000"/>
            <a:ext cx="310896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Artifacts preserve context across the entire lifecycle</a:t>
            </a:r>
            <a:endParaRPr lang="en-US" sz="1150" dirty="0"/>
          </a:p>
        </p:txBody>
      </p:sp>
      <p:pic>
        <p:nvPicPr>
          <p:cNvPr id="20" name="Image 2" descr="preencoded.png">    </p:cNvPr>
          <p:cNvPicPr>
            <a:picLocks noChangeAspect="1"/>
          </p:cNvPicPr>
          <p:nvPr/>
        </p:nvPicPr>
        <p:blipFill>
          <a:blip r:embed="rId3"/>
          <a:stretch>
            <a:fillRect/>
          </a:stretch>
        </p:blipFill>
        <p:spPr>
          <a:xfrm>
            <a:off x="5074920" y="2834640"/>
            <a:ext cx="201168" cy="201168"/>
          </a:xfrm>
          <a:prstGeom prst="rect">
            <a:avLst/>
          </a:prstGeom>
        </p:spPr>
      </p:pic>
      <p:sp>
        <p:nvSpPr>
          <p:cNvPr id="21" name="Text 16"/>
          <p:cNvSpPr/>
          <p:nvPr/>
        </p:nvSpPr>
        <p:spPr>
          <a:xfrm>
            <a:off x="5394960" y="2788920"/>
            <a:ext cx="310896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Full traceability: requirements → design → stories → code</a:t>
            </a:r>
            <a:endParaRPr lang="en-US" sz="1150" dirty="0"/>
          </a:p>
        </p:txBody>
      </p:sp>
      <p:pic>
        <p:nvPicPr>
          <p:cNvPr id="22" name="Image 3" descr="preencoded.png">    </p:cNvPr>
          <p:cNvPicPr>
            <a:picLocks noChangeAspect="1"/>
          </p:cNvPicPr>
          <p:nvPr/>
        </p:nvPicPr>
        <p:blipFill>
          <a:blip r:embed="rId4"/>
          <a:stretch>
            <a:fillRect/>
          </a:stretch>
        </p:blipFill>
        <p:spPr>
          <a:xfrm>
            <a:off x="5074920" y="3337560"/>
            <a:ext cx="201168" cy="201168"/>
          </a:xfrm>
          <a:prstGeom prst="rect">
            <a:avLst/>
          </a:prstGeom>
        </p:spPr>
      </p:pic>
      <p:sp>
        <p:nvSpPr>
          <p:cNvPr id="23" name="Text 17"/>
          <p:cNvSpPr/>
          <p:nvPr/>
        </p:nvSpPr>
        <p:spPr>
          <a:xfrm>
            <a:off x="5394960" y="3291840"/>
            <a:ext cx="310896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Standardized workflows every developer follows</a:t>
            </a:r>
            <a:endParaRPr lang="en-US" sz="1150" dirty="0"/>
          </a:p>
        </p:txBody>
      </p:sp>
      <p:pic>
        <p:nvPicPr>
          <p:cNvPr id="24" name="Image 4" descr="preencoded.png">    </p:cNvPr>
          <p:cNvPicPr>
            <a:picLocks noChangeAspect="1"/>
          </p:cNvPicPr>
          <p:nvPr/>
        </p:nvPicPr>
        <p:blipFill>
          <a:blip r:embed="rId5"/>
          <a:stretch>
            <a:fillRect/>
          </a:stretch>
        </p:blipFill>
        <p:spPr>
          <a:xfrm>
            <a:off x="5074920" y="3840480"/>
            <a:ext cx="201168" cy="201168"/>
          </a:xfrm>
          <a:prstGeom prst="rect">
            <a:avLst/>
          </a:prstGeom>
        </p:spPr>
      </p:pic>
      <p:sp>
        <p:nvSpPr>
          <p:cNvPr id="25" name="Text 18"/>
          <p:cNvSpPr/>
          <p:nvPr/>
        </p:nvSpPr>
        <p:spPr>
          <a:xfrm>
            <a:off x="5394960" y="3794760"/>
            <a:ext cx="3108960"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Architecture-first: design decisions before code</a:t>
            </a:r>
            <a:endParaRPr lang="en-US" sz="1150" dirty="0"/>
          </a:p>
        </p:txBody>
      </p:sp>
      <p:sp>
        <p:nvSpPr>
          <p:cNvPr id="26" name="Text 19"/>
          <p:cNvSpPr/>
          <p:nvPr/>
        </p:nvSpPr>
        <p:spPr>
          <a:xfrm>
            <a:off x="457200" y="4709160"/>
            <a:ext cx="8229600" cy="320040"/>
          </a:xfrm>
          <a:prstGeom prst="rect">
            <a:avLst/>
          </a:prstGeom>
          <a:noFill/>
          <a:ln/>
        </p:spPr>
        <p:txBody>
          <a:bodyPr wrap="square" rtlCol="0" anchor="ctr"/>
          <a:lstStyle/>
          <a:p>
            <a:pPr algn="ctr" indent="0" marL="0">
              <a:buNone/>
            </a:pPr>
            <a:r>
              <a:rPr lang="en-US" sz="1100" i="1" dirty="0">
                <a:solidFill>
                  <a:srgbClr val="0D9488"/>
                </a:solidFill>
                <a:latin typeface="Calibri" pitchFamily="34" charset="0"/>
                <a:ea typeface="Calibri" pitchFamily="34" charset="-122"/>
                <a:cs typeface="Calibri" pitchFamily="34" charset="-120"/>
              </a:rPr>
              <a:t>BMAD brings military-grade discipline to AI-assisted development</a:t>
            </a:r>
            <a:endParaRPr lang="en-US" sz="1100" dirty="0"/>
          </a:p>
        </p:txBody>
      </p:sp>
      <p:sp>
        <p:nvSpPr>
          <p:cNvPr id="27" name="Text 2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 / 93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is an AI Coding Agent?</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Understanding the basics before we dive into workflows</a:t>
            </a:r>
            <a:endParaRPr lang="en-US" sz="1300" dirty="0"/>
          </a:p>
        </p:txBody>
      </p:sp>
      <p:sp>
        <p:nvSpPr>
          <p:cNvPr id="5" name="Shape 3"/>
          <p:cNvSpPr/>
          <p:nvPr/>
        </p:nvSpPr>
        <p:spPr>
          <a:xfrm>
            <a:off x="274320" y="1280160"/>
            <a:ext cx="146304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274320" y="1280160"/>
            <a:ext cx="1463040" cy="45720"/>
          </a:xfrm>
          <a:prstGeom prst="rect">
            <a:avLst/>
          </a:prstGeom>
          <a:solidFill>
            <a:srgbClr val="0D9488"/>
          </a:solidFill>
          <a:ln/>
        </p:spPr>
      </p:sp>
      <p:sp>
        <p:nvSpPr>
          <p:cNvPr id="7" name="Shape 5"/>
          <p:cNvSpPr/>
          <p:nvPr/>
        </p:nvSpPr>
        <p:spPr>
          <a:xfrm>
            <a:off x="731520" y="1417320"/>
            <a:ext cx="502920" cy="50292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841248" y="1527048"/>
            <a:ext cx="283464" cy="283464"/>
          </a:xfrm>
          <a:prstGeom prst="rect">
            <a:avLst/>
          </a:prstGeom>
        </p:spPr>
      </p:pic>
      <p:sp>
        <p:nvSpPr>
          <p:cNvPr id="9" name="Text 6"/>
          <p:cNvSpPr/>
          <p:nvPr/>
        </p:nvSpPr>
        <p:spPr>
          <a:xfrm>
            <a:off x="274320" y="1965960"/>
            <a:ext cx="146304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0" name="Text 7"/>
          <p:cNvSpPr/>
          <p:nvPr/>
        </p:nvSpPr>
        <p:spPr>
          <a:xfrm>
            <a:off x="274320" y="2194560"/>
            <a:ext cx="1463040" cy="201168"/>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(Developer)</a:t>
            </a:r>
            <a:endParaRPr lang="en-US" sz="900" dirty="0"/>
          </a:p>
        </p:txBody>
      </p:sp>
      <p:sp>
        <p:nvSpPr>
          <p:cNvPr id="11" name="Text 8"/>
          <p:cNvSpPr/>
          <p:nvPr/>
        </p:nvSpPr>
        <p:spPr>
          <a:xfrm>
            <a:off x="1737360" y="1600200"/>
            <a:ext cx="548640"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12" name="Shape 9"/>
          <p:cNvSpPr/>
          <p:nvPr/>
        </p:nvSpPr>
        <p:spPr>
          <a:xfrm>
            <a:off x="2011680" y="1280160"/>
            <a:ext cx="146304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3" name="Shape 10"/>
          <p:cNvSpPr/>
          <p:nvPr/>
        </p:nvSpPr>
        <p:spPr>
          <a:xfrm>
            <a:off x="2011680" y="1280160"/>
            <a:ext cx="1463040" cy="45720"/>
          </a:xfrm>
          <a:prstGeom prst="rect">
            <a:avLst/>
          </a:prstGeom>
          <a:solidFill>
            <a:srgbClr val="0D9488"/>
          </a:solidFill>
          <a:ln/>
        </p:spPr>
      </p:sp>
      <p:sp>
        <p:nvSpPr>
          <p:cNvPr id="14" name="Shape 11"/>
          <p:cNvSpPr/>
          <p:nvPr/>
        </p:nvSpPr>
        <p:spPr>
          <a:xfrm>
            <a:off x="2468880" y="1417320"/>
            <a:ext cx="502920" cy="502920"/>
          </a:xfrm>
          <a:prstGeom prst="ellipse">
            <a:avLst/>
          </a:prstGeom>
          <a:solidFill>
            <a:srgbClr val="0D9488"/>
          </a:solidFill>
          <a:ln/>
        </p:spPr>
      </p:sp>
      <p:pic>
        <p:nvPicPr>
          <p:cNvPr id="15" name="Image 1" descr="preencoded.png">    </p:cNvPr>
          <p:cNvPicPr>
            <a:picLocks noChangeAspect="1"/>
          </p:cNvPicPr>
          <p:nvPr/>
        </p:nvPicPr>
        <p:blipFill>
          <a:blip r:embed="rId2"/>
          <a:stretch>
            <a:fillRect/>
          </a:stretch>
        </p:blipFill>
        <p:spPr>
          <a:xfrm>
            <a:off x="2578608" y="1527048"/>
            <a:ext cx="283464" cy="283464"/>
          </a:xfrm>
          <a:prstGeom prst="rect">
            <a:avLst/>
          </a:prstGeom>
        </p:spPr>
      </p:pic>
      <p:sp>
        <p:nvSpPr>
          <p:cNvPr id="16" name="Text 12"/>
          <p:cNvSpPr/>
          <p:nvPr/>
        </p:nvSpPr>
        <p:spPr>
          <a:xfrm>
            <a:off x="2011680" y="1965960"/>
            <a:ext cx="146304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Prompt</a:t>
            </a:r>
            <a:endParaRPr lang="en-US" sz="1200" dirty="0"/>
          </a:p>
        </p:txBody>
      </p:sp>
      <p:sp>
        <p:nvSpPr>
          <p:cNvPr id="17" name="Text 13"/>
          <p:cNvSpPr/>
          <p:nvPr/>
        </p:nvSpPr>
        <p:spPr>
          <a:xfrm>
            <a:off x="2011680" y="2194560"/>
            <a:ext cx="1463040" cy="201168"/>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(Your request)</a:t>
            </a:r>
            <a:endParaRPr lang="en-US" sz="900" dirty="0"/>
          </a:p>
        </p:txBody>
      </p:sp>
      <p:sp>
        <p:nvSpPr>
          <p:cNvPr id="18" name="Text 14"/>
          <p:cNvSpPr/>
          <p:nvPr/>
        </p:nvSpPr>
        <p:spPr>
          <a:xfrm>
            <a:off x="3474720" y="1600200"/>
            <a:ext cx="548640"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19" name="Shape 15"/>
          <p:cNvSpPr/>
          <p:nvPr/>
        </p:nvSpPr>
        <p:spPr>
          <a:xfrm>
            <a:off x="3749040" y="1280160"/>
            <a:ext cx="146304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0" name="Shape 16"/>
          <p:cNvSpPr/>
          <p:nvPr/>
        </p:nvSpPr>
        <p:spPr>
          <a:xfrm>
            <a:off x="3749040" y="1280160"/>
            <a:ext cx="1463040" cy="45720"/>
          </a:xfrm>
          <a:prstGeom prst="rect">
            <a:avLst/>
          </a:prstGeom>
          <a:solidFill>
            <a:srgbClr val="0D9488"/>
          </a:solidFill>
          <a:ln/>
        </p:spPr>
      </p:sp>
      <p:sp>
        <p:nvSpPr>
          <p:cNvPr id="21" name="Shape 17"/>
          <p:cNvSpPr/>
          <p:nvPr/>
        </p:nvSpPr>
        <p:spPr>
          <a:xfrm>
            <a:off x="4206240" y="1417320"/>
            <a:ext cx="502920" cy="502920"/>
          </a:xfrm>
          <a:prstGeom prst="ellipse">
            <a:avLst/>
          </a:prstGeom>
          <a:solidFill>
            <a:srgbClr val="0D9488"/>
          </a:solidFill>
          <a:ln/>
        </p:spPr>
      </p:sp>
      <p:pic>
        <p:nvPicPr>
          <p:cNvPr id="22" name="Image 2" descr="preencoded.png">    </p:cNvPr>
          <p:cNvPicPr>
            <a:picLocks noChangeAspect="1"/>
          </p:cNvPicPr>
          <p:nvPr/>
        </p:nvPicPr>
        <p:blipFill>
          <a:blip r:embed="rId3"/>
          <a:stretch>
            <a:fillRect/>
          </a:stretch>
        </p:blipFill>
        <p:spPr>
          <a:xfrm>
            <a:off x="4315968" y="1527048"/>
            <a:ext cx="283464" cy="283464"/>
          </a:xfrm>
          <a:prstGeom prst="rect">
            <a:avLst/>
          </a:prstGeom>
        </p:spPr>
      </p:pic>
      <p:sp>
        <p:nvSpPr>
          <p:cNvPr id="23" name="Text 18"/>
          <p:cNvSpPr/>
          <p:nvPr/>
        </p:nvSpPr>
        <p:spPr>
          <a:xfrm>
            <a:off x="3749040" y="1965960"/>
            <a:ext cx="146304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LLM</a:t>
            </a:r>
            <a:endParaRPr lang="en-US" sz="1200" dirty="0"/>
          </a:p>
        </p:txBody>
      </p:sp>
      <p:sp>
        <p:nvSpPr>
          <p:cNvPr id="24" name="Text 19"/>
          <p:cNvSpPr/>
          <p:nvPr/>
        </p:nvSpPr>
        <p:spPr>
          <a:xfrm>
            <a:off x="3749040" y="2194560"/>
            <a:ext cx="1463040" cy="201168"/>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(AI Model)</a:t>
            </a:r>
            <a:endParaRPr lang="en-US" sz="900" dirty="0"/>
          </a:p>
        </p:txBody>
      </p:sp>
      <p:sp>
        <p:nvSpPr>
          <p:cNvPr id="25" name="Text 20"/>
          <p:cNvSpPr/>
          <p:nvPr/>
        </p:nvSpPr>
        <p:spPr>
          <a:xfrm>
            <a:off x="5212080" y="1600200"/>
            <a:ext cx="548640"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26" name="Shape 21"/>
          <p:cNvSpPr/>
          <p:nvPr/>
        </p:nvSpPr>
        <p:spPr>
          <a:xfrm>
            <a:off x="5486400" y="1280160"/>
            <a:ext cx="146304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7" name="Shape 22"/>
          <p:cNvSpPr/>
          <p:nvPr/>
        </p:nvSpPr>
        <p:spPr>
          <a:xfrm>
            <a:off x="5486400" y="1280160"/>
            <a:ext cx="1463040" cy="45720"/>
          </a:xfrm>
          <a:prstGeom prst="rect">
            <a:avLst/>
          </a:prstGeom>
          <a:solidFill>
            <a:srgbClr val="0D9488"/>
          </a:solidFill>
          <a:ln/>
        </p:spPr>
      </p:sp>
      <p:sp>
        <p:nvSpPr>
          <p:cNvPr id="28" name="Shape 23"/>
          <p:cNvSpPr/>
          <p:nvPr/>
        </p:nvSpPr>
        <p:spPr>
          <a:xfrm>
            <a:off x="5943600" y="1417320"/>
            <a:ext cx="502920" cy="502920"/>
          </a:xfrm>
          <a:prstGeom prst="ellipse">
            <a:avLst/>
          </a:prstGeom>
          <a:solidFill>
            <a:srgbClr val="0D9488"/>
          </a:solidFill>
          <a:ln/>
        </p:spPr>
      </p:sp>
      <p:pic>
        <p:nvPicPr>
          <p:cNvPr id="29" name="Image 3" descr="preencoded.png">    </p:cNvPr>
          <p:cNvPicPr>
            <a:picLocks noChangeAspect="1"/>
          </p:cNvPicPr>
          <p:nvPr/>
        </p:nvPicPr>
        <p:blipFill>
          <a:blip r:embed="rId4"/>
          <a:stretch>
            <a:fillRect/>
          </a:stretch>
        </p:blipFill>
        <p:spPr>
          <a:xfrm>
            <a:off x="6053328" y="1527048"/>
            <a:ext cx="283464" cy="283464"/>
          </a:xfrm>
          <a:prstGeom prst="rect">
            <a:avLst/>
          </a:prstGeom>
        </p:spPr>
      </p:pic>
      <p:sp>
        <p:nvSpPr>
          <p:cNvPr id="30" name="Text 24"/>
          <p:cNvSpPr/>
          <p:nvPr/>
        </p:nvSpPr>
        <p:spPr>
          <a:xfrm>
            <a:off x="5486400" y="1965960"/>
            <a:ext cx="146304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p>
        </p:txBody>
      </p:sp>
      <p:sp>
        <p:nvSpPr>
          <p:cNvPr id="31" name="Text 25"/>
          <p:cNvSpPr/>
          <p:nvPr/>
        </p:nvSpPr>
        <p:spPr>
          <a:xfrm>
            <a:off x="5486400" y="2194560"/>
            <a:ext cx="1463040" cy="201168"/>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(Generated)</a:t>
            </a:r>
            <a:endParaRPr lang="en-US" sz="900" dirty="0"/>
          </a:p>
        </p:txBody>
      </p:sp>
      <p:sp>
        <p:nvSpPr>
          <p:cNvPr id="32" name="Text 26"/>
          <p:cNvSpPr/>
          <p:nvPr/>
        </p:nvSpPr>
        <p:spPr>
          <a:xfrm>
            <a:off x="6949440" y="1600200"/>
            <a:ext cx="548640"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33" name="Shape 27"/>
          <p:cNvSpPr/>
          <p:nvPr/>
        </p:nvSpPr>
        <p:spPr>
          <a:xfrm>
            <a:off x="7223760" y="1280160"/>
            <a:ext cx="146304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4" name="Shape 28"/>
          <p:cNvSpPr/>
          <p:nvPr/>
        </p:nvSpPr>
        <p:spPr>
          <a:xfrm>
            <a:off x="7223760" y="1280160"/>
            <a:ext cx="1463040" cy="45720"/>
          </a:xfrm>
          <a:prstGeom prst="rect">
            <a:avLst/>
          </a:prstGeom>
          <a:solidFill>
            <a:srgbClr val="0D9488"/>
          </a:solidFill>
          <a:ln/>
        </p:spPr>
      </p:sp>
      <p:sp>
        <p:nvSpPr>
          <p:cNvPr id="35" name="Shape 29"/>
          <p:cNvSpPr/>
          <p:nvPr/>
        </p:nvSpPr>
        <p:spPr>
          <a:xfrm>
            <a:off x="7680960" y="1417320"/>
            <a:ext cx="502920" cy="502920"/>
          </a:xfrm>
          <a:prstGeom prst="ellipse">
            <a:avLst/>
          </a:prstGeom>
          <a:solidFill>
            <a:srgbClr val="0D9488"/>
          </a:solidFill>
          <a:ln/>
        </p:spPr>
      </p:sp>
      <p:pic>
        <p:nvPicPr>
          <p:cNvPr id="36" name="Image 4" descr="preencoded.png">    </p:cNvPr>
          <p:cNvPicPr>
            <a:picLocks noChangeAspect="1"/>
          </p:cNvPicPr>
          <p:nvPr/>
        </p:nvPicPr>
        <p:blipFill>
          <a:blip r:embed="rId5"/>
          <a:stretch>
            <a:fillRect/>
          </a:stretch>
        </p:blipFill>
        <p:spPr>
          <a:xfrm>
            <a:off x="7790688" y="1527048"/>
            <a:ext cx="283464" cy="283464"/>
          </a:xfrm>
          <a:prstGeom prst="rect">
            <a:avLst/>
          </a:prstGeom>
        </p:spPr>
      </p:pic>
      <p:sp>
        <p:nvSpPr>
          <p:cNvPr id="37" name="Text 30"/>
          <p:cNvSpPr/>
          <p:nvPr/>
        </p:nvSpPr>
        <p:spPr>
          <a:xfrm>
            <a:off x="7223760" y="1965960"/>
            <a:ext cx="146304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p>
        </p:txBody>
      </p:sp>
      <p:sp>
        <p:nvSpPr>
          <p:cNvPr id="38" name="Text 31"/>
          <p:cNvSpPr/>
          <p:nvPr/>
        </p:nvSpPr>
        <p:spPr>
          <a:xfrm>
            <a:off x="7223760" y="2194560"/>
            <a:ext cx="1463040" cy="201168"/>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(In your IDE)</a:t>
            </a:r>
            <a:endParaRPr lang="en-US" sz="900" dirty="0"/>
          </a:p>
        </p:txBody>
      </p:sp>
      <p:sp>
        <p:nvSpPr>
          <p:cNvPr id="39" name="Shape 32"/>
          <p:cNvSpPr/>
          <p:nvPr/>
        </p:nvSpPr>
        <p:spPr>
          <a:xfrm>
            <a:off x="274320" y="2697480"/>
            <a:ext cx="2697480" cy="1874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0" name="Shape 33"/>
          <p:cNvSpPr/>
          <p:nvPr/>
        </p:nvSpPr>
        <p:spPr>
          <a:xfrm>
            <a:off x="274320" y="2697480"/>
            <a:ext cx="54864" cy="1874520"/>
          </a:xfrm>
          <a:prstGeom prst="rect">
            <a:avLst/>
          </a:prstGeom>
          <a:solidFill>
            <a:srgbClr val="0D9488"/>
          </a:solidFill>
          <a:ln/>
        </p:spPr>
      </p:sp>
      <p:sp>
        <p:nvSpPr>
          <p:cNvPr id="41" name="Shape 34"/>
          <p:cNvSpPr/>
          <p:nvPr/>
        </p:nvSpPr>
        <p:spPr>
          <a:xfrm>
            <a:off x="438912" y="2834640"/>
            <a:ext cx="457200" cy="457200"/>
          </a:xfrm>
          <a:prstGeom prst="ellipse">
            <a:avLst/>
          </a:prstGeom>
          <a:solidFill>
            <a:srgbClr val="0D9488"/>
          </a:solidFill>
          <a:ln/>
        </p:spPr>
      </p:sp>
      <p:pic>
        <p:nvPicPr>
          <p:cNvPr id="42" name="Image 5" descr="preencoded.png">    </p:cNvPr>
          <p:cNvPicPr>
            <a:picLocks noChangeAspect="1"/>
          </p:cNvPicPr>
          <p:nvPr/>
        </p:nvPicPr>
        <p:blipFill>
          <a:blip r:embed="rId6"/>
          <a:stretch>
            <a:fillRect/>
          </a:stretch>
        </p:blipFill>
        <p:spPr>
          <a:xfrm>
            <a:off x="530352" y="2926080"/>
            <a:ext cx="274320" cy="274320"/>
          </a:xfrm>
          <a:prstGeom prst="rect">
            <a:avLst/>
          </a:prstGeom>
        </p:spPr>
      </p:pic>
      <p:sp>
        <p:nvSpPr>
          <p:cNvPr id="43" name="Text 35"/>
          <p:cNvSpPr/>
          <p:nvPr/>
        </p:nvSpPr>
        <p:spPr>
          <a:xfrm>
            <a:off x="1024128" y="2816352"/>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Context Window</a:t>
            </a:r>
            <a:endParaRPr lang="en-US" sz="1300" dirty="0"/>
          </a:p>
        </p:txBody>
      </p:sp>
      <p:sp>
        <p:nvSpPr>
          <p:cNvPr id="44" name="Text 36"/>
          <p:cNvSpPr/>
          <p:nvPr/>
        </p:nvSpPr>
        <p:spPr>
          <a:xfrm>
            <a:off x="438912" y="3337560"/>
            <a:ext cx="2377440" cy="114300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The “memory” of the AI model. It reads everything you send — your prompt, files, instructions — all at once. Limited to a fixed number of tokens. When it's full, the AI forgets the oldest parts.</a:t>
            </a:r>
            <a:endParaRPr lang="en-US" sz="950" dirty="0"/>
          </a:p>
        </p:txBody>
      </p:sp>
      <p:sp>
        <p:nvSpPr>
          <p:cNvPr id="45" name="Shape 37"/>
          <p:cNvSpPr/>
          <p:nvPr/>
        </p:nvSpPr>
        <p:spPr>
          <a:xfrm>
            <a:off x="3200400" y="2697480"/>
            <a:ext cx="2697480" cy="1874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6" name="Shape 38"/>
          <p:cNvSpPr/>
          <p:nvPr/>
        </p:nvSpPr>
        <p:spPr>
          <a:xfrm>
            <a:off x="3200400" y="2697480"/>
            <a:ext cx="54864" cy="1874520"/>
          </a:xfrm>
          <a:prstGeom prst="rect">
            <a:avLst/>
          </a:prstGeom>
          <a:solidFill>
            <a:srgbClr val="0D9488"/>
          </a:solidFill>
          <a:ln/>
        </p:spPr>
      </p:sp>
      <p:sp>
        <p:nvSpPr>
          <p:cNvPr id="47" name="Shape 39"/>
          <p:cNvSpPr/>
          <p:nvPr/>
        </p:nvSpPr>
        <p:spPr>
          <a:xfrm>
            <a:off x="3364992" y="2834640"/>
            <a:ext cx="457200" cy="457200"/>
          </a:xfrm>
          <a:prstGeom prst="ellipse">
            <a:avLst/>
          </a:prstGeom>
          <a:solidFill>
            <a:srgbClr val="0D9488"/>
          </a:solidFill>
          <a:ln/>
        </p:spPr>
      </p:sp>
      <p:pic>
        <p:nvPicPr>
          <p:cNvPr id="48" name="Image 6" descr="preencoded.png">    </p:cNvPr>
          <p:cNvPicPr>
            <a:picLocks noChangeAspect="1"/>
          </p:cNvPicPr>
          <p:nvPr/>
        </p:nvPicPr>
        <p:blipFill>
          <a:blip r:embed="rId7"/>
          <a:stretch>
            <a:fillRect/>
          </a:stretch>
        </p:blipFill>
        <p:spPr>
          <a:xfrm>
            <a:off x="3456432" y="2926080"/>
            <a:ext cx="274320" cy="274320"/>
          </a:xfrm>
          <a:prstGeom prst="rect">
            <a:avLst/>
          </a:prstGeom>
        </p:spPr>
      </p:pic>
      <p:sp>
        <p:nvSpPr>
          <p:cNvPr id="49" name="Text 40"/>
          <p:cNvSpPr/>
          <p:nvPr/>
        </p:nvSpPr>
        <p:spPr>
          <a:xfrm>
            <a:off x="3950208" y="2816352"/>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Tokens</a:t>
            </a:r>
            <a:endParaRPr lang="en-US" sz="1300" dirty="0"/>
          </a:p>
        </p:txBody>
      </p:sp>
      <p:sp>
        <p:nvSpPr>
          <p:cNvPr id="50" name="Text 41"/>
          <p:cNvSpPr/>
          <p:nvPr/>
        </p:nvSpPr>
        <p:spPr>
          <a:xfrm>
            <a:off x="3364992" y="3337560"/>
            <a:ext cx="2377440" cy="114300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Units of text the AI processes. Roughly 1 token ≈ ¾ of a word. A 200K token window ≈ 150K words. Every input and output consumes tokens from this budget.</a:t>
            </a:r>
            <a:endParaRPr lang="en-US" sz="950" dirty="0"/>
          </a:p>
        </p:txBody>
      </p:sp>
      <p:sp>
        <p:nvSpPr>
          <p:cNvPr id="51" name="Shape 42"/>
          <p:cNvSpPr/>
          <p:nvPr/>
        </p:nvSpPr>
        <p:spPr>
          <a:xfrm>
            <a:off x="6126480" y="2697480"/>
            <a:ext cx="2697480" cy="1874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52" name="Shape 43"/>
          <p:cNvSpPr/>
          <p:nvPr/>
        </p:nvSpPr>
        <p:spPr>
          <a:xfrm>
            <a:off x="6126480" y="2697480"/>
            <a:ext cx="54864" cy="1874520"/>
          </a:xfrm>
          <a:prstGeom prst="rect">
            <a:avLst/>
          </a:prstGeom>
          <a:solidFill>
            <a:srgbClr val="0D9488"/>
          </a:solidFill>
          <a:ln/>
        </p:spPr>
      </p:sp>
      <p:sp>
        <p:nvSpPr>
          <p:cNvPr id="53" name="Shape 44"/>
          <p:cNvSpPr/>
          <p:nvPr/>
        </p:nvSpPr>
        <p:spPr>
          <a:xfrm>
            <a:off x="6291072" y="2834640"/>
            <a:ext cx="457200" cy="457200"/>
          </a:xfrm>
          <a:prstGeom prst="ellipse">
            <a:avLst/>
          </a:prstGeom>
          <a:solidFill>
            <a:srgbClr val="0D9488"/>
          </a:solidFill>
          <a:ln/>
        </p:spPr>
      </p:sp>
      <p:pic>
        <p:nvPicPr>
          <p:cNvPr id="54" name="Image 7" descr="preencoded.png">    </p:cNvPr>
          <p:cNvPicPr>
            <a:picLocks noChangeAspect="1"/>
          </p:cNvPicPr>
          <p:nvPr/>
        </p:nvPicPr>
        <p:blipFill>
          <a:blip r:embed="rId8"/>
          <a:stretch>
            <a:fillRect/>
          </a:stretch>
        </p:blipFill>
        <p:spPr>
          <a:xfrm>
            <a:off x="6382512" y="2926080"/>
            <a:ext cx="274320" cy="274320"/>
          </a:xfrm>
          <a:prstGeom prst="rect">
            <a:avLst/>
          </a:prstGeom>
        </p:spPr>
      </p:pic>
      <p:sp>
        <p:nvSpPr>
          <p:cNvPr id="55" name="Text 45"/>
          <p:cNvSpPr/>
          <p:nvPr/>
        </p:nvSpPr>
        <p:spPr>
          <a:xfrm>
            <a:off x="6876288" y="2816352"/>
            <a:ext cx="18288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Coding Agent</a:t>
            </a:r>
            <a:endParaRPr lang="en-US" sz="1300" dirty="0"/>
          </a:p>
        </p:txBody>
      </p:sp>
      <p:sp>
        <p:nvSpPr>
          <p:cNvPr id="56" name="Text 46"/>
          <p:cNvSpPr/>
          <p:nvPr/>
        </p:nvSpPr>
        <p:spPr>
          <a:xfrm>
            <a:off x="6291072" y="3337560"/>
            <a:ext cx="2377440" cy="114300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An AI model connected to your IDE with the ability to read/write files, run commands, and browse your project. It doesn’t just chat — it takes actions in your codebase.</a:t>
            </a:r>
            <a:endParaRPr lang="en-US" sz="950" dirty="0"/>
          </a:p>
        </p:txBody>
      </p:sp>
      <p:sp>
        <p:nvSpPr>
          <p:cNvPr id="57" name="Text 4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 / 93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Concepts — The Building Blocks</a:t>
            </a:r>
            <a:endParaRPr lang="en-US" sz="2600" dirty="0"/>
          </a:p>
        </p:txBody>
      </p:sp>
      <p:sp>
        <p:nvSpPr>
          <p:cNvPr id="5" name="Shape 3"/>
          <p:cNvSpPr/>
          <p:nvPr/>
        </p:nvSpPr>
        <p:spPr>
          <a:xfrm>
            <a:off x="320040" y="105156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54864" cy="1234440"/>
          </a:xfrm>
          <a:prstGeom prst="rect">
            <a:avLst/>
          </a:prstGeom>
          <a:solidFill>
            <a:srgbClr val="0D9488"/>
          </a:solidFill>
          <a:ln/>
        </p:spPr>
      </p:sp>
      <p:sp>
        <p:nvSpPr>
          <p:cNvPr id="7" name="Shape 5"/>
          <p:cNvSpPr/>
          <p:nvPr/>
        </p:nvSpPr>
        <p:spPr>
          <a:xfrm>
            <a:off x="502920" y="1188720"/>
            <a:ext cx="502920" cy="50292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594360" y="1280160"/>
            <a:ext cx="320040" cy="320040"/>
          </a:xfrm>
          <a:prstGeom prst="rect">
            <a:avLst/>
          </a:prstGeom>
        </p:spPr>
      </p:pic>
      <p:sp>
        <p:nvSpPr>
          <p:cNvPr id="9" name="Text 6"/>
          <p:cNvSpPr/>
          <p:nvPr/>
        </p:nvSpPr>
        <p:spPr>
          <a:xfrm>
            <a:off x="1143000" y="112471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Agent</a:t>
            </a:r>
            <a:endParaRPr lang="en-US" sz="1500" dirty="0"/>
          </a:p>
        </p:txBody>
      </p:sp>
      <p:sp>
        <p:nvSpPr>
          <p:cNvPr id="10" name="Text 7"/>
          <p:cNvSpPr/>
          <p:nvPr/>
        </p:nvSpPr>
        <p:spPr>
          <a:xfrm>
            <a:off x="1143000" y="143560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A specialized AI role with defined expertise, constraints, and outputs. Like hiring a team member for a specific job. Need a new role? Create a new agent.</a:t>
            </a:r>
            <a:endParaRPr lang="en-US" sz="1000" dirty="0"/>
          </a:p>
        </p:txBody>
      </p:sp>
      <p:sp>
        <p:nvSpPr>
          <p:cNvPr id="11" name="Shape 8"/>
          <p:cNvSpPr/>
          <p:nvPr/>
        </p:nvSpPr>
        <p:spPr>
          <a:xfrm>
            <a:off x="4754880" y="105156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754880" y="1051560"/>
            <a:ext cx="54864" cy="1234440"/>
          </a:xfrm>
          <a:prstGeom prst="rect">
            <a:avLst/>
          </a:prstGeom>
          <a:solidFill>
            <a:srgbClr val="7C3AED"/>
          </a:solidFill>
          <a:ln/>
        </p:spPr>
      </p:sp>
      <p:sp>
        <p:nvSpPr>
          <p:cNvPr id="13" name="Shape 10"/>
          <p:cNvSpPr/>
          <p:nvPr/>
        </p:nvSpPr>
        <p:spPr>
          <a:xfrm>
            <a:off x="4937760" y="1188720"/>
            <a:ext cx="502920" cy="502920"/>
          </a:xfrm>
          <a:prstGeom prst="ellipse">
            <a:avLst/>
          </a:prstGeom>
          <a:solidFill>
            <a:srgbClr val="7C3AED"/>
          </a:solidFill>
          <a:ln/>
        </p:spPr>
      </p:sp>
      <p:pic>
        <p:nvPicPr>
          <p:cNvPr id="14" name="Image 1" descr="preencoded.png">    </p:cNvPr>
          <p:cNvPicPr>
            <a:picLocks noChangeAspect="1"/>
          </p:cNvPicPr>
          <p:nvPr/>
        </p:nvPicPr>
        <p:blipFill>
          <a:blip r:embed="rId2"/>
          <a:stretch>
            <a:fillRect/>
          </a:stretch>
        </p:blipFill>
        <p:spPr>
          <a:xfrm>
            <a:off x="5029200" y="1280160"/>
            <a:ext cx="320040" cy="320040"/>
          </a:xfrm>
          <a:prstGeom prst="rect">
            <a:avLst/>
          </a:prstGeom>
        </p:spPr>
      </p:pic>
      <p:sp>
        <p:nvSpPr>
          <p:cNvPr id="15" name="Text 11"/>
          <p:cNvSpPr/>
          <p:nvPr/>
        </p:nvSpPr>
        <p:spPr>
          <a:xfrm>
            <a:off x="5577840" y="112471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Persona</a:t>
            </a:r>
            <a:endParaRPr lang="en-US" sz="1500" dirty="0"/>
          </a:p>
        </p:txBody>
      </p:sp>
      <p:sp>
        <p:nvSpPr>
          <p:cNvPr id="16" name="Text 12"/>
          <p:cNvSpPr/>
          <p:nvPr/>
        </p:nvSpPr>
        <p:spPr>
          <a:xfrm>
            <a:off x="5577840" y="143560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The identity and behavior rules of an agent. Defines how the AI “thinks”: what it prioritizes, what it avoids, and how it communicates.</a:t>
            </a:r>
            <a:endParaRPr lang="en-US" sz="1000" dirty="0"/>
          </a:p>
        </p:txBody>
      </p:sp>
      <p:sp>
        <p:nvSpPr>
          <p:cNvPr id="17" name="Shape 13"/>
          <p:cNvSpPr/>
          <p:nvPr/>
        </p:nvSpPr>
        <p:spPr>
          <a:xfrm>
            <a:off x="320040" y="246888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4"/>
          <p:cNvSpPr/>
          <p:nvPr/>
        </p:nvSpPr>
        <p:spPr>
          <a:xfrm>
            <a:off x="320040" y="2468880"/>
            <a:ext cx="54864" cy="1234440"/>
          </a:xfrm>
          <a:prstGeom prst="rect">
            <a:avLst/>
          </a:prstGeom>
          <a:solidFill>
            <a:srgbClr val="2563EB"/>
          </a:solidFill>
          <a:ln/>
        </p:spPr>
      </p:sp>
      <p:sp>
        <p:nvSpPr>
          <p:cNvPr id="19" name="Shape 15"/>
          <p:cNvSpPr/>
          <p:nvPr/>
        </p:nvSpPr>
        <p:spPr>
          <a:xfrm>
            <a:off x="502920" y="2606040"/>
            <a:ext cx="502920" cy="502920"/>
          </a:xfrm>
          <a:prstGeom prst="ellipse">
            <a:avLst/>
          </a:prstGeom>
          <a:solidFill>
            <a:srgbClr val="2563EB"/>
          </a:solidFill>
          <a:ln/>
        </p:spPr>
      </p:sp>
      <p:pic>
        <p:nvPicPr>
          <p:cNvPr id="20" name="Image 2" descr="preencoded.png">    </p:cNvPr>
          <p:cNvPicPr>
            <a:picLocks noChangeAspect="1"/>
          </p:cNvPicPr>
          <p:nvPr/>
        </p:nvPicPr>
        <p:blipFill>
          <a:blip r:embed="rId3"/>
          <a:stretch>
            <a:fillRect/>
          </a:stretch>
        </p:blipFill>
        <p:spPr>
          <a:xfrm>
            <a:off x="594360" y="2697480"/>
            <a:ext cx="320040" cy="320040"/>
          </a:xfrm>
          <a:prstGeom prst="rect">
            <a:avLst/>
          </a:prstGeom>
        </p:spPr>
      </p:pic>
      <p:sp>
        <p:nvSpPr>
          <p:cNvPr id="21" name="Text 16"/>
          <p:cNvSpPr/>
          <p:nvPr/>
        </p:nvSpPr>
        <p:spPr>
          <a:xfrm>
            <a:off x="1143000" y="254203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Skill</a:t>
            </a:r>
            <a:endParaRPr lang="en-US" sz="1500" dirty="0"/>
          </a:p>
        </p:txBody>
      </p:sp>
      <p:sp>
        <p:nvSpPr>
          <p:cNvPr id="22" name="Text 17"/>
          <p:cNvSpPr/>
          <p:nvPr/>
        </p:nvSpPr>
        <p:spPr>
          <a:xfrm>
            <a:off x="1143000" y="285292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A reusable instruction set that teaches an existing agent HOW to do something new. Need a new capability? Add a skill via ma-agents. Example: “review code for OWASP”.</a:t>
            </a:r>
            <a:endParaRPr lang="en-US" sz="1000" dirty="0"/>
          </a:p>
        </p:txBody>
      </p:sp>
      <p:sp>
        <p:nvSpPr>
          <p:cNvPr id="23" name="Shape 18"/>
          <p:cNvSpPr/>
          <p:nvPr/>
        </p:nvSpPr>
        <p:spPr>
          <a:xfrm>
            <a:off x="4754880" y="246888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19"/>
          <p:cNvSpPr/>
          <p:nvPr/>
        </p:nvSpPr>
        <p:spPr>
          <a:xfrm>
            <a:off x="4754880" y="2468880"/>
            <a:ext cx="54864" cy="1234440"/>
          </a:xfrm>
          <a:prstGeom prst="rect">
            <a:avLst/>
          </a:prstGeom>
          <a:solidFill>
            <a:srgbClr val="059669"/>
          </a:solidFill>
          <a:ln/>
        </p:spPr>
      </p:sp>
      <p:sp>
        <p:nvSpPr>
          <p:cNvPr id="25" name="Shape 20"/>
          <p:cNvSpPr/>
          <p:nvPr/>
        </p:nvSpPr>
        <p:spPr>
          <a:xfrm>
            <a:off x="4937760" y="2606040"/>
            <a:ext cx="502920" cy="502920"/>
          </a:xfrm>
          <a:prstGeom prst="ellipse">
            <a:avLst/>
          </a:prstGeom>
          <a:solidFill>
            <a:srgbClr val="059669"/>
          </a:solidFill>
          <a:ln/>
        </p:spPr>
      </p:sp>
      <p:pic>
        <p:nvPicPr>
          <p:cNvPr id="26" name="Image 3" descr="preencoded.png">    </p:cNvPr>
          <p:cNvPicPr>
            <a:picLocks noChangeAspect="1"/>
          </p:cNvPicPr>
          <p:nvPr/>
        </p:nvPicPr>
        <p:blipFill>
          <a:blip r:embed="rId4"/>
          <a:stretch>
            <a:fillRect/>
          </a:stretch>
        </p:blipFill>
        <p:spPr>
          <a:xfrm>
            <a:off x="5029200" y="2697480"/>
            <a:ext cx="320040" cy="320040"/>
          </a:xfrm>
          <a:prstGeom prst="rect">
            <a:avLst/>
          </a:prstGeom>
        </p:spPr>
      </p:pic>
      <p:sp>
        <p:nvSpPr>
          <p:cNvPr id="27" name="Text 21"/>
          <p:cNvSpPr/>
          <p:nvPr/>
        </p:nvSpPr>
        <p:spPr>
          <a:xfrm>
            <a:off x="5577840" y="254203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Workflow</a:t>
            </a:r>
            <a:endParaRPr lang="en-US" sz="1500" dirty="0"/>
          </a:p>
        </p:txBody>
      </p:sp>
      <p:sp>
        <p:nvSpPr>
          <p:cNvPr id="28" name="Text 22"/>
          <p:cNvSpPr/>
          <p:nvPr/>
        </p:nvSpPr>
        <p:spPr>
          <a:xfrm>
            <a:off x="5577840" y="285292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A step-by-step process that guides agents through a task. Defines the order of operations, inputs, outputs, and handoffs between agents.</a:t>
            </a:r>
            <a:endParaRPr lang="en-US" sz="1000" dirty="0"/>
          </a:p>
        </p:txBody>
      </p:sp>
      <p:sp>
        <p:nvSpPr>
          <p:cNvPr id="29" name="Shape 23"/>
          <p:cNvSpPr/>
          <p:nvPr/>
        </p:nvSpPr>
        <p:spPr>
          <a:xfrm>
            <a:off x="320040" y="388620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4"/>
          <p:cNvSpPr/>
          <p:nvPr/>
        </p:nvSpPr>
        <p:spPr>
          <a:xfrm>
            <a:off x="320040" y="3886200"/>
            <a:ext cx="54864" cy="1234440"/>
          </a:xfrm>
          <a:prstGeom prst="rect">
            <a:avLst/>
          </a:prstGeom>
          <a:solidFill>
            <a:srgbClr val="DC2626"/>
          </a:solidFill>
          <a:ln/>
        </p:spPr>
      </p:sp>
      <p:sp>
        <p:nvSpPr>
          <p:cNvPr id="31" name="Shape 25"/>
          <p:cNvSpPr/>
          <p:nvPr/>
        </p:nvSpPr>
        <p:spPr>
          <a:xfrm>
            <a:off x="502920" y="4023360"/>
            <a:ext cx="502920" cy="502920"/>
          </a:xfrm>
          <a:prstGeom prst="ellipse">
            <a:avLst/>
          </a:prstGeom>
          <a:solidFill>
            <a:srgbClr val="DC2626"/>
          </a:solidFill>
          <a:ln/>
        </p:spPr>
      </p:sp>
      <p:pic>
        <p:nvPicPr>
          <p:cNvPr id="32" name="Image 4" descr="preencoded.png">    </p:cNvPr>
          <p:cNvPicPr>
            <a:picLocks noChangeAspect="1"/>
          </p:cNvPicPr>
          <p:nvPr/>
        </p:nvPicPr>
        <p:blipFill>
          <a:blip r:embed="rId5"/>
          <a:stretch>
            <a:fillRect/>
          </a:stretch>
        </p:blipFill>
        <p:spPr>
          <a:xfrm>
            <a:off x="594360" y="4114800"/>
            <a:ext cx="320040" cy="320040"/>
          </a:xfrm>
          <a:prstGeom prst="rect">
            <a:avLst/>
          </a:prstGeom>
        </p:spPr>
      </p:pic>
      <p:sp>
        <p:nvSpPr>
          <p:cNvPr id="33" name="Text 26"/>
          <p:cNvSpPr/>
          <p:nvPr/>
        </p:nvSpPr>
        <p:spPr>
          <a:xfrm>
            <a:off x="1143000" y="395935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Context</a:t>
            </a:r>
            <a:endParaRPr lang="en-US" sz="1500" dirty="0"/>
          </a:p>
        </p:txBody>
      </p:sp>
      <p:sp>
        <p:nvSpPr>
          <p:cNvPr id="34" name="Text 27"/>
          <p:cNvSpPr/>
          <p:nvPr/>
        </p:nvSpPr>
        <p:spPr>
          <a:xfrm>
            <a:off x="1143000" y="427024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Everything the AI knows during a conversation: your prompt, project files, agent instructions, skills, and artifacts. Lives inside the context window.</a:t>
            </a:r>
            <a:endParaRPr lang="en-US" sz="1000" dirty="0"/>
          </a:p>
        </p:txBody>
      </p:sp>
      <p:sp>
        <p:nvSpPr>
          <p:cNvPr id="35" name="Shape 28"/>
          <p:cNvSpPr/>
          <p:nvPr/>
        </p:nvSpPr>
        <p:spPr>
          <a:xfrm>
            <a:off x="4754880" y="3886200"/>
            <a:ext cx="4206240" cy="1234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6" name="Shape 29"/>
          <p:cNvSpPr/>
          <p:nvPr/>
        </p:nvSpPr>
        <p:spPr>
          <a:xfrm>
            <a:off x="4754880" y="3886200"/>
            <a:ext cx="54864" cy="1234440"/>
          </a:xfrm>
          <a:prstGeom prst="rect">
            <a:avLst/>
          </a:prstGeom>
          <a:solidFill>
            <a:srgbClr val="EA580C"/>
          </a:solidFill>
          <a:ln/>
        </p:spPr>
      </p:sp>
      <p:sp>
        <p:nvSpPr>
          <p:cNvPr id="37" name="Shape 30"/>
          <p:cNvSpPr/>
          <p:nvPr/>
        </p:nvSpPr>
        <p:spPr>
          <a:xfrm>
            <a:off x="4937760" y="4023360"/>
            <a:ext cx="502920" cy="502920"/>
          </a:xfrm>
          <a:prstGeom prst="ellipse">
            <a:avLst/>
          </a:prstGeom>
          <a:solidFill>
            <a:srgbClr val="EA580C"/>
          </a:solidFill>
          <a:ln/>
        </p:spPr>
      </p:sp>
      <p:pic>
        <p:nvPicPr>
          <p:cNvPr id="38" name="Image 5" descr="preencoded.png">    </p:cNvPr>
          <p:cNvPicPr>
            <a:picLocks noChangeAspect="1"/>
          </p:cNvPicPr>
          <p:nvPr/>
        </p:nvPicPr>
        <p:blipFill>
          <a:blip r:embed="rId6"/>
          <a:stretch>
            <a:fillRect/>
          </a:stretch>
        </p:blipFill>
        <p:spPr>
          <a:xfrm>
            <a:off x="5029200" y="4114800"/>
            <a:ext cx="320040" cy="320040"/>
          </a:xfrm>
          <a:prstGeom prst="rect">
            <a:avLst/>
          </a:prstGeom>
        </p:spPr>
      </p:pic>
      <p:sp>
        <p:nvSpPr>
          <p:cNvPr id="39" name="Text 31"/>
          <p:cNvSpPr/>
          <p:nvPr/>
        </p:nvSpPr>
        <p:spPr>
          <a:xfrm>
            <a:off x="5577840" y="3959352"/>
            <a:ext cx="12801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Artifact</a:t>
            </a:r>
            <a:endParaRPr lang="en-US" sz="1500" dirty="0"/>
          </a:p>
        </p:txBody>
      </p:sp>
      <p:sp>
        <p:nvSpPr>
          <p:cNvPr id="40" name="Text 32"/>
          <p:cNvSpPr/>
          <p:nvPr/>
        </p:nvSpPr>
        <p:spPr>
          <a:xfrm>
            <a:off x="5577840" y="4270248"/>
            <a:ext cx="3200400" cy="7772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A structured document produced by an agent: a PRD, architecture doc, story file, or review report. Artifacts carry context between sessions.</a:t>
            </a:r>
            <a:endParaRPr lang="en-US" sz="1000" dirty="0"/>
          </a:p>
        </p:txBody>
      </p:sp>
      <p:sp>
        <p:nvSpPr>
          <p:cNvPr id="41" name="Text 33"/>
          <p:cNvSpPr/>
          <p:nvPr/>
        </p:nvSpPr>
        <p:spPr>
          <a:xfrm>
            <a:off x="274320" y="4709160"/>
            <a:ext cx="8595360" cy="274320"/>
          </a:xfrm>
          <a:prstGeom prst="rect">
            <a:avLst/>
          </a:prstGeom>
          <a:noFill/>
          <a:ln/>
        </p:spPr>
        <p:txBody>
          <a:bodyPr wrap="square" rtlCol="0" anchor="ctr"/>
          <a:lstStyle/>
          <a:p>
            <a:pPr algn="ctr" indent="0" marL="0">
              <a:buNone/>
            </a:pPr>
            <a:r>
              <a:rPr lang="en-US" sz="1050" i="1" dirty="0">
                <a:solidFill>
                  <a:srgbClr val="0D9488"/>
                </a:solidFill>
                <a:latin typeface="Calibri" pitchFamily="34" charset="0"/>
                <a:ea typeface="Calibri" pitchFamily="34" charset="-122"/>
                <a:cs typeface="Calibri" pitchFamily="34" charset="-120"/>
              </a:rPr>
              <a:t>New role needed? Create an agent.  New capability for an existing role? Add a skill.  Both are markdown files.</a:t>
            </a:r>
            <a:endParaRPr lang="en-US" sz="1050" dirty="0"/>
          </a:p>
        </p:txBody>
      </p:sp>
      <p:sp>
        <p:nvSpPr>
          <p:cNvPr id="42"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 / 93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How It All Connects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What happens when you type a command in your AI coding tool</a:t>
            </a:r>
            <a:endParaRPr lang="en-US" sz="1300" dirty="0"/>
          </a:p>
        </p:txBody>
      </p:sp>
      <p:sp>
        <p:nvSpPr>
          <p:cNvPr id="5" name="Shape 3"/>
          <p:cNvSpPr/>
          <p:nvPr/>
        </p:nvSpPr>
        <p:spPr>
          <a:xfrm>
            <a:off x="365760" y="1325880"/>
            <a:ext cx="2560320" cy="32918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365760" y="1325880"/>
            <a:ext cx="2560320" cy="365760"/>
          </a:xfrm>
          <a:prstGeom prst="rect">
            <a:avLst/>
          </a:prstGeom>
          <a:solidFill>
            <a:srgbClr val="0D9488"/>
          </a:solidFill>
          <a:ln/>
        </p:spPr>
      </p:sp>
      <p:sp>
        <p:nvSpPr>
          <p:cNvPr id="7" name="Text 5"/>
          <p:cNvSpPr/>
          <p:nvPr/>
        </p:nvSpPr>
        <p:spPr>
          <a:xfrm>
            <a:off x="365760" y="1325880"/>
            <a:ext cx="25603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 Type a Command</a:t>
            </a:r>
            <a:endParaRPr lang="en-US" sz="1100" dirty="0"/>
          </a:p>
        </p:txBody>
      </p:sp>
      <p:sp>
        <p:nvSpPr>
          <p:cNvPr id="8" name="Text 6"/>
          <p:cNvSpPr/>
          <p:nvPr/>
        </p:nvSpPr>
        <p:spPr>
          <a:xfrm>
            <a:off x="548640" y="1874520"/>
            <a:ext cx="2194560" cy="320040"/>
          </a:xfrm>
          <a:prstGeom prst="rect">
            <a:avLst/>
          </a:prstGeom>
          <a:noFill/>
          <a:ln/>
        </p:spPr>
        <p:txBody>
          <a:bodyPr wrap="square" rtlCol="0" anchor="ctr"/>
          <a:lstStyle/>
          <a:p>
            <a:pPr algn="ctr" indent="0" marL="0">
              <a:buNone/>
            </a:pPr>
            <a:r>
              <a:rPr lang="en-US" sz="1600" b="1" dirty="0">
                <a:solidFill>
                  <a:srgbClr val="F59E0B"/>
                </a:solidFill>
                <a:latin typeface="Consolas" pitchFamily="34" charset="0"/>
                <a:ea typeface="Consolas" pitchFamily="34" charset="-122"/>
                <a:cs typeface="Consolas" pitchFamily="34" charset="-120"/>
              </a:rPr>
              <a:t>/dev-story</a:t>
            </a:r>
            <a:endParaRPr lang="en-US" sz="1600" dirty="0"/>
          </a:p>
        </p:txBody>
      </p:sp>
      <p:sp>
        <p:nvSpPr>
          <p:cNvPr id="9" name="Text 7"/>
          <p:cNvSpPr/>
          <p:nvPr/>
        </p:nvSpPr>
        <p:spPr>
          <a:xfrm>
            <a:off x="548640" y="2286000"/>
            <a:ext cx="219456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Your tool loads:</a:t>
            </a:r>
            <a:endParaRPr lang="en-US" sz="1000" dirty="0"/>
          </a:p>
        </p:txBody>
      </p:sp>
      <p:sp>
        <p:nvSpPr>
          <p:cNvPr id="10" name="Text 8"/>
          <p:cNvSpPr/>
          <p:nvPr/>
        </p:nvSpPr>
        <p:spPr>
          <a:xfrm>
            <a:off x="640080" y="2560320"/>
            <a:ext cx="2103120" cy="237744"/>
          </a:xfrm>
          <a:prstGeom prst="rect">
            <a:avLst/>
          </a:prstGeom>
          <a:noFill/>
          <a:ln/>
        </p:spPr>
        <p:txBody>
          <a:bodyPr wrap="square" lIns="0" tIns="0" rIns="0" bIns="0" rtlCol="0" anchor="ctr"/>
          <a:lstStyle/>
          <a:p>
            <a:pPr indent="0" marL="0">
              <a:buNone/>
            </a:pPr>
            <a:r>
              <a:rPr lang="en-US" sz="950" dirty="0">
                <a:solidFill>
                  <a:srgbClr val="14B8A6"/>
                </a:solidFill>
                <a:latin typeface="Calibri" pitchFamily="34" charset="0"/>
                <a:ea typeface="Calibri" pitchFamily="34" charset="-122"/>
                <a:cs typeface="Calibri" pitchFamily="34" charset="-120"/>
              </a:rPr>
              <a:t>✔  Developer Agent (persona)</a:t>
            </a:r>
            <a:endParaRPr lang="en-US" sz="950" dirty="0"/>
          </a:p>
        </p:txBody>
      </p:sp>
      <p:sp>
        <p:nvSpPr>
          <p:cNvPr id="11" name="Text 9"/>
          <p:cNvSpPr/>
          <p:nvPr/>
        </p:nvSpPr>
        <p:spPr>
          <a:xfrm>
            <a:off x="640080" y="2798064"/>
            <a:ext cx="2103120" cy="237744"/>
          </a:xfrm>
          <a:prstGeom prst="rect">
            <a:avLst/>
          </a:prstGeom>
          <a:noFill/>
          <a:ln/>
        </p:spPr>
        <p:txBody>
          <a:bodyPr wrap="square" lIns="0" tIns="0" rIns="0" bIns="0" rtlCol="0" anchor="ctr"/>
          <a:lstStyle/>
          <a:p>
            <a:pPr indent="0" marL="0">
              <a:buNone/>
            </a:pPr>
            <a:r>
              <a:rPr lang="en-US" sz="950" dirty="0">
                <a:solidFill>
                  <a:srgbClr val="14B8A6"/>
                </a:solidFill>
                <a:latin typeface="Calibri" pitchFamily="34" charset="0"/>
                <a:ea typeface="Calibri" pitchFamily="34" charset="-122"/>
                <a:cs typeface="Calibri" pitchFamily="34" charset="-120"/>
              </a:rPr>
              <a:t>✔  Coding skills (from ma-agents)</a:t>
            </a:r>
            <a:endParaRPr lang="en-US" sz="950" dirty="0"/>
          </a:p>
        </p:txBody>
      </p:sp>
      <p:sp>
        <p:nvSpPr>
          <p:cNvPr id="12" name="Text 10"/>
          <p:cNvSpPr/>
          <p:nvPr/>
        </p:nvSpPr>
        <p:spPr>
          <a:xfrm>
            <a:off x="640080" y="3035808"/>
            <a:ext cx="2103120" cy="237744"/>
          </a:xfrm>
          <a:prstGeom prst="rect">
            <a:avLst/>
          </a:prstGeom>
          <a:noFill/>
          <a:ln/>
        </p:spPr>
        <p:txBody>
          <a:bodyPr wrap="square" lIns="0" tIns="0" rIns="0" bIns="0" rtlCol="0" anchor="ctr"/>
          <a:lstStyle/>
          <a:p>
            <a:pPr indent="0" marL="0">
              <a:buNone/>
            </a:pPr>
            <a:r>
              <a:rPr lang="en-US" sz="950" dirty="0">
                <a:solidFill>
                  <a:srgbClr val="14B8A6"/>
                </a:solidFill>
                <a:latin typeface="Calibri" pitchFamily="34" charset="0"/>
                <a:ea typeface="Calibri" pitchFamily="34" charset="-122"/>
                <a:cs typeface="Calibri" pitchFamily="34" charset="-120"/>
              </a:rPr>
              <a:t>✔  Story file (artifact)</a:t>
            </a:r>
            <a:endParaRPr lang="en-US" sz="950" dirty="0"/>
          </a:p>
        </p:txBody>
      </p:sp>
      <p:sp>
        <p:nvSpPr>
          <p:cNvPr id="13" name="Text 11"/>
          <p:cNvSpPr/>
          <p:nvPr/>
        </p:nvSpPr>
        <p:spPr>
          <a:xfrm>
            <a:off x="640080" y="3273552"/>
            <a:ext cx="2103120" cy="237744"/>
          </a:xfrm>
          <a:prstGeom prst="rect">
            <a:avLst/>
          </a:prstGeom>
          <a:noFill/>
          <a:ln/>
        </p:spPr>
        <p:txBody>
          <a:bodyPr wrap="square" lIns="0" tIns="0" rIns="0" bIns="0" rtlCol="0" anchor="ctr"/>
          <a:lstStyle/>
          <a:p>
            <a:pPr indent="0" marL="0">
              <a:buNone/>
            </a:pPr>
            <a:r>
              <a:rPr lang="en-US" sz="950" dirty="0">
                <a:solidFill>
                  <a:srgbClr val="14B8A6"/>
                </a:solidFill>
                <a:latin typeface="Calibri" pitchFamily="34" charset="0"/>
                <a:ea typeface="Calibri" pitchFamily="34" charset="-122"/>
                <a:cs typeface="Calibri" pitchFamily="34" charset="-120"/>
              </a:rPr>
              <a:t>✔  Architecture doc (context)</a:t>
            </a:r>
            <a:endParaRPr lang="en-US" sz="950" dirty="0"/>
          </a:p>
        </p:txBody>
      </p:sp>
      <p:sp>
        <p:nvSpPr>
          <p:cNvPr id="14" name="Text 12"/>
          <p:cNvSpPr/>
          <p:nvPr/>
        </p:nvSpPr>
        <p:spPr>
          <a:xfrm>
            <a:off x="640080" y="3511296"/>
            <a:ext cx="2103120" cy="237744"/>
          </a:xfrm>
          <a:prstGeom prst="rect">
            <a:avLst/>
          </a:prstGeom>
          <a:noFill/>
          <a:ln/>
        </p:spPr>
        <p:txBody>
          <a:bodyPr wrap="square" lIns="0" tIns="0" rIns="0" bIns="0" rtlCol="0" anchor="ctr"/>
          <a:lstStyle/>
          <a:p>
            <a:pPr indent="0" marL="0">
              <a:buNone/>
            </a:pPr>
            <a:r>
              <a:rPr lang="en-US" sz="950" dirty="0">
                <a:solidFill>
                  <a:srgbClr val="14B8A6"/>
                </a:solidFill>
                <a:latin typeface="Calibri" pitchFamily="34" charset="0"/>
                <a:ea typeface="Calibri" pitchFamily="34" charset="-122"/>
                <a:cs typeface="Calibri" pitchFamily="34" charset="-120"/>
              </a:rPr>
              <a:t>✔  Your codebase (project files)</a:t>
            </a:r>
            <a:endParaRPr lang="en-US" sz="950" dirty="0"/>
          </a:p>
        </p:txBody>
      </p:sp>
      <p:sp>
        <p:nvSpPr>
          <p:cNvPr id="15" name="Text 13"/>
          <p:cNvSpPr/>
          <p:nvPr/>
        </p:nvSpPr>
        <p:spPr>
          <a:xfrm>
            <a:off x="548640" y="3840480"/>
            <a:ext cx="2194560" cy="45720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All packed into the</a:t>
            </a:r>
            <a:endParaRPr lang="en-US" sz="1000" dirty="0"/>
          </a:p>
          <a:p>
            <a:pPr algn="ctr" indent="0" marL="0">
              <a:buNone/>
            </a:pPr>
            <a:r>
              <a:rPr lang="en-US" sz="1000" i="1" dirty="0">
                <a:solidFill>
                  <a:srgbClr val="94A3B8"/>
                </a:solidFill>
                <a:latin typeface="Calibri" pitchFamily="34" charset="0"/>
                <a:ea typeface="Calibri" pitchFamily="34" charset="-122"/>
                <a:cs typeface="Calibri" pitchFamily="34" charset="-120"/>
              </a:rPr>
              <a:t>context window</a:t>
            </a:r>
            <a:endParaRPr lang="en-US" sz="1000" dirty="0"/>
          </a:p>
        </p:txBody>
      </p:sp>
      <p:sp>
        <p:nvSpPr>
          <p:cNvPr id="16" name="Text 14"/>
          <p:cNvSpPr/>
          <p:nvPr/>
        </p:nvSpPr>
        <p:spPr>
          <a:xfrm>
            <a:off x="2926080" y="2560320"/>
            <a:ext cx="548640" cy="548640"/>
          </a:xfrm>
          <a:prstGeom prst="rect">
            <a:avLst/>
          </a:prstGeom>
          <a:noFill/>
          <a:ln/>
        </p:spPr>
        <p:txBody>
          <a:bodyPr wrap="square" rtlCol="0" anchor="ctr"/>
          <a:lstStyle/>
          <a:p>
            <a:pPr algn="ctr" indent="0" marL="0">
              <a:buNone/>
            </a:pPr>
            <a:r>
              <a:rPr lang="en-US" sz="2200" dirty="0">
                <a:solidFill>
                  <a:srgbClr val="0D9488"/>
                </a:solidFill>
              </a:rPr>
              <a:t>▶</a:t>
            </a:r>
            <a:endParaRPr lang="en-US" sz="2200" dirty="0"/>
          </a:p>
        </p:txBody>
      </p:sp>
      <p:sp>
        <p:nvSpPr>
          <p:cNvPr id="17" name="Shape 15"/>
          <p:cNvSpPr/>
          <p:nvPr/>
        </p:nvSpPr>
        <p:spPr>
          <a:xfrm>
            <a:off x="3474720" y="1325880"/>
            <a:ext cx="2377440" cy="3291840"/>
          </a:xfrm>
          <a:prstGeom prst="rect">
            <a:avLst/>
          </a:prstGeom>
          <a:solidFill>
            <a:srgbClr val="1E293B"/>
          </a:solidFill>
          <a:ln/>
          <a:effectLst>
            <a:outerShdw sx="100000" sy="100000" kx="0" ky="0" algn="bl" rotWithShape="0" blurRad="101600" dist="38100" dir="8100000">
              <a:srgbClr val="000000">
                <a:alpha val="15000"/>
              </a:srgbClr>
            </a:outerShdw>
          </a:effectLst>
        </p:spPr>
      </p:sp>
      <p:sp>
        <p:nvSpPr>
          <p:cNvPr id="18" name="Shape 16"/>
          <p:cNvSpPr/>
          <p:nvPr/>
        </p:nvSpPr>
        <p:spPr>
          <a:xfrm>
            <a:off x="3474720" y="1325880"/>
            <a:ext cx="2377440" cy="365760"/>
          </a:xfrm>
          <a:prstGeom prst="rect">
            <a:avLst/>
          </a:prstGeom>
          <a:solidFill>
            <a:srgbClr val="DC2626"/>
          </a:solidFill>
          <a:ln/>
        </p:spPr>
      </p:sp>
      <p:sp>
        <p:nvSpPr>
          <p:cNvPr id="19" name="Text 17"/>
          <p:cNvSpPr/>
          <p:nvPr/>
        </p:nvSpPr>
        <p:spPr>
          <a:xfrm>
            <a:off x="3474720" y="1325880"/>
            <a:ext cx="2377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 Window (LLM)</a:t>
            </a:r>
            <a:endParaRPr lang="en-US" sz="1100" dirty="0"/>
          </a:p>
        </p:txBody>
      </p:sp>
      <p:sp>
        <p:nvSpPr>
          <p:cNvPr id="20" name="Shape 18"/>
          <p:cNvSpPr/>
          <p:nvPr/>
        </p:nvSpPr>
        <p:spPr>
          <a:xfrm>
            <a:off x="3657600" y="1828800"/>
            <a:ext cx="2011680" cy="438912"/>
          </a:xfrm>
          <a:prstGeom prst="rect">
            <a:avLst/>
          </a:prstGeom>
          <a:solidFill>
            <a:srgbClr val="1A2744"/>
          </a:solidFill>
          <a:ln/>
        </p:spPr>
      </p:sp>
      <p:sp>
        <p:nvSpPr>
          <p:cNvPr id="21" name="Shape 19"/>
          <p:cNvSpPr/>
          <p:nvPr/>
        </p:nvSpPr>
        <p:spPr>
          <a:xfrm>
            <a:off x="3657600" y="1828800"/>
            <a:ext cx="45720" cy="438912"/>
          </a:xfrm>
          <a:prstGeom prst="rect">
            <a:avLst/>
          </a:prstGeom>
          <a:solidFill>
            <a:srgbClr val="0D9488"/>
          </a:solidFill>
          <a:ln/>
        </p:spPr>
      </p:sp>
      <p:sp>
        <p:nvSpPr>
          <p:cNvPr id="22" name="Text 20"/>
          <p:cNvSpPr/>
          <p:nvPr/>
        </p:nvSpPr>
        <p:spPr>
          <a:xfrm>
            <a:off x="3794760" y="1828800"/>
            <a:ext cx="9144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Persona</a:t>
            </a:r>
            <a:endParaRPr lang="en-US" sz="900" dirty="0"/>
          </a:p>
        </p:txBody>
      </p:sp>
      <p:sp>
        <p:nvSpPr>
          <p:cNvPr id="23" name="Text 21"/>
          <p:cNvSpPr/>
          <p:nvPr/>
        </p:nvSpPr>
        <p:spPr>
          <a:xfrm>
            <a:off x="3794760" y="2029968"/>
            <a:ext cx="1828800" cy="201168"/>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"You are a Senior Developer..."</a:t>
            </a:r>
            <a:endParaRPr lang="en-US" sz="750" dirty="0"/>
          </a:p>
        </p:txBody>
      </p:sp>
      <p:sp>
        <p:nvSpPr>
          <p:cNvPr id="24" name="Shape 22"/>
          <p:cNvSpPr/>
          <p:nvPr/>
        </p:nvSpPr>
        <p:spPr>
          <a:xfrm>
            <a:off x="3657600" y="2359152"/>
            <a:ext cx="2011680" cy="438912"/>
          </a:xfrm>
          <a:prstGeom prst="rect">
            <a:avLst/>
          </a:prstGeom>
          <a:solidFill>
            <a:srgbClr val="1A2744"/>
          </a:solidFill>
          <a:ln/>
        </p:spPr>
      </p:sp>
      <p:sp>
        <p:nvSpPr>
          <p:cNvPr id="25" name="Shape 23"/>
          <p:cNvSpPr/>
          <p:nvPr/>
        </p:nvSpPr>
        <p:spPr>
          <a:xfrm>
            <a:off x="3657600" y="2359152"/>
            <a:ext cx="45720" cy="438912"/>
          </a:xfrm>
          <a:prstGeom prst="rect">
            <a:avLst/>
          </a:prstGeom>
          <a:solidFill>
            <a:srgbClr val="2563EB"/>
          </a:solidFill>
          <a:ln/>
        </p:spPr>
      </p:sp>
      <p:sp>
        <p:nvSpPr>
          <p:cNvPr id="26" name="Text 24"/>
          <p:cNvSpPr/>
          <p:nvPr/>
        </p:nvSpPr>
        <p:spPr>
          <a:xfrm>
            <a:off x="3794760" y="2359152"/>
            <a:ext cx="9144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Skills</a:t>
            </a:r>
            <a:endParaRPr lang="en-US" sz="900" dirty="0"/>
          </a:p>
        </p:txBody>
      </p:sp>
      <p:sp>
        <p:nvSpPr>
          <p:cNvPr id="27" name="Text 25"/>
          <p:cNvSpPr/>
          <p:nvPr/>
        </p:nvSpPr>
        <p:spPr>
          <a:xfrm>
            <a:off x="3794760" y="2560320"/>
            <a:ext cx="1828800" cy="201168"/>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code-review, js-ts-security...</a:t>
            </a:r>
            <a:endParaRPr lang="en-US" sz="750" dirty="0"/>
          </a:p>
        </p:txBody>
      </p:sp>
      <p:sp>
        <p:nvSpPr>
          <p:cNvPr id="28" name="Shape 26"/>
          <p:cNvSpPr/>
          <p:nvPr/>
        </p:nvSpPr>
        <p:spPr>
          <a:xfrm>
            <a:off x="3657600" y="2889504"/>
            <a:ext cx="2011680" cy="438912"/>
          </a:xfrm>
          <a:prstGeom prst="rect">
            <a:avLst/>
          </a:prstGeom>
          <a:solidFill>
            <a:srgbClr val="1A2744"/>
          </a:solidFill>
          <a:ln/>
        </p:spPr>
      </p:sp>
      <p:sp>
        <p:nvSpPr>
          <p:cNvPr id="29" name="Shape 27"/>
          <p:cNvSpPr/>
          <p:nvPr/>
        </p:nvSpPr>
        <p:spPr>
          <a:xfrm>
            <a:off x="3657600" y="2889504"/>
            <a:ext cx="45720" cy="438912"/>
          </a:xfrm>
          <a:prstGeom prst="rect">
            <a:avLst/>
          </a:prstGeom>
          <a:solidFill>
            <a:srgbClr val="EA580C"/>
          </a:solidFill>
          <a:ln/>
        </p:spPr>
      </p:sp>
      <p:sp>
        <p:nvSpPr>
          <p:cNvPr id="30" name="Text 28"/>
          <p:cNvSpPr/>
          <p:nvPr/>
        </p:nvSpPr>
        <p:spPr>
          <a:xfrm>
            <a:off x="3794760" y="2889504"/>
            <a:ext cx="9144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Artifacts</a:t>
            </a:r>
            <a:endParaRPr lang="en-US" sz="900" dirty="0"/>
          </a:p>
        </p:txBody>
      </p:sp>
      <p:sp>
        <p:nvSpPr>
          <p:cNvPr id="31" name="Text 29"/>
          <p:cNvSpPr/>
          <p:nvPr/>
        </p:nvSpPr>
        <p:spPr>
          <a:xfrm>
            <a:off x="3794760" y="3090672"/>
            <a:ext cx="1828800" cy="201168"/>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Story file, architecture doc</a:t>
            </a:r>
            <a:endParaRPr lang="en-US" sz="750" dirty="0"/>
          </a:p>
        </p:txBody>
      </p:sp>
      <p:sp>
        <p:nvSpPr>
          <p:cNvPr id="32" name="Shape 30"/>
          <p:cNvSpPr/>
          <p:nvPr/>
        </p:nvSpPr>
        <p:spPr>
          <a:xfrm>
            <a:off x="3657600" y="3419856"/>
            <a:ext cx="2011680" cy="438912"/>
          </a:xfrm>
          <a:prstGeom prst="rect">
            <a:avLst/>
          </a:prstGeom>
          <a:solidFill>
            <a:srgbClr val="1A2744"/>
          </a:solidFill>
          <a:ln/>
        </p:spPr>
      </p:sp>
      <p:sp>
        <p:nvSpPr>
          <p:cNvPr id="33" name="Shape 31"/>
          <p:cNvSpPr/>
          <p:nvPr/>
        </p:nvSpPr>
        <p:spPr>
          <a:xfrm>
            <a:off x="3657600" y="3419856"/>
            <a:ext cx="45720" cy="438912"/>
          </a:xfrm>
          <a:prstGeom prst="rect">
            <a:avLst/>
          </a:prstGeom>
          <a:solidFill>
            <a:srgbClr val="7C3AED"/>
          </a:solidFill>
          <a:ln/>
        </p:spPr>
      </p:sp>
      <p:sp>
        <p:nvSpPr>
          <p:cNvPr id="34" name="Text 32"/>
          <p:cNvSpPr/>
          <p:nvPr/>
        </p:nvSpPr>
        <p:spPr>
          <a:xfrm>
            <a:off x="3794760" y="3419856"/>
            <a:ext cx="9144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Project Files</a:t>
            </a:r>
            <a:endParaRPr lang="en-US" sz="900" dirty="0"/>
          </a:p>
        </p:txBody>
      </p:sp>
      <p:sp>
        <p:nvSpPr>
          <p:cNvPr id="35" name="Text 33"/>
          <p:cNvSpPr/>
          <p:nvPr/>
        </p:nvSpPr>
        <p:spPr>
          <a:xfrm>
            <a:off x="3794760" y="3621024"/>
            <a:ext cx="1828800" cy="201168"/>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Source code, tests, config</a:t>
            </a:r>
            <a:endParaRPr lang="en-US" sz="750" dirty="0"/>
          </a:p>
        </p:txBody>
      </p:sp>
      <p:sp>
        <p:nvSpPr>
          <p:cNvPr id="36" name="Shape 34"/>
          <p:cNvSpPr/>
          <p:nvPr/>
        </p:nvSpPr>
        <p:spPr>
          <a:xfrm>
            <a:off x="3657600" y="3950208"/>
            <a:ext cx="2011680" cy="438912"/>
          </a:xfrm>
          <a:prstGeom prst="rect">
            <a:avLst/>
          </a:prstGeom>
          <a:solidFill>
            <a:srgbClr val="1A2744"/>
          </a:solidFill>
          <a:ln/>
        </p:spPr>
      </p:sp>
      <p:sp>
        <p:nvSpPr>
          <p:cNvPr id="37" name="Shape 35"/>
          <p:cNvSpPr/>
          <p:nvPr/>
        </p:nvSpPr>
        <p:spPr>
          <a:xfrm>
            <a:off x="3657600" y="3950208"/>
            <a:ext cx="45720" cy="438912"/>
          </a:xfrm>
          <a:prstGeom prst="rect">
            <a:avLst/>
          </a:prstGeom>
          <a:solidFill>
            <a:srgbClr val="F59E0B"/>
          </a:solidFill>
          <a:ln/>
        </p:spPr>
      </p:sp>
      <p:sp>
        <p:nvSpPr>
          <p:cNvPr id="38" name="Text 36"/>
          <p:cNvSpPr/>
          <p:nvPr/>
        </p:nvSpPr>
        <p:spPr>
          <a:xfrm>
            <a:off x="3794760" y="3950208"/>
            <a:ext cx="9144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Your Prompt</a:t>
            </a:r>
            <a:endParaRPr lang="en-US" sz="900" dirty="0"/>
          </a:p>
        </p:txBody>
      </p:sp>
      <p:sp>
        <p:nvSpPr>
          <p:cNvPr id="39" name="Text 37"/>
          <p:cNvSpPr/>
          <p:nvPr/>
        </p:nvSpPr>
        <p:spPr>
          <a:xfrm>
            <a:off x="3794760" y="4151376"/>
            <a:ext cx="1828800" cy="201168"/>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"Implement story US-003"</a:t>
            </a:r>
            <a:endParaRPr lang="en-US" sz="750" dirty="0"/>
          </a:p>
        </p:txBody>
      </p:sp>
      <p:sp>
        <p:nvSpPr>
          <p:cNvPr id="40" name="Text 38"/>
          <p:cNvSpPr/>
          <p:nvPr/>
        </p:nvSpPr>
        <p:spPr>
          <a:xfrm>
            <a:off x="5852160" y="2560320"/>
            <a:ext cx="548640" cy="548640"/>
          </a:xfrm>
          <a:prstGeom prst="rect">
            <a:avLst/>
          </a:prstGeom>
          <a:noFill/>
          <a:ln/>
        </p:spPr>
        <p:txBody>
          <a:bodyPr wrap="square" rtlCol="0" anchor="ctr"/>
          <a:lstStyle/>
          <a:p>
            <a:pPr algn="ctr" indent="0" marL="0">
              <a:buNone/>
            </a:pPr>
            <a:r>
              <a:rPr lang="en-US" sz="2200" dirty="0">
                <a:solidFill>
                  <a:srgbClr val="0D9488"/>
                </a:solidFill>
              </a:rPr>
              <a:t>▶</a:t>
            </a:r>
            <a:endParaRPr lang="en-US" sz="2200" dirty="0"/>
          </a:p>
        </p:txBody>
      </p:sp>
      <p:sp>
        <p:nvSpPr>
          <p:cNvPr id="41" name="Shape 39"/>
          <p:cNvSpPr/>
          <p:nvPr/>
        </p:nvSpPr>
        <p:spPr>
          <a:xfrm>
            <a:off x="6400800" y="1325880"/>
            <a:ext cx="2377440" cy="32918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2" name="Shape 40"/>
          <p:cNvSpPr/>
          <p:nvPr/>
        </p:nvSpPr>
        <p:spPr>
          <a:xfrm>
            <a:off x="6400800" y="1325880"/>
            <a:ext cx="2377440" cy="365760"/>
          </a:xfrm>
          <a:prstGeom prst="rect">
            <a:avLst/>
          </a:prstGeom>
          <a:solidFill>
            <a:srgbClr val="059669"/>
          </a:solidFill>
          <a:ln/>
        </p:spPr>
      </p:sp>
      <p:sp>
        <p:nvSpPr>
          <p:cNvPr id="43" name="Text 41"/>
          <p:cNvSpPr/>
          <p:nvPr/>
        </p:nvSpPr>
        <p:spPr>
          <a:xfrm>
            <a:off x="6400800" y="1325880"/>
            <a:ext cx="2377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Produces Output</a:t>
            </a:r>
            <a:endParaRPr lang="en-US" sz="1100" dirty="0"/>
          </a:p>
        </p:txBody>
      </p:sp>
      <p:sp>
        <p:nvSpPr>
          <p:cNvPr id="44" name="Text 42"/>
          <p:cNvSpPr/>
          <p:nvPr/>
        </p:nvSpPr>
        <p:spPr>
          <a:xfrm>
            <a:off x="6583680" y="1874520"/>
            <a:ext cx="201168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  Code files</a:t>
            </a:r>
            <a:endParaRPr lang="en-US" sz="1100" dirty="0"/>
          </a:p>
        </p:txBody>
      </p:sp>
      <p:sp>
        <p:nvSpPr>
          <p:cNvPr id="45" name="Text 43"/>
          <p:cNvSpPr/>
          <p:nvPr/>
        </p:nvSpPr>
        <p:spPr>
          <a:xfrm>
            <a:off x="6766560" y="210312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Written to your project</a:t>
            </a:r>
            <a:endParaRPr lang="en-US" sz="900" dirty="0"/>
          </a:p>
        </p:txBody>
      </p:sp>
      <p:sp>
        <p:nvSpPr>
          <p:cNvPr id="46" name="Text 44"/>
          <p:cNvSpPr/>
          <p:nvPr/>
        </p:nvSpPr>
        <p:spPr>
          <a:xfrm>
            <a:off x="6583680" y="2377440"/>
            <a:ext cx="201168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  Unit tests</a:t>
            </a:r>
            <a:endParaRPr lang="en-US" sz="1100" dirty="0"/>
          </a:p>
        </p:txBody>
      </p:sp>
      <p:sp>
        <p:nvSpPr>
          <p:cNvPr id="47" name="Text 45"/>
          <p:cNvSpPr/>
          <p:nvPr/>
        </p:nvSpPr>
        <p:spPr>
          <a:xfrm>
            <a:off x="6766560" y="260604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Matching acceptance criteria</a:t>
            </a:r>
            <a:endParaRPr lang="en-US" sz="900" dirty="0"/>
          </a:p>
        </p:txBody>
      </p:sp>
      <p:sp>
        <p:nvSpPr>
          <p:cNvPr id="48" name="Text 46"/>
          <p:cNvSpPr/>
          <p:nvPr/>
        </p:nvSpPr>
        <p:spPr>
          <a:xfrm>
            <a:off x="6583680" y="2880360"/>
            <a:ext cx="201168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  Documentation</a:t>
            </a:r>
            <a:endParaRPr lang="en-US" sz="1100" dirty="0"/>
          </a:p>
        </p:txBody>
      </p:sp>
      <p:sp>
        <p:nvSpPr>
          <p:cNvPr id="49" name="Text 47"/>
          <p:cNvSpPr/>
          <p:nvPr/>
        </p:nvSpPr>
        <p:spPr>
          <a:xfrm>
            <a:off x="6766560" y="31089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Per coding standards</a:t>
            </a:r>
            <a:endParaRPr lang="en-US" sz="900" dirty="0"/>
          </a:p>
        </p:txBody>
      </p:sp>
      <p:sp>
        <p:nvSpPr>
          <p:cNvPr id="50" name="Text 48"/>
          <p:cNvSpPr/>
          <p:nvPr/>
        </p:nvSpPr>
        <p:spPr>
          <a:xfrm>
            <a:off x="6583680" y="3383280"/>
            <a:ext cx="201168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  Review report</a:t>
            </a:r>
            <a:endParaRPr lang="en-US" sz="1100" dirty="0"/>
          </a:p>
        </p:txBody>
      </p:sp>
      <p:sp>
        <p:nvSpPr>
          <p:cNvPr id="51" name="Text 49"/>
          <p:cNvSpPr/>
          <p:nvPr/>
        </p:nvSpPr>
        <p:spPr>
          <a:xfrm>
            <a:off x="6766560" y="361188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Quality + security checks</a:t>
            </a:r>
            <a:endParaRPr lang="en-US" sz="900" dirty="0"/>
          </a:p>
        </p:txBody>
      </p:sp>
      <p:sp>
        <p:nvSpPr>
          <p:cNvPr id="52" name="Text 50"/>
          <p:cNvSpPr/>
          <p:nvPr/>
        </p:nvSpPr>
        <p:spPr>
          <a:xfrm>
            <a:off x="365760" y="4709160"/>
            <a:ext cx="841248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The more relevant context in the window, the better the output. BMAD maximizes this.</a:t>
            </a:r>
            <a:endParaRPr lang="en-US" sz="1000" dirty="0"/>
          </a:p>
        </p:txBody>
      </p:sp>
      <p:sp>
        <p:nvSpPr>
          <p:cNvPr id="53" name="Text 5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 / 93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is BMAD-METHOD?</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Breakthrough Method of Agile AI-Driven Development</a:t>
            </a:r>
            <a:endParaRPr lang="en-US" sz="1300" dirty="0"/>
          </a:p>
        </p:txBody>
      </p:sp>
      <p:sp>
        <p:nvSpPr>
          <p:cNvPr id="5" name="Shape 3"/>
          <p:cNvSpPr/>
          <p:nvPr/>
        </p:nvSpPr>
        <p:spPr>
          <a:xfrm>
            <a:off x="457200" y="1280160"/>
            <a:ext cx="8229600" cy="20116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80160"/>
            <a:ext cx="54864" cy="2011680"/>
          </a:xfrm>
          <a:prstGeom prst="rect">
            <a:avLst/>
          </a:prstGeom>
          <a:solidFill>
            <a:srgbClr val="0D9488"/>
          </a:solidFill>
          <a:ln/>
        </p:spPr>
      </p:sp>
      <p:sp>
        <p:nvSpPr>
          <p:cNvPr id="7" name="Text 5"/>
          <p:cNvSpPr/>
          <p:nvPr/>
        </p:nvSpPr>
        <p:spPr>
          <a:xfrm>
            <a:off x="731520" y="1371600"/>
            <a:ext cx="768096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The BMad Method is an AI-driven development framework that helps you build software through a complete process from ideation and planning, through agentic implementation.</a:t>
            </a:r>
            <a:endParaRPr lang="en-US" sz="1400" dirty="0"/>
          </a:p>
        </p:txBody>
      </p:sp>
      <p:sp>
        <p:nvSpPr>
          <p:cNvPr id="8" name="Text 6"/>
          <p:cNvSpPr/>
          <p:nvPr/>
        </p:nvSpPr>
        <p:spPr>
          <a:xfrm>
            <a:off x="731520" y="2011680"/>
            <a:ext cx="7680960" cy="64008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It provides specialized AI agents, guided workflows, and intelligent planning that adapts to your project’s complexity — from fixing a bug to building an enterprise platform.</a:t>
            </a:r>
            <a:endParaRPr lang="en-US" sz="1400" dirty="0"/>
          </a:p>
        </p:txBody>
      </p:sp>
      <p:sp>
        <p:nvSpPr>
          <p:cNvPr id="9" name="Text 7"/>
          <p:cNvSpPr/>
          <p:nvPr/>
        </p:nvSpPr>
        <p:spPr>
          <a:xfrm>
            <a:off x="731520" y="2651760"/>
            <a:ext cx="7680960" cy="502920"/>
          </a:xfrm>
          <a:prstGeom prst="rect">
            <a:avLst/>
          </a:prstGeom>
          <a:noFill/>
          <a:ln/>
        </p:spPr>
        <p:txBody>
          <a:bodyPr wrap="square" lIns="0" tIns="0" rIns="0" bIns="0" rtlCol="0" anchor="t"/>
          <a:lstStyle/>
          <a:p>
            <a:pPr indent="0" marL="0">
              <a:buNone/>
            </a:pPr>
            <a:r>
              <a:rPr lang="en-US" sz="1100" dirty="0">
                <a:solidFill>
                  <a:srgbClr val="14B8A6"/>
                </a:solidFill>
                <a:latin typeface="Calibri" pitchFamily="34" charset="0"/>
                <a:ea typeface="Calibri" pitchFamily="34" charset="-122"/>
                <a:cs typeface="Calibri" pitchFamily="34" charset="-120"/>
              </a:rPr>
              <a:t>Unlike traditional AI tools that do the thinking for you and produce average results, BMAD agents act as expert collaborators who guide you through a structured process to bring out your best thinking in partnership with the AI.</a:t>
            </a:r>
            <a:endParaRPr lang="en-US" sz="1100" dirty="0"/>
          </a:p>
        </p:txBody>
      </p:sp>
      <p:sp>
        <p:nvSpPr>
          <p:cNvPr id="10" name="Shape 8"/>
          <p:cNvSpPr/>
          <p:nvPr/>
        </p:nvSpPr>
        <p:spPr>
          <a:xfrm>
            <a:off x="457200" y="3520440"/>
            <a:ext cx="196596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1" name="Shape 9"/>
          <p:cNvSpPr/>
          <p:nvPr/>
        </p:nvSpPr>
        <p:spPr>
          <a:xfrm>
            <a:off x="457200" y="3520440"/>
            <a:ext cx="1965960" cy="45720"/>
          </a:xfrm>
          <a:prstGeom prst="rect">
            <a:avLst/>
          </a:prstGeom>
          <a:solidFill>
            <a:srgbClr val="0D9488"/>
          </a:solidFill>
          <a:ln/>
        </p:spPr>
      </p:sp>
      <p:sp>
        <p:nvSpPr>
          <p:cNvPr id="12" name="Text 10"/>
          <p:cNvSpPr/>
          <p:nvPr/>
        </p:nvSpPr>
        <p:spPr>
          <a:xfrm>
            <a:off x="548640" y="3611880"/>
            <a:ext cx="17830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 Source</a:t>
            </a:r>
            <a:endParaRPr lang="en-US" sz="1200" dirty="0"/>
          </a:p>
        </p:txBody>
      </p:sp>
      <p:sp>
        <p:nvSpPr>
          <p:cNvPr id="13" name="Text 11"/>
          <p:cNvSpPr/>
          <p:nvPr/>
        </p:nvSpPr>
        <p:spPr>
          <a:xfrm>
            <a:off x="548640" y="3886200"/>
            <a:ext cx="1783080" cy="6400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MIT Licensed</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100% Free</a:t>
            </a:r>
            <a:endParaRPr lang="en-US" sz="1000" dirty="0"/>
          </a:p>
        </p:txBody>
      </p:sp>
      <p:sp>
        <p:nvSpPr>
          <p:cNvPr id="14" name="Shape 12"/>
          <p:cNvSpPr/>
          <p:nvPr/>
        </p:nvSpPr>
        <p:spPr>
          <a:xfrm>
            <a:off x="2606040" y="3520440"/>
            <a:ext cx="196596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5" name="Shape 13"/>
          <p:cNvSpPr/>
          <p:nvPr/>
        </p:nvSpPr>
        <p:spPr>
          <a:xfrm>
            <a:off x="2606040" y="3520440"/>
            <a:ext cx="1965960" cy="45720"/>
          </a:xfrm>
          <a:prstGeom prst="rect">
            <a:avLst/>
          </a:prstGeom>
          <a:solidFill>
            <a:srgbClr val="2563EB"/>
          </a:solidFill>
          <a:ln/>
        </p:spPr>
      </p:sp>
      <p:sp>
        <p:nvSpPr>
          <p:cNvPr id="16" name="Text 14"/>
          <p:cNvSpPr/>
          <p:nvPr/>
        </p:nvSpPr>
        <p:spPr>
          <a:xfrm>
            <a:off x="2697480" y="3611880"/>
            <a:ext cx="17830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IDEs</a:t>
            </a:r>
            <a:endParaRPr lang="en-US" sz="1200" dirty="0"/>
          </a:p>
        </p:txBody>
      </p:sp>
      <p:sp>
        <p:nvSpPr>
          <p:cNvPr id="17" name="Text 15"/>
          <p:cNvSpPr/>
          <p:nvPr/>
        </p:nvSpPr>
        <p:spPr>
          <a:xfrm>
            <a:off x="2697480" y="3886200"/>
            <a:ext cx="1783080" cy="6400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Claude Code, Cursor,</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Cline, Antigravity, +more</a:t>
            </a:r>
            <a:endParaRPr lang="en-US" sz="1000" dirty="0"/>
          </a:p>
        </p:txBody>
      </p:sp>
      <p:sp>
        <p:nvSpPr>
          <p:cNvPr id="18" name="Shape 16"/>
          <p:cNvSpPr/>
          <p:nvPr/>
        </p:nvSpPr>
        <p:spPr>
          <a:xfrm>
            <a:off x="4754880" y="3520440"/>
            <a:ext cx="196596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9" name="Shape 17"/>
          <p:cNvSpPr/>
          <p:nvPr/>
        </p:nvSpPr>
        <p:spPr>
          <a:xfrm>
            <a:off x="4754880" y="3520440"/>
            <a:ext cx="1965960" cy="45720"/>
          </a:xfrm>
          <a:prstGeom prst="rect">
            <a:avLst/>
          </a:prstGeom>
          <a:solidFill>
            <a:srgbClr val="7C3AED"/>
          </a:solidFill>
          <a:ln/>
        </p:spPr>
      </p:sp>
      <p:sp>
        <p:nvSpPr>
          <p:cNvPr id="20" name="Text 18"/>
          <p:cNvSpPr/>
          <p:nvPr/>
        </p:nvSpPr>
        <p:spPr>
          <a:xfrm>
            <a:off x="4846320" y="3611880"/>
            <a:ext cx="17830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Adaptive</a:t>
            </a:r>
            <a:endParaRPr lang="en-US" sz="1200" dirty="0"/>
          </a:p>
        </p:txBody>
      </p:sp>
      <p:sp>
        <p:nvSpPr>
          <p:cNvPr id="21" name="Text 19"/>
          <p:cNvSpPr/>
          <p:nvPr/>
        </p:nvSpPr>
        <p:spPr>
          <a:xfrm>
            <a:off x="4846320" y="3886200"/>
            <a:ext cx="1783080" cy="6400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Bug fix to enterprise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automatically scales</a:t>
            </a:r>
            <a:endParaRPr lang="en-US" sz="1000" dirty="0"/>
          </a:p>
        </p:txBody>
      </p:sp>
      <p:sp>
        <p:nvSpPr>
          <p:cNvPr id="22" name="Shape 20"/>
          <p:cNvSpPr/>
          <p:nvPr/>
        </p:nvSpPr>
        <p:spPr>
          <a:xfrm>
            <a:off x="6903720" y="3520440"/>
            <a:ext cx="196596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3" name="Shape 21"/>
          <p:cNvSpPr/>
          <p:nvPr/>
        </p:nvSpPr>
        <p:spPr>
          <a:xfrm>
            <a:off x="6903720" y="3520440"/>
            <a:ext cx="1965960" cy="45720"/>
          </a:xfrm>
          <a:prstGeom prst="rect">
            <a:avLst/>
          </a:prstGeom>
          <a:solidFill>
            <a:srgbClr val="059669"/>
          </a:solidFill>
          <a:ln/>
        </p:spPr>
      </p:sp>
      <p:sp>
        <p:nvSpPr>
          <p:cNvPr id="24" name="Text 22"/>
          <p:cNvSpPr/>
          <p:nvPr/>
        </p:nvSpPr>
        <p:spPr>
          <a:xfrm>
            <a:off x="6995160" y="3611880"/>
            <a:ext cx="17830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V6 Stable</a:t>
            </a:r>
            <a:endParaRPr lang="en-US" sz="1200" dirty="0"/>
          </a:p>
        </p:txBody>
      </p:sp>
      <p:sp>
        <p:nvSpPr>
          <p:cNvPr id="25" name="Text 23"/>
          <p:cNvSpPr/>
          <p:nvPr/>
        </p:nvSpPr>
        <p:spPr>
          <a:xfrm>
            <a:off x="6995160" y="3886200"/>
            <a:ext cx="1783080" cy="6400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Production ready</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Active community</a:t>
            </a:r>
            <a:endParaRPr lang="en-US" sz="1000" dirty="0"/>
          </a:p>
        </p:txBody>
      </p:sp>
      <p:sp>
        <p:nvSpPr>
          <p:cNvPr id="26" name="Text 24"/>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docs.bmad-method.org  |  github.com/bmad-code-org/BMAD-METHOD</a:t>
            </a:r>
            <a:endParaRPr lang="en-US" sz="1000" dirty="0"/>
          </a:p>
        </p:txBody>
      </p:sp>
      <p:sp>
        <p:nvSpPr>
          <p:cNvPr id="27" name="Text 2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 / 93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BMAD Core Pillars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The four foundational concepts that make BMAD work</a:t>
            </a:r>
            <a:endParaRPr lang="en-US" sz="1300" dirty="0"/>
          </a:p>
        </p:txBody>
      </p:sp>
      <p:sp>
        <p:nvSpPr>
          <p:cNvPr id="5" name="Shape 3"/>
          <p:cNvSpPr/>
          <p:nvPr/>
        </p:nvSpPr>
        <p:spPr>
          <a:xfrm>
            <a:off x="457200" y="1371600"/>
            <a:ext cx="3931920" cy="1371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371600"/>
            <a:ext cx="54864" cy="1371600"/>
          </a:xfrm>
          <a:prstGeom prst="rect">
            <a:avLst/>
          </a:prstGeom>
          <a:solidFill>
            <a:srgbClr val="0D9488"/>
          </a:solidFill>
          <a:ln/>
        </p:spPr>
      </p:sp>
      <p:sp>
        <p:nvSpPr>
          <p:cNvPr id="7" name="Shape 5"/>
          <p:cNvSpPr/>
          <p:nvPr/>
        </p:nvSpPr>
        <p:spPr>
          <a:xfrm>
            <a:off x="685800" y="1645920"/>
            <a:ext cx="640080" cy="64008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822960" y="1783080"/>
            <a:ext cx="365760" cy="365760"/>
          </a:xfrm>
          <a:prstGeom prst="rect">
            <a:avLst/>
          </a:prstGeom>
        </p:spPr>
      </p:pic>
      <p:sp>
        <p:nvSpPr>
          <p:cNvPr id="9" name="Text 6"/>
          <p:cNvSpPr/>
          <p:nvPr/>
        </p:nvSpPr>
        <p:spPr>
          <a:xfrm>
            <a:off x="1508760" y="1536192"/>
            <a:ext cx="2651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Specialized Agents</a:t>
            </a:r>
            <a:endParaRPr lang="en-US" sz="1500" dirty="0"/>
          </a:p>
        </p:txBody>
      </p:sp>
      <p:sp>
        <p:nvSpPr>
          <p:cNvPr id="10" name="Text 7"/>
          <p:cNvSpPr/>
          <p:nvPr/>
        </p:nvSpPr>
        <p:spPr>
          <a:xfrm>
            <a:off x="1508760" y="1920240"/>
            <a:ext cx="2651760" cy="6858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12+ AI personas — Analyst, PM, Architect, Developer, Scrum Master, QA — each with defined expertise and responsibilities</a:t>
            </a:r>
            <a:endParaRPr lang="en-US" sz="1050" dirty="0"/>
          </a:p>
        </p:txBody>
      </p:sp>
      <p:sp>
        <p:nvSpPr>
          <p:cNvPr id="11" name="Shape 8"/>
          <p:cNvSpPr/>
          <p:nvPr/>
        </p:nvSpPr>
        <p:spPr>
          <a:xfrm>
            <a:off x="4754880" y="1371600"/>
            <a:ext cx="3931920" cy="1371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2" name="Shape 9"/>
          <p:cNvSpPr/>
          <p:nvPr/>
        </p:nvSpPr>
        <p:spPr>
          <a:xfrm>
            <a:off x="4754880" y="1371600"/>
            <a:ext cx="54864" cy="1371600"/>
          </a:xfrm>
          <a:prstGeom prst="rect">
            <a:avLst/>
          </a:prstGeom>
          <a:solidFill>
            <a:srgbClr val="0D9488"/>
          </a:solidFill>
          <a:ln/>
        </p:spPr>
      </p:sp>
      <p:sp>
        <p:nvSpPr>
          <p:cNvPr id="13" name="Shape 10"/>
          <p:cNvSpPr/>
          <p:nvPr/>
        </p:nvSpPr>
        <p:spPr>
          <a:xfrm>
            <a:off x="4983480" y="1645920"/>
            <a:ext cx="640080" cy="640080"/>
          </a:xfrm>
          <a:prstGeom prst="ellipse">
            <a:avLst/>
          </a:prstGeom>
          <a:solidFill>
            <a:srgbClr val="0D9488"/>
          </a:solidFill>
          <a:ln/>
        </p:spPr>
      </p:sp>
      <p:pic>
        <p:nvPicPr>
          <p:cNvPr id="14" name="Image 1" descr="preencoded.png">    </p:cNvPr>
          <p:cNvPicPr>
            <a:picLocks noChangeAspect="1"/>
          </p:cNvPicPr>
          <p:nvPr/>
        </p:nvPicPr>
        <p:blipFill>
          <a:blip r:embed="rId2"/>
          <a:stretch>
            <a:fillRect/>
          </a:stretch>
        </p:blipFill>
        <p:spPr>
          <a:xfrm>
            <a:off x="5120640" y="1783080"/>
            <a:ext cx="365760" cy="365760"/>
          </a:xfrm>
          <a:prstGeom prst="rect">
            <a:avLst/>
          </a:prstGeom>
        </p:spPr>
      </p:pic>
      <p:sp>
        <p:nvSpPr>
          <p:cNvPr id="15" name="Text 11"/>
          <p:cNvSpPr/>
          <p:nvPr/>
        </p:nvSpPr>
        <p:spPr>
          <a:xfrm>
            <a:off x="5806440" y="1536192"/>
            <a:ext cx="2651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Structured Workflows</a:t>
            </a:r>
            <a:endParaRPr lang="en-US" sz="1500" dirty="0"/>
          </a:p>
        </p:txBody>
      </p:sp>
      <p:sp>
        <p:nvSpPr>
          <p:cNvPr id="16" name="Text 12"/>
          <p:cNvSpPr/>
          <p:nvPr/>
        </p:nvSpPr>
        <p:spPr>
          <a:xfrm>
            <a:off x="5806440" y="1920240"/>
            <a:ext cx="2651760" cy="6858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Guided step-by-step processes from initial analysis to deployment, with clear handoff points between agents</a:t>
            </a:r>
            <a:endParaRPr lang="en-US" sz="1050" dirty="0"/>
          </a:p>
        </p:txBody>
      </p:sp>
      <p:sp>
        <p:nvSpPr>
          <p:cNvPr id="17" name="Shape 13"/>
          <p:cNvSpPr/>
          <p:nvPr/>
        </p:nvSpPr>
        <p:spPr>
          <a:xfrm>
            <a:off x="457200" y="3017520"/>
            <a:ext cx="3931920" cy="1371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4"/>
          <p:cNvSpPr/>
          <p:nvPr/>
        </p:nvSpPr>
        <p:spPr>
          <a:xfrm>
            <a:off x="457200" y="3017520"/>
            <a:ext cx="54864" cy="1371600"/>
          </a:xfrm>
          <a:prstGeom prst="rect">
            <a:avLst/>
          </a:prstGeom>
          <a:solidFill>
            <a:srgbClr val="0D9488"/>
          </a:solidFill>
          <a:ln/>
        </p:spPr>
      </p:sp>
      <p:sp>
        <p:nvSpPr>
          <p:cNvPr id="19" name="Shape 15"/>
          <p:cNvSpPr/>
          <p:nvPr/>
        </p:nvSpPr>
        <p:spPr>
          <a:xfrm>
            <a:off x="685800" y="3291840"/>
            <a:ext cx="640080" cy="640080"/>
          </a:xfrm>
          <a:prstGeom prst="ellipse">
            <a:avLst/>
          </a:prstGeom>
          <a:solidFill>
            <a:srgbClr val="0D9488"/>
          </a:solidFill>
          <a:ln/>
        </p:spPr>
      </p:sp>
      <p:pic>
        <p:nvPicPr>
          <p:cNvPr id="20" name="Image 2" descr="preencoded.png">    </p:cNvPr>
          <p:cNvPicPr>
            <a:picLocks noChangeAspect="1"/>
          </p:cNvPicPr>
          <p:nvPr/>
        </p:nvPicPr>
        <p:blipFill>
          <a:blip r:embed="rId3"/>
          <a:stretch>
            <a:fillRect/>
          </a:stretch>
        </p:blipFill>
        <p:spPr>
          <a:xfrm>
            <a:off x="822960" y="3429000"/>
            <a:ext cx="365760" cy="365760"/>
          </a:xfrm>
          <a:prstGeom prst="rect">
            <a:avLst/>
          </a:prstGeom>
        </p:spPr>
      </p:pic>
      <p:sp>
        <p:nvSpPr>
          <p:cNvPr id="21" name="Text 16"/>
          <p:cNvSpPr/>
          <p:nvPr/>
        </p:nvSpPr>
        <p:spPr>
          <a:xfrm>
            <a:off x="1508760" y="3182112"/>
            <a:ext cx="2651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Agent-as-Code</a:t>
            </a:r>
            <a:endParaRPr lang="en-US" sz="1500" dirty="0"/>
          </a:p>
        </p:txBody>
      </p:sp>
      <p:sp>
        <p:nvSpPr>
          <p:cNvPr id="22" name="Text 17"/>
          <p:cNvSpPr/>
          <p:nvPr/>
        </p:nvSpPr>
        <p:spPr>
          <a:xfrm>
            <a:off x="1508760" y="3566160"/>
            <a:ext cx="2651760" cy="6858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Agents defined as version-controlled markdown files — portable, shareable, and customizable for your organization</a:t>
            </a:r>
            <a:endParaRPr lang="en-US" sz="1050" dirty="0"/>
          </a:p>
        </p:txBody>
      </p:sp>
      <p:sp>
        <p:nvSpPr>
          <p:cNvPr id="23" name="Shape 18"/>
          <p:cNvSpPr/>
          <p:nvPr/>
        </p:nvSpPr>
        <p:spPr>
          <a:xfrm>
            <a:off x="4754880" y="3017520"/>
            <a:ext cx="3931920" cy="1371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4" name="Shape 19"/>
          <p:cNvSpPr/>
          <p:nvPr/>
        </p:nvSpPr>
        <p:spPr>
          <a:xfrm>
            <a:off x="4754880" y="3017520"/>
            <a:ext cx="54864" cy="1371600"/>
          </a:xfrm>
          <a:prstGeom prst="rect">
            <a:avLst/>
          </a:prstGeom>
          <a:solidFill>
            <a:srgbClr val="0D9488"/>
          </a:solidFill>
          <a:ln/>
        </p:spPr>
      </p:sp>
      <p:sp>
        <p:nvSpPr>
          <p:cNvPr id="25" name="Shape 20"/>
          <p:cNvSpPr/>
          <p:nvPr/>
        </p:nvSpPr>
        <p:spPr>
          <a:xfrm>
            <a:off x="4983480" y="3291840"/>
            <a:ext cx="640080" cy="640080"/>
          </a:xfrm>
          <a:prstGeom prst="ellipse">
            <a:avLst/>
          </a:prstGeom>
          <a:solidFill>
            <a:srgbClr val="0D9488"/>
          </a:solidFill>
          <a:ln/>
        </p:spPr>
      </p:sp>
      <p:pic>
        <p:nvPicPr>
          <p:cNvPr id="26" name="Image 3" descr="preencoded.png">    </p:cNvPr>
          <p:cNvPicPr>
            <a:picLocks noChangeAspect="1"/>
          </p:cNvPicPr>
          <p:nvPr/>
        </p:nvPicPr>
        <p:blipFill>
          <a:blip r:embed="rId4"/>
          <a:stretch>
            <a:fillRect/>
          </a:stretch>
        </p:blipFill>
        <p:spPr>
          <a:xfrm>
            <a:off x="5120640" y="3429000"/>
            <a:ext cx="365760" cy="365760"/>
          </a:xfrm>
          <a:prstGeom prst="rect">
            <a:avLst/>
          </a:prstGeom>
        </p:spPr>
      </p:pic>
      <p:sp>
        <p:nvSpPr>
          <p:cNvPr id="27" name="Text 21"/>
          <p:cNvSpPr/>
          <p:nvPr/>
        </p:nvSpPr>
        <p:spPr>
          <a:xfrm>
            <a:off x="5806440" y="3182112"/>
            <a:ext cx="26517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Context Engineering</a:t>
            </a:r>
            <a:endParaRPr lang="en-US" sz="1500" dirty="0"/>
          </a:p>
        </p:txBody>
      </p:sp>
      <p:sp>
        <p:nvSpPr>
          <p:cNvPr id="28" name="Text 22"/>
          <p:cNvSpPr/>
          <p:nvPr/>
        </p:nvSpPr>
        <p:spPr>
          <a:xfrm>
            <a:off x="5806440" y="3566160"/>
            <a:ext cx="2651760" cy="68580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Rich artifacts flow between phases so no context is lost. Each agent builds on the work of its predecessors</a:t>
            </a:r>
            <a:endParaRPr lang="en-US" sz="1050" dirty="0"/>
          </a:p>
        </p:txBody>
      </p:sp>
      <p:sp>
        <p:nvSpPr>
          <p:cNvPr id="29" name="Text 23"/>
          <p:cNvSpPr/>
          <p:nvPr/>
        </p:nvSpPr>
        <p:spPr>
          <a:xfrm>
            <a:off x="457200" y="4663440"/>
            <a:ext cx="822960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Open Source  |  35K+ GitHub Stars  |  MIT Licensed  |  Works with Claude Code, Cursor, Cline</a:t>
            </a:r>
            <a:endParaRPr lang="en-US" sz="1000" dirty="0"/>
          </a:p>
        </p:txBody>
      </p:sp>
      <p:sp>
        <p:nvSpPr>
          <p:cNvPr id="30" name="Text 2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 / 93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How BMAD Fits Our Organization</a:t>
            </a:r>
            <a:endParaRPr lang="en-US" sz="2600" dirty="0"/>
          </a:p>
        </p:txBody>
      </p:sp>
      <p:sp>
        <p:nvSpPr>
          <p:cNvPr id="5" name="Shape 3"/>
          <p:cNvSpPr/>
          <p:nvPr/>
        </p:nvSpPr>
        <p:spPr>
          <a:xfrm>
            <a:off x="457200" y="114300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143000"/>
            <a:ext cx="54864" cy="1051560"/>
          </a:xfrm>
          <a:prstGeom prst="rect">
            <a:avLst/>
          </a:prstGeom>
          <a:solidFill>
            <a:srgbClr val="0D9488"/>
          </a:solidFill>
          <a:ln/>
        </p:spPr>
      </p:sp>
      <p:sp>
        <p:nvSpPr>
          <p:cNvPr id="7" name="Shape 5"/>
          <p:cNvSpPr/>
          <p:nvPr/>
        </p:nvSpPr>
        <p:spPr>
          <a:xfrm>
            <a:off x="731520" y="1371600"/>
            <a:ext cx="548640" cy="548640"/>
          </a:xfrm>
          <a:prstGeom prst="ellipse">
            <a:avLst/>
          </a:prstGeom>
          <a:solidFill>
            <a:srgbClr val="0D9488"/>
          </a:solidFill>
          <a:ln/>
        </p:spPr>
      </p:sp>
      <p:sp>
        <p:nvSpPr>
          <p:cNvPr id="8" name="Text 6"/>
          <p:cNvSpPr/>
          <p:nvPr/>
        </p:nvSpPr>
        <p:spPr>
          <a:xfrm>
            <a:off x="731520" y="137160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508760" y="1252728"/>
            <a:ext cx="274320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BMAD Core</a:t>
            </a:r>
            <a:endParaRPr lang="en-US" sz="1600" dirty="0"/>
          </a:p>
        </p:txBody>
      </p:sp>
      <p:sp>
        <p:nvSpPr>
          <p:cNvPr id="10" name="Text 8"/>
          <p:cNvSpPr/>
          <p:nvPr/>
        </p:nvSpPr>
        <p:spPr>
          <a:xfrm>
            <a:off x="1508760" y="1581912"/>
            <a:ext cx="2743200" cy="320040"/>
          </a:xfrm>
          <a:prstGeom prst="rect">
            <a:avLst/>
          </a:prstGeom>
          <a:noFill/>
          <a:ln/>
        </p:spPr>
        <p:txBody>
          <a:bodyPr wrap="square" lIns="0" tIns="0" rIns="0" bIns="0" rtlCol="0" anchor="t"/>
          <a:lstStyle/>
          <a:p>
            <a:pPr indent="0" marL="0">
              <a:buNone/>
            </a:pPr>
            <a:r>
              <a:rPr lang="en-US" sz="1100" b="1" dirty="0">
                <a:solidFill>
                  <a:srgbClr val="0D9488"/>
                </a:solidFill>
                <a:latin typeface="Calibri" pitchFamily="34" charset="0"/>
                <a:ea typeface="Calibri" pitchFamily="34" charset="-122"/>
                <a:cs typeface="Calibri" pitchFamily="34" charset="-120"/>
              </a:rPr>
              <a:t>Agents, Workflows, Artifacts</a:t>
            </a:r>
            <a:endParaRPr lang="en-US" sz="1100" dirty="0"/>
          </a:p>
        </p:txBody>
      </p:sp>
      <p:sp>
        <p:nvSpPr>
          <p:cNvPr id="11" name="Text 9"/>
          <p:cNvSpPr/>
          <p:nvPr/>
        </p:nvSpPr>
        <p:spPr>
          <a:xfrm>
            <a:off x="4114800" y="1280160"/>
            <a:ext cx="4297680" cy="7772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open-source framework provides the engine: specialized agents, guided workflows, and documentation-first development.</a:t>
            </a:r>
            <a:endParaRPr lang="en-US" sz="1100" dirty="0"/>
          </a:p>
        </p:txBody>
      </p:sp>
      <p:sp>
        <p:nvSpPr>
          <p:cNvPr id="12" name="Shape 10"/>
          <p:cNvSpPr/>
          <p:nvPr/>
        </p:nvSpPr>
        <p:spPr>
          <a:xfrm>
            <a:off x="457200" y="2423160"/>
            <a:ext cx="8229600" cy="1051560"/>
          </a:xfrm>
          <a:prstGeom prst="rect">
            <a:avLst/>
          </a:prstGeom>
          <a:solidFill>
            <a:srgbClr val="E2E8F0"/>
          </a:solidFill>
          <a:ln/>
          <a:effectLst>
            <a:outerShdw sx="100000" sy="100000" kx="0" ky="0" algn="bl" rotWithShape="0" blurRad="76200" dist="25400" dir="8100000">
              <a:srgbClr val="000000">
                <a:alpha val="12000"/>
              </a:srgbClr>
            </a:outerShdw>
          </a:effectLst>
        </p:spPr>
      </p:sp>
      <p:sp>
        <p:nvSpPr>
          <p:cNvPr id="13" name="Shape 11"/>
          <p:cNvSpPr/>
          <p:nvPr/>
        </p:nvSpPr>
        <p:spPr>
          <a:xfrm>
            <a:off x="457200" y="2423160"/>
            <a:ext cx="54864" cy="1051560"/>
          </a:xfrm>
          <a:prstGeom prst="rect">
            <a:avLst/>
          </a:prstGeom>
          <a:solidFill>
            <a:srgbClr val="0D9488"/>
          </a:solidFill>
          <a:ln/>
        </p:spPr>
      </p:sp>
      <p:sp>
        <p:nvSpPr>
          <p:cNvPr id="14" name="Shape 12"/>
          <p:cNvSpPr/>
          <p:nvPr/>
        </p:nvSpPr>
        <p:spPr>
          <a:xfrm>
            <a:off x="731520" y="2651760"/>
            <a:ext cx="548640" cy="548640"/>
          </a:xfrm>
          <a:prstGeom prst="ellipse">
            <a:avLst/>
          </a:prstGeom>
          <a:solidFill>
            <a:srgbClr val="0D9488"/>
          </a:solidFill>
          <a:ln/>
        </p:spPr>
      </p:sp>
      <p:sp>
        <p:nvSpPr>
          <p:cNvPr id="15" name="Text 13"/>
          <p:cNvSpPr/>
          <p:nvPr/>
        </p:nvSpPr>
        <p:spPr>
          <a:xfrm>
            <a:off x="731520" y="26517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1508760" y="2532888"/>
            <a:ext cx="274320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MA-Agents</a:t>
            </a:r>
            <a:endParaRPr lang="en-US" sz="1600" dirty="0"/>
          </a:p>
        </p:txBody>
      </p:sp>
      <p:sp>
        <p:nvSpPr>
          <p:cNvPr id="17" name="Text 15"/>
          <p:cNvSpPr/>
          <p:nvPr/>
        </p:nvSpPr>
        <p:spPr>
          <a:xfrm>
            <a:off x="1508760" y="2862072"/>
            <a:ext cx="2743200" cy="320040"/>
          </a:xfrm>
          <a:prstGeom prst="rect">
            <a:avLst/>
          </a:prstGeom>
          <a:noFill/>
          <a:ln/>
        </p:spPr>
        <p:txBody>
          <a:bodyPr wrap="square" lIns="0" tIns="0" rIns="0" bIns="0" rtlCol="0" anchor="t"/>
          <a:lstStyle/>
          <a:p>
            <a:pPr indent="0" marL="0">
              <a:buNone/>
            </a:pPr>
            <a:r>
              <a:rPr lang="en-US" sz="1100" b="1" dirty="0">
                <a:solidFill>
                  <a:srgbClr val="0D9488"/>
                </a:solidFill>
                <a:latin typeface="Calibri" pitchFamily="34" charset="0"/>
                <a:ea typeface="Calibri" pitchFamily="34" charset="-122"/>
                <a:cs typeface="Calibri" pitchFamily="34" charset="-120"/>
              </a:rPr>
              <a:t>Our Standards &amp; Directives</a:t>
            </a:r>
            <a:endParaRPr lang="en-US" sz="1100" dirty="0"/>
          </a:p>
        </p:txBody>
      </p:sp>
      <p:sp>
        <p:nvSpPr>
          <p:cNvPr id="18" name="Text 16"/>
          <p:cNvSpPr/>
          <p:nvPr/>
        </p:nvSpPr>
        <p:spPr>
          <a:xfrm>
            <a:off x="4114800" y="2560320"/>
            <a:ext cx="4297680" cy="7772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Custom skills, policies, and tools that enforce our development standards: branching strategy, security, code review gates, testing requirements.</a:t>
            </a:r>
            <a:endParaRPr lang="en-US" sz="1100" dirty="0"/>
          </a:p>
        </p:txBody>
      </p:sp>
      <p:sp>
        <p:nvSpPr>
          <p:cNvPr id="19" name="Shape 17"/>
          <p:cNvSpPr/>
          <p:nvPr/>
        </p:nvSpPr>
        <p:spPr>
          <a:xfrm>
            <a:off x="457200" y="3703320"/>
            <a:ext cx="822960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3703320"/>
            <a:ext cx="54864" cy="1051560"/>
          </a:xfrm>
          <a:prstGeom prst="rect">
            <a:avLst/>
          </a:prstGeom>
          <a:solidFill>
            <a:srgbClr val="0D9488"/>
          </a:solidFill>
          <a:ln/>
        </p:spPr>
      </p:sp>
      <p:sp>
        <p:nvSpPr>
          <p:cNvPr id="21" name="Shape 19"/>
          <p:cNvSpPr/>
          <p:nvPr/>
        </p:nvSpPr>
        <p:spPr>
          <a:xfrm>
            <a:off x="731520" y="3931920"/>
            <a:ext cx="548640" cy="548640"/>
          </a:xfrm>
          <a:prstGeom prst="ellipse">
            <a:avLst/>
          </a:prstGeom>
          <a:solidFill>
            <a:srgbClr val="0D9488"/>
          </a:solidFill>
          <a:ln/>
        </p:spPr>
      </p:sp>
      <p:sp>
        <p:nvSpPr>
          <p:cNvPr id="22" name="Text 20"/>
          <p:cNvSpPr/>
          <p:nvPr/>
        </p:nvSpPr>
        <p:spPr>
          <a:xfrm>
            <a:off x="731520" y="393192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1508760" y="3813048"/>
            <a:ext cx="274320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Developer Tooling</a:t>
            </a:r>
            <a:endParaRPr lang="en-US" sz="1600" dirty="0"/>
          </a:p>
        </p:txBody>
      </p:sp>
      <p:sp>
        <p:nvSpPr>
          <p:cNvPr id="24" name="Text 22"/>
          <p:cNvSpPr/>
          <p:nvPr/>
        </p:nvSpPr>
        <p:spPr>
          <a:xfrm>
            <a:off x="1508760" y="4142232"/>
            <a:ext cx="2743200" cy="320040"/>
          </a:xfrm>
          <a:prstGeom prst="rect">
            <a:avLst/>
          </a:prstGeom>
          <a:noFill/>
          <a:ln/>
        </p:spPr>
        <p:txBody>
          <a:bodyPr wrap="square" lIns="0" tIns="0" rIns="0" bIns="0" rtlCol="0" anchor="t"/>
          <a:lstStyle/>
          <a:p>
            <a:pPr indent="0" marL="0">
              <a:buNone/>
            </a:pPr>
            <a:r>
              <a:rPr lang="en-US" sz="1100" b="1" dirty="0">
                <a:solidFill>
                  <a:srgbClr val="0D9488"/>
                </a:solidFill>
                <a:latin typeface="Calibri" pitchFamily="34" charset="0"/>
                <a:ea typeface="Calibri" pitchFamily="34" charset="-122"/>
                <a:cs typeface="Calibri" pitchFamily="34" charset="-120"/>
              </a:rPr>
              <a:t>Claude Code + Cline</a:t>
            </a:r>
            <a:endParaRPr lang="en-US" sz="1100" dirty="0"/>
          </a:p>
        </p:txBody>
      </p:sp>
      <p:sp>
        <p:nvSpPr>
          <p:cNvPr id="25" name="Text 23"/>
          <p:cNvSpPr/>
          <p:nvPr/>
        </p:nvSpPr>
        <p:spPr>
          <a:xfrm>
            <a:off x="4114800" y="3840480"/>
            <a:ext cx="4297680" cy="7772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AI IDEs where developers interact with BMAD agents. Agents load into these tools and guide the developer through each workflow step.</a:t>
            </a:r>
            <a:endParaRPr lang="en-US" sz="1100" dirty="0"/>
          </a:p>
        </p:txBody>
      </p:sp>
      <p:sp>
        <p:nvSpPr>
          <p:cNvPr id="26" name="Text 24"/>
          <p:cNvSpPr/>
          <p:nvPr/>
        </p:nvSpPr>
        <p:spPr>
          <a:xfrm>
            <a:off x="4297680" y="2176272"/>
            <a:ext cx="548640" cy="27432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7" name="Text 25"/>
          <p:cNvSpPr/>
          <p:nvPr/>
        </p:nvSpPr>
        <p:spPr>
          <a:xfrm>
            <a:off x="4297680" y="3456432"/>
            <a:ext cx="548640" cy="27432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8" name="Text 2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 / 93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MIL-STD-498 — Quick Recap</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Software Development and Documentation Standard</a:t>
            </a:r>
            <a:endParaRPr lang="en-US" sz="1300" dirty="0"/>
          </a:p>
        </p:txBody>
      </p:sp>
      <p:sp>
        <p:nvSpPr>
          <p:cNvPr id="5" name="Text 3"/>
          <p:cNvSpPr/>
          <p:nvPr/>
        </p:nvSpPr>
        <p:spPr>
          <a:xfrm>
            <a:off x="457200" y="1280160"/>
            <a:ext cx="3931920" cy="36576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Development Activities</a:t>
            </a:r>
            <a:endParaRPr lang="en-US" sz="1400" dirty="0"/>
          </a:p>
        </p:txBody>
      </p:sp>
      <p:sp>
        <p:nvSpPr>
          <p:cNvPr id="6" name="Shape 4"/>
          <p:cNvSpPr/>
          <p:nvPr/>
        </p:nvSpPr>
        <p:spPr>
          <a:xfrm>
            <a:off x="457200" y="1737360"/>
            <a:ext cx="3931920" cy="301752"/>
          </a:xfrm>
          <a:prstGeom prst="rect">
            <a:avLst/>
          </a:prstGeom>
          <a:solidFill>
            <a:srgbClr val="1A2744"/>
          </a:solidFill>
          <a:ln/>
        </p:spPr>
      </p:sp>
      <p:sp>
        <p:nvSpPr>
          <p:cNvPr id="7" name="Text 5"/>
          <p:cNvSpPr/>
          <p:nvPr/>
        </p:nvSpPr>
        <p:spPr>
          <a:xfrm>
            <a:off x="548640" y="1737360"/>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914400" y="1737360"/>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System Requirements Analysis</a:t>
            </a:r>
            <a:endParaRPr lang="en-US" sz="1100" dirty="0"/>
          </a:p>
        </p:txBody>
      </p:sp>
      <p:sp>
        <p:nvSpPr>
          <p:cNvPr id="9" name="Shape 7"/>
          <p:cNvSpPr/>
          <p:nvPr/>
        </p:nvSpPr>
        <p:spPr>
          <a:xfrm>
            <a:off x="457200" y="2084832"/>
            <a:ext cx="3931920" cy="301752"/>
          </a:xfrm>
          <a:prstGeom prst="rect">
            <a:avLst/>
          </a:prstGeom>
          <a:solidFill>
            <a:srgbClr val="1A2744"/>
          </a:solidFill>
          <a:ln/>
        </p:spPr>
      </p:sp>
      <p:sp>
        <p:nvSpPr>
          <p:cNvPr id="10" name="Text 8"/>
          <p:cNvSpPr/>
          <p:nvPr/>
        </p:nvSpPr>
        <p:spPr>
          <a:xfrm>
            <a:off x="548640" y="2084832"/>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914400" y="2084832"/>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System Design</a:t>
            </a:r>
            <a:endParaRPr lang="en-US" sz="1100" dirty="0"/>
          </a:p>
        </p:txBody>
      </p:sp>
      <p:sp>
        <p:nvSpPr>
          <p:cNvPr id="12" name="Shape 10"/>
          <p:cNvSpPr/>
          <p:nvPr/>
        </p:nvSpPr>
        <p:spPr>
          <a:xfrm>
            <a:off x="457200" y="2432304"/>
            <a:ext cx="3931920" cy="301752"/>
          </a:xfrm>
          <a:prstGeom prst="rect">
            <a:avLst/>
          </a:prstGeom>
          <a:solidFill>
            <a:srgbClr val="1A2744"/>
          </a:solidFill>
          <a:ln/>
        </p:spPr>
      </p:sp>
      <p:sp>
        <p:nvSpPr>
          <p:cNvPr id="13" name="Text 11"/>
          <p:cNvSpPr/>
          <p:nvPr/>
        </p:nvSpPr>
        <p:spPr>
          <a:xfrm>
            <a:off x="548640" y="2432304"/>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914400" y="2432304"/>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Software Requirements Analysis</a:t>
            </a:r>
            <a:endParaRPr lang="en-US" sz="1100" dirty="0"/>
          </a:p>
        </p:txBody>
      </p:sp>
      <p:sp>
        <p:nvSpPr>
          <p:cNvPr id="15" name="Shape 13"/>
          <p:cNvSpPr/>
          <p:nvPr/>
        </p:nvSpPr>
        <p:spPr>
          <a:xfrm>
            <a:off x="457200" y="2779776"/>
            <a:ext cx="3931920" cy="301752"/>
          </a:xfrm>
          <a:prstGeom prst="rect">
            <a:avLst/>
          </a:prstGeom>
          <a:solidFill>
            <a:srgbClr val="1A2744"/>
          </a:solidFill>
          <a:ln/>
        </p:spPr>
      </p:sp>
      <p:sp>
        <p:nvSpPr>
          <p:cNvPr id="16" name="Text 14"/>
          <p:cNvSpPr/>
          <p:nvPr/>
        </p:nvSpPr>
        <p:spPr>
          <a:xfrm>
            <a:off x="548640" y="2779776"/>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4</a:t>
            </a:r>
            <a:endParaRPr lang="en-US" sz="1000" dirty="0"/>
          </a:p>
        </p:txBody>
      </p:sp>
      <p:sp>
        <p:nvSpPr>
          <p:cNvPr id="17" name="Text 15"/>
          <p:cNvSpPr/>
          <p:nvPr/>
        </p:nvSpPr>
        <p:spPr>
          <a:xfrm>
            <a:off x="914400" y="2779776"/>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Software Design</a:t>
            </a:r>
            <a:endParaRPr lang="en-US" sz="1100" dirty="0"/>
          </a:p>
        </p:txBody>
      </p:sp>
      <p:sp>
        <p:nvSpPr>
          <p:cNvPr id="18" name="Shape 16"/>
          <p:cNvSpPr/>
          <p:nvPr/>
        </p:nvSpPr>
        <p:spPr>
          <a:xfrm>
            <a:off x="457200" y="3127248"/>
            <a:ext cx="3931920" cy="301752"/>
          </a:xfrm>
          <a:prstGeom prst="rect">
            <a:avLst/>
          </a:prstGeom>
          <a:solidFill>
            <a:srgbClr val="1A2744"/>
          </a:solidFill>
          <a:ln/>
        </p:spPr>
      </p:sp>
      <p:sp>
        <p:nvSpPr>
          <p:cNvPr id="19" name="Text 17"/>
          <p:cNvSpPr/>
          <p:nvPr/>
        </p:nvSpPr>
        <p:spPr>
          <a:xfrm>
            <a:off x="548640" y="3127248"/>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914400" y="3127248"/>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Implementation &amp; Unit Testing</a:t>
            </a:r>
            <a:endParaRPr lang="en-US" sz="1100" dirty="0"/>
          </a:p>
        </p:txBody>
      </p:sp>
      <p:sp>
        <p:nvSpPr>
          <p:cNvPr id="21" name="Shape 19"/>
          <p:cNvSpPr/>
          <p:nvPr/>
        </p:nvSpPr>
        <p:spPr>
          <a:xfrm>
            <a:off x="457200" y="3474720"/>
            <a:ext cx="3931920" cy="301752"/>
          </a:xfrm>
          <a:prstGeom prst="rect">
            <a:avLst/>
          </a:prstGeom>
          <a:solidFill>
            <a:srgbClr val="1A2744"/>
          </a:solidFill>
          <a:ln/>
        </p:spPr>
      </p:sp>
      <p:sp>
        <p:nvSpPr>
          <p:cNvPr id="22" name="Text 20"/>
          <p:cNvSpPr/>
          <p:nvPr/>
        </p:nvSpPr>
        <p:spPr>
          <a:xfrm>
            <a:off x="548640" y="3474720"/>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6</a:t>
            </a:r>
            <a:endParaRPr lang="en-US" sz="1000" dirty="0"/>
          </a:p>
        </p:txBody>
      </p:sp>
      <p:sp>
        <p:nvSpPr>
          <p:cNvPr id="23" name="Text 21"/>
          <p:cNvSpPr/>
          <p:nvPr/>
        </p:nvSpPr>
        <p:spPr>
          <a:xfrm>
            <a:off x="914400" y="3474720"/>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CSCI Integration &amp; Testing</a:t>
            </a:r>
            <a:endParaRPr lang="en-US" sz="1100" dirty="0"/>
          </a:p>
        </p:txBody>
      </p:sp>
      <p:sp>
        <p:nvSpPr>
          <p:cNvPr id="24" name="Shape 22"/>
          <p:cNvSpPr/>
          <p:nvPr/>
        </p:nvSpPr>
        <p:spPr>
          <a:xfrm>
            <a:off x="457200" y="3822192"/>
            <a:ext cx="3931920" cy="301752"/>
          </a:xfrm>
          <a:prstGeom prst="rect">
            <a:avLst/>
          </a:prstGeom>
          <a:solidFill>
            <a:srgbClr val="1A2744"/>
          </a:solidFill>
          <a:ln/>
        </p:spPr>
      </p:sp>
      <p:sp>
        <p:nvSpPr>
          <p:cNvPr id="25" name="Text 23"/>
          <p:cNvSpPr/>
          <p:nvPr/>
        </p:nvSpPr>
        <p:spPr>
          <a:xfrm>
            <a:off x="548640" y="3822192"/>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7</a:t>
            </a:r>
            <a:endParaRPr lang="en-US" sz="1000" dirty="0"/>
          </a:p>
        </p:txBody>
      </p:sp>
      <p:sp>
        <p:nvSpPr>
          <p:cNvPr id="26" name="Text 24"/>
          <p:cNvSpPr/>
          <p:nvPr/>
        </p:nvSpPr>
        <p:spPr>
          <a:xfrm>
            <a:off x="914400" y="3822192"/>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System Integration &amp; Testing</a:t>
            </a:r>
            <a:endParaRPr lang="en-US" sz="1100" dirty="0"/>
          </a:p>
        </p:txBody>
      </p:sp>
      <p:sp>
        <p:nvSpPr>
          <p:cNvPr id="27" name="Shape 25"/>
          <p:cNvSpPr/>
          <p:nvPr/>
        </p:nvSpPr>
        <p:spPr>
          <a:xfrm>
            <a:off x="457200" y="4169664"/>
            <a:ext cx="3931920" cy="301752"/>
          </a:xfrm>
          <a:prstGeom prst="rect">
            <a:avLst/>
          </a:prstGeom>
          <a:solidFill>
            <a:srgbClr val="1A2744"/>
          </a:solidFill>
          <a:ln/>
        </p:spPr>
      </p:sp>
      <p:sp>
        <p:nvSpPr>
          <p:cNvPr id="28" name="Text 26"/>
          <p:cNvSpPr/>
          <p:nvPr/>
        </p:nvSpPr>
        <p:spPr>
          <a:xfrm>
            <a:off x="548640" y="4169664"/>
            <a:ext cx="32004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8</a:t>
            </a:r>
            <a:endParaRPr lang="en-US" sz="1000" dirty="0"/>
          </a:p>
        </p:txBody>
      </p:sp>
      <p:sp>
        <p:nvSpPr>
          <p:cNvPr id="29" name="Text 27"/>
          <p:cNvSpPr/>
          <p:nvPr/>
        </p:nvSpPr>
        <p:spPr>
          <a:xfrm>
            <a:off x="914400" y="4169664"/>
            <a:ext cx="3291840" cy="30175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Software Transition &amp; Release</a:t>
            </a:r>
            <a:endParaRPr lang="en-US" sz="1100" dirty="0"/>
          </a:p>
        </p:txBody>
      </p:sp>
      <p:sp>
        <p:nvSpPr>
          <p:cNvPr id="30" name="Text 28"/>
          <p:cNvSpPr/>
          <p:nvPr/>
        </p:nvSpPr>
        <p:spPr>
          <a:xfrm>
            <a:off x="4846320" y="1280160"/>
            <a:ext cx="3931920" cy="36576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Key Documentation — DIDs (Data Item Descriptions)</a:t>
            </a:r>
            <a:endParaRPr lang="en-US" sz="1300" dirty="0"/>
          </a:p>
        </p:txBody>
      </p:sp>
      <p:sp>
        <p:nvSpPr>
          <p:cNvPr id="31" name="Shape 29"/>
          <p:cNvSpPr/>
          <p:nvPr/>
        </p:nvSpPr>
        <p:spPr>
          <a:xfrm>
            <a:off x="4846320" y="1737360"/>
            <a:ext cx="3840480" cy="301752"/>
          </a:xfrm>
          <a:prstGeom prst="rect">
            <a:avLst/>
          </a:prstGeom>
          <a:solidFill>
            <a:srgbClr val="1A2744"/>
          </a:solidFill>
          <a:ln/>
        </p:spPr>
      </p:sp>
      <p:sp>
        <p:nvSpPr>
          <p:cNvPr id="32" name="Text 30"/>
          <p:cNvSpPr/>
          <p:nvPr/>
        </p:nvSpPr>
        <p:spPr>
          <a:xfrm>
            <a:off x="4983480" y="1737360"/>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SSS</a:t>
            </a:r>
            <a:endParaRPr lang="en-US" sz="1000" dirty="0"/>
          </a:p>
        </p:txBody>
      </p:sp>
      <p:sp>
        <p:nvSpPr>
          <p:cNvPr id="33" name="Text 31"/>
          <p:cNvSpPr/>
          <p:nvPr/>
        </p:nvSpPr>
        <p:spPr>
          <a:xfrm>
            <a:off x="5669280" y="1737360"/>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System/Subsystem Spec</a:t>
            </a:r>
            <a:endParaRPr lang="en-US" sz="1050" dirty="0"/>
          </a:p>
        </p:txBody>
      </p:sp>
      <p:sp>
        <p:nvSpPr>
          <p:cNvPr id="34" name="Shape 32"/>
          <p:cNvSpPr/>
          <p:nvPr/>
        </p:nvSpPr>
        <p:spPr>
          <a:xfrm>
            <a:off x="4846320" y="2084832"/>
            <a:ext cx="3840480" cy="301752"/>
          </a:xfrm>
          <a:prstGeom prst="rect">
            <a:avLst/>
          </a:prstGeom>
          <a:solidFill>
            <a:srgbClr val="1A2744"/>
          </a:solidFill>
          <a:ln/>
        </p:spPr>
      </p:sp>
      <p:sp>
        <p:nvSpPr>
          <p:cNvPr id="35" name="Text 33"/>
          <p:cNvSpPr/>
          <p:nvPr/>
        </p:nvSpPr>
        <p:spPr>
          <a:xfrm>
            <a:off x="4983480" y="2084832"/>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SSDD</a:t>
            </a:r>
            <a:endParaRPr lang="en-US" sz="1000" dirty="0"/>
          </a:p>
        </p:txBody>
      </p:sp>
      <p:sp>
        <p:nvSpPr>
          <p:cNvPr id="36" name="Text 34"/>
          <p:cNvSpPr/>
          <p:nvPr/>
        </p:nvSpPr>
        <p:spPr>
          <a:xfrm>
            <a:off x="5669280" y="2084832"/>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System/Subsystem Design Desc</a:t>
            </a:r>
            <a:endParaRPr lang="en-US" sz="1050" dirty="0"/>
          </a:p>
        </p:txBody>
      </p:sp>
      <p:sp>
        <p:nvSpPr>
          <p:cNvPr id="37" name="Shape 35"/>
          <p:cNvSpPr/>
          <p:nvPr/>
        </p:nvSpPr>
        <p:spPr>
          <a:xfrm>
            <a:off x="4846320" y="2432304"/>
            <a:ext cx="3840480" cy="301752"/>
          </a:xfrm>
          <a:prstGeom prst="rect">
            <a:avLst/>
          </a:prstGeom>
          <a:solidFill>
            <a:srgbClr val="1A2744"/>
          </a:solidFill>
          <a:ln/>
        </p:spPr>
      </p:sp>
      <p:sp>
        <p:nvSpPr>
          <p:cNvPr id="38" name="Text 36"/>
          <p:cNvSpPr/>
          <p:nvPr/>
        </p:nvSpPr>
        <p:spPr>
          <a:xfrm>
            <a:off x="4983480" y="2432304"/>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IRS</a:t>
            </a:r>
            <a:endParaRPr lang="en-US" sz="1000" dirty="0"/>
          </a:p>
        </p:txBody>
      </p:sp>
      <p:sp>
        <p:nvSpPr>
          <p:cNvPr id="39" name="Text 37"/>
          <p:cNvSpPr/>
          <p:nvPr/>
        </p:nvSpPr>
        <p:spPr>
          <a:xfrm>
            <a:off x="5669280" y="2432304"/>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Interface Requirements Spec</a:t>
            </a:r>
            <a:endParaRPr lang="en-US" sz="1050" dirty="0"/>
          </a:p>
        </p:txBody>
      </p:sp>
      <p:sp>
        <p:nvSpPr>
          <p:cNvPr id="40" name="Shape 38"/>
          <p:cNvSpPr/>
          <p:nvPr/>
        </p:nvSpPr>
        <p:spPr>
          <a:xfrm>
            <a:off x="4846320" y="2779776"/>
            <a:ext cx="3840480" cy="301752"/>
          </a:xfrm>
          <a:prstGeom prst="rect">
            <a:avLst/>
          </a:prstGeom>
          <a:solidFill>
            <a:srgbClr val="1A2744"/>
          </a:solidFill>
          <a:ln/>
        </p:spPr>
      </p:sp>
      <p:sp>
        <p:nvSpPr>
          <p:cNvPr id="41" name="Text 39"/>
          <p:cNvSpPr/>
          <p:nvPr/>
        </p:nvSpPr>
        <p:spPr>
          <a:xfrm>
            <a:off x="4983480" y="2779776"/>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SRS</a:t>
            </a:r>
            <a:endParaRPr lang="en-US" sz="1000" dirty="0"/>
          </a:p>
        </p:txBody>
      </p:sp>
      <p:sp>
        <p:nvSpPr>
          <p:cNvPr id="42" name="Text 40"/>
          <p:cNvSpPr/>
          <p:nvPr/>
        </p:nvSpPr>
        <p:spPr>
          <a:xfrm>
            <a:off x="5669280" y="2779776"/>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Software Requirements Spec</a:t>
            </a:r>
            <a:endParaRPr lang="en-US" sz="1050" dirty="0"/>
          </a:p>
        </p:txBody>
      </p:sp>
      <p:sp>
        <p:nvSpPr>
          <p:cNvPr id="43" name="Shape 41"/>
          <p:cNvSpPr/>
          <p:nvPr/>
        </p:nvSpPr>
        <p:spPr>
          <a:xfrm>
            <a:off x="4846320" y="3127248"/>
            <a:ext cx="3840480" cy="301752"/>
          </a:xfrm>
          <a:prstGeom prst="rect">
            <a:avLst/>
          </a:prstGeom>
          <a:solidFill>
            <a:srgbClr val="1A2744"/>
          </a:solidFill>
          <a:ln/>
        </p:spPr>
      </p:sp>
      <p:sp>
        <p:nvSpPr>
          <p:cNvPr id="44" name="Text 42"/>
          <p:cNvSpPr/>
          <p:nvPr/>
        </p:nvSpPr>
        <p:spPr>
          <a:xfrm>
            <a:off x="4983480" y="3127248"/>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SDD</a:t>
            </a:r>
            <a:endParaRPr lang="en-US" sz="1000" dirty="0"/>
          </a:p>
        </p:txBody>
      </p:sp>
      <p:sp>
        <p:nvSpPr>
          <p:cNvPr id="45" name="Text 43"/>
          <p:cNvSpPr/>
          <p:nvPr/>
        </p:nvSpPr>
        <p:spPr>
          <a:xfrm>
            <a:off x="5669280" y="3127248"/>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Software Design Description</a:t>
            </a:r>
            <a:endParaRPr lang="en-US" sz="1050" dirty="0"/>
          </a:p>
        </p:txBody>
      </p:sp>
      <p:sp>
        <p:nvSpPr>
          <p:cNvPr id="46" name="Shape 44"/>
          <p:cNvSpPr/>
          <p:nvPr/>
        </p:nvSpPr>
        <p:spPr>
          <a:xfrm>
            <a:off x="4846320" y="3474720"/>
            <a:ext cx="3840480" cy="301752"/>
          </a:xfrm>
          <a:prstGeom prst="rect">
            <a:avLst/>
          </a:prstGeom>
          <a:solidFill>
            <a:srgbClr val="1A2744"/>
          </a:solidFill>
          <a:ln/>
        </p:spPr>
      </p:sp>
      <p:sp>
        <p:nvSpPr>
          <p:cNvPr id="47" name="Text 45"/>
          <p:cNvSpPr/>
          <p:nvPr/>
        </p:nvSpPr>
        <p:spPr>
          <a:xfrm>
            <a:off x="4983480" y="3474720"/>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STP</a:t>
            </a:r>
            <a:endParaRPr lang="en-US" sz="1000" dirty="0"/>
          </a:p>
        </p:txBody>
      </p:sp>
      <p:sp>
        <p:nvSpPr>
          <p:cNvPr id="48" name="Text 46"/>
          <p:cNvSpPr/>
          <p:nvPr/>
        </p:nvSpPr>
        <p:spPr>
          <a:xfrm>
            <a:off x="5669280" y="3474720"/>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Software Test Plan</a:t>
            </a:r>
            <a:endParaRPr lang="en-US" sz="1050" dirty="0"/>
          </a:p>
        </p:txBody>
      </p:sp>
      <p:sp>
        <p:nvSpPr>
          <p:cNvPr id="49" name="Shape 47"/>
          <p:cNvSpPr/>
          <p:nvPr/>
        </p:nvSpPr>
        <p:spPr>
          <a:xfrm>
            <a:off x="4846320" y="3822192"/>
            <a:ext cx="3840480" cy="301752"/>
          </a:xfrm>
          <a:prstGeom prst="rect">
            <a:avLst/>
          </a:prstGeom>
          <a:solidFill>
            <a:srgbClr val="1A2744"/>
          </a:solidFill>
          <a:ln/>
        </p:spPr>
      </p:sp>
      <p:sp>
        <p:nvSpPr>
          <p:cNvPr id="50" name="Text 48"/>
          <p:cNvSpPr/>
          <p:nvPr/>
        </p:nvSpPr>
        <p:spPr>
          <a:xfrm>
            <a:off x="4983480" y="3822192"/>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STD</a:t>
            </a:r>
            <a:endParaRPr lang="en-US" sz="1000" dirty="0"/>
          </a:p>
        </p:txBody>
      </p:sp>
      <p:sp>
        <p:nvSpPr>
          <p:cNvPr id="51" name="Text 49"/>
          <p:cNvSpPr/>
          <p:nvPr/>
        </p:nvSpPr>
        <p:spPr>
          <a:xfrm>
            <a:off x="5669280" y="3822192"/>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Software Test Description</a:t>
            </a:r>
            <a:endParaRPr lang="en-US" sz="1050" dirty="0"/>
          </a:p>
        </p:txBody>
      </p:sp>
      <p:sp>
        <p:nvSpPr>
          <p:cNvPr id="52" name="Shape 50"/>
          <p:cNvSpPr/>
          <p:nvPr/>
        </p:nvSpPr>
        <p:spPr>
          <a:xfrm>
            <a:off x="4846320" y="4169664"/>
            <a:ext cx="3840480" cy="301752"/>
          </a:xfrm>
          <a:prstGeom prst="rect">
            <a:avLst/>
          </a:prstGeom>
          <a:solidFill>
            <a:srgbClr val="1A2744"/>
          </a:solidFill>
          <a:ln/>
        </p:spPr>
      </p:sp>
      <p:sp>
        <p:nvSpPr>
          <p:cNvPr id="53" name="Text 51"/>
          <p:cNvSpPr/>
          <p:nvPr/>
        </p:nvSpPr>
        <p:spPr>
          <a:xfrm>
            <a:off x="4983480" y="4169664"/>
            <a:ext cx="640080" cy="30175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SVD</a:t>
            </a:r>
            <a:endParaRPr lang="en-US" sz="1000" dirty="0"/>
          </a:p>
        </p:txBody>
      </p:sp>
      <p:sp>
        <p:nvSpPr>
          <p:cNvPr id="54" name="Text 52"/>
          <p:cNvSpPr/>
          <p:nvPr/>
        </p:nvSpPr>
        <p:spPr>
          <a:xfrm>
            <a:off x="5669280" y="4169664"/>
            <a:ext cx="2834640" cy="3017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Software Version Description</a:t>
            </a:r>
            <a:endParaRPr lang="en-US" sz="1050" dirty="0"/>
          </a:p>
        </p:txBody>
      </p:sp>
      <p:sp>
        <p:nvSpPr>
          <p:cNvPr id="55" name="Shape 53"/>
          <p:cNvSpPr/>
          <p:nvPr/>
        </p:nvSpPr>
        <p:spPr>
          <a:xfrm>
            <a:off x="457200" y="4526280"/>
            <a:ext cx="8229600" cy="457200"/>
          </a:xfrm>
          <a:prstGeom prst="rect">
            <a:avLst/>
          </a:prstGeom>
          <a:solidFill>
            <a:srgbClr val="0D9488">
              <a:alpha val="15000"/>
            </a:srgbClr>
          </a:solidFill>
          <a:ln/>
        </p:spPr>
      </p:sp>
      <p:sp>
        <p:nvSpPr>
          <p:cNvPr id="56" name="Text 54"/>
          <p:cNvSpPr/>
          <p:nvPr/>
        </p:nvSpPr>
        <p:spPr>
          <a:xfrm>
            <a:off x="640080" y="4526280"/>
            <a:ext cx="7863840" cy="457200"/>
          </a:xfrm>
          <a:prstGeom prst="rect">
            <a:avLst/>
          </a:prstGeom>
          <a:noFill/>
          <a:ln/>
        </p:spPr>
        <p:txBody>
          <a:bodyPr wrap="square" rtlCol="0" anchor="ctr"/>
          <a:lstStyle/>
          <a:p>
            <a:pPr algn="ctr" indent="0" marL="0">
              <a:buNone/>
            </a:pPr>
            <a:r>
              <a:rPr lang="en-US" sz="1200" i="1" dirty="0">
                <a:solidFill>
                  <a:srgbClr val="14B8A6"/>
                </a:solidFill>
                <a:latin typeface="Calibri" pitchFamily="34" charset="0"/>
                <a:ea typeface="Calibri" pitchFamily="34" charset="-122"/>
                <a:cs typeface="Calibri" pitchFamily="34" charset="-120"/>
              </a:rPr>
              <a:t>Core principle: Documentation-driven development with defined phases, artifacts, and traceability</a:t>
            </a:r>
            <a:endParaRPr lang="en-US" sz="1200" dirty="0"/>
          </a:p>
        </p:txBody>
      </p:sp>
      <p:sp>
        <p:nvSpPr>
          <p:cNvPr id="57" name="Text 5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10 / 93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MIL-STD-498  →  BMAD Mapping</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914400"/>
        </p:xfrm>
        <a:graphic>
          <a:graphicData uri="http://schemas.openxmlformats.org/drawingml/2006/table">
            <a:tbl>
              <a:tblPr/>
              <a:tblGrid>
                <a:gridCol w="822960"/>
                <a:gridCol w="2011680"/>
                <a:gridCol w="2834640"/>
                <a:gridCol w="2926080"/>
              </a:tblGrid>
              <a:tr h="26517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498 Document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Full Name</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Generated From (BMAD)</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BMAD Agent</a:t>
                      </a:r>
                      <a:endParaRPr lang="en-US" sz="95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SSS</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System/Sub-System Spec</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Project Brief</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Analyst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SSDD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System Design Description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PRD + Architecture</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SRS</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Requirements Spec</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Epics + Architecture + UX Design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PM Agent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SDD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Design Description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Architecture + Epics + Stories + UX</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SDP</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Development Plan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PM / Project Lead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IRS</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Interface Requirements Spec</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Architecture (interfaces section)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IDD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Interface Design Description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Architecture</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Architect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STP</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Test Plan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PRD + Epics</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QA / TEA Agent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STD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Test Description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Stories (Acceptance Criteria)</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QA / TEA Agent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STR</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Test Report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Test execution results</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QA / TEA Agent</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SVD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Software Version Description</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Sprint Status + Release</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SM / Project Lead</a:t>
                      </a:r>
                      <a:endParaRPr lang="en-US" sz="900" dirty="0">
                        <a:latin typeface="Calibri" charset="0"/>
                        <a:ea typeface="Calibri" charset="0"/>
                        <a:cs typeface="Calibri" charset="0"/>
                      </a:endParaRPr>
                    </a:p>
                  </a:txBody>
                  <a:tcPr marL="63500" marR="635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bl>
          </a:graphicData>
        </a:graphic>
      </p:graphicFrame>
      <p:sp>
        <p:nvSpPr>
          <p:cNvPr id="6" name="Shape 3"/>
          <p:cNvSpPr/>
          <p:nvPr/>
        </p:nvSpPr>
        <p:spPr>
          <a:xfrm>
            <a:off x="274320" y="4206240"/>
            <a:ext cx="8595360" cy="640080"/>
          </a:xfrm>
          <a:prstGeom prst="rect">
            <a:avLst/>
          </a:prstGeom>
          <a:solidFill>
            <a:srgbClr val="0F1B2D"/>
          </a:solidFill>
          <a:ln/>
        </p:spPr>
      </p:sp>
      <p:sp>
        <p:nvSpPr>
          <p:cNvPr id="7" name="Text 4"/>
          <p:cNvSpPr/>
          <p:nvPr/>
        </p:nvSpPr>
        <p:spPr>
          <a:xfrm>
            <a:off x="457200" y="4206240"/>
            <a:ext cx="8229600" cy="640080"/>
          </a:xfrm>
          <a:prstGeom prst="rect">
            <a:avLst/>
          </a:prstGeom>
          <a:noFill/>
          <a:ln/>
        </p:spPr>
        <p:txBody>
          <a:bodyPr wrap="square" rtlCol="0" anchor="ctr"/>
          <a:lstStyle/>
          <a:p>
            <a:pPr algn="ctr" indent="0" marL="0">
              <a:buNone/>
            </a:pPr>
            <a:r>
              <a:rPr lang="en-US" sz="1400" b="1" dirty="0">
                <a:solidFill>
                  <a:srgbClr val="14B8A6"/>
                </a:solidFill>
                <a:latin typeface="Calibri" pitchFamily="34" charset="0"/>
                <a:ea typeface="Calibri" pitchFamily="34" charset="-122"/>
                <a:cs typeface="Calibri" pitchFamily="34" charset="-120"/>
              </a:rPr>
              <a:t>498 defines WHAT to produce.  BMAD automates HOW to produce it — with AI agents.</a:t>
            </a:r>
            <a:endParaRPr lang="en-US" sz="1400" dirty="0"/>
          </a:p>
        </p:txBody>
      </p:sp>
      <p:sp>
        <p:nvSpPr>
          <p:cNvPr id="8" name="Text 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11 / 93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Why This Mapping Matters</a:t>
            </a:r>
            <a:endParaRPr lang="en-US" sz="2800" dirty="0"/>
          </a:p>
        </p:txBody>
      </p:sp>
      <p:sp>
        <p:nvSpPr>
          <p:cNvPr id="4" name="Shape 2"/>
          <p:cNvSpPr/>
          <p:nvPr/>
        </p:nvSpPr>
        <p:spPr>
          <a:xfrm>
            <a:off x="457200" y="1097280"/>
            <a:ext cx="2606040" cy="32004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5" name="Shape 3"/>
          <p:cNvSpPr/>
          <p:nvPr/>
        </p:nvSpPr>
        <p:spPr>
          <a:xfrm>
            <a:off x="457200" y="1097280"/>
            <a:ext cx="2606040" cy="54864"/>
          </a:xfrm>
          <a:prstGeom prst="rect">
            <a:avLst/>
          </a:prstGeom>
          <a:solidFill>
            <a:srgbClr val="0D9488"/>
          </a:solidFill>
          <a:ln/>
        </p:spPr>
      </p:sp>
      <p:sp>
        <p:nvSpPr>
          <p:cNvPr id="6" name="Shape 4"/>
          <p:cNvSpPr/>
          <p:nvPr/>
        </p:nvSpPr>
        <p:spPr>
          <a:xfrm>
            <a:off x="1325880" y="1417320"/>
            <a:ext cx="822960" cy="82296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463040" y="1554480"/>
            <a:ext cx="548640" cy="548640"/>
          </a:xfrm>
          <a:prstGeom prst="rect">
            <a:avLst/>
          </a:prstGeom>
        </p:spPr>
      </p:pic>
      <p:sp>
        <p:nvSpPr>
          <p:cNvPr id="8" name="Text 5"/>
          <p:cNvSpPr/>
          <p:nvPr/>
        </p:nvSpPr>
        <p:spPr>
          <a:xfrm>
            <a:off x="640080" y="2377440"/>
            <a:ext cx="224028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Same Rigor</a:t>
            </a:r>
            <a:endParaRPr lang="en-US" sz="1600" dirty="0"/>
          </a:p>
        </p:txBody>
      </p:sp>
      <p:sp>
        <p:nvSpPr>
          <p:cNvPr id="9" name="Text 6"/>
          <p:cNvSpPr/>
          <p:nvPr/>
        </p:nvSpPr>
        <p:spPr>
          <a:xfrm>
            <a:off x="640080" y="2788920"/>
            <a:ext cx="2240280" cy="1371600"/>
          </a:xfrm>
          <a:prstGeom prst="rect">
            <a:avLst/>
          </a:prstGeom>
          <a:noFill/>
          <a:ln/>
        </p:spPr>
        <p:txBody>
          <a:bodyPr wrap="square"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MIL-STD-498 was built for critical systems.</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BMAD preserves its documentation discipline and traceability — every requirement maps to design, stories, and code.</a:t>
            </a:r>
            <a:endParaRPr lang="en-US" sz="1050" dirty="0"/>
          </a:p>
        </p:txBody>
      </p:sp>
      <p:sp>
        <p:nvSpPr>
          <p:cNvPr id="10" name="Shape 7"/>
          <p:cNvSpPr/>
          <p:nvPr/>
        </p:nvSpPr>
        <p:spPr>
          <a:xfrm>
            <a:off x="3337560" y="1097280"/>
            <a:ext cx="2606040" cy="32004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1" name="Shape 8"/>
          <p:cNvSpPr/>
          <p:nvPr/>
        </p:nvSpPr>
        <p:spPr>
          <a:xfrm>
            <a:off x="3337560" y="1097280"/>
            <a:ext cx="2606040" cy="54864"/>
          </a:xfrm>
          <a:prstGeom prst="rect">
            <a:avLst/>
          </a:prstGeom>
          <a:solidFill>
            <a:srgbClr val="0D9488"/>
          </a:solidFill>
          <a:ln/>
        </p:spPr>
      </p:sp>
      <p:sp>
        <p:nvSpPr>
          <p:cNvPr id="12" name="Shape 9"/>
          <p:cNvSpPr/>
          <p:nvPr/>
        </p:nvSpPr>
        <p:spPr>
          <a:xfrm>
            <a:off x="4206240" y="1417320"/>
            <a:ext cx="822960" cy="82296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4343400" y="1554480"/>
            <a:ext cx="548640" cy="548640"/>
          </a:xfrm>
          <a:prstGeom prst="rect">
            <a:avLst/>
          </a:prstGeom>
        </p:spPr>
      </p:pic>
      <p:sp>
        <p:nvSpPr>
          <p:cNvPr id="14" name="Text 10"/>
          <p:cNvSpPr/>
          <p:nvPr/>
        </p:nvSpPr>
        <p:spPr>
          <a:xfrm>
            <a:off x="3520440" y="2377440"/>
            <a:ext cx="224028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AI Accelerated</a:t>
            </a:r>
            <a:endParaRPr lang="en-US" sz="1600" dirty="0"/>
          </a:p>
        </p:txBody>
      </p:sp>
      <p:sp>
        <p:nvSpPr>
          <p:cNvPr id="15" name="Text 11"/>
          <p:cNvSpPr/>
          <p:nvPr/>
        </p:nvSpPr>
        <p:spPr>
          <a:xfrm>
            <a:off x="3520440" y="2788920"/>
            <a:ext cx="2240280" cy="1371600"/>
          </a:xfrm>
          <a:prstGeom prst="rect">
            <a:avLst/>
          </a:prstGeom>
          <a:noFill/>
          <a:ln/>
        </p:spPr>
        <p:txBody>
          <a:bodyPr wrap="square"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What used to take weeks of manual documentation is now produced by specialized AI agents in hours.</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The artifacts are consistent and always up to date.</a:t>
            </a:r>
            <a:endParaRPr lang="en-US" sz="1050" dirty="0"/>
          </a:p>
        </p:txBody>
      </p:sp>
      <p:sp>
        <p:nvSpPr>
          <p:cNvPr id="16" name="Shape 12"/>
          <p:cNvSpPr/>
          <p:nvPr/>
        </p:nvSpPr>
        <p:spPr>
          <a:xfrm>
            <a:off x="6217920" y="1097280"/>
            <a:ext cx="2606040" cy="32004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7" name="Shape 13"/>
          <p:cNvSpPr/>
          <p:nvPr/>
        </p:nvSpPr>
        <p:spPr>
          <a:xfrm>
            <a:off x="6217920" y="1097280"/>
            <a:ext cx="2606040" cy="54864"/>
          </a:xfrm>
          <a:prstGeom prst="rect">
            <a:avLst/>
          </a:prstGeom>
          <a:solidFill>
            <a:srgbClr val="0D9488"/>
          </a:solidFill>
          <a:ln/>
        </p:spPr>
      </p:sp>
      <p:sp>
        <p:nvSpPr>
          <p:cNvPr id="18" name="Shape 14"/>
          <p:cNvSpPr/>
          <p:nvPr/>
        </p:nvSpPr>
        <p:spPr>
          <a:xfrm>
            <a:off x="7086600" y="1417320"/>
            <a:ext cx="822960" cy="822960"/>
          </a:xfrm>
          <a:prstGeom prst="ellipse">
            <a:avLst/>
          </a:prstGeom>
          <a:solidFill>
            <a:srgbClr val="0D9488"/>
          </a:solidFill>
          <a:ln/>
        </p:spPr>
      </p:sp>
      <p:pic>
        <p:nvPicPr>
          <p:cNvPr id="19" name="Image 2" descr="preencoded.png">    </p:cNvPr>
          <p:cNvPicPr>
            <a:picLocks noChangeAspect="1"/>
          </p:cNvPicPr>
          <p:nvPr/>
        </p:nvPicPr>
        <p:blipFill>
          <a:blip r:embed="rId3"/>
          <a:stretch>
            <a:fillRect/>
          </a:stretch>
        </p:blipFill>
        <p:spPr>
          <a:xfrm>
            <a:off x="7223760" y="1554480"/>
            <a:ext cx="548640" cy="548640"/>
          </a:xfrm>
          <a:prstGeom prst="rect">
            <a:avLst/>
          </a:prstGeom>
        </p:spPr>
      </p:pic>
      <p:sp>
        <p:nvSpPr>
          <p:cNvPr id="20" name="Text 15"/>
          <p:cNvSpPr/>
          <p:nvPr/>
        </p:nvSpPr>
        <p:spPr>
          <a:xfrm>
            <a:off x="6400800" y="2377440"/>
            <a:ext cx="224028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Context Preserved</a:t>
            </a:r>
            <a:endParaRPr lang="en-US" sz="1600" dirty="0"/>
          </a:p>
        </p:txBody>
      </p:sp>
      <p:sp>
        <p:nvSpPr>
          <p:cNvPr id="21" name="Text 16"/>
          <p:cNvSpPr/>
          <p:nvPr/>
        </p:nvSpPr>
        <p:spPr>
          <a:xfrm>
            <a:off x="6400800" y="2788920"/>
            <a:ext cx="2240280" cy="1371600"/>
          </a:xfrm>
          <a:prstGeom prst="rect">
            <a:avLst/>
          </a:prstGeom>
          <a:noFill/>
          <a:ln/>
        </p:spPr>
        <p:txBody>
          <a:bodyPr wrap="square" rtlCol="0" anchor="t"/>
          <a:lstStyle/>
          <a:p>
            <a:pPr algn="ctr" indent="0" marL="0">
              <a:buNone/>
            </a:pPr>
            <a:r>
              <a:rPr lang="en-US" sz="1050" dirty="0">
                <a:solidFill>
                  <a:srgbClr val="94A3B8"/>
                </a:solidFill>
                <a:latin typeface="Calibri" pitchFamily="34" charset="0"/>
                <a:ea typeface="Calibri" pitchFamily="34" charset="-122"/>
                <a:cs typeface="Calibri" pitchFamily="34" charset="-120"/>
              </a:rPr>
              <a:t>498's biggest challenge was context loss between phases.</a:t>
            </a:r>
            <a:endParaRPr lang="en-US" sz="1050" dirty="0"/>
          </a:p>
          <a:p>
            <a:pPr algn="ctr" indent="0" marL="0">
              <a:buNone/>
            </a:pPr>
            <a:r>
              <a:rPr lang="en-US" sz="1050" dirty="0">
                <a:solidFill>
                  <a:srgbClr val="94A3B8"/>
                </a:solidFill>
                <a:latin typeface="Calibri" pitchFamily="34" charset="0"/>
                <a:ea typeface="Calibri" pitchFamily="34" charset="-122"/>
                <a:cs typeface="Calibri" pitchFamily="34" charset="-120"/>
              </a:rPr>
              <a:t>BMAD solves this — each agent inherits the full artifact chain from all previous agents.</a:t>
            </a:r>
            <a:endParaRPr lang="en-US" sz="1050" dirty="0"/>
          </a:p>
        </p:txBody>
      </p:sp>
      <p:sp>
        <p:nvSpPr>
          <p:cNvPr id="22" name="Text 17"/>
          <p:cNvSpPr/>
          <p:nvPr/>
        </p:nvSpPr>
        <p:spPr>
          <a:xfrm>
            <a:off x="457200" y="4572000"/>
            <a:ext cx="8229600" cy="365760"/>
          </a:xfrm>
          <a:prstGeom prst="rect">
            <a:avLst/>
          </a:prstGeom>
          <a:noFill/>
          <a:ln/>
        </p:spPr>
        <p:txBody>
          <a:bodyPr wrap="square" rtlCol="0" anchor="ctr"/>
          <a:lstStyle/>
          <a:p>
            <a:pPr algn="ctr" indent="0" marL="0">
              <a:buNone/>
            </a:pPr>
            <a:r>
              <a:rPr lang="en-US" sz="1100" i="1" dirty="0">
                <a:solidFill>
                  <a:srgbClr val="14B8A6"/>
                </a:solidFill>
                <a:latin typeface="Calibri" pitchFamily="34" charset="0"/>
                <a:ea typeface="Calibri" pitchFamily="34" charset="-122"/>
                <a:cs typeface="Calibri" pitchFamily="34" charset="-120"/>
              </a:rPr>
              <a:t>For Defence Software: the traceability and documentation rigor you need, at the speed AI enables</a:t>
            </a:r>
            <a:endParaRPr lang="en-US" sz="1100" dirty="0"/>
          </a:p>
        </p:txBody>
      </p:sp>
      <p:sp>
        <p:nvSpPr>
          <p:cNvPr id="23" name="Text 18"/>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12 / 93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Specialized AI Agents — Your Virtual Team</a:t>
            </a:r>
            <a:endParaRPr lang="en-US" sz="2600" dirty="0"/>
          </a:p>
        </p:txBody>
      </p:sp>
      <p:sp>
        <p:nvSpPr>
          <p:cNvPr id="5" name="Shape 3"/>
          <p:cNvSpPr/>
          <p:nvPr/>
        </p:nvSpPr>
        <p:spPr>
          <a:xfrm>
            <a:off x="411480" y="114300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11480" y="1143000"/>
            <a:ext cx="2606040" cy="54864"/>
          </a:xfrm>
          <a:prstGeom prst="rect">
            <a:avLst/>
          </a:prstGeom>
          <a:solidFill>
            <a:srgbClr val="0D9488"/>
          </a:solidFill>
          <a:ln/>
        </p:spPr>
      </p:sp>
      <p:sp>
        <p:nvSpPr>
          <p:cNvPr id="7" name="Shape 5"/>
          <p:cNvSpPr/>
          <p:nvPr/>
        </p:nvSpPr>
        <p:spPr>
          <a:xfrm>
            <a:off x="548640" y="1371600"/>
            <a:ext cx="457200" cy="457200"/>
          </a:xfrm>
          <a:prstGeom prst="ellipse">
            <a:avLst/>
          </a:prstGeom>
          <a:solidFill>
            <a:srgbClr val="E0F2F1"/>
          </a:solidFill>
          <a:ln/>
        </p:spPr>
      </p:sp>
      <p:pic>
        <p:nvPicPr>
          <p:cNvPr id="8" name="Image 0" descr="preencoded.png">    </p:cNvPr>
          <p:cNvPicPr>
            <a:picLocks noChangeAspect="1"/>
          </p:cNvPicPr>
          <p:nvPr/>
        </p:nvPicPr>
        <p:blipFill>
          <a:blip r:embed="rId1"/>
          <a:stretch>
            <a:fillRect/>
          </a:stretch>
        </p:blipFill>
        <p:spPr>
          <a:xfrm>
            <a:off x="640080" y="1463040"/>
            <a:ext cx="274320" cy="274320"/>
          </a:xfrm>
          <a:prstGeom prst="rect">
            <a:avLst/>
          </a:prstGeom>
        </p:spPr>
      </p:pic>
      <p:sp>
        <p:nvSpPr>
          <p:cNvPr id="9" name="Text 6"/>
          <p:cNvSpPr/>
          <p:nvPr/>
        </p:nvSpPr>
        <p:spPr>
          <a:xfrm>
            <a:off x="1097280" y="132588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Analyst</a:t>
            </a:r>
            <a:endParaRPr lang="en-US" sz="1400" dirty="0"/>
          </a:p>
        </p:txBody>
      </p:sp>
      <p:sp>
        <p:nvSpPr>
          <p:cNvPr id="10" name="Text 7"/>
          <p:cNvSpPr/>
          <p:nvPr/>
        </p:nvSpPr>
        <p:spPr>
          <a:xfrm>
            <a:off x="548640" y="187452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Brainstorming, research, project brief creation. First point of contact for new ideas.</a:t>
            </a:r>
            <a:endParaRPr lang="en-US" sz="1000" dirty="0"/>
          </a:p>
        </p:txBody>
      </p:sp>
      <p:sp>
        <p:nvSpPr>
          <p:cNvPr id="11" name="Shape 8"/>
          <p:cNvSpPr/>
          <p:nvPr/>
        </p:nvSpPr>
        <p:spPr>
          <a:xfrm>
            <a:off x="3246120" y="114300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3246120" y="1143000"/>
            <a:ext cx="2606040" cy="54864"/>
          </a:xfrm>
          <a:prstGeom prst="rect">
            <a:avLst/>
          </a:prstGeom>
          <a:solidFill>
            <a:srgbClr val="0D9488"/>
          </a:solidFill>
          <a:ln/>
        </p:spPr>
      </p:sp>
      <p:sp>
        <p:nvSpPr>
          <p:cNvPr id="13" name="Shape 10"/>
          <p:cNvSpPr/>
          <p:nvPr/>
        </p:nvSpPr>
        <p:spPr>
          <a:xfrm>
            <a:off x="3383280" y="1371600"/>
            <a:ext cx="457200" cy="457200"/>
          </a:xfrm>
          <a:prstGeom prst="ellipse">
            <a:avLst/>
          </a:prstGeom>
          <a:solidFill>
            <a:srgbClr val="E0F2F1"/>
          </a:solidFill>
          <a:ln/>
        </p:spPr>
      </p:sp>
      <p:pic>
        <p:nvPicPr>
          <p:cNvPr id="14" name="Image 1" descr="preencoded.png">    </p:cNvPr>
          <p:cNvPicPr>
            <a:picLocks noChangeAspect="1"/>
          </p:cNvPicPr>
          <p:nvPr/>
        </p:nvPicPr>
        <p:blipFill>
          <a:blip r:embed="rId2"/>
          <a:stretch>
            <a:fillRect/>
          </a:stretch>
        </p:blipFill>
        <p:spPr>
          <a:xfrm>
            <a:off x="3474720" y="1463040"/>
            <a:ext cx="274320" cy="274320"/>
          </a:xfrm>
          <a:prstGeom prst="rect">
            <a:avLst/>
          </a:prstGeom>
        </p:spPr>
      </p:pic>
      <p:sp>
        <p:nvSpPr>
          <p:cNvPr id="15" name="Text 11"/>
          <p:cNvSpPr/>
          <p:nvPr/>
        </p:nvSpPr>
        <p:spPr>
          <a:xfrm>
            <a:off x="3931920" y="132588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Product Manager</a:t>
            </a:r>
            <a:endParaRPr lang="en-US" sz="1400" dirty="0"/>
          </a:p>
        </p:txBody>
      </p:sp>
      <p:sp>
        <p:nvSpPr>
          <p:cNvPr id="16" name="Text 12"/>
          <p:cNvSpPr/>
          <p:nvPr/>
        </p:nvSpPr>
        <p:spPr>
          <a:xfrm>
            <a:off x="3383280" y="187452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Creates PRD with personas, user stories, success metrics, and risk assessment.</a:t>
            </a:r>
            <a:endParaRPr lang="en-US" sz="1000" dirty="0"/>
          </a:p>
        </p:txBody>
      </p:sp>
      <p:sp>
        <p:nvSpPr>
          <p:cNvPr id="17" name="Shape 13"/>
          <p:cNvSpPr/>
          <p:nvPr/>
        </p:nvSpPr>
        <p:spPr>
          <a:xfrm>
            <a:off x="6080760" y="114300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4"/>
          <p:cNvSpPr/>
          <p:nvPr/>
        </p:nvSpPr>
        <p:spPr>
          <a:xfrm>
            <a:off x="6080760" y="1143000"/>
            <a:ext cx="2606040" cy="54864"/>
          </a:xfrm>
          <a:prstGeom prst="rect">
            <a:avLst/>
          </a:prstGeom>
          <a:solidFill>
            <a:srgbClr val="0D9488"/>
          </a:solidFill>
          <a:ln/>
        </p:spPr>
      </p:sp>
      <p:sp>
        <p:nvSpPr>
          <p:cNvPr id="19" name="Shape 15"/>
          <p:cNvSpPr/>
          <p:nvPr/>
        </p:nvSpPr>
        <p:spPr>
          <a:xfrm>
            <a:off x="6217920" y="1371600"/>
            <a:ext cx="457200" cy="457200"/>
          </a:xfrm>
          <a:prstGeom prst="ellipse">
            <a:avLst/>
          </a:prstGeom>
          <a:solidFill>
            <a:srgbClr val="E0F2F1"/>
          </a:solidFill>
          <a:ln/>
        </p:spPr>
      </p:sp>
      <p:pic>
        <p:nvPicPr>
          <p:cNvPr id="20" name="Image 2" descr="preencoded.png">    </p:cNvPr>
          <p:cNvPicPr>
            <a:picLocks noChangeAspect="1"/>
          </p:cNvPicPr>
          <p:nvPr/>
        </p:nvPicPr>
        <p:blipFill>
          <a:blip r:embed="rId3"/>
          <a:stretch>
            <a:fillRect/>
          </a:stretch>
        </p:blipFill>
        <p:spPr>
          <a:xfrm>
            <a:off x="6309360" y="1463040"/>
            <a:ext cx="274320" cy="274320"/>
          </a:xfrm>
          <a:prstGeom prst="rect">
            <a:avLst/>
          </a:prstGeom>
        </p:spPr>
      </p:pic>
      <p:sp>
        <p:nvSpPr>
          <p:cNvPr id="21" name="Text 16"/>
          <p:cNvSpPr/>
          <p:nvPr/>
        </p:nvSpPr>
        <p:spPr>
          <a:xfrm>
            <a:off x="6766560" y="132588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Architect</a:t>
            </a:r>
            <a:endParaRPr lang="en-US" sz="1400" dirty="0"/>
          </a:p>
        </p:txBody>
      </p:sp>
      <p:sp>
        <p:nvSpPr>
          <p:cNvPr id="22" name="Text 17"/>
          <p:cNvSpPr/>
          <p:nvPr/>
        </p:nvSpPr>
        <p:spPr>
          <a:xfrm>
            <a:off x="6217920" y="187452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System design, tech stack decisions, API contracts, data models, and NFR planning.</a:t>
            </a:r>
            <a:endParaRPr lang="en-US" sz="1000" dirty="0"/>
          </a:p>
        </p:txBody>
      </p:sp>
      <p:sp>
        <p:nvSpPr>
          <p:cNvPr id="23" name="Shape 18"/>
          <p:cNvSpPr/>
          <p:nvPr/>
        </p:nvSpPr>
        <p:spPr>
          <a:xfrm>
            <a:off x="411480" y="292608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19"/>
          <p:cNvSpPr/>
          <p:nvPr/>
        </p:nvSpPr>
        <p:spPr>
          <a:xfrm>
            <a:off x="411480" y="2926080"/>
            <a:ext cx="2606040" cy="54864"/>
          </a:xfrm>
          <a:prstGeom prst="rect">
            <a:avLst/>
          </a:prstGeom>
          <a:solidFill>
            <a:srgbClr val="0D9488"/>
          </a:solidFill>
          <a:ln/>
        </p:spPr>
      </p:sp>
      <p:sp>
        <p:nvSpPr>
          <p:cNvPr id="25" name="Shape 20"/>
          <p:cNvSpPr/>
          <p:nvPr/>
        </p:nvSpPr>
        <p:spPr>
          <a:xfrm>
            <a:off x="548640" y="3154680"/>
            <a:ext cx="457200" cy="457200"/>
          </a:xfrm>
          <a:prstGeom prst="ellipse">
            <a:avLst/>
          </a:prstGeom>
          <a:solidFill>
            <a:srgbClr val="E0F2F1"/>
          </a:solidFill>
          <a:ln/>
        </p:spPr>
      </p:sp>
      <p:pic>
        <p:nvPicPr>
          <p:cNvPr id="26" name="Image 3" descr="preencoded.png">    </p:cNvPr>
          <p:cNvPicPr>
            <a:picLocks noChangeAspect="1"/>
          </p:cNvPicPr>
          <p:nvPr/>
        </p:nvPicPr>
        <p:blipFill>
          <a:blip r:embed="rId4"/>
          <a:stretch>
            <a:fillRect/>
          </a:stretch>
        </p:blipFill>
        <p:spPr>
          <a:xfrm>
            <a:off x="640080" y="3246120"/>
            <a:ext cx="274320" cy="274320"/>
          </a:xfrm>
          <a:prstGeom prst="rect">
            <a:avLst/>
          </a:prstGeom>
        </p:spPr>
      </p:pic>
      <p:sp>
        <p:nvSpPr>
          <p:cNvPr id="27" name="Text 21"/>
          <p:cNvSpPr/>
          <p:nvPr/>
        </p:nvSpPr>
        <p:spPr>
          <a:xfrm>
            <a:off x="1097280" y="310896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Scrum Master</a:t>
            </a:r>
            <a:endParaRPr lang="en-US" sz="1400" dirty="0"/>
          </a:p>
        </p:txBody>
      </p:sp>
      <p:sp>
        <p:nvSpPr>
          <p:cNvPr id="28" name="Text 22"/>
          <p:cNvSpPr/>
          <p:nvPr/>
        </p:nvSpPr>
        <p:spPr>
          <a:xfrm>
            <a:off x="548640" y="365760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Breaks PRD + Architecture into epics and stories. Manages sprint planning.</a:t>
            </a:r>
            <a:endParaRPr lang="en-US" sz="1000" dirty="0"/>
          </a:p>
        </p:txBody>
      </p:sp>
      <p:sp>
        <p:nvSpPr>
          <p:cNvPr id="29" name="Shape 23"/>
          <p:cNvSpPr/>
          <p:nvPr/>
        </p:nvSpPr>
        <p:spPr>
          <a:xfrm>
            <a:off x="3246120" y="292608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4"/>
          <p:cNvSpPr/>
          <p:nvPr/>
        </p:nvSpPr>
        <p:spPr>
          <a:xfrm>
            <a:off x="3246120" y="2926080"/>
            <a:ext cx="2606040" cy="54864"/>
          </a:xfrm>
          <a:prstGeom prst="rect">
            <a:avLst/>
          </a:prstGeom>
          <a:solidFill>
            <a:srgbClr val="0D9488"/>
          </a:solidFill>
          <a:ln/>
        </p:spPr>
      </p:sp>
      <p:sp>
        <p:nvSpPr>
          <p:cNvPr id="31" name="Shape 25"/>
          <p:cNvSpPr/>
          <p:nvPr/>
        </p:nvSpPr>
        <p:spPr>
          <a:xfrm>
            <a:off x="3383280" y="3154680"/>
            <a:ext cx="457200" cy="457200"/>
          </a:xfrm>
          <a:prstGeom prst="ellipse">
            <a:avLst/>
          </a:prstGeom>
          <a:solidFill>
            <a:srgbClr val="E0F2F1"/>
          </a:solidFill>
          <a:ln/>
        </p:spPr>
      </p:sp>
      <p:pic>
        <p:nvPicPr>
          <p:cNvPr id="32" name="Image 4" descr="preencoded.png">    </p:cNvPr>
          <p:cNvPicPr>
            <a:picLocks noChangeAspect="1"/>
          </p:cNvPicPr>
          <p:nvPr/>
        </p:nvPicPr>
        <p:blipFill>
          <a:blip r:embed="rId5"/>
          <a:stretch>
            <a:fillRect/>
          </a:stretch>
        </p:blipFill>
        <p:spPr>
          <a:xfrm>
            <a:off x="3474720" y="3246120"/>
            <a:ext cx="274320" cy="274320"/>
          </a:xfrm>
          <a:prstGeom prst="rect">
            <a:avLst/>
          </a:prstGeom>
        </p:spPr>
      </p:pic>
      <p:sp>
        <p:nvSpPr>
          <p:cNvPr id="33" name="Text 26"/>
          <p:cNvSpPr/>
          <p:nvPr/>
        </p:nvSpPr>
        <p:spPr>
          <a:xfrm>
            <a:off x="3931920" y="310896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Developer</a:t>
            </a:r>
            <a:endParaRPr lang="en-US" sz="1400" dirty="0"/>
          </a:p>
        </p:txBody>
      </p:sp>
      <p:sp>
        <p:nvSpPr>
          <p:cNvPr id="34" name="Text 27"/>
          <p:cNvSpPr/>
          <p:nvPr/>
        </p:nvSpPr>
        <p:spPr>
          <a:xfrm>
            <a:off x="3383280" y="365760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Implements stories following the architecture. Writes code + unit tests per story spec.</a:t>
            </a:r>
            <a:endParaRPr lang="en-US" sz="1000" dirty="0"/>
          </a:p>
        </p:txBody>
      </p:sp>
      <p:sp>
        <p:nvSpPr>
          <p:cNvPr id="35" name="Shape 28"/>
          <p:cNvSpPr/>
          <p:nvPr/>
        </p:nvSpPr>
        <p:spPr>
          <a:xfrm>
            <a:off x="6080760" y="2926080"/>
            <a:ext cx="260604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6" name="Shape 29"/>
          <p:cNvSpPr/>
          <p:nvPr/>
        </p:nvSpPr>
        <p:spPr>
          <a:xfrm>
            <a:off x="6080760" y="2926080"/>
            <a:ext cx="2606040" cy="54864"/>
          </a:xfrm>
          <a:prstGeom prst="rect">
            <a:avLst/>
          </a:prstGeom>
          <a:solidFill>
            <a:srgbClr val="0D9488"/>
          </a:solidFill>
          <a:ln/>
        </p:spPr>
      </p:sp>
      <p:sp>
        <p:nvSpPr>
          <p:cNvPr id="37" name="Shape 30"/>
          <p:cNvSpPr/>
          <p:nvPr/>
        </p:nvSpPr>
        <p:spPr>
          <a:xfrm>
            <a:off x="6217920" y="3154680"/>
            <a:ext cx="457200" cy="457200"/>
          </a:xfrm>
          <a:prstGeom prst="ellipse">
            <a:avLst/>
          </a:prstGeom>
          <a:solidFill>
            <a:srgbClr val="E0F2F1"/>
          </a:solidFill>
          <a:ln/>
        </p:spPr>
      </p:sp>
      <p:pic>
        <p:nvPicPr>
          <p:cNvPr id="38" name="Image 5" descr="preencoded.png">    </p:cNvPr>
          <p:cNvPicPr>
            <a:picLocks noChangeAspect="1"/>
          </p:cNvPicPr>
          <p:nvPr/>
        </p:nvPicPr>
        <p:blipFill>
          <a:blip r:embed="rId6"/>
          <a:stretch>
            <a:fillRect/>
          </a:stretch>
        </p:blipFill>
        <p:spPr>
          <a:xfrm>
            <a:off x="6309360" y="3246120"/>
            <a:ext cx="274320" cy="274320"/>
          </a:xfrm>
          <a:prstGeom prst="rect">
            <a:avLst/>
          </a:prstGeom>
        </p:spPr>
      </p:pic>
      <p:sp>
        <p:nvSpPr>
          <p:cNvPr id="39" name="Text 31"/>
          <p:cNvSpPr/>
          <p:nvPr/>
        </p:nvSpPr>
        <p:spPr>
          <a:xfrm>
            <a:off x="6766560" y="3108960"/>
            <a:ext cx="178308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QA Agent</a:t>
            </a:r>
            <a:endParaRPr lang="en-US" sz="1400" dirty="0"/>
          </a:p>
        </p:txBody>
      </p:sp>
      <p:sp>
        <p:nvSpPr>
          <p:cNvPr id="40" name="Text 32"/>
          <p:cNvSpPr/>
          <p:nvPr/>
        </p:nvSpPr>
        <p:spPr>
          <a:xfrm>
            <a:off x="6217920" y="3657600"/>
            <a:ext cx="23317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Code review, test validation, quality gates. Checks adherence to PRD and architecture.</a:t>
            </a:r>
            <a:endParaRPr lang="en-US" sz="1000" dirty="0"/>
          </a:p>
        </p:txBody>
      </p:sp>
      <p:sp>
        <p:nvSpPr>
          <p:cNvPr id="41" name="Text 33"/>
          <p:cNvSpPr/>
          <p:nvPr/>
        </p:nvSpPr>
        <p:spPr>
          <a:xfrm>
            <a:off x="457200" y="4709160"/>
            <a:ext cx="8229600" cy="320040"/>
          </a:xfrm>
          <a:prstGeom prst="rect">
            <a:avLst/>
          </a:prstGeom>
          <a:noFill/>
          <a:ln/>
        </p:spPr>
        <p:txBody>
          <a:bodyPr wrap="square" rtlCol="0" anchor="ctr"/>
          <a:lstStyle/>
          <a:p>
            <a:pPr algn="ctr" indent="0" marL="0">
              <a:buNone/>
            </a:pPr>
            <a:r>
              <a:rPr lang="en-US" sz="1100" i="1" dirty="0">
                <a:solidFill>
                  <a:srgbClr val="0D9488"/>
                </a:solidFill>
                <a:latin typeface="Calibri" pitchFamily="34" charset="0"/>
                <a:ea typeface="Calibri" pitchFamily="34" charset="-122"/>
                <a:cs typeface="Calibri" pitchFamily="34" charset="-120"/>
              </a:rPr>
              <a:t>Each agent is a markdown file with defined expertise, commands, and constraints</a:t>
            </a:r>
            <a:endParaRPr lang="en-US" sz="1100" dirty="0"/>
          </a:p>
        </p:txBody>
      </p:sp>
      <p:sp>
        <p:nvSpPr>
          <p:cNvPr id="42"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13 / 93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Agent-as-Code Paradigm</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Agents as version-controlled, portable code artifacts</a:t>
            </a:r>
            <a:endParaRPr lang="en-US" sz="1300" dirty="0"/>
          </a:p>
        </p:txBody>
      </p:sp>
      <p:sp>
        <p:nvSpPr>
          <p:cNvPr id="5" name="Shape 3"/>
          <p:cNvSpPr/>
          <p:nvPr/>
        </p:nvSpPr>
        <p:spPr>
          <a:xfrm>
            <a:off x="457200" y="1280160"/>
            <a:ext cx="4114800" cy="3017520"/>
          </a:xfrm>
          <a:prstGeom prst="rect">
            <a:avLst/>
          </a:prstGeom>
          <a:solidFill>
            <a:srgbClr val="1E293B"/>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80160"/>
            <a:ext cx="4114800" cy="320040"/>
          </a:xfrm>
          <a:prstGeom prst="rect">
            <a:avLst/>
          </a:prstGeom>
          <a:solidFill>
            <a:srgbClr val="334155"/>
          </a:solidFill>
          <a:ln/>
        </p:spPr>
      </p:sp>
      <p:sp>
        <p:nvSpPr>
          <p:cNvPr id="7" name="Text 5"/>
          <p:cNvSpPr/>
          <p:nvPr/>
        </p:nvSpPr>
        <p:spPr>
          <a:xfrm>
            <a:off x="640080" y="1280160"/>
            <a:ext cx="2743200" cy="32004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architect.agent.md</a:t>
            </a:r>
            <a:endParaRPr lang="en-US" sz="1000" dirty="0"/>
          </a:p>
        </p:txBody>
      </p:sp>
      <p:sp>
        <p:nvSpPr>
          <p:cNvPr id="8" name="Text 6"/>
          <p:cNvSpPr/>
          <p:nvPr/>
        </p:nvSpPr>
        <p:spPr>
          <a:xfrm>
            <a:off x="685800" y="1691640"/>
            <a:ext cx="3657600" cy="182880"/>
          </a:xfrm>
          <a:prstGeom prst="rect">
            <a:avLst/>
          </a:prstGeom>
          <a:noFill/>
          <a:ln/>
        </p:spPr>
        <p:txBody>
          <a:bodyPr wrap="square" lIns="0" tIns="0" rIns="0" bIns="0" rtlCol="0" anchor="ctr"/>
          <a:lstStyle/>
          <a:p>
            <a:pPr indent="0" marL="0">
              <a:buNone/>
            </a:pPr>
            <a:r>
              <a:rPr lang="en-US" sz="900" dirty="0">
                <a:solidFill>
                  <a:srgbClr val="14B8A6"/>
                </a:solidFill>
                <a:latin typeface="Consolas" pitchFamily="34" charset="0"/>
                <a:ea typeface="Consolas" pitchFamily="34" charset="-122"/>
                <a:cs typeface="Consolas" pitchFamily="34" charset="-120"/>
              </a:rPr>
              <a:t># Architect Agent</a:t>
            </a:r>
            <a:endParaRPr lang="en-US" sz="900" dirty="0"/>
          </a:p>
        </p:txBody>
      </p:sp>
      <p:sp>
        <p:nvSpPr>
          <p:cNvPr id="9" name="Text 7"/>
          <p:cNvSpPr/>
          <p:nvPr/>
        </p:nvSpPr>
        <p:spPr>
          <a:xfrm>
            <a:off x="685800" y="2020824"/>
            <a:ext cx="36576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role: Software Architect</a:t>
            </a:r>
            <a:endParaRPr lang="en-US" sz="900" dirty="0"/>
          </a:p>
        </p:txBody>
      </p:sp>
      <p:sp>
        <p:nvSpPr>
          <p:cNvPr id="10" name="Text 8"/>
          <p:cNvSpPr/>
          <p:nvPr/>
        </p:nvSpPr>
        <p:spPr>
          <a:xfrm>
            <a:off x="685800" y="2185416"/>
            <a:ext cx="36576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expertise:</a:t>
            </a:r>
            <a:endParaRPr lang="en-US" sz="900" dirty="0"/>
          </a:p>
        </p:txBody>
      </p:sp>
      <p:sp>
        <p:nvSpPr>
          <p:cNvPr id="11" name="Text 9"/>
          <p:cNvSpPr/>
          <p:nvPr/>
        </p:nvSpPr>
        <p:spPr>
          <a:xfrm>
            <a:off x="685800" y="2350008"/>
            <a:ext cx="3657600" cy="182880"/>
          </a:xfrm>
          <a:prstGeom prst="rect">
            <a:avLst/>
          </a:prstGeom>
          <a:noFill/>
          <a:ln/>
        </p:spPr>
        <p:txBody>
          <a:bodyPr wrap="square" lIns="0" tIns="0" rIns="0" bIns="0" rtlCol="0" anchor="ctr"/>
          <a:lstStyle/>
          <a:p>
            <a:pPr indent="0" marL="0">
              <a:buNone/>
            </a:pPr>
            <a:r>
              <a:rPr lang="en-US" sz="900" dirty="0">
                <a:solidFill>
                  <a:srgbClr val="FFFFFF"/>
                </a:solidFill>
                <a:latin typeface="Consolas" pitchFamily="34" charset="0"/>
                <a:ea typeface="Consolas" pitchFamily="34" charset="-122"/>
                <a:cs typeface="Consolas" pitchFamily="34" charset="-120"/>
              </a:rPr>
              <a:t>  - System design &amp; patterns</a:t>
            </a:r>
            <a:endParaRPr lang="en-US" sz="900" dirty="0"/>
          </a:p>
        </p:txBody>
      </p:sp>
      <p:sp>
        <p:nvSpPr>
          <p:cNvPr id="12" name="Text 10"/>
          <p:cNvSpPr/>
          <p:nvPr/>
        </p:nvSpPr>
        <p:spPr>
          <a:xfrm>
            <a:off x="685800" y="2514600"/>
            <a:ext cx="3657600" cy="182880"/>
          </a:xfrm>
          <a:prstGeom prst="rect">
            <a:avLst/>
          </a:prstGeom>
          <a:noFill/>
          <a:ln/>
        </p:spPr>
        <p:txBody>
          <a:bodyPr wrap="square" lIns="0" tIns="0" rIns="0" bIns="0" rtlCol="0" anchor="ctr"/>
          <a:lstStyle/>
          <a:p>
            <a:pPr indent="0" marL="0">
              <a:buNone/>
            </a:pPr>
            <a:r>
              <a:rPr lang="en-US" sz="900" dirty="0">
                <a:solidFill>
                  <a:srgbClr val="FFFFFF"/>
                </a:solidFill>
                <a:latin typeface="Consolas" pitchFamily="34" charset="0"/>
                <a:ea typeface="Consolas" pitchFamily="34" charset="-122"/>
                <a:cs typeface="Consolas" pitchFamily="34" charset="-120"/>
              </a:rPr>
              <a:t>  - API contracts &amp; data models</a:t>
            </a:r>
            <a:endParaRPr lang="en-US" sz="900" dirty="0"/>
          </a:p>
        </p:txBody>
      </p:sp>
      <p:sp>
        <p:nvSpPr>
          <p:cNvPr id="13" name="Text 11"/>
          <p:cNvSpPr/>
          <p:nvPr/>
        </p:nvSpPr>
        <p:spPr>
          <a:xfrm>
            <a:off x="685800" y="2679192"/>
            <a:ext cx="3657600" cy="182880"/>
          </a:xfrm>
          <a:prstGeom prst="rect">
            <a:avLst/>
          </a:prstGeom>
          <a:noFill/>
          <a:ln/>
        </p:spPr>
        <p:txBody>
          <a:bodyPr wrap="square" lIns="0" tIns="0" rIns="0" bIns="0" rtlCol="0" anchor="ctr"/>
          <a:lstStyle/>
          <a:p>
            <a:pPr indent="0" marL="0">
              <a:buNone/>
            </a:pPr>
            <a:r>
              <a:rPr lang="en-US" sz="900" dirty="0">
                <a:solidFill>
                  <a:srgbClr val="FFFFFF"/>
                </a:solidFill>
                <a:latin typeface="Consolas" pitchFamily="34" charset="0"/>
                <a:ea typeface="Consolas" pitchFamily="34" charset="-122"/>
                <a:cs typeface="Consolas" pitchFamily="34" charset="-120"/>
              </a:rPr>
              <a:t>  - Tech stack decisions</a:t>
            </a:r>
            <a:endParaRPr lang="en-US" sz="900" dirty="0"/>
          </a:p>
        </p:txBody>
      </p:sp>
      <p:sp>
        <p:nvSpPr>
          <p:cNvPr id="14" name="Text 12"/>
          <p:cNvSpPr/>
          <p:nvPr/>
        </p:nvSpPr>
        <p:spPr>
          <a:xfrm>
            <a:off x="685800" y="3008376"/>
            <a:ext cx="36576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commands:</a:t>
            </a:r>
            <a:endParaRPr lang="en-US" sz="900" dirty="0"/>
          </a:p>
        </p:txBody>
      </p:sp>
      <p:sp>
        <p:nvSpPr>
          <p:cNvPr id="15" name="Text 13"/>
          <p:cNvSpPr/>
          <p:nvPr/>
        </p:nvSpPr>
        <p:spPr>
          <a:xfrm>
            <a:off x="685800" y="3172968"/>
            <a:ext cx="36576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  /create-architecture</a:t>
            </a:r>
            <a:endParaRPr lang="en-US" sz="900" dirty="0"/>
          </a:p>
        </p:txBody>
      </p:sp>
      <p:sp>
        <p:nvSpPr>
          <p:cNvPr id="16" name="Text 14"/>
          <p:cNvSpPr/>
          <p:nvPr/>
        </p:nvSpPr>
        <p:spPr>
          <a:xfrm>
            <a:off x="685800" y="3337560"/>
            <a:ext cx="36576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  /review-design</a:t>
            </a:r>
            <a:endParaRPr lang="en-US" sz="900" dirty="0"/>
          </a:p>
        </p:txBody>
      </p:sp>
      <p:sp>
        <p:nvSpPr>
          <p:cNvPr id="17" name="Text 15"/>
          <p:cNvSpPr/>
          <p:nvPr/>
        </p:nvSpPr>
        <p:spPr>
          <a:xfrm>
            <a:off x="685800" y="3666744"/>
            <a:ext cx="36576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constraints:</a:t>
            </a:r>
            <a:endParaRPr lang="en-US" sz="900" dirty="0"/>
          </a:p>
        </p:txBody>
      </p:sp>
      <p:sp>
        <p:nvSpPr>
          <p:cNvPr id="18" name="Text 16"/>
          <p:cNvSpPr/>
          <p:nvPr/>
        </p:nvSpPr>
        <p:spPr>
          <a:xfrm>
            <a:off x="685800" y="3831336"/>
            <a:ext cx="3657600" cy="182880"/>
          </a:xfrm>
          <a:prstGeom prst="rect">
            <a:avLst/>
          </a:prstGeom>
          <a:noFill/>
          <a:ln/>
        </p:spPr>
        <p:txBody>
          <a:bodyPr wrap="square" lIns="0" tIns="0" rIns="0" bIns="0" rtlCol="0" anchor="ctr"/>
          <a:lstStyle/>
          <a:p>
            <a:pPr indent="0" marL="0">
              <a:buNone/>
            </a:pPr>
            <a:r>
              <a:rPr lang="en-US" sz="900" dirty="0">
                <a:solidFill>
                  <a:srgbClr val="FFFFFF"/>
                </a:solidFill>
                <a:latin typeface="Consolas" pitchFamily="34" charset="0"/>
                <a:ea typeface="Consolas" pitchFamily="34" charset="-122"/>
                <a:cs typeface="Consolas" pitchFamily="34" charset="-120"/>
              </a:rPr>
              <a:t>  - Follow org security policies</a:t>
            </a:r>
            <a:endParaRPr lang="en-US" sz="900" dirty="0"/>
          </a:p>
        </p:txBody>
      </p:sp>
      <p:sp>
        <p:nvSpPr>
          <p:cNvPr id="19" name="Text 17"/>
          <p:cNvSpPr/>
          <p:nvPr/>
        </p:nvSpPr>
        <p:spPr>
          <a:xfrm>
            <a:off x="685800" y="3995928"/>
            <a:ext cx="3657600" cy="182880"/>
          </a:xfrm>
          <a:prstGeom prst="rect">
            <a:avLst/>
          </a:prstGeom>
          <a:noFill/>
          <a:ln/>
        </p:spPr>
        <p:txBody>
          <a:bodyPr wrap="square" lIns="0" tIns="0" rIns="0" bIns="0" rtlCol="0" anchor="ctr"/>
          <a:lstStyle/>
          <a:p>
            <a:pPr indent="0" marL="0">
              <a:buNone/>
            </a:pPr>
            <a:r>
              <a:rPr lang="en-US" sz="900" dirty="0">
                <a:solidFill>
                  <a:srgbClr val="FFFFFF"/>
                </a:solidFill>
                <a:latin typeface="Consolas" pitchFamily="34" charset="0"/>
                <a:ea typeface="Consolas" pitchFamily="34" charset="-122"/>
                <a:cs typeface="Consolas" pitchFamily="34" charset="-120"/>
              </a:rPr>
              <a:t>  - Use approved tech stack only</a:t>
            </a:r>
            <a:endParaRPr lang="en-US" sz="900" dirty="0"/>
          </a:p>
        </p:txBody>
      </p:sp>
      <p:pic>
        <p:nvPicPr>
          <p:cNvPr id="20" name="Image 0" descr="preencoded.png">    </p:cNvPr>
          <p:cNvPicPr>
            <a:picLocks noChangeAspect="1"/>
          </p:cNvPicPr>
          <p:nvPr/>
        </p:nvPicPr>
        <p:blipFill>
          <a:blip r:embed="rId1"/>
          <a:stretch>
            <a:fillRect/>
          </a:stretch>
        </p:blipFill>
        <p:spPr>
          <a:xfrm>
            <a:off x="4846320" y="1325880"/>
            <a:ext cx="256032" cy="256032"/>
          </a:xfrm>
          <a:prstGeom prst="rect">
            <a:avLst/>
          </a:prstGeom>
        </p:spPr>
      </p:pic>
      <p:sp>
        <p:nvSpPr>
          <p:cNvPr id="21" name="Text 18"/>
          <p:cNvSpPr/>
          <p:nvPr/>
        </p:nvSpPr>
        <p:spPr>
          <a:xfrm>
            <a:off x="5212080" y="1280160"/>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Version Controlled</a:t>
            </a:r>
            <a:endParaRPr lang="en-US" sz="1300" dirty="0"/>
          </a:p>
        </p:txBody>
      </p:sp>
      <p:sp>
        <p:nvSpPr>
          <p:cNvPr id="22" name="Text 19"/>
          <p:cNvSpPr/>
          <p:nvPr/>
        </p:nvSpPr>
        <p:spPr>
          <a:xfrm>
            <a:off x="5212080" y="1572768"/>
            <a:ext cx="3474720" cy="3657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Agents live in Git alongside your code. Track changes, review updates, branch customizations.</a:t>
            </a:r>
            <a:endParaRPr lang="en-US" sz="1000" dirty="0"/>
          </a:p>
        </p:txBody>
      </p:sp>
      <p:pic>
        <p:nvPicPr>
          <p:cNvPr id="23" name="Image 1" descr="preencoded.png">    </p:cNvPr>
          <p:cNvPicPr>
            <a:picLocks noChangeAspect="1"/>
          </p:cNvPicPr>
          <p:nvPr/>
        </p:nvPicPr>
        <p:blipFill>
          <a:blip r:embed="rId2"/>
          <a:stretch>
            <a:fillRect/>
          </a:stretch>
        </p:blipFill>
        <p:spPr>
          <a:xfrm>
            <a:off x="4846320" y="2075688"/>
            <a:ext cx="256032" cy="256032"/>
          </a:xfrm>
          <a:prstGeom prst="rect">
            <a:avLst/>
          </a:prstGeom>
        </p:spPr>
      </p:pic>
      <p:sp>
        <p:nvSpPr>
          <p:cNvPr id="24" name="Text 20"/>
          <p:cNvSpPr/>
          <p:nvPr/>
        </p:nvSpPr>
        <p:spPr>
          <a:xfrm>
            <a:off x="5212080" y="2029968"/>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Portable</a:t>
            </a:r>
            <a:endParaRPr lang="en-US" sz="1300" dirty="0"/>
          </a:p>
        </p:txBody>
      </p:sp>
      <p:sp>
        <p:nvSpPr>
          <p:cNvPr id="25" name="Text 21"/>
          <p:cNvSpPr/>
          <p:nvPr/>
        </p:nvSpPr>
        <p:spPr>
          <a:xfrm>
            <a:off x="5212080" y="2322576"/>
            <a:ext cx="3474720" cy="3657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Same agent definition works in Claude Code, Cline, Cursor, or any compatible IDE.</a:t>
            </a:r>
            <a:endParaRPr lang="en-US" sz="1000" dirty="0"/>
          </a:p>
        </p:txBody>
      </p:sp>
      <p:pic>
        <p:nvPicPr>
          <p:cNvPr id="26" name="Image 2" descr="preencoded.png">    </p:cNvPr>
          <p:cNvPicPr>
            <a:picLocks noChangeAspect="1"/>
          </p:cNvPicPr>
          <p:nvPr/>
        </p:nvPicPr>
        <p:blipFill>
          <a:blip r:embed="rId3"/>
          <a:stretch>
            <a:fillRect/>
          </a:stretch>
        </p:blipFill>
        <p:spPr>
          <a:xfrm>
            <a:off x="4846320" y="2825496"/>
            <a:ext cx="256032" cy="256032"/>
          </a:xfrm>
          <a:prstGeom prst="rect">
            <a:avLst/>
          </a:prstGeom>
        </p:spPr>
      </p:pic>
      <p:sp>
        <p:nvSpPr>
          <p:cNvPr id="27" name="Text 22"/>
          <p:cNvSpPr/>
          <p:nvPr/>
        </p:nvSpPr>
        <p:spPr>
          <a:xfrm>
            <a:off x="5212080" y="2779776"/>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Customizable</a:t>
            </a:r>
            <a:endParaRPr lang="en-US" sz="1300" dirty="0"/>
          </a:p>
        </p:txBody>
      </p:sp>
      <p:sp>
        <p:nvSpPr>
          <p:cNvPr id="28" name="Text 23"/>
          <p:cNvSpPr/>
          <p:nvPr/>
        </p:nvSpPr>
        <p:spPr>
          <a:xfrm>
            <a:off x="5212080" y="3072384"/>
            <a:ext cx="3474720" cy="3657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Add org-specific skills, constraints, and policies to any agent without forking the framework.</a:t>
            </a:r>
            <a:endParaRPr lang="en-US" sz="1000" dirty="0"/>
          </a:p>
        </p:txBody>
      </p:sp>
      <p:pic>
        <p:nvPicPr>
          <p:cNvPr id="29" name="Image 3" descr="preencoded.png">    </p:cNvPr>
          <p:cNvPicPr>
            <a:picLocks noChangeAspect="1"/>
          </p:cNvPicPr>
          <p:nvPr/>
        </p:nvPicPr>
        <p:blipFill>
          <a:blip r:embed="rId4"/>
          <a:stretch>
            <a:fillRect/>
          </a:stretch>
        </p:blipFill>
        <p:spPr>
          <a:xfrm>
            <a:off x="4846320" y="3575304"/>
            <a:ext cx="256032" cy="256032"/>
          </a:xfrm>
          <a:prstGeom prst="rect">
            <a:avLst/>
          </a:prstGeom>
        </p:spPr>
      </p:pic>
      <p:sp>
        <p:nvSpPr>
          <p:cNvPr id="30" name="Text 24"/>
          <p:cNvSpPr/>
          <p:nvPr/>
        </p:nvSpPr>
        <p:spPr>
          <a:xfrm>
            <a:off x="5212080" y="3529584"/>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Shareable</a:t>
            </a:r>
            <a:endParaRPr lang="en-US" sz="1300" dirty="0"/>
          </a:p>
        </p:txBody>
      </p:sp>
      <p:sp>
        <p:nvSpPr>
          <p:cNvPr id="31" name="Text 25"/>
          <p:cNvSpPr/>
          <p:nvPr/>
        </p:nvSpPr>
        <p:spPr>
          <a:xfrm>
            <a:off x="5212080" y="3822192"/>
            <a:ext cx="3474720" cy="3657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Share agents across teams. One definition ensures consistent behavior everywhere.</a:t>
            </a:r>
            <a:endParaRPr lang="en-US" sz="1000" dirty="0"/>
          </a:p>
        </p:txBody>
      </p:sp>
      <p:sp>
        <p:nvSpPr>
          <p:cNvPr id="32" name="Text 2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14 / 93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Documentation-First Development</a:t>
            </a:r>
            <a:endParaRPr lang="en-US" sz="2600" dirty="0"/>
          </a:p>
        </p:txBody>
      </p:sp>
      <p:sp>
        <p:nvSpPr>
          <p:cNvPr id="5" name="Text 3"/>
          <p:cNvSpPr/>
          <p:nvPr/>
        </p:nvSpPr>
        <p:spPr>
          <a:xfrm>
            <a:off x="457200" y="1051560"/>
            <a:ext cx="8229600" cy="365760"/>
          </a:xfrm>
          <a:prstGeom prst="rect">
            <a:avLst/>
          </a:prstGeom>
          <a:noFill/>
          <a:ln/>
        </p:spPr>
        <p:txBody>
          <a:bodyPr wrap="square"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Artifacts are the single source of truth — just like DIDs (Data Item Descriptions) in MIL-STD-498</a:t>
            </a:r>
            <a:endParaRPr lang="en-US" sz="1300" dirty="0"/>
          </a:p>
        </p:txBody>
      </p:sp>
      <p:sp>
        <p:nvSpPr>
          <p:cNvPr id="6" name="Shape 4"/>
          <p:cNvSpPr/>
          <p:nvPr/>
        </p:nvSpPr>
        <p:spPr>
          <a:xfrm>
            <a:off x="365760" y="1645920"/>
            <a:ext cx="1463040" cy="1097280"/>
          </a:xfrm>
          <a:prstGeom prst="rect">
            <a:avLst/>
          </a:prstGeom>
          <a:solidFill>
            <a:srgbClr val="0D9488"/>
          </a:solidFill>
          <a:ln/>
          <a:effectLst>
            <a:outerShdw sx="100000" sy="100000" kx="0" ky="0" algn="bl" rotWithShape="0" blurRad="76200" dist="25400" dir="8100000">
              <a:srgbClr val="000000">
                <a:alpha val="12000"/>
              </a:srgbClr>
            </a:outerShdw>
          </a:effectLst>
        </p:spPr>
      </p:sp>
      <p:sp>
        <p:nvSpPr>
          <p:cNvPr id="7" name="Text 5"/>
          <p:cNvSpPr/>
          <p:nvPr/>
        </p:nvSpPr>
        <p:spPr>
          <a:xfrm>
            <a:off x="365760" y="1691640"/>
            <a:ext cx="1463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Project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Brief</a:t>
            </a:r>
            <a:endParaRPr lang="en-US" sz="1200" dirty="0"/>
          </a:p>
        </p:txBody>
      </p:sp>
      <p:sp>
        <p:nvSpPr>
          <p:cNvPr id="8" name="Text 6"/>
          <p:cNvSpPr/>
          <p:nvPr/>
        </p:nvSpPr>
        <p:spPr>
          <a:xfrm>
            <a:off x="365760" y="2423160"/>
            <a:ext cx="146304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Analyst</a:t>
            </a:r>
            <a:endParaRPr lang="en-US" sz="900" dirty="0"/>
          </a:p>
        </p:txBody>
      </p:sp>
      <p:sp>
        <p:nvSpPr>
          <p:cNvPr id="9" name="Text 7"/>
          <p:cNvSpPr/>
          <p:nvPr/>
        </p:nvSpPr>
        <p:spPr>
          <a:xfrm>
            <a:off x="1828800" y="1920240"/>
            <a:ext cx="292608"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10" name="Shape 8"/>
          <p:cNvSpPr/>
          <p:nvPr/>
        </p:nvSpPr>
        <p:spPr>
          <a:xfrm>
            <a:off x="2121408" y="1645920"/>
            <a:ext cx="1463040" cy="1097280"/>
          </a:xfrm>
          <a:prstGeom prst="rect">
            <a:avLst/>
          </a:prstGeom>
          <a:solidFill>
            <a:srgbClr val="0891B2"/>
          </a:solidFill>
          <a:ln/>
          <a:effectLst>
            <a:outerShdw sx="100000" sy="100000" kx="0" ky="0" algn="bl" rotWithShape="0" blurRad="76200" dist="25400" dir="8100000">
              <a:srgbClr val="000000">
                <a:alpha val="12000"/>
              </a:srgbClr>
            </a:outerShdw>
          </a:effectLst>
        </p:spPr>
      </p:sp>
      <p:sp>
        <p:nvSpPr>
          <p:cNvPr id="11" name="Text 9"/>
          <p:cNvSpPr/>
          <p:nvPr/>
        </p:nvSpPr>
        <p:spPr>
          <a:xfrm>
            <a:off x="2121408" y="1691640"/>
            <a:ext cx="1463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PRD</a:t>
            </a:r>
            <a:endParaRPr lang="en-US" sz="1200" dirty="0"/>
          </a:p>
        </p:txBody>
      </p:sp>
      <p:sp>
        <p:nvSpPr>
          <p:cNvPr id="12" name="Text 10"/>
          <p:cNvSpPr/>
          <p:nvPr/>
        </p:nvSpPr>
        <p:spPr>
          <a:xfrm>
            <a:off x="2121408" y="2423160"/>
            <a:ext cx="146304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PM Agent</a:t>
            </a:r>
            <a:endParaRPr lang="en-US" sz="900" dirty="0"/>
          </a:p>
        </p:txBody>
      </p:sp>
      <p:sp>
        <p:nvSpPr>
          <p:cNvPr id="13" name="Text 11"/>
          <p:cNvSpPr/>
          <p:nvPr/>
        </p:nvSpPr>
        <p:spPr>
          <a:xfrm>
            <a:off x="3584448" y="1920240"/>
            <a:ext cx="292608"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14" name="Shape 12"/>
          <p:cNvSpPr/>
          <p:nvPr/>
        </p:nvSpPr>
        <p:spPr>
          <a:xfrm>
            <a:off x="3877056" y="1645920"/>
            <a:ext cx="1463040" cy="1097280"/>
          </a:xfrm>
          <a:prstGeom prst="rect">
            <a:avLst/>
          </a:prstGeom>
          <a:solidFill>
            <a:srgbClr val="0E7490"/>
          </a:solidFill>
          <a:ln/>
          <a:effectLst>
            <a:outerShdw sx="100000" sy="100000" kx="0" ky="0" algn="bl" rotWithShape="0" blurRad="76200" dist="25400" dir="8100000">
              <a:srgbClr val="000000">
                <a:alpha val="12000"/>
              </a:srgbClr>
            </a:outerShdw>
          </a:effectLst>
        </p:spPr>
      </p:sp>
      <p:sp>
        <p:nvSpPr>
          <p:cNvPr id="15" name="Text 13"/>
          <p:cNvSpPr/>
          <p:nvPr/>
        </p:nvSpPr>
        <p:spPr>
          <a:xfrm>
            <a:off x="3877056" y="1691640"/>
            <a:ext cx="1463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Architecture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Doc</a:t>
            </a:r>
            <a:endParaRPr lang="en-US" sz="1200" dirty="0"/>
          </a:p>
        </p:txBody>
      </p:sp>
      <p:sp>
        <p:nvSpPr>
          <p:cNvPr id="16" name="Text 14"/>
          <p:cNvSpPr/>
          <p:nvPr/>
        </p:nvSpPr>
        <p:spPr>
          <a:xfrm>
            <a:off x="3877056" y="2423160"/>
            <a:ext cx="146304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Architect</a:t>
            </a:r>
            <a:endParaRPr lang="en-US" sz="900" dirty="0"/>
          </a:p>
        </p:txBody>
      </p:sp>
      <p:sp>
        <p:nvSpPr>
          <p:cNvPr id="17" name="Text 15"/>
          <p:cNvSpPr/>
          <p:nvPr/>
        </p:nvSpPr>
        <p:spPr>
          <a:xfrm>
            <a:off x="5340096" y="1920240"/>
            <a:ext cx="292608"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18" name="Shape 16"/>
          <p:cNvSpPr/>
          <p:nvPr/>
        </p:nvSpPr>
        <p:spPr>
          <a:xfrm>
            <a:off x="5632704" y="1645920"/>
            <a:ext cx="1463040" cy="1097280"/>
          </a:xfrm>
          <a:prstGeom prst="rect">
            <a:avLst/>
          </a:prstGeom>
          <a:solidFill>
            <a:srgbClr val="155E75"/>
          </a:solidFill>
          <a:ln/>
          <a:effectLst>
            <a:outerShdw sx="100000" sy="100000" kx="0" ky="0" algn="bl" rotWithShape="0" blurRad="76200" dist="25400" dir="8100000">
              <a:srgbClr val="000000">
                <a:alpha val="12000"/>
              </a:srgbClr>
            </a:outerShdw>
          </a:effectLst>
        </p:spPr>
      </p:sp>
      <p:sp>
        <p:nvSpPr>
          <p:cNvPr id="19" name="Text 17"/>
          <p:cNvSpPr/>
          <p:nvPr/>
        </p:nvSpPr>
        <p:spPr>
          <a:xfrm>
            <a:off x="5632704" y="1691640"/>
            <a:ext cx="1463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Stories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Epics</a:t>
            </a:r>
            <a:endParaRPr lang="en-US" sz="1200" dirty="0"/>
          </a:p>
        </p:txBody>
      </p:sp>
      <p:sp>
        <p:nvSpPr>
          <p:cNvPr id="20" name="Text 18"/>
          <p:cNvSpPr/>
          <p:nvPr/>
        </p:nvSpPr>
        <p:spPr>
          <a:xfrm>
            <a:off x="5632704" y="2423160"/>
            <a:ext cx="146304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Scrum Master</a:t>
            </a:r>
            <a:endParaRPr lang="en-US" sz="900" dirty="0"/>
          </a:p>
        </p:txBody>
      </p:sp>
      <p:sp>
        <p:nvSpPr>
          <p:cNvPr id="21" name="Text 19"/>
          <p:cNvSpPr/>
          <p:nvPr/>
        </p:nvSpPr>
        <p:spPr>
          <a:xfrm>
            <a:off x="7095744" y="1920240"/>
            <a:ext cx="292608" cy="36576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22" name="Shape 20"/>
          <p:cNvSpPr/>
          <p:nvPr/>
        </p:nvSpPr>
        <p:spPr>
          <a:xfrm>
            <a:off x="7388352" y="1645920"/>
            <a:ext cx="1463040" cy="1097280"/>
          </a:xfrm>
          <a:prstGeom prst="rect">
            <a:avLst/>
          </a:prstGeom>
          <a:solidFill>
            <a:srgbClr val="0F1B2D"/>
          </a:solidFill>
          <a:ln/>
          <a:effectLst>
            <a:outerShdw sx="100000" sy="100000" kx="0" ky="0" algn="bl" rotWithShape="0" blurRad="76200" dist="25400" dir="8100000">
              <a:srgbClr val="000000">
                <a:alpha val="12000"/>
              </a:srgbClr>
            </a:outerShdw>
          </a:effectLst>
        </p:spPr>
      </p:sp>
      <p:sp>
        <p:nvSpPr>
          <p:cNvPr id="23" name="Text 21"/>
          <p:cNvSpPr/>
          <p:nvPr/>
        </p:nvSpPr>
        <p:spPr>
          <a:xfrm>
            <a:off x="7388352" y="1691640"/>
            <a:ext cx="1463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Code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Tests</a:t>
            </a:r>
            <a:endParaRPr lang="en-US" sz="1200" dirty="0"/>
          </a:p>
        </p:txBody>
      </p:sp>
      <p:sp>
        <p:nvSpPr>
          <p:cNvPr id="24" name="Text 22"/>
          <p:cNvSpPr/>
          <p:nvPr/>
        </p:nvSpPr>
        <p:spPr>
          <a:xfrm>
            <a:off x="7388352" y="2423160"/>
            <a:ext cx="146304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Dev + QA</a:t>
            </a:r>
            <a:endParaRPr lang="en-US" sz="900" dirty="0"/>
          </a:p>
        </p:txBody>
      </p:sp>
      <p:sp>
        <p:nvSpPr>
          <p:cNvPr id="25" name="Shape 23"/>
          <p:cNvSpPr/>
          <p:nvPr/>
        </p:nvSpPr>
        <p:spPr>
          <a:xfrm>
            <a:off x="411480" y="3063240"/>
            <a:ext cx="260604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4"/>
          <p:cNvSpPr/>
          <p:nvPr/>
        </p:nvSpPr>
        <p:spPr>
          <a:xfrm>
            <a:off x="411480" y="3063240"/>
            <a:ext cx="2606040" cy="54864"/>
          </a:xfrm>
          <a:prstGeom prst="rect">
            <a:avLst/>
          </a:prstGeom>
          <a:solidFill>
            <a:srgbClr val="0D9488"/>
          </a:solidFill>
          <a:ln/>
        </p:spPr>
      </p:sp>
      <p:pic>
        <p:nvPicPr>
          <p:cNvPr id="27" name="Image 0" descr="preencoded.png">    </p:cNvPr>
          <p:cNvPicPr>
            <a:picLocks noChangeAspect="1"/>
          </p:cNvPicPr>
          <p:nvPr/>
        </p:nvPicPr>
        <p:blipFill>
          <a:blip r:embed="rId1"/>
          <a:stretch>
            <a:fillRect/>
          </a:stretch>
        </p:blipFill>
        <p:spPr>
          <a:xfrm>
            <a:off x="548640" y="3246120"/>
            <a:ext cx="320040" cy="320040"/>
          </a:xfrm>
          <a:prstGeom prst="rect">
            <a:avLst/>
          </a:prstGeom>
        </p:spPr>
      </p:pic>
      <p:sp>
        <p:nvSpPr>
          <p:cNvPr id="28" name="Text 25"/>
          <p:cNvSpPr/>
          <p:nvPr/>
        </p:nvSpPr>
        <p:spPr>
          <a:xfrm>
            <a:off x="960120" y="3246120"/>
            <a:ext cx="192024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Zero Context Loss</a:t>
            </a:r>
            <a:endParaRPr lang="en-US" sz="1300" dirty="0"/>
          </a:p>
        </p:txBody>
      </p:sp>
      <p:sp>
        <p:nvSpPr>
          <p:cNvPr id="29" name="Text 26"/>
          <p:cNvSpPr/>
          <p:nvPr/>
        </p:nvSpPr>
        <p:spPr>
          <a:xfrm>
            <a:off x="548640" y="3703320"/>
            <a:ext cx="2331720" cy="7315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Each agent inherits all artifacts from previous phases. No need to re-explain your project.</a:t>
            </a:r>
            <a:endParaRPr lang="en-US" sz="1000" dirty="0"/>
          </a:p>
        </p:txBody>
      </p:sp>
      <p:sp>
        <p:nvSpPr>
          <p:cNvPr id="30" name="Shape 27"/>
          <p:cNvSpPr/>
          <p:nvPr/>
        </p:nvSpPr>
        <p:spPr>
          <a:xfrm>
            <a:off x="3291840" y="3063240"/>
            <a:ext cx="260604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8"/>
          <p:cNvSpPr/>
          <p:nvPr/>
        </p:nvSpPr>
        <p:spPr>
          <a:xfrm>
            <a:off x="3291840" y="3063240"/>
            <a:ext cx="2606040" cy="54864"/>
          </a:xfrm>
          <a:prstGeom prst="rect">
            <a:avLst/>
          </a:prstGeom>
          <a:solidFill>
            <a:srgbClr val="0D9488"/>
          </a:solidFill>
          <a:ln/>
        </p:spPr>
      </p:sp>
      <p:pic>
        <p:nvPicPr>
          <p:cNvPr id="32" name="Image 1" descr="preencoded.png">    </p:cNvPr>
          <p:cNvPicPr>
            <a:picLocks noChangeAspect="1"/>
          </p:cNvPicPr>
          <p:nvPr/>
        </p:nvPicPr>
        <p:blipFill>
          <a:blip r:embed="rId2"/>
          <a:stretch>
            <a:fillRect/>
          </a:stretch>
        </p:blipFill>
        <p:spPr>
          <a:xfrm>
            <a:off x="3429000" y="3246120"/>
            <a:ext cx="320040" cy="320040"/>
          </a:xfrm>
          <a:prstGeom prst="rect">
            <a:avLst/>
          </a:prstGeom>
        </p:spPr>
      </p:pic>
      <p:sp>
        <p:nvSpPr>
          <p:cNvPr id="33" name="Text 29"/>
          <p:cNvSpPr/>
          <p:nvPr/>
        </p:nvSpPr>
        <p:spPr>
          <a:xfrm>
            <a:off x="3840480" y="3246120"/>
            <a:ext cx="192024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Full Traceability</a:t>
            </a:r>
            <a:endParaRPr lang="en-US" sz="1300" dirty="0"/>
          </a:p>
        </p:txBody>
      </p:sp>
      <p:sp>
        <p:nvSpPr>
          <p:cNvPr id="34" name="Text 30"/>
          <p:cNvSpPr/>
          <p:nvPr/>
        </p:nvSpPr>
        <p:spPr>
          <a:xfrm>
            <a:off x="3429000" y="3703320"/>
            <a:ext cx="2331720" cy="7315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Every line of code traces back through stories, architecture, PRD, all the way to the original requirement.</a:t>
            </a:r>
            <a:endParaRPr lang="en-US" sz="1000" dirty="0"/>
          </a:p>
        </p:txBody>
      </p:sp>
      <p:sp>
        <p:nvSpPr>
          <p:cNvPr id="35" name="Shape 31"/>
          <p:cNvSpPr/>
          <p:nvPr/>
        </p:nvSpPr>
        <p:spPr>
          <a:xfrm>
            <a:off x="6172200" y="3063240"/>
            <a:ext cx="2606040" cy="1508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6" name="Shape 32"/>
          <p:cNvSpPr/>
          <p:nvPr/>
        </p:nvSpPr>
        <p:spPr>
          <a:xfrm>
            <a:off x="6172200" y="3063240"/>
            <a:ext cx="2606040" cy="54864"/>
          </a:xfrm>
          <a:prstGeom prst="rect">
            <a:avLst/>
          </a:prstGeom>
          <a:solidFill>
            <a:srgbClr val="0D9488"/>
          </a:solidFill>
          <a:ln/>
        </p:spPr>
      </p:sp>
      <p:pic>
        <p:nvPicPr>
          <p:cNvPr id="37" name="Image 2" descr="preencoded.png">    </p:cNvPr>
          <p:cNvPicPr>
            <a:picLocks noChangeAspect="1"/>
          </p:cNvPicPr>
          <p:nvPr/>
        </p:nvPicPr>
        <p:blipFill>
          <a:blip r:embed="rId3"/>
          <a:stretch>
            <a:fillRect/>
          </a:stretch>
        </p:blipFill>
        <p:spPr>
          <a:xfrm>
            <a:off x="6309360" y="3246120"/>
            <a:ext cx="320040" cy="320040"/>
          </a:xfrm>
          <a:prstGeom prst="rect">
            <a:avLst/>
          </a:prstGeom>
        </p:spPr>
      </p:pic>
      <p:sp>
        <p:nvSpPr>
          <p:cNvPr id="38" name="Text 33"/>
          <p:cNvSpPr/>
          <p:nvPr/>
        </p:nvSpPr>
        <p:spPr>
          <a:xfrm>
            <a:off x="6720840" y="3246120"/>
            <a:ext cx="192024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Audit-Ready</a:t>
            </a:r>
            <a:endParaRPr lang="en-US" sz="1300" dirty="0"/>
          </a:p>
        </p:txBody>
      </p:sp>
      <p:sp>
        <p:nvSpPr>
          <p:cNvPr id="39" name="Text 34"/>
          <p:cNvSpPr/>
          <p:nvPr/>
        </p:nvSpPr>
        <p:spPr>
          <a:xfrm>
            <a:off x="6309360" y="3703320"/>
            <a:ext cx="2331720" cy="73152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All artifacts are versioned and stored. Ready for reviews, audits, and compliance checks at any time.</a:t>
            </a:r>
            <a:endParaRPr lang="en-US" sz="1000" dirty="0"/>
          </a:p>
        </p:txBody>
      </p:sp>
      <p:sp>
        <p:nvSpPr>
          <p:cNvPr id="40" name="Text 3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15 / 93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Context Engineering</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How BMAD eliminates the #1 problem in AI-assisted development</a:t>
            </a:r>
            <a:endParaRPr lang="en-US" sz="1300" dirty="0"/>
          </a:p>
        </p:txBody>
      </p:sp>
      <p:sp>
        <p:nvSpPr>
          <p:cNvPr id="5" name="Shape 3"/>
          <p:cNvSpPr/>
          <p:nvPr/>
        </p:nvSpPr>
        <p:spPr>
          <a:xfrm>
            <a:off x="457200" y="1234440"/>
            <a:ext cx="3931920" cy="1097280"/>
          </a:xfrm>
          <a:prstGeom prst="rect">
            <a:avLst/>
          </a:prstGeom>
          <a:solidFill>
            <a:srgbClr val="331A1A"/>
          </a:solidFill>
          <a:ln/>
        </p:spPr>
      </p:sp>
      <p:sp>
        <p:nvSpPr>
          <p:cNvPr id="6" name="Text 4"/>
          <p:cNvSpPr/>
          <p:nvPr/>
        </p:nvSpPr>
        <p:spPr>
          <a:xfrm>
            <a:off x="640080" y="1261872"/>
            <a:ext cx="2743200"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Without BMAD</a:t>
            </a:r>
            <a:endParaRPr lang="en-US" sz="1300" dirty="0"/>
          </a:p>
        </p:txBody>
      </p:sp>
      <p:sp>
        <p:nvSpPr>
          <p:cNvPr id="7" name="Text 5"/>
          <p:cNvSpPr/>
          <p:nvPr/>
        </p:nvSpPr>
        <p:spPr>
          <a:xfrm>
            <a:off x="640080" y="1554480"/>
            <a:ext cx="3566160" cy="6858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Every new session starts from zero. Developers re-explain the project, repeat architecture decisions, and lose design intent. The AI hallucinates details it should already know.</a:t>
            </a:r>
            <a:endParaRPr lang="en-US" sz="1000" dirty="0"/>
          </a:p>
        </p:txBody>
      </p:sp>
      <p:sp>
        <p:nvSpPr>
          <p:cNvPr id="8" name="Shape 6"/>
          <p:cNvSpPr/>
          <p:nvPr/>
        </p:nvSpPr>
        <p:spPr>
          <a:xfrm>
            <a:off x="4754880" y="1234440"/>
            <a:ext cx="3931920" cy="1097280"/>
          </a:xfrm>
          <a:prstGeom prst="rect">
            <a:avLst/>
          </a:prstGeom>
          <a:solidFill>
            <a:srgbClr val="0F2922"/>
          </a:solidFill>
          <a:ln/>
        </p:spPr>
      </p:sp>
      <p:sp>
        <p:nvSpPr>
          <p:cNvPr id="9" name="Text 7"/>
          <p:cNvSpPr/>
          <p:nvPr/>
        </p:nvSpPr>
        <p:spPr>
          <a:xfrm>
            <a:off x="4937760" y="1261872"/>
            <a:ext cx="2743200" cy="256032"/>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With BMAD</a:t>
            </a:r>
            <a:endParaRPr lang="en-US" sz="1300" dirty="0"/>
          </a:p>
        </p:txBody>
      </p:sp>
      <p:sp>
        <p:nvSpPr>
          <p:cNvPr id="10" name="Text 8"/>
          <p:cNvSpPr/>
          <p:nvPr/>
        </p:nvSpPr>
        <p:spPr>
          <a:xfrm>
            <a:off x="4937760" y="1554480"/>
            <a:ext cx="3566160" cy="6858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Agents receive the full artifact chain as context. The Dev agent knows the PRD, architecture, and story details before writing a single line of code.</a:t>
            </a:r>
            <a:endParaRPr lang="en-US" sz="1000" dirty="0"/>
          </a:p>
        </p:txBody>
      </p:sp>
      <p:sp>
        <p:nvSpPr>
          <p:cNvPr id="11" name="Text 9"/>
          <p:cNvSpPr/>
          <p:nvPr/>
        </p:nvSpPr>
        <p:spPr>
          <a:xfrm>
            <a:off x="457200" y="2514600"/>
            <a:ext cx="8229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Context Waterfall — Each Agent Inherits Everything Above</a:t>
            </a:r>
            <a:endParaRPr lang="en-US" sz="1200" dirty="0"/>
          </a:p>
        </p:txBody>
      </p:sp>
      <p:sp>
        <p:nvSpPr>
          <p:cNvPr id="12" name="Shape 10"/>
          <p:cNvSpPr/>
          <p:nvPr/>
        </p:nvSpPr>
        <p:spPr>
          <a:xfrm>
            <a:off x="457200" y="2926080"/>
            <a:ext cx="1828800" cy="347472"/>
          </a:xfrm>
          <a:prstGeom prst="rect">
            <a:avLst/>
          </a:prstGeom>
          <a:solidFill>
            <a:srgbClr val="1A2744"/>
          </a:solidFill>
          <a:ln/>
        </p:spPr>
      </p:sp>
      <p:sp>
        <p:nvSpPr>
          <p:cNvPr id="13" name="Shape 11"/>
          <p:cNvSpPr/>
          <p:nvPr/>
        </p:nvSpPr>
        <p:spPr>
          <a:xfrm>
            <a:off x="457200" y="2926080"/>
            <a:ext cx="45720" cy="347472"/>
          </a:xfrm>
          <a:prstGeom prst="rect">
            <a:avLst/>
          </a:prstGeom>
          <a:solidFill>
            <a:srgbClr val="3B82F6"/>
          </a:solidFill>
          <a:ln/>
        </p:spPr>
      </p:sp>
      <p:sp>
        <p:nvSpPr>
          <p:cNvPr id="14" name="Text 12"/>
          <p:cNvSpPr/>
          <p:nvPr/>
        </p:nvSpPr>
        <p:spPr>
          <a:xfrm>
            <a:off x="594360" y="2926080"/>
            <a:ext cx="1188720" cy="347472"/>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Analyst</a:t>
            </a:r>
            <a:endParaRPr lang="en-US" sz="900" dirty="0"/>
          </a:p>
        </p:txBody>
      </p:sp>
      <p:sp>
        <p:nvSpPr>
          <p:cNvPr id="15" name="Text 13"/>
          <p:cNvSpPr/>
          <p:nvPr/>
        </p:nvSpPr>
        <p:spPr>
          <a:xfrm>
            <a:off x="1828800" y="2926080"/>
            <a:ext cx="2286000" cy="34747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Project Brief</a:t>
            </a:r>
            <a:endParaRPr lang="en-US" sz="800" dirty="0"/>
          </a:p>
        </p:txBody>
      </p:sp>
      <p:sp>
        <p:nvSpPr>
          <p:cNvPr id="16" name="Text 14"/>
          <p:cNvSpPr/>
          <p:nvPr/>
        </p:nvSpPr>
        <p:spPr>
          <a:xfrm>
            <a:off x="6217920" y="2926080"/>
            <a:ext cx="2468880" cy="3474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User input</a:t>
            </a:r>
            <a:endParaRPr lang="en-US" sz="800" dirty="0"/>
          </a:p>
        </p:txBody>
      </p:sp>
      <p:sp>
        <p:nvSpPr>
          <p:cNvPr id="17" name="Shape 15"/>
          <p:cNvSpPr/>
          <p:nvPr/>
        </p:nvSpPr>
        <p:spPr>
          <a:xfrm>
            <a:off x="457200" y="3328416"/>
            <a:ext cx="2788920" cy="347472"/>
          </a:xfrm>
          <a:prstGeom prst="rect">
            <a:avLst/>
          </a:prstGeom>
          <a:solidFill>
            <a:srgbClr val="1A2744"/>
          </a:solidFill>
          <a:ln/>
        </p:spPr>
      </p:sp>
      <p:sp>
        <p:nvSpPr>
          <p:cNvPr id="18" name="Shape 16"/>
          <p:cNvSpPr/>
          <p:nvPr/>
        </p:nvSpPr>
        <p:spPr>
          <a:xfrm>
            <a:off x="457200" y="3328416"/>
            <a:ext cx="45720" cy="347472"/>
          </a:xfrm>
          <a:prstGeom prst="rect">
            <a:avLst/>
          </a:prstGeom>
          <a:solidFill>
            <a:srgbClr val="8B5CF6"/>
          </a:solidFill>
          <a:ln/>
        </p:spPr>
      </p:sp>
      <p:sp>
        <p:nvSpPr>
          <p:cNvPr id="19" name="Text 17"/>
          <p:cNvSpPr/>
          <p:nvPr/>
        </p:nvSpPr>
        <p:spPr>
          <a:xfrm>
            <a:off x="594360" y="3328416"/>
            <a:ext cx="1188720" cy="347472"/>
          </a:xfrm>
          <a:prstGeom prst="rect">
            <a:avLst/>
          </a:prstGeom>
          <a:noFill/>
          <a:ln/>
        </p:spPr>
        <p:txBody>
          <a:bodyPr wrap="square" lIns="0" tIns="0" rIns="0" bIns="0" rtlCol="0" anchor="ctr"/>
          <a:lstStyle/>
          <a:p>
            <a:pPr indent="0" marL="0">
              <a:buNone/>
            </a:pPr>
            <a:r>
              <a:rPr lang="en-US" sz="900" b="1" dirty="0">
                <a:solidFill>
                  <a:srgbClr val="8B5CF6"/>
                </a:solidFill>
                <a:latin typeface="Calibri" pitchFamily="34" charset="0"/>
                <a:ea typeface="Calibri" pitchFamily="34" charset="-122"/>
                <a:cs typeface="Calibri" pitchFamily="34" charset="-120"/>
              </a:rPr>
              <a:t>PM Agent</a:t>
            </a:r>
            <a:endParaRPr lang="en-US" sz="900" dirty="0"/>
          </a:p>
        </p:txBody>
      </p:sp>
      <p:sp>
        <p:nvSpPr>
          <p:cNvPr id="20" name="Text 18"/>
          <p:cNvSpPr/>
          <p:nvPr/>
        </p:nvSpPr>
        <p:spPr>
          <a:xfrm>
            <a:off x="1828800" y="3328416"/>
            <a:ext cx="2286000" cy="34747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PRD + User Stories</a:t>
            </a:r>
            <a:endParaRPr lang="en-US" sz="800" dirty="0"/>
          </a:p>
        </p:txBody>
      </p:sp>
      <p:sp>
        <p:nvSpPr>
          <p:cNvPr id="21" name="Text 19"/>
          <p:cNvSpPr/>
          <p:nvPr/>
        </p:nvSpPr>
        <p:spPr>
          <a:xfrm>
            <a:off x="6217920" y="3328416"/>
            <a:ext cx="2468880" cy="3474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Brief</a:t>
            </a:r>
            <a:endParaRPr lang="en-US" sz="800" dirty="0"/>
          </a:p>
        </p:txBody>
      </p:sp>
      <p:sp>
        <p:nvSpPr>
          <p:cNvPr id="22" name="Shape 20"/>
          <p:cNvSpPr/>
          <p:nvPr/>
        </p:nvSpPr>
        <p:spPr>
          <a:xfrm>
            <a:off x="457200" y="3730752"/>
            <a:ext cx="3749040" cy="347472"/>
          </a:xfrm>
          <a:prstGeom prst="rect">
            <a:avLst/>
          </a:prstGeom>
          <a:solidFill>
            <a:srgbClr val="1A2744"/>
          </a:solidFill>
          <a:ln/>
        </p:spPr>
      </p:sp>
      <p:sp>
        <p:nvSpPr>
          <p:cNvPr id="23" name="Shape 21"/>
          <p:cNvSpPr/>
          <p:nvPr/>
        </p:nvSpPr>
        <p:spPr>
          <a:xfrm>
            <a:off x="457200" y="3730752"/>
            <a:ext cx="45720" cy="347472"/>
          </a:xfrm>
          <a:prstGeom prst="rect">
            <a:avLst/>
          </a:prstGeom>
          <a:solidFill>
            <a:srgbClr val="0D9488"/>
          </a:solidFill>
          <a:ln/>
        </p:spPr>
      </p:sp>
      <p:sp>
        <p:nvSpPr>
          <p:cNvPr id="24" name="Text 22"/>
          <p:cNvSpPr/>
          <p:nvPr/>
        </p:nvSpPr>
        <p:spPr>
          <a:xfrm>
            <a:off x="594360" y="3730752"/>
            <a:ext cx="1188720" cy="347472"/>
          </a:xfrm>
          <a:prstGeom prst="rect">
            <a:avLst/>
          </a:prstGeom>
          <a:noFill/>
          <a:ln/>
        </p:spPr>
        <p:txBody>
          <a:bodyPr wrap="square" lIns="0" tIns="0" rIns="0" bIns="0" rtlCol="0" anchor="ctr"/>
          <a:lstStyle/>
          <a:p>
            <a:pPr indent="0" marL="0">
              <a:buNone/>
            </a:pPr>
            <a:r>
              <a:rPr lang="en-US" sz="900" b="1" dirty="0">
                <a:solidFill>
                  <a:srgbClr val="0D9488"/>
                </a:solidFill>
                <a:latin typeface="Calibri" pitchFamily="34" charset="0"/>
                <a:ea typeface="Calibri" pitchFamily="34" charset="-122"/>
                <a:cs typeface="Calibri" pitchFamily="34" charset="-120"/>
              </a:rPr>
              <a:t>Architect</a:t>
            </a:r>
            <a:endParaRPr lang="en-US" sz="900" dirty="0"/>
          </a:p>
        </p:txBody>
      </p:sp>
      <p:sp>
        <p:nvSpPr>
          <p:cNvPr id="25" name="Text 23"/>
          <p:cNvSpPr/>
          <p:nvPr/>
        </p:nvSpPr>
        <p:spPr>
          <a:xfrm>
            <a:off x="1828800" y="3730752"/>
            <a:ext cx="2286000" cy="34747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Architecture Doc</a:t>
            </a:r>
            <a:endParaRPr lang="en-US" sz="800" dirty="0"/>
          </a:p>
          <a:p>
            <a:pPr indent="0" marL="0">
              <a:buNone/>
            </a:pPr>
            <a:r>
              <a:rPr lang="en-US" sz="800" dirty="0">
                <a:solidFill>
                  <a:srgbClr val="FFFFFF"/>
                </a:solidFill>
                <a:latin typeface="Calibri" pitchFamily="34" charset="0"/>
                <a:ea typeface="Calibri" pitchFamily="34" charset="-122"/>
                <a:cs typeface="Calibri" pitchFamily="34" charset="-120"/>
              </a:rPr>
              <a:t>API Contracts, Data Models</a:t>
            </a:r>
            <a:endParaRPr lang="en-US" sz="800" dirty="0"/>
          </a:p>
        </p:txBody>
      </p:sp>
      <p:sp>
        <p:nvSpPr>
          <p:cNvPr id="26" name="Text 24"/>
          <p:cNvSpPr/>
          <p:nvPr/>
        </p:nvSpPr>
        <p:spPr>
          <a:xfrm>
            <a:off x="6217920" y="3730752"/>
            <a:ext cx="2468880" cy="3474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Brief + PRD</a:t>
            </a:r>
            <a:endParaRPr lang="en-US" sz="800" dirty="0"/>
          </a:p>
        </p:txBody>
      </p:sp>
      <p:sp>
        <p:nvSpPr>
          <p:cNvPr id="27" name="Shape 25"/>
          <p:cNvSpPr/>
          <p:nvPr/>
        </p:nvSpPr>
        <p:spPr>
          <a:xfrm>
            <a:off x="457200" y="4133088"/>
            <a:ext cx="4709160" cy="347472"/>
          </a:xfrm>
          <a:prstGeom prst="rect">
            <a:avLst/>
          </a:prstGeom>
          <a:solidFill>
            <a:srgbClr val="1A2744"/>
          </a:solidFill>
          <a:ln/>
        </p:spPr>
      </p:sp>
      <p:sp>
        <p:nvSpPr>
          <p:cNvPr id="28" name="Shape 26"/>
          <p:cNvSpPr/>
          <p:nvPr/>
        </p:nvSpPr>
        <p:spPr>
          <a:xfrm>
            <a:off x="457200" y="4133088"/>
            <a:ext cx="45720" cy="347472"/>
          </a:xfrm>
          <a:prstGeom prst="rect">
            <a:avLst/>
          </a:prstGeom>
          <a:solidFill>
            <a:srgbClr val="F59E0B"/>
          </a:solidFill>
          <a:ln/>
        </p:spPr>
      </p:sp>
      <p:sp>
        <p:nvSpPr>
          <p:cNvPr id="29" name="Text 27"/>
          <p:cNvSpPr/>
          <p:nvPr/>
        </p:nvSpPr>
        <p:spPr>
          <a:xfrm>
            <a:off x="594360" y="4133088"/>
            <a:ext cx="118872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Scrum Master</a:t>
            </a:r>
            <a:endParaRPr lang="en-US" sz="900" dirty="0"/>
          </a:p>
        </p:txBody>
      </p:sp>
      <p:sp>
        <p:nvSpPr>
          <p:cNvPr id="30" name="Text 28"/>
          <p:cNvSpPr/>
          <p:nvPr/>
        </p:nvSpPr>
        <p:spPr>
          <a:xfrm>
            <a:off x="1828800" y="4133088"/>
            <a:ext cx="2286000" cy="34747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Epics + Stories</a:t>
            </a:r>
            <a:endParaRPr lang="en-US" sz="800" dirty="0"/>
          </a:p>
          <a:p>
            <a:pPr indent="0" marL="0">
              <a:buNone/>
            </a:pPr>
            <a:r>
              <a:rPr lang="en-US" sz="800" dirty="0">
                <a:solidFill>
                  <a:srgbClr val="FFFFFF"/>
                </a:solidFill>
                <a:latin typeface="Calibri" pitchFamily="34" charset="0"/>
                <a:ea typeface="Calibri" pitchFamily="34" charset="-122"/>
                <a:cs typeface="Calibri" pitchFamily="34" charset="-120"/>
              </a:rPr>
              <a:t>Sprint Plan</a:t>
            </a:r>
            <a:endParaRPr lang="en-US" sz="800" dirty="0"/>
          </a:p>
        </p:txBody>
      </p:sp>
      <p:sp>
        <p:nvSpPr>
          <p:cNvPr id="31" name="Text 29"/>
          <p:cNvSpPr/>
          <p:nvPr/>
        </p:nvSpPr>
        <p:spPr>
          <a:xfrm>
            <a:off x="6217920" y="4133088"/>
            <a:ext cx="2468880" cy="3474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Brief + PRD + Arch</a:t>
            </a:r>
            <a:endParaRPr lang="en-US" sz="800" dirty="0"/>
          </a:p>
        </p:txBody>
      </p:sp>
      <p:sp>
        <p:nvSpPr>
          <p:cNvPr id="32" name="Shape 30"/>
          <p:cNvSpPr/>
          <p:nvPr/>
        </p:nvSpPr>
        <p:spPr>
          <a:xfrm>
            <a:off x="457200" y="4535424"/>
            <a:ext cx="5669280" cy="347472"/>
          </a:xfrm>
          <a:prstGeom prst="rect">
            <a:avLst/>
          </a:prstGeom>
          <a:solidFill>
            <a:srgbClr val="1A2744"/>
          </a:solidFill>
          <a:ln/>
        </p:spPr>
      </p:sp>
      <p:sp>
        <p:nvSpPr>
          <p:cNvPr id="33" name="Shape 31"/>
          <p:cNvSpPr/>
          <p:nvPr/>
        </p:nvSpPr>
        <p:spPr>
          <a:xfrm>
            <a:off x="457200" y="4535424"/>
            <a:ext cx="45720" cy="347472"/>
          </a:xfrm>
          <a:prstGeom prst="rect">
            <a:avLst/>
          </a:prstGeom>
          <a:solidFill>
            <a:srgbClr val="10B981"/>
          </a:solidFill>
          <a:ln/>
        </p:spPr>
      </p:sp>
      <p:sp>
        <p:nvSpPr>
          <p:cNvPr id="34" name="Text 32"/>
          <p:cNvSpPr/>
          <p:nvPr/>
        </p:nvSpPr>
        <p:spPr>
          <a:xfrm>
            <a:off x="594360" y="4535424"/>
            <a:ext cx="1188720" cy="347472"/>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Developer</a:t>
            </a:r>
            <a:endParaRPr lang="en-US" sz="900" dirty="0"/>
          </a:p>
        </p:txBody>
      </p:sp>
      <p:sp>
        <p:nvSpPr>
          <p:cNvPr id="35" name="Text 33"/>
          <p:cNvSpPr/>
          <p:nvPr/>
        </p:nvSpPr>
        <p:spPr>
          <a:xfrm>
            <a:off x="1828800" y="4535424"/>
            <a:ext cx="2286000" cy="347472"/>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 Code + Tests</a:t>
            </a:r>
            <a:endParaRPr lang="en-US" sz="800" dirty="0"/>
          </a:p>
        </p:txBody>
      </p:sp>
      <p:sp>
        <p:nvSpPr>
          <p:cNvPr id="36" name="Text 34"/>
          <p:cNvSpPr/>
          <p:nvPr/>
        </p:nvSpPr>
        <p:spPr>
          <a:xfrm>
            <a:off x="6217920" y="4535424"/>
            <a:ext cx="2468880" cy="3474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ALL of the above</a:t>
            </a:r>
            <a:endParaRPr lang="en-US" sz="800" dirty="0"/>
          </a:p>
        </p:txBody>
      </p:sp>
      <p:sp>
        <p:nvSpPr>
          <p:cNvPr id="37" name="Text 35"/>
          <p:cNvSpPr/>
          <p:nvPr/>
        </p:nvSpPr>
        <p:spPr>
          <a:xfrm>
            <a:off x="6217920" y="2697480"/>
            <a:ext cx="2468880" cy="228600"/>
          </a:xfrm>
          <a:prstGeom prst="rect">
            <a:avLst/>
          </a:prstGeom>
          <a:noFill/>
          <a:ln/>
        </p:spPr>
        <p:txBody>
          <a:bodyPr wrap="square" lIns="0" tIns="0" rIns="0" bIns="0" rtlCol="0" anchor="ctr"/>
          <a:lstStyle/>
          <a:p>
            <a:pPr indent="0" marL="0">
              <a:buNone/>
            </a:pPr>
            <a:r>
              <a:rPr lang="en-US" sz="850" b="1" dirty="0">
                <a:solidFill>
                  <a:srgbClr val="94A3B8"/>
                </a:solidFill>
                <a:latin typeface="Calibri" pitchFamily="34" charset="0"/>
                <a:ea typeface="Calibri" pitchFamily="34" charset="-122"/>
                <a:cs typeface="Calibri" pitchFamily="34" charset="-120"/>
              </a:rPr>
              <a:t>Input Context</a:t>
            </a:r>
            <a:endParaRPr lang="en-US" sz="850" dirty="0"/>
          </a:p>
        </p:txBody>
      </p:sp>
      <p:sp>
        <p:nvSpPr>
          <p:cNvPr id="38" name="Text 36"/>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The Dev agent’s context window contains the full artifact chain: Brief → PRD → Architecture → Stories → Code</a:t>
            </a:r>
            <a:endParaRPr lang="en-US" sz="1000" dirty="0"/>
          </a:p>
        </p:txBody>
      </p:sp>
      <p:sp>
        <p:nvSpPr>
          <p:cNvPr id="39" name="Text 3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16 / 93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Our Tools — Claude Code &amp; Cline</a:t>
            </a:r>
            <a:endParaRPr lang="en-US" sz="2600" dirty="0"/>
          </a:p>
        </p:txBody>
      </p:sp>
      <p:sp>
        <p:nvSpPr>
          <p:cNvPr id="5" name="Shape 3"/>
          <p:cNvSpPr/>
          <p:nvPr/>
        </p:nvSpPr>
        <p:spPr>
          <a:xfrm>
            <a:off x="457200" y="109728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97280"/>
            <a:ext cx="3931920" cy="54864"/>
          </a:xfrm>
          <a:prstGeom prst="rect">
            <a:avLst/>
          </a:prstGeom>
          <a:solidFill>
            <a:srgbClr val="0D9488"/>
          </a:solidFill>
          <a:ln/>
        </p:spPr>
      </p:sp>
      <p:sp>
        <p:nvSpPr>
          <p:cNvPr id="7" name="Shape 5"/>
          <p:cNvSpPr/>
          <p:nvPr/>
        </p:nvSpPr>
        <p:spPr>
          <a:xfrm>
            <a:off x="1874520" y="1371600"/>
            <a:ext cx="822960" cy="822960"/>
          </a:xfrm>
          <a:prstGeom prst="ellipse">
            <a:avLst/>
          </a:prstGeom>
          <a:solidFill>
            <a:srgbClr val="E0F2F1"/>
          </a:solidFill>
          <a:ln/>
        </p:spPr>
      </p:sp>
      <p:pic>
        <p:nvPicPr>
          <p:cNvPr id="8" name="Image 0" descr="preencoded.png">    </p:cNvPr>
          <p:cNvPicPr>
            <a:picLocks noChangeAspect="1"/>
          </p:cNvPicPr>
          <p:nvPr/>
        </p:nvPicPr>
        <p:blipFill>
          <a:blip r:embed="rId1"/>
          <a:stretch>
            <a:fillRect/>
          </a:stretch>
        </p:blipFill>
        <p:spPr>
          <a:xfrm>
            <a:off x="2011680" y="1508760"/>
            <a:ext cx="548640" cy="548640"/>
          </a:xfrm>
          <a:prstGeom prst="rect">
            <a:avLst/>
          </a:prstGeom>
        </p:spPr>
      </p:pic>
      <p:sp>
        <p:nvSpPr>
          <p:cNvPr id="9" name="Text 6"/>
          <p:cNvSpPr/>
          <p:nvPr/>
        </p:nvSpPr>
        <p:spPr>
          <a:xfrm>
            <a:off x="640080" y="2286000"/>
            <a:ext cx="3566160" cy="365760"/>
          </a:xfrm>
          <a:prstGeom prst="rect">
            <a:avLst/>
          </a:prstGeom>
          <a:noFill/>
          <a:ln/>
        </p:spPr>
        <p:txBody>
          <a:bodyPr wrap="square" rtlCol="0" anchor="ctr"/>
          <a:lstStyle/>
          <a:p>
            <a:pPr algn="ctr" indent="0" marL="0">
              <a:buNone/>
            </a:pPr>
            <a:r>
              <a:rPr lang="en-US" sz="1800" b="1" dirty="0">
                <a:solidFill>
                  <a:srgbClr val="1E293B"/>
                </a:solidFill>
                <a:latin typeface="Calibri" pitchFamily="34" charset="0"/>
                <a:ea typeface="Calibri" pitchFamily="34" charset="-122"/>
                <a:cs typeface="Calibri" pitchFamily="34" charset="-120"/>
              </a:rPr>
              <a:t>Claude Code</a:t>
            </a:r>
            <a:endParaRPr lang="en-US" sz="1800" dirty="0"/>
          </a:p>
        </p:txBody>
      </p:sp>
      <p:sp>
        <p:nvSpPr>
          <p:cNvPr id="10" name="Text 7"/>
          <p:cNvSpPr/>
          <p:nvPr/>
        </p:nvSpPr>
        <p:spPr>
          <a:xfrm>
            <a:off x="640080" y="2606040"/>
            <a:ext cx="3566160" cy="274320"/>
          </a:xfrm>
          <a:prstGeom prst="rect">
            <a:avLst/>
          </a:prstGeom>
          <a:noFill/>
          <a:ln/>
        </p:spPr>
        <p:txBody>
          <a:bodyPr wrap="square"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Anthropic CLI Tool</a:t>
            </a:r>
            <a:endParaRPr lang="en-US" sz="1100" dirty="0"/>
          </a:p>
        </p:txBody>
      </p:sp>
      <p:sp>
        <p:nvSpPr>
          <p:cNvPr id="11" name="Text 8"/>
          <p:cNvSpPr/>
          <p:nvPr/>
        </p:nvSpPr>
        <p:spPr>
          <a:xfrm>
            <a:off x="731520" y="2926080"/>
            <a:ext cx="3383280" cy="6400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Command-line interface for agentic coding. Runs directly in the terminal. Best for developers who prefer CLI workflows. Native support for BMAD agent loading and slash commands.</a:t>
            </a:r>
            <a:endParaRPr lang="en-US" sz="1000" dirty="0"/>
          </a:p>
        </p:txBody>
      </p:sp>
      <p:sp>
        <p:nvSpPr>
          <p:cNvPr id="12" name="Shape 9"/>
          <p:cNvSpPr/>
          <p:nvPr/>
        </p:nvSpPr>
        <p:spPr>
          <a:xfrm>
            <a:off x="4754880" y="1097280"/>
            <a:ext cx="393192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4754880" y="1097280"/>
            <a:ext cx="3931920" cy="54864"/>
          </a:xfrm>
          <a:prstGeom prst="rect">
            <a:avLst/>
          </a:prstGeom>
          <a:solidFill>
            <a:srgbClr val="0D9488"/>
          </a:solidFill>
          <a:ln/>
        </p:spPr>
      </p:sp>
      <p:sp>
        <p:nvSpPr>
          <p:cNvPr id="14" name="Shape 11"/>
          <p:cNvSpPr/>
          <p:nvPr/>
        </p:nvSpPr>
        <p:spPr>
          <a:xfrm>
            <a:off x="6172200" y="1371600"/>
            <a:ext cx="822960" cy="822960"/>
          </a:xfrm>
          <a:prstGeom prst="ellipse">
            <a:avLst/>
          </a:prstGeom>
          <a:solidFill>
            <a:srgbClr val="E0F2F1"/>
          </a:solidFill>
          <a:ln/>
        </p:spPr>
      </p:sp>
      <p:pic>
        <p:nvPicPr>
          <p:cNvPr id="15" name="Image 1" descr="preencoded.png">    </p:cNvPr>
          <p:cNvPicPr>
            <a:picLocks noChangeAspect="1"/>
          </p:cNvPicPr>
          <p:nvPr/>
        </p:nvPicPr>
        <p:blipFill>
          <a:blip r:embed="rId2"/>
          <a:stretch>
            <a:fillRect/>
          </a:stretch>
        </p:blipFill>
        <p:spPr>
          <a:xfrm>
            <a:off x="6309360" y="1508760"/>
            <a:ext cx="548640" cy="548640"/>
          </a:xfrm>
          <a:prstGeom prst="rect">
            <a:avLst/>
          </a:prstGeom>
        </p:spPr>
      </p:pic>
      <p:sp>
        <p:nvSpPr>
          <p:cNvPr id="16" name="Text 12"/>
          <p:cNvSpPr/>
          <p:nvPr/>
        </p:nvSpPr>
        <p:spPr>
          <a:xfrm>
            <a:off x="4937760" y="2286000"/>
            <a:ext cx="3566160" cy="365760"/>
          </a:xfrm>
          <a:prstGeom prst="rect">
            <a:avLst/>
          </a:prstGeom>
          <a:noFill/>
          <a:ln/>
        </p:spPr>
        <p:txBody>
          <a:bodyPr wrap="square" rtlCol="0" anchor="ctr"/>
          <a:lstStyle/>
          <a:p>
            <a:pPr algn="ctr" indent="0" marL="0">
              <a:buNone/>
            </a:pPr>
            <a:r>
              <a:rPr lang="en-US" sz="1800" b="1" dirty="0">
                <a:solidFill>
                  <a:srgbClr val="1E293B"/>
                </a:solidFill>
                <a:latin typeface="Calibri" pitchFamily="34" charset="0"/>
                <a:ea typeface="Calibri" pitchFamily="34" charset="-122"/>
                <a:cs typeface="Calibri" pitchFamily="34" charset="-120"/>
              </a:rPr>
              <a:t>Cline</a:t>
            </a:r>
            <a:endParaRPr lang="en-US" sz="1800" dirty="0"/>
          </a:p>
        </p:txBody>
      </p:sp>
      <p:sp>
        <p:nvSpPr>
          <p:cNvPr id="17" name="Text 13"/>
          <p:cNvSpPr/>
          <p:nvPr/>
        </p:nvSpPr>
        <p:spPr>
          <a:xfrm>
            <a:off x="4937760" y="2606040"/>
            <a:ext cx="3566160" cy="274320"/>
          </a:xfrm>
          <a:prstGeom prst="rect">
            <a:avLst/>
          </a:prstGeom>
          <a:noFill/>
          <a:ln/>
        </p:spPr>
        <p:txBody>
          <a:bodyPr wrap="square"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VS Code Extension</a:t>
            </a:r>
            <a:endParaRPr lang="en-US" sz="1100" dirty="0"/>
          </a:p>
        </p:txBody>
      </p:sp>
      <p:sp>
        <p:nvSpPr>
          <p:cNvPr id="18" name="Text 14"/>
          <p:cNvSpPr/>
          <p:nvPr/>
        </p:nvSpPr>
        <p:spPr>
          <a:xfrm>
            <a:off x="5029200" y="2926080"/>
            <a:ext cx="3383280" cy="64008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AI coding assistant integrated into VS Code. Visual interface with chat panel. Supports loading BMAD agents via system prompts. Great for developers who prefer IDE-first workflows.</a:t>
            </a:r>
            <a:endParaRPr lang="en-US" sz="1000" dirty="0"/>
          </a:p>
        </p:txBody>
      </p:sp>
      <p:sp>
        <p:nvSpPr>
          <p:cNvPr id="19" name="Shape 15"/>
          <p:cNvSpPr/>
          <p:nvPr/>
        </p:nvSpPr>
        <p:spPr>
          <a:xfrm>
            <a:off x="457200" y="3931920"/>
            <a:ext cx="8229600" cy="822960"/>
          </a:xfrm>
          <a:prstGeom prst="rect">
            <a:avLst/>
          </a:prstGeom>
          <a:solidFill>
            <a:srgbClr val="0F1B2D"/>
          </a:solidFill>
          <a:ln/>
        </p:spPr>
      </p:sp>
      <p:sp>
        <p:nvSpPr>
          <p:cNvPr id="20" name="Text 16"/>
          <p:cNvSpPr/>
          <p:nvPr/>
        </p:nvSpPr>
        <p:spPr>
          <a:xfrm>
            <a:off x="640080" y="3931920"/>
            <a:ext cx="7863840" cy="8229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Both tools load the same BMAD agent definitions. Your workflow is consistent regardless of which tool you choose.</a:t>
            </a:r>
            <a:endParaRPr lang="en-US" sz="1200" dirty="0"/>
          </a:p>
        </p:txBody>
      </p:sp>
      <p:sp>
        <p:nvSpPr>
          <p:cNvPr id="21" name="Text 1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17 / 93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Enterprise Security &amp; Privacy</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Your code never leaves your network unless you choose it to</a:t>
            </a:r>
            <a:endParaRPr lang="en-US" sz="1200" dirty="0"/>
          </a:p>
        </p:txBody>
      </p:sp>
      <p:sp>
        <p:nvSpPr>
          <p:cNvPr id="5" name="Shape 3"/>
          <p:cNvSpPr/>
          <p:nvPr/>
        </p:nvSpPr>
        <p:spPr>
          <a:xfrm>
            <a:off x="365760" y="1234440"/>
            <a:ext cx="2697480" cy="25603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365760" y="1234440"/>
            <a:ext cx="2697480" cy="54864"/>
          </a:xfrm>
          <a:prstGeom prst="rect">
            <a:avLst/>
          </a:prstGeom>
          <a:solidFill>
            <a:srgbClr val="EF4444"/>
          </a:solidFill>
          <a:ln/>
        </p:spPr>
      </p:sp>
      <p:pic>
        <p:nvPicPr>
          <p:cNvPr id="7" name="Image 0" descr="preencoded.png">    </p:cNvPr>
          <p:cNvPicPr>
            <a:picLocks noChangeAspect="1"/>
          </p:cNvPicPr>
          <p:nvPr/>
        </p:nvPicPr>
        <p:blipFill>
          <a:blip r:embed="rId1"/>
          <a:stretch>
            <a:fillRect/>
          </a:stretch>
        </p:blipFill>
        <p:spPr>
          <a:xfrm>
            <a:off x="502920" y="1371600"/>
            <a:ext cx="320040" cy="320040"/>
          </a:xfrm>
          <a:prstGeom prst="rect">
            <a:avLst/>
          </a:prstGeom>
        </p:spPr>
      </p:pic>
      <p:sp>
        <p:nvSpPr>
          <p:cNvPr id="8" name="Text 5"/>
          <p:cNvSpPr/>
          <p:nvPr/>
        </p:nvSpPr>
        <p:spPr>
          <a:xfrm>
            <a:off x="914400" y="1325880"/>
            <a:ext cx="196596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Air-Gapped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(Full Isolation)</a:t>
            </a:r>
            <a:endParaRPr lang="en-US" sz="1100" dirty="0"/>
          </a:p>
        </p:txBody>
      </p:sp>
      <p:sp>
        <p:nvSpPr>
          <p:cNvPr id="9" name="Text 6"/>
          <p:cNvSpPr/>
          <p:nvPr/>
        </p:nvSpPr>
        <p:spPr>
          <a:xfrm>
            <a:off x="502920" y="187452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Local LLM (Ollama, vLLM)</a:t>
            </a:r>
            <a:endParaRPr lang="en-US" sz="900" dirty="0"/>
          </a:p>
        </p:txBody>
      </p:sp>
      <p:sp>
        <p:nvSpPr>
          <p:cNvPr id="10" name="Text 7"/>
          <p:cNvSpPr/>
          <p:nvPr/>
        </p:nvSpPr>
        <p:spPr>
          <a:xfrm>
            <a:off x="502920" y="219456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No internet access</a:t>
            </a:r>
            <a:endParaRPr lang="en-US" sz="900" dirty="0"/>
          </a:p>
        </p:txBody>
      </p:sp>
      <p:sp>
        <p:nvSpPr>
          <p:cNvPr id="11" name="Text 8"/>
          <p:cNvSpPr/>
          <p:nvPr/>
        </p:nvSpPr>
        <p:spPr>
          <a:xfrm>
            <a:off x="502920" y="251460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All tools run on-prem</a:t>
            </a:r>
            <a:endParaRPr lang="en-US" sz="900" dirty="0"/>
          </a:p>
        </p:txBody>
      </p:sp>
      <p:sp>
        <p:nvSpPr>
          <p:cNvPr id="12" name="Text 9"/>
          <p:cNvSpPr/>
          <p:nvPr/>
        </p:nvSpPr>
        <p:spPr>
          <a:xfrm>
            <a:off x="502920" y="283464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Code never leaves the network</a:t>
            </a:r>
            <a:endParaRPr lang="en-US" sz="900" dirty="0"/>
          </a:p>
        </p:txBody>
      </p:sp>
      <p:sp>
        <p:nvSpPr>
          <p:cNvPr id="13" name="Text 10"/>
          <p:cNvSpPr/>
          <p:nvPr/>
        </p:nvSpPr>
        <p:spPr>
          <a:xfrm>
            <a:off x="502920" y="315468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Cline + local model endpoint</a:t>
            </a:r>
            <a:endParaRPr lang="en-US" sz="900" dirty="0"/>
          </a:p>
        </p:txBody>
      </p:sp>
      <p:sp>
        <p:nvSpPr>
          <p:cNvPr id="14" name="Shape 11"/>
          <p:cNvSpPr/>
          <p:nvPr/>
        </p:nvSpPr>
        <p:spPr>
          <a:xfrm>
            <a:off x="3246120" y="1234440"/>
            <a:ext cx="2697480" cy="25603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5" name="Shape 12"/>
          <p:cNvSpPr/>
          <p:nvPr/>
        </p:nvSpPr>
        <p:spPr>
          <a:xfrm>
            <a:off x="3246120" y="1234440"/>
            <a:ext cx="2697480" cy="54864"/>
          </a:xfrm>
          <a:prstGeom prst="rect">
            <a:avLst/>
          </a:prstGeom>
          <a:solidFill>
            <a:srgbClr val="F59E0B"/>
          </a:solidFill>
          <a:ln/>
        </p:spPr>
      </p:sp>
      <p:pic>
        <p:nvPicPr>
          <p:cNvPr id="16" name="Image 1" descr="preencoded.png">    </p:cNvPr>
          <p:cNvPicPr>
            <a:picLocks noChangeAspect="1"/>
          </p:cNvPicPr>
          <p:nvPr/>
        </p:nvPicPr>
        <p:blipFill>
          <a:blip r:embed="rId2"/>
          <a:stretch>
            <a:fillRect/>
          </a:stretch>
        </p:blipFill>
        <p:spPr>
          <a:xfrm>
            <a:off x="3383280" y="1371600"/>
            <a:ext cx="320040" cy="320040"/>
          </a:xfrm>
          <a:prstGeom prst="rect">
            <a:avLst/>
          </a:prstGeom>
        </p:spPr>
      </p:pic>
      <p:sp>
        <p:nvSpPr>
          <p:cNvPr id="17" name="Text 13"/>
          <p:cNvSpPr/>
          <p:nvPr/>
        </p:nvSpPr>
        <p:spPr>
          <a:xfrm>
            <a:off x="3794760" y="1325880"/>
            <a:ext cx="196596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Hybrid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(Controlled Access)</a:t>
            </a:r>
            <a:endParaRPr lang="en-US" sz="1100" dirty="0"/>
          </a:p>
        </p:txBody>
      </p:sp>
      <p:sp>
        <p:nvSpPr>
          <p:cNvPr id="18" name="Text 14"/>
          <p:cNvSpPr/>
          <p:nvPr/>
        </p:nvSpPr>
        <p:spPr>
          <a:xfrm>
            <a:off x="3383280" y="187452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Cloud LLM with API gateway</a:t>
            </a:r>
            <a:endParaRPr lang="en-US" sz="900" dirty="0"/>
          </a:p>
        </p:txBody>
      </p:sp>
      <p:sp>
        <p:nvSpPr>
          <p:cNvPr id="19" name="Text 15"/>
          <p:cNvSpPr/>
          <p:nvPr/>
        </p:nvSpPr>
        <p:spPr>
          <a:xfrm>
            <a:off x="3383280" y="219456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Proxy controls what goes out</a:t>
            </a:r>
            <a:endParaRPr lang="en-US" sz="900" dirty="0"/>
          </a:p>
        </p:txBody>
      </p:sp>
      <p:sp>
        <p:nvSpPr>
          <p:cNvPr id="20" name="Text 16"/>
          <p:cNvSpPr/>
          <p:nvPr/>
        </p:nvSpPr>
        <p:spPr>
          <a:xfrm>
            <a:off x="3383280" y="251460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Code stays local, prompts go to API</a:t>
            </a:r>
            <a:endParaRPr lang="en-US" sz="900" dirty="0"/>
          </a:p>
        </p:txBody>
      </p:sp>
      <p:sp>
        <p:nvSpPr>
          <p:cNvPr id="21" name="Text 17"/>
          <p:cNvSpPr/>
          <p:nvPr/>
        </p:nvSpPr>
        <p:spPr>
          <a:xfrm>
            <a:off x="3383280" y="283464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Audit log on every API call</a:t>
            </a:r>
            <a:endParaRPr lang="en-US" sz="900" dirty="0"/>
          </a:p>
        </p:txBody>
      </p:sp>
      <p:sp>
        <p:nvSpPr>
          <p:cNvPr id="22" name="Text 18"/>
          <p:cNvSpPr/>
          <p:nvPr/>
        </p:nvSpPr>
        <p:spPr>
          <a:xfrm>
            <a:off x="3383280" y="315468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Enterprise API keys + rotation</a:t>
            </a:r>
            <a:endParaRPr lang="en-US" sz="900" dirty="0"/>
          </a:p>
        </p:txBody>
      </p:sp>
      <p:sp>
        <p:nvSpPr>
          <p:cNvPr id="23" name="Shape 19"/>
          <p:cNvSpPr/>
          <p:nvPr/>
        </p:nvSpPr>
        <p:spPr>
          <a:xfrm>
            <a:off x="6126480" y="1234440"/>
            <a:ext cx="2697480" cy="25603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4" name="Shape 20"/>
          <p:cNvSpPr/>
          <p:nvPr/>
        </p:nvSpPr>
        <p:spPr>
          <a:xfrm>
            <a:off x="6126480" y="1234440"/>
            <a:ext cx="2697480" cy="54864"/>
          </a:xfrm>
          <a:prstGeom prst="rect">
            <a:avLst/>
          </a:prstGeom>
          <a:solidFill>
            <a:srgbClr val="10B981"/>
          </a:solidFill>
          <a:ln/>
        </p:spPr>
      </p:sp>
      <p:pic>
        <p:nvPicPr>
          <p:cNvPr id="25" name="Image 2" descr="preencoded.png">    </p:cNvPr>
          <p:cNvPicPr>
            <a:picLocks noChangeAspect="1"/>
          </p:cNvPicPr>
          <p:nvPr/>
        </p:nvPicPr>
        <p:blipFill>
          <a:blip r:embed="rId3"/>
          <a:stretch>
            <a:fillRect/>
          </a:stretch>
        </p:blipFill>
        <p:spPr>
          <a:xfrm>
            <a:off x="6263640" y="1371600"/>
            <a:ext cx="320040" cy="320040"/>
          </a:xfrm>
          <a:prstGeom prst="rect">
            <a:avLst/>
          </a:prstGeom>
        </p:spPr>
      </p:pic>
      <p:sp>
        <p:nvSpPr>
          <p:cNvPr id="26" name="Text 21"/>
          <p:cNvSpPr/>
          <p:nvPr/>
        </p:nvSpPr>
        <p:spPr>
          <a:xfrm>
            <a:off x="6675120" y="1325880"/>
            <a:ext cx="196596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Cloud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(Full SaaS)</a:t>
            </a:r>
            <a:endParaRPr lang="en-US" sz="1100" dirty="0"/>
          </a:p>
        </p:txBody>
      </p:sp>
      <p:sp>
        <p:nvSpPr>
          <p:cNvPr id="27" name="Text 22"/>
          <p:cNvSpPr/>
          <p:nvPr/>
        </p:nvSpPr>
        <p:spPr>
          <a:xfrm>
            <a:off x="6263640" y="187452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Anthropic / OpenAI API direct</a:t>
            </a:r>
            <a:endParaRPr lang="en-US" sz="900" dirty="0"/>
          </a:p>
        </p:txBody>
      </p:sp>
      <p:sp>
        <p:nvSpPr>
          <p:cNvPr id="28" name="Text 23"/>
          <p:cNvSpPr/>
          <p:nvPr/>
        </p:nvSpPr>
        <p:spPr>
          <a:xfrm>
            <a:off x="6263640" y="219456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Standard enterprise agreements</a:t>
            </a:r>
            <a:endParaRPr lang="en-US" sz="900" dirty="0"/>
          </a:p>
        </p:txBody>
      </p:sp>
      <p:sp>
        <p:nvSpPr>
          <p:cNvPr id="29" name="Text 24"/>
          <p:cNvSpPr/>
          <p:nvPr/>
        </p:nvSpPr>
        <p:spPr>
          <a:xfrm>
            <a:off x="6263640" y="251460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SOC2 / ISO27001 compliance</a:t>
            </a:r>
            <a:endParaRPr lang="en-US" sz="900" dirty="0"/>
          </a:p>
        </p:txBody>
      </p:sp>
      <p:sp>
        <p:nvSpPr>
          <p:cNvPr id="30" name="Text 25"/>
          <p:cNvSpPr/>
          <p:nvPr/>
        </p:nvSpPr>
        <p:spPr>
          <a:xfrm>
            <a:off x="6263640" y="283464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Data retention policies apply</a:t>
            </a:r>
            <a:endParaRPr lang="en-US" sz="900" dirty="0"/>
          </a:p>
        </p:txBody>
      </p:sp>
      <p:sp>
        <p:nvSpPr>
          <p:cNvPr id="31" name="Text 26"/>
          <p:cNvSpPr/>
          <p:nvPr/>
        </p:nvSpPr>
        <p:spPr>
          <a:xfrm>
            <a:off x="6263640" y="3154680"/>
            <a:ext cx="2423160" cy="29260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Fastest setup, least control</a:t>
            </a:r>
            <a:endParaRPr lang="en-US" sz="900" dirty="0"/>
          </a:p>
        </p:txBody>
      </p:sp>
      <p:sp>
        <p:nvSpPr>
          <p:cNvPr id="32" name="Shape 27"/>
          <p:cNvSpPr/>
          <p:nvPr/>
        </p:nvSpPr>
        <p:spPr>
          <a:xfrm>
            <a:off x="365760" y="3931920"/>
            <a:ext cx="8412480" cy="685800"/>
          </a:xfrm>
          <a:prstGeom prst="rect">
            <a:avLst/>
          </a:prstGeom>
          <a:solidFill>
            <a:srgbClr val="1E293B"/>
          </a:solidFill>
          <a:ln/>
        </p:spPr>
      </p:sp>
      <p:sp>
        <p:nvSpPr>
          <p:cNvPr id="33" name="Shape 28"/>
          <p:cNvSpPr/>
          <p:nvPr/>
        </p:nvSpPr>
        <p:spPr>
          <a:xfrm>
            <a:off x="365760" y="3931920"/>
            <a:ext cx="54864" cy="685800"/>
          </a:xfrm>
          <a:prstGeom prst="rect">
            <a:avLst/>
          </a:prstGeom>
          <a:solidFill>
            <a:srgbClr val="0D9488"/>
          </a:solidFill>
          <a:ln/>
        </p:spPr>
      </p:sp>
      <p:sp>
        <p:nvSpPr>
          <p:cNvPr id="34" name="Text 29"/>
          <p:cNvSpPr/>
          <p:nvPr/>
        </p:nvSpPr>
        <p:spPr>
          <a:xfrm>
            <a:off x="594360" y="3950208"/>
            <a:ext cx="274320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ma-agents Security Enforcement</a:t>
            </a:r>
            <a:endParaRPr lang="en-US" sz="1100" dirty="0"/>
          </a:p>
        </p:txBody>
      </p:sp>
      <p:sp>
        <p:nvSpPr>
          <p:cNvPr id="35" name="Text 30"/>
          <p:cNvSpPr/>
          <p:nvPr/>
        </p:nvSpPr>
        <p:spPr>
          <a:xfrm>
            <a:off x="594360" y="4206240"/>
            <a:ext cx="2651760" cy="32004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  Custom skills can enforce SAST/DAST scans before any commit</a:t>
            </a:r>
            <a:endParaRPr lang="en-US" sz="850" dirty="0"/>
          </a:p>
        </p:txBody>
      </p:sp>
      <p:sp>
        <p:nvSpPr>
          <p:cNvPr id="36" name="Text 31"/>
          <p:cNvSpPr/>
          <p:nvPr/>
        </p:nvSpPr>
        <p:spPr>
          <a:xfrm>
            <a:off x="3337560" y="4206240"/>
            <a:ext cx="2651760" cy="32004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  Code review skill checks for secrets, credentials, and sensitive data leaks</a:t>
            </a:r>
            <a:endParaRPr lang="en-US" sz="850" dirty="0"/>
          </a:p>
        </p:txBody>
      </p:sp>
      <p:sp>
        <p:nvSpPr>
          <p:cNvPr id="37" name="Text 32"/>
          <p:cNvSpPr/>
          <p:nvPr/>
        </p:nvSpPr>
        <p:spPr>
          <a:xfrm>
            <a:off x="6080760" y="4206240"/>
            <a:ext cx="2651760" cy="32004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  All BMAD artifacts are stored in Git — full audit trail, no data in cloud services</a:t>
            </a:r>
            <a:endParaRPr lang="en-US" sz="850" dirty="0"/>
          </a:p>
        </p:txBody>
      </p:sp>
      <p:sp>
        <p:nvSpPr>
          <p:cNvPr id="38" name="Text 33"/>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BMAD works the same in all three models — swap the LLM endpoint, keep the methodology</a:t>
            </a:r>
            <a:endParaRPr lang="en-US" sz="1000" dirty="0"/>
          </a:p>
        </p:txBody>
      </p:sp>
      <p:sp>
        <p:nvSpPr>
          <p:cNvPr id="39"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18 / 93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1371600"/>
            <a:ext cx="7315200" cy="365760"/>
          </a:xfrm>
          <a:prstGeom prst="rect">
            <a:avLst/>
          </a:prstGeom>
          <a:noFill/>
          <a:ln/>
        </p:spPr>
        <p:txBody>
          <a:bodyPr wrap="square" lIns="0" tIns="0" rIns="0" bIns="0" rtlCol="0" anchor="ctr"/>
          <a:lstStyle/>
          <a:p>
            <a:pPr indent="0" marL="0">
              <a:buNone/>
            </a:pPr>
            <a:r>
              <a:rPr lang="en-US" sz="1400" spc="600" kern="0" dirty="0">
                <a:solidFill>
                  <a:srgbClr val="14B8A6"/>
                </a:solidFill>
                <a:latin typeface="Calibri" pitchFamily="34" charset="0"/>
                <a:ea typeface="Calibri" pitchFamily="34" charset="-122"/>
                <a:cs typeface="Calibri" pitchFamily="34" charset="-120"/>
              </a:rPr>
              <a:t>SECTION</a:t>
            </a:r>
            <a:endParaRPr lang="en-US" sz="1400" dirty="0"/>
          </a:p>
        </p:txBody>
      </p:sp>
      <p:sp>
        <p:nvSpPr>
          <p:cNvPr id="4" name="Text 2"/>
          <p:cNvSpPr/>
          <p:nvPr/>
        </p:nvSpPr>
        <p:spPr>
          <a:xfrm>
            <a:off x="548640" y="182880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Full Planning Path</a:t>
            </a:r>
            <a:endParaRPr lang="en-US" sz="4200" dirty="0"/>
          </a:p>
        </p:txBody>
      </p:sp>
      <p:sp>
        <p:nvSpPr>
          <p:cNvPr id="5" name="Text 3"/>
          <p:cNvSpPr/>
          <p:nvPr/>
        </p:nvSpPr>
        <p:spPr>
          <a:xfrm>
            <a:off x="548640" y="274320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New products, platforms, and complex features</a:t>
            </a:r>
            <a:endParaRPr lang="en-US" sz="1600" dirty="0"/>
          </a:p>
        </p:txBody>
      </p:sp>
      <p:sp>
        <p:nvSpPr>
          <p:cNvPr id="6" name="Shape 4"/>
          <p:cNvSpPr/>
          <p:nvPr/>
        </p:nvSpPr>
        <p:spPr>
          <a:xfrm>
            <a:off x="548640" y="3383280"/>
            <a:ext cx="1828800" cy="36576"/>
          </a:xfrm>
          <a:prstGeom prst="rect">
            <a:avLst/>
          </a:prstGeom>
          <a:solidFill>
            <a:srgbClr val="0D9488"/>
          </a:solidFill>
          <a:ln/>
        </p:spPr>
      </p:sp>
      <p:sp>
        <p:nvSpPr>
          <p:cNvPr id="7" name="Text 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19 / 93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Full Planning Path — Overview</a:t>
            </a:r>
            <a:endParaRPr lang="en-US" sz="2600" dirty="0"/>
          </a:p>
        </p:txBody>
      </p:sp>
      <p:sp>
        <p:nvSpPr>
          <p:cNvPr id="5" name="Shape 3"/>
          <p:cNvSpPr/>
          <p:nvPr/>
        </p:nvSpPr>
        <p:spPr>
          <a:xfrm>
            <a:off x="457200" y="1051560"/>
            <a:ext cx="8229600" cy="8046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51560"/>
            <a:ext cx="54864" cy="804672"/>
          </a:xfrm>
          <a:prstGeom prst="rect">
            <a:avLst/>
          </a:prstGeom>
          <a:solidFill>
            <a:srgbClr val="0D9488"/>
          </a:solidFill>
          <a:ln/>
        </p:spPr>
      </p:sp>
      <p:sp>
        <p:nvSpPr>
          <p:cNvPr id="7" name="Shape 5"/>
          <p:cNvSpPr/>
          <p:nvPr/>
        </p:nvSpPr>
        <p:spPr>
          <a:xfrm>
            <a:off x="685800" y="1216152"/>
            <a:ext cx="777240" cy="457200"/>
          </a:xfrm>
          <a:prstGeom prst="rect">
            <a:avLst/>
          </a:prstGeom>
          <a:solidFill>
            <a:srgbClr val="0D9488"/>
          </a:solidFill>
          <a:ln/>
        </p:spPr>
      </p:sp>
      <p:sp>
        <p:nvSpPr>
          <p:cNvPr id="8" name="Text 6"/>
          <p:cNvSpPr/>
          <p:nvPr/>
        </p:nvSpPr>
        <p:spPr>
          <a:xfrm>
            <a:off x="685800" y="1216152"/>
            <a:ext cx="77724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1</a:t>
            </a:r>
            <a:endParaRPr lang="en-US" sz="900" dirty="0"/>
          </a:p>
        </p:txBody>
      </p:sp>
      <p:sp>
        <p:nvSpPr>
          <p:cNvPr id="9" name="Text 7"/>
          <p:cNvSpPr/>
          <p:nvPr/>
        </p:nvSpPr>
        <p:spPr>
          <a:xfrm>
            <a:off x="1645920" y="1124712"/>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Analysis &amp; Planning</a:t>
            </a:r>
            <a:endParaRPr lang="en-US" sz="1400" dirty="0"/>
          </a:p>
        </p:txBody>
      </p:sp>
      <p:sp>
        <p:nvSpPr>
          <p:cNvPr id="10" name="Text 8"/>
          <p:cNvSpPr/>
          <p:nvPr/>
        </p:nvSpPr>
        <p:spPr>
          <a:xfrm>
            <a:off x="1645920" y="1463040"/>
            <a:ext cx="1828800" cy="274320"/>
          </a:xfrm>
          <a:prstGeom prst="rect">
            <a:avLst/>
          </a:prstGeom>
          <a:noFill/>
          <a:ln/>
        </p:spPr>
        <p:txBody>
          <a:bodyPr wrap="square" lIns="0" tIns="0" rIns="0" bIns="0" rtlCol="0" anchor="t"/>
          <a:lstStyle/>
          <a:p>
            <a:pPr indent="0" marL="0">
              <a:buNone/>
            </a:pPr>
            <a:r>
              <a:rPr lang="en-US" sz="1000" dirty="0">
                <a:solidFill>
                  <a:srgbClr val="0D9488"/>
                </a:solidFill>
                <a:latin typeface="Calibri" pitchFamily="34" charset="0"/>
                <a:ea typeface="Calibri" pitchFamily="34" charset="-122"/>
                <a:cs typeface="Calibri" pitchFamily="34" charset="-120"/>
              </a:rPr>
              <a:t>Analyst + PM</a:t>
            </a:r>
            <a:endParaRPr lang="en-US" sz="1000" dirty="0"/>
          </a:p>
        </p:txBody>
      </p:sp>
      <p:sp>
        <p:nvSpPr>
          <p:cNvPr id="11" name="Text 9"/>
          <p:cNvSpPr/>
          <p:nvPr/>
        </p:nvSpPr>
        <p:spPr>
          <a:xfrm>
            <a:off x="4114800" y="1143000"/>
            <a:ext cx="4297680" cy="59436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/product-brief → /create-prd</a:t>
            </a:r>
            <a:endParaRPr lang="en-US" sz="1100" dirty="0"/>
          </a:p>
        </p:txBody>
      </p:sp>
      <p:sp>
        <p:nvSpPr>
          <p:cNvPr id="12" name="Shape 10"/>
          <p:cNvSpPr/>
          <p:nvPr/>
        </p:nvSpPr>
        <p:spPr>
          <a:xfrm>
            <a:off x="457200" y="2011680"/>
            <a:ext cx="8229600" cy="8046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57200" y="2011680"/>
            <a:ext cx="54864" cy="804672"/>
          </a:xfrm>
          <a:prstGeom prst="rect">
            <a:avLst/>
          </a:prstGeom>
          <a:solidFill>
            <a:srgbClr val="0891B2"/>
          </a:solidFill>
          <a:ln/>
        </p:spPr>
      </p:sp>
      <p:sp>
        <p:nvSpPr>
          <p:cNvPr id="14" name="Shape 12"/>
          <p:cNvSpPr/>
          <p:nvPr/>
        </p:nvSpPr>
        <p:spPr>
          <a:xfrm>
            <a:off x="685800" y="2176272"/>
            <a:ext cx="777240" cy="457200"/>
          </a:xfrm>
          <a:prstGeom prst="rect">
            <a:avLst/>
          </a:prstGeom>
          <a:solidFill>
            <a:srgbClr val="0891B2"/>
          </a:solidFill>
          <a:ln/>
        </p:spPr>
      </p:sp>
      <p:sp>
        <p:nvSpPr>
          <p:cNvPr id="15" name="Text 13"/>
          <p:cNvSpPr/>
          <p:nvPr/>
        </p:nvSpPr>
        <p:spPr>
          <a:xfrm>
            <a:off x="685800" y="2176272"/>
            <a:ext cx="77724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2</a:t>
            </a:r>
            <a:endParaRPr lang="en-US" sz="900" dirty="0"/>
          </a:p>
        </p:txBody>
      </p:sp>
      <p:sp>
        <p:nvSpPr>
          <p:cNvPr id="16" name="Text 14"/>
          <p:cNvSpPr/>
          <p:nvPr/>
        </p:nvSpPr>
        <p:spPr>
          <a:xfrm>
            <a:off x="1645920" y="2084832"/>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Architecture &amp; Design</a:t>
            </a:r>
            <a:endParaRPr lang="en-US" sz="1400" dirty="0"/>
          </a:p>
        </p:txBody>
      </p:sp>
      <p:sp>
        <p:nvSpPr>
          <p:cNvPr id="17" name="Text 15"/>
          <p:cNvSpPr/>
          <p:nvPr/>
        </p:nvSpPr>
        <p:spPr>
          <a:xfrm>
            <a:off x="1645920" y="2423160"/>
            <a:ext cx="1828800" cy="274320"/>
          </a:xfrm>
          <a:prstGeom prst="rect">
            <a:avLst/>
          </a:prstGeom>
          <a:noFill/>
          <a:ln/>
        </p:spPr>
        <p:txBody>
          <a:bodyPr wrap="square" lIns="0" tIns="0" rIns="0" bIns="0" rtlCol="0" anchor="t"/>
          <a:lstStyle/>
          <a:p>
            <a:pPr indent="0" marL="0">
              <a:buNone/>
            </a:pPr>
            <a:r>
              <a:rPr lang="en-US" sz="1000" dirty="0">
                <a:solidFill>
                  <a:srgbClr val="0D9488"/>
                </a:solidFill>
                <a:latin typeface="Calibri" pitchFamily="34" charset="0"/>
                <a:ea typeface="Calibri" pitchFamily="34" charset="-122"/>
                <a:cs typeface="Calibri" pitchFamily="34" charset="-120"/>
              </a:rPr>
              <a:t>Architect</a:t>
            </a:r>
            <a:endParaRPr lang="en-US" sz="1000" dirty="0"/>
          </a:p>
        </p:txBody>
      </p:sp>
      <p:sp>
        <p:nvSpPr>
          <p:cNvPr id="18" name="Text 16"/>
          <p:cNvSpPr/>
          <p:nvPr/>
        </p:nvSpPr>
        <p:spPr>
          <a:xfrm>
            <a:off x="4114800" y="2103120"/>
            <a:ext cx="4297680" cy="59436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/create-architecture</a:t>
            </a:r>
            <a:endParaRPr lang="en-US" sz="1100" dirty="0"/>
          </a:p>
        </p:txBody>
      </p:sp>
      <p:sp>
        <p:nvSpPr>
          <p:cNvPr id="19" name="Shape 17"/>
          <p:cNvSpPr/>
          <p:nvPr/>
        </p:nvSpPr>
        <p:spPr>
          <a:xfrm>
            <a:off x="457200" y="2971800"/>
            <a:ext cx="8229600" cy="8046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2971800"/>
            <a:ext cx="54864" cy="804672"/>
          </a:xfrm>
          <a:prstGeom prst="rect">
            <a:avLst/>
          </a:prstGeom>
          <a:solidFill>
            <a:srgbClr val="0E7490"/>
          </a:solidFill>
          <a:ln/>
        </p:spPr>
      </p:sp>
      <p:sp>
        <p:nvSpPr>
          <p:cNvPr id="21" name="Shape 19"/>
          <p:cNvSpPr/>
          <p:nvPr/>
        </p:nvSpPr>
        <p:spPr>
          <a:xfrm>
            <a:off x="685800" y="3136392"/>
            <a:ext cx="777240" cy="457200"/>
          </a:xfrm>
          <a:prstGeom prst="rect">
            <a:avLst/>
          </a:prstGeom>
          <a:solidFill>
            <a:srgbClr val="0E7490"/>
          </a:solidFill>
          <a:ln/>
        </p:spPr>
      </p:sp>
      <p:sp>
        <p:nvSpPr>
          <p:cNvPr id="22" name="Text 20"/>
          <p:cNvSpPr/>
          <p:nvPr/>
        </p:nvSpPr>
        <p:spPr>
          <a:xfrm>
            <a:off x="685800" y="3136392"/>
            <a:ext cx="77724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3</a:t>
            </a:r>
            <a:endParaRPr lang="en-US" sz="900" dirty="0"/>
          </a:p>
        </p:txBody>
      </p:sp>
      <p:sp>
        <p:nvSpPr>
          <p:cNvPr id="23" name="Text 21"/>
          <p:cNvSpPr/>
          <p:nvPr/>
        </p:nvSpPr>
        <p:spPr>
          <a:xfrm>
            <a:off x="1645920" y="3044952"/>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Story Breakdown</a:t>
            </a:r>
            <a:endParaRPr lang="en-US" sz="1400" dirty="0"/>
          </a:p>
        </p:txBody>
      </p:sp>
      <p:sp>
        <p:nvSpPr>
          <p:cNvPr id="24" name="Text 22"/>
          <p:cNvSpPr/>
          <p:nvPr/>
        </p:nvSpPr>
        <p:spPr>
          <a:xfrm>
            <a:off x="1645920" y="3383280"/>
            <a:ext cx="1828800" cy="274320"/>
          </a:xfrm>
          <a:prstGeom prst="rect">
            <a:avLst/>
          </a:prstGeom>
          <a:noFill/>
          <a:ln/>
        </p:spPr>
        <p:txBody>
          <a:bodyPr wrap="square" lIns="0" tIns="0" rIns="0" bIns="0" rtlCol="0" anchor="t"/>
          <a:lstStyle/>
          <a:p>
            <a:pPr indent="0" marL="0">
              <a:buNone/>
            </a:pPr>
            <a:r>
              <a:rPr lang="en-US" sz="1000" dirty="0">
                <a:solidFill>
                  <a:srgbClr val="0D9488"/>
                </a:solidFill>
                <a:latin typeface="Calibri" pitchFamily="34" charset="0"/>
                <a:ea typeface="Calibri" pitchFamily="34" charset="-122"/>
                <a:cs typeface="Calibri" pitchFamily="34" charset="-120"/>
              </a:rPr>
              <a:t>Scrum Master</a:t>
            </a:r>
            <a:endParaRPr lang="en-US" sz="1000" dirty="0"/>
          </a:p>
        </p:txBody>
      </p:sp>
      <p:sp>
        <p:nvSpPr>
          <p:cNvPr id="25" name="Text 23"/>
          <p:cNvSpPr/>
          <p:nvPr/>
        </p:nvSpPr>
        <p:spPr>
          <a:xfrm>
            <a:off x="4114800" y="3063240"/>
            <a:ext cx="4297680" cy="59436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/create-epics-and-stories → /sprint-planning</a:t>
            </a:r>
            <a:endParaRPr lang="en-US" sz="1100" dirty="0"/>
          </a:p>
        </p:txBody>
      </p:sp>
      <p:sp>
        <p:nvSpPr>
          <p:cNvPr id="26" name="Shape 24"/>
          <p:cNvSpPr/>
          <p:nvPr/>
        </p:nvSpPr>
        <p:spPr>
          <a:xfrm>
            <a:off x="457200" y="3931920"/>
            <a:ext cx="8229600" cy="80467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457200" y="3931920"/>
            <a:ext cx="54864" cy="804672"/>
          </a:xfrm>
          <a:prstGeom prst="rect">
            <a:avLst/>
          </a:prstGeom>
          <a:solidFill>
            <a:srgbClr val="0F1B2D"/>
          </a:solidFill>
          <a:ln/>
        </p:spPr>
      </p:sp>
      <p:sp>
        <p:nvSpPr>
          <p:cNvPr id="28" name="Shape 26"/>
          <p:cNvSpPr/>
          <p:nvPr/>
        </p:nvSpPr>
        <p:spPr>
          <a:xfrm>
            <a:off x="685800" y="4096512"/>
            <a:ext cx="777240" cy="457200"/>
          </a:xfrm>
          <a:prstGeom prst="rect">
            <a:avLst/>
          </a:prstGeom>
          <a:solidFill>
            <a:srgbClr val="0F1B2D"/>
          </a:solidFill>
          <a:ln/>
        </p:spPr>
      </p:sp>
      <p:sp>
        <p:nvSpPr>
          <p:cNvPr id="29" name="Text 27"/>
          <p:cNvSpPr/>
          <p:nvPr/>
        </p:nvSpPr>
        <p:spPr>
          <a:xfrm>
            <a:off x="685800" y="4096512"/>
            <a:ext cx="77724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Phase 4</a:t>
            </a:r>
            <a:endParaRPr lang="en-US" sz="900" dirty="0"/>
          </a:p>
        </p:txBody>
      </p:sp>
      <p:sp>
        <p:nvSpPr>
          <p:cNvPr id="30" name="Text 28"/>
          <p:cNvSpPr/>
          <p:nvPr/>
        </p:nvSpPr>
        <p:spPr>
          <a:xfrm>
            <a:off x="1645920" y="4005072"/>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Development Loop</a:t>
            </a:r>
            <a:endParaRPr lang="en-US" sz="1400" dirty="0"/>
          </a:p>
        </p:txBody>
      </p:sp>
      <p:sp>
        <p:nvSpPr>
          <p:cNvPr id="31" name="Text 29"/>
          <p:cNvSpPr/>
          <p:nvPr/>
        </p:nvSpPr>
        <p:spPr>
          <a:xfrm>
            <a:off x="1645920" y="4343400"/>
            <a:ext cx="1828800" cy="274320"/>
          </a:xfrm>
          <a:prstGeom prst="rect">
            <a:avLst/>
          </a:prstGeom>
          <a:noFill/>
          <a:ln/>
        </p:spPr>
        <p:txBody>
          <a:bodyPr wrap="square" lIns="0" tIns="0" rIns="0" bIns="0" rtlCol="0" anchor="t"/>
          <a:lstStyle/>
          <a:p>
            <a:pPr indent="0" marL="0">
              <a:buNone/>
            </a:pPr>
            <a:r>
              <a:rPr lang="en-US" sz="1000" dirty="0">
                <a:solidFill>
                  <a:srgbClr val="0D9488"/>
                </a:solidFill>
                <a:latin typeface="Calibri" pitchFamily="34" charset="0"/>
                <a:ea typeface="Calibri" pitchFamily="34" charset="-122"/>
                <a:cs typeface="Calibri" pitchFamily="34" charset="-120"/>
              </a:rPr>
              <a:t>Dev + QA</a:t>
            </a:r>
            <a:endParaRPr lang="en-US" sz="1000" dirty="0"/>
          </a:p>
        </p:txBody>
      </p:sp>
      <p:sp>
        <p:nvSpPr>
          <p:cNvPr id="32" name="Text 30"/>
          <p:cNvSpPr/>
          <p:nvPr/>
        </p:nvSpPr>
        <p:spPr>
          <a:xfrm>
            <a:off x="4114800" y="4023360"/>
            <a:ext cx="4297680" cy="59436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/create-story → /dev-story → /code-review (repeat)</a:t>
            </a:r>
            <a:endParaRPr lang="en-US" sz="1100" dirty="0"/>
          </a:p>
        </p:txBody>
      </p:sp>
      <p:sp>
        <p:nvSpPr>
          <p:cNvPr id="33" name="Text 31"/>
          <p:cNvSpPr/>
          <p:nvPr/>
        </p:nvSpPr>
        <p:spPr>
          <a:xfrm>
            <a:off x="457200" y="4709160"/>
            <a:ext cx="8229600" cy="320040"/>
          </a:xfrm>
          <a:prstGeom prst="rect">
            <a:avLst/>
          </a:prstGeom>
          <a:noFill/>
          <a:ln/>
        </p:spPr>
        <p:txBody>
          <a:bodyPr wrap="square" rtlCol="0" anchor="ctr"/>
          <a:lstStyle/>
          <a:p>
            <a:pPr algn="ctr" indent="0" marL="0">
              <a:buNone/>
            </a:pPr>
            <a:r>
              <a:rPr lang="en-US" sz="1100" i="1" dirty="0">
                <a:solidFill>
                  <a:srgbClr val="0D9488"/>
                </a:solidFill>
                <a:latin typeface="Calibri" pitchFamily="34" charset="0"/>
                <a:ea typeface="Calibri" pitchFamily="34" charset="-122"/>
                <a:cs typeface="Calibri" pitchFamily="34" charset="-120"/>
              </a:rPr>
              <a:t>Every step tells you what's next. Optional phases (brainstorming, research, UX) are available when needed.</a:t>
            </a:r>
            <a:endParaRPr lang="en-US" sz="1100" dirty="0"/>
          </a:p>
        </p:txBody>
      </p:sp>
      <p:sp>
        <p:nvSpPr>
          <p:cNvPr id="34" name="Text 32"/>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20 / 93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Phase 1: Analysis &amp; Planning</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From idea to structured requirements</a:t>
            </a:r>
            <a:endParaRPr lang="en-US" sz="1300" dirty="0"/>
          </a:p>
        </p:txBody>
      </p:sp>
      <p:sp>
        <p:nvSpPr>
          <p:cNvPr id="5" name="Shape 3"/>
          <p:cNvSpPr/>
          <p:nvPr/>
        </p:nvSpPr>
        <p:spPr>
          <a:xfrm>
            <a:off x="457200" y="1234440"/>
            <a:ext cx="3931920" cy="3108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3931920" cy="54864"/>
          </a:xfrm>
          <a:prstGeom prst="rect">
            <a:avLst/>
          </a:prstGeom>
          <a:solidFill>
            <a:srgbClr val="0D9488"/>
          </a:solidFill>
          <a:ln/>
        </p:spPr>
      </p:sp>
      <p:sp>
        <p:nvSpPr>
          <p:cNvPr id="7" name="Text 5"/>
          <p:cNvSpPr/>
          <p:nvPr/>
        </p:nvSpPr>
        <p:spPr>
          <a:xfrm>
            <a:off x="640080" y="1417320"/>
            <a:ext cx="3566160" cy="320040"/>
          </a:xfrm>
          <a:prstGeom prst="rect">
            <a:avLst/>
          </a:prstGeom>
          <a:noFill/>
          <a:ln/>
        </p:spPr>
        <p:txBody>
          <a:bodyPr wrap="square" lIns="0" tIns="0" rIns="0" bIns="0" rtlCol="0" anchor="ctr"/>
          <a:lstStyle/>
          <a:p>
            <a:pPr indent="0" marL="0">
              <a:buNone/>
            </a:pPr>
            <a:r>
              <a:rPr lang="en-US" sz="1600" b="1" dirty="0">
                <a:solidFill>
                  <a:srgbClr val="F59E0B"/>
                </a:solidFill>
                <a:latin typeface="Consolas" pitchFamily="34" charset="0"/>
                <a:ea typeface="Consolas" pitchFamily="34" charset="-122"/>
                <a:cs typeface="Consolas" pitchFamily="34" charset="-120"/>
              </a:rPr>
              <a:t>/product-brief</a:t>
            </a:r>
            <a:endParaRPr lang="en-US" sz="1600" dirty="0"/>
          </a:p>
        </p:txBody>
      </p:sp>
      <p:sp>
        <p:nvSpPr>
          <p:cNvPr id="8" name="Text 6"/>
          <p:cNvSpPr/>
          <p:nvPr/>
        </p:nvSpPr>
        <p:spPr>
          <a:xfrm>
            <a:off x="640080" y="1783080"/>
            <a:ext cx="3566160"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Analyst Agent</a:t>
            </a:r>
            <a:endParaRPr lang="en-US" sz="1100" dirty="0"/>
          </a:p>
        </p:txBody>
      </p:sp>
      <p:pic>
        <p:nvPicPr>
          <p:cNvPr id="9" name="Image 0" descr="preencoded.png">    </p:cNvPr>
          <p:cNvPicPr>
            <a:picLocks noChangeAspect="1"/>
          </p:cNvPicPr>
          <p:nvPr/>
        </p:nvPicPr>
        <p:blipFill>
          <a:blip r:embed="rId1"/>
          <a:stretch>
            <a:fillRect/>
          </a:stretch>
        </p:blipFill>
        <p:spPr>
          <a:xfrm>
            <a:off x="685800" y="2286000"/>
            <a:ext cx="201168" cy="201168"/>
          </a:xfrm>
          <a:prstGeom prst="rect">
            <a:avLst/>
          </a:prstGeom>
        </p:spPr>
      </p:pic>
      <p:sp>
        <p:nvSpPr>
          <p:cNvPr id="10" name="Text 7"/>
          <p:cNvSpPr/>
          <p:nvPr/>
        </p:nvSpPr>
        <p:spPr>
          <a:xfrm>
            <a:off x="1005840" y="22402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Define the problem and target users</a:t>
            </a:r>
            <a:endParaRPr lang="en-US" sz="1100" dirty="0"/>
          </a:p>
        </p:txBody>
      </p:sp>
      <p:pic>
        <p:nvPicPr>
          <p:cNvPr id="11" name="Image 1" descr="preencoded.png">    </p:cNvPr>
          <p:cNvPicPr>
            <a:picLocks noChangeAspect="1"/>
          </p:cNvPicPr>
          <p:nvPr/>
        </p:nvPicPr>
        <p:blipFill>
          <a:blip r:embed="rId2"/>
          <a:stretch>
            <a:fillRect/>
          </a:stretch>
        </p:blipFill>
        <p:spPr>
          <a:xfrm>
            <a:off x="685800" y="2743200"/>
            <a:ext cx="201168" cy="201168"/>
          </a:xfrm>
          <a:prstGeom prst="rect">
            <a:avLst/>
          </a:prstGeom>
        </p:spPr>
      </p:pic>
      <p:sp>
        <p:nvSpPr>
          <p:cNvPr id="12" name="Text 8"/>
          <p:cNvSpPr/>
          <p:nvPr/>
        </p:nvSpPr>
        <p:spPr>
          <a:xfrm>
            <a:off x="1005840" y="26974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Establish MVP scope and success criteria</a:t>
            </a:r>
            <a:endParaRPr lang="en-US" sz="1100" dirty="0"/>
          </a:p>
        </p:txBody>
      </p:sp>
      <p:pic>
        <p:nvPicPr>
          <p:cNvPr id="13" name="Image 2" descr="preencoded.png">    </p:cNvPr>
          <p:cNvPicPr>
            <a:picLocks noChangeAspect="1"/>
          </p:cNvPicPr>
          <p:nvPr/>
        </p:nvPicPr>
        <p:blipFill>
          <a:blip r:embed="rId3"/>
          <a:stretch>
            <a:fillRect/>
          </a:stretch>
        </p:blipFill>
        <p:spPr>
          <a:xfrm>
            <a:off x="685800" y="3200400"/>
            <a:ext cx="201168" cy="201168"/>
          </a:xfrm>
          <a:prstGeom prst="rect">
            <a:avLst/>
          </a:prstGeom>
        </p:spPr>
      </p:pic>
      <p:sp>
        <p:nvSpPr>
          <p:cNvPr id="14" name="Text 9"/>
          <p:cNvSpPr/>
          <p:nvPr/>
        </p:nvSpPr>
        <p:spPr>
          <a:xfrm>
            <a:off x="1005840" y="31546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Identify risks and assumptions</a:t>
            </a:r>
            <a:endParaRPr lang="en-US" sz="1100" dirty="0"/>
          </a:p>
        </p:txBody>
      </p:sp>
      <p:pic>
        <p:nvPicPr>
          <p:cNvPr id="15" name="Image 3" descr="preencoded.png">    </p:cNvPr>
          <p:cNvPicPr>
            <a:picLocks noChangeAspect="1"/>
          </p:cNvPicPr>
          <p:nvPr/>
        </p:nvPicPr>
        <p:blipFill>
          <a:blip r:embed="rId4"/>
          <a:stretch>
            <a:fillRect/>
          </a:stretch>
        </p:blipFill>
        <p:spPr>
          <a:xfrm>
            <a:off x="685800" y="3657600"/>
            <a:ext cx="201168" cy="201168"/>
          </a:xfrm>
          <a:prstGeom prst="rect">
            <a:avLst/>
          </a:prstGeom>
        </p:spPr>
      </p:pic>
      <p:sp>
        <p:nvSpPr>
          <p:cNvPr id="16" name="Text 10"/>
          <p:cNvSpPr/>
          <p:nvPr/>
        </p:nvSpPr>
        <p:spPr>
          <a:xfrm>
            <a:off x="1005840" y="36118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Research technical feasibility</a:t>
            </a:r>
            <a:endParaRPr lang="en-US" sz="1100" dirty="0"/>
          </a:p>
        </p:txBody>
      </p:sp>
      <p:sp>
        <p:nvSpPr>
          <p:cNvPr id="17" name="Shape 11"/>
          <p:cNvSpPr/>
          <p:nvPr/>
        </p:nvSpPr>
        <p:spPr>
          <a:xfrm>
            <a:off x="4754880" y="1234440"/>
            <a:ext cx="3931920" cy="3108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2"/>
          <p:cNvSpPr/>
          <p:nvPr/>
        </p:nvSpPr>
        <p:spPr>
          <a:xfrm>
            <a:off x="4754880" y="1234440"/>
            <a:ext cx="3931920" cy="54864"/>
          </a:xfrm>
          <a:prstGeom prst="rect">
            <a:avLst/>
          </a:prstGeom>
          <a:solidFill>
            <a:srgbClr val="0D9488"/>
          </a:solidFill>
          <a:ln/>
        </p:spPr>
      </p:sp>
      <p:sp>
        <p:nvSpPr>
          <p:cNvPr id="19" name="Text 13"/>
          <p:cNvSpPr/>
          <p:nvPr/>
        </p:nvSpPr>
        <p:spPr>
          <a:xfrm>
            <a:off x="4937760" y="1417320"/>
            <a:ext cx="3566160" cy="320040"/>
          </a:xfrm>
          <a:prstGeom prst="rect">
            <a:avLst/>
          </a:prstGeom>
          <a:noFill/>
          <a:ln/>
        </p:spPr>
        <p:txBody>
          <a:bodyPr wrap="square" lIns="0" tIns="0" rIns="0" bIns="0" rtlCol="0" anchor="ctr"/>
          <a:lstStyle/>
          <a:p>
            <a:pPr indent="0" marL="0">
              <a:buNone/>
            </a:pPr>
            <a:r>
              <a:rPr lang="en-US" sz="1600" b="1" dirty="0">
                <a:solidFill>
                  <a:srgbClr val="F59E0B"/>
                </a:solidFill>
                <a:latin typeface="Consolas" pitchFamily="34" charset="0"/>
                <a:ea typeface="Consolas" pitchFamily="34" charset="-122"/>
                <a:cs typeface="Consolas" pitchFamily="34" charset="-120"/>
              </a:rPr>
              <a:t>/create-prd</a:t>
            </a:r>
            <a:endParaRPr lang="en-US" sz="1600" dirty="0"/>
          </a:p>
        </p:txBody>
      </p:sp>
      <p:sp>
        <p:nvSpPr>
          <p:cNvPr id="20" name="Text 14"/>
          <p:cNvSpPr/>
          <p:nvPr/>
        </p:nvSpPr>
        <p:spPr>
          <a:xfrm>
            <a:off x="4937760" y="1783080"/>
            <a:ext cx="3566160"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PM Agent</a:t>
            </a:r>
            <a:endParaRPr lang="en-US" sz="1100" dirty="0"/>
          </a:p>
        </p:txBody>
      </p:sp>
      <p:pic>
        <p:nvPicPr>
          <p:cNvPr id="21" name="Image 4" descr="preencoded.png">    </p:cNvPr>
          <p:cNvPicPr>
            <a:picLocks noChangeAspect="1"/>
          </p:cNvPicPr>
          <p:nvPr/>
        </p:nvPicPr>
        <p:blipFill>
          <a:blip r:embed="rId5"/>
          <a:stretch>
            <a:fillRect/>
          </a:stretch>
        </p:blipFill>
        <p:spPr>
          <a:xfrm>
            <a:off x="4983480" y="2286000"/>
            <a:ext cx="201168" cy="201168"/>
          </a:xfrm>
          <a:prstGeom prst="rect">
            <a:avLst/>
          </a:prstGeom>
        </p:spPr>
      </p:pic>
      <p:sp>
        <p:nvSpPr>
          <p:cNvPr id="22" name="Text 15"/>
          <p:cNvSpPr/>
          <p:nvPr/>
        </p:nvSpPr>
        <p:spPr>
          <a:xfrm>
            <a:off x="5303520" y="22402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Detailed user personas and journeys</a:t>
            </a:r>
            <a:endParaRPr lang="en-US" sz="1100" dirty="0"/>
          </a:p>
        </p:txBody>
      </p:sp>
      <p:pic>
        <p:nvPicPr>
          <p:cNvPr id="23" name="Image 5" descr="preencoded.png">    </p:cNvPr>
          <p:cNvPicPr>
            <a:picLocks noChangeAspect="1"/>
          </p:cNvPicPr>
          <p:nvPr/>
        </p:nvPicPr>
        <p:blipFill>
          <a:blip r:embed="rId6"/>
          <a:stretch>
            <a:fillRect/>
          </a:stretch>
        </p:blipFill>
        <p:spPr>
          <a:xfrm>
            <a:off x="4983480" y="2743200"/>
            <a:ext cx="201168" cy="201168"/>
          </a:xfrm>
          <a:prstGeom prst="rect">
            <a:avLst/>
          </a:prstGeom>
        </p:spPr>
      </p:pic>
      <p:sp>
        <p:nvSpPr>
          <p:cNvPr id="24" name="Text 16"/>
          <p:cNvSpPr/>
          <p:nvPr/>
        </p:nvSpPr>
        <p:spPr>
          <a:xfrm>
            <a:off x="5303520" y="26974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Functional and non-functional requirements</a:t>
            </a:r>
            <a:endParaRPr lang="en-US" sz="1100" dirty="0"/>
          </a:p>
        </p:txBody>
      </p:sp>
      <p:pic>
        <p:nvPicPr>
          <p:cNvPr id="25" name="Image 6" descr="preencoded.png">    </p:cNvPr>
          <p:cNvPicPr>
            <a:picLocks noChangeAspect="1"/>
          </p:cNvPicPr>
          <p:nvPr/>
        </p:nvPicPr>
        <p:blipFill>
          <a:blip r:embed="rId7"/>
          <a:stretch>
            <a:fillRect/>
          </a:stretch>
        </p:blipFill>
        <p:spPr>
          <a:xfrm>
            <a:off x="4983480" y="3200400"/>
            <a:ext cx="201168" cy="201168"/>
          </a:xfrm>
          <a:prstGeom prst="rect">
            <a:avLst/>
          </a:prstGeom>
        </p:spPr>
      </p:pic>
      <p:sp>
        <p:nvSpPr>
          <p:cNvPr id="26" name="Text 17"/>
          <p:cNvSpPr/>
          <p:nvPr/>
        </p:nvSpPr>
        <p:spPr>
          <a:xfrm>
            <a:off x="5303520" y="31546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Success metrics and KPIs</a:t>
            </a:r>
            <a:endParaRPr lang="en-US" sz="1100" dirty="0"/>
          </a:p>
        </p:txBody>
      </p:sp>
      <p:pic>
        <p:nvPicPr>
          <p:cNvPr id="27" name="Image 7" descr="preencoded.png">    </p:cNvPr>
          <p:cNvPicPr>
            <a:picLocks noChangeAspect="1"/>
          </p:cNvPicPr>
          <p:nvPr/>
        </p:nvPicPr>
        <p:blipFill>
          <a:blip r:embed="rId8"/>
          <a:stretch>
            <a:fillRect/>
          </a:stretch>
        </p:blipFill>
        <p:spPr>
          <a:xfrm>
            <a:off x="4983480" y="3657600"/>
            <a:ext cx="201168" cy="201168"/>
          </a:xfrm>
          <a:prstGeom prst="rect">
            <a:avLst/>
          </a:prstGeom>
        </p:spPr>
      </p:pic>
      <p:sp>
        <p:nvSpPr>
          <p:cNvPr id="28" name="Text 18"/>
          <p:cNvSpPr/>
          <p:nvPr/>
        </p:nvSpPr>
        <p:spPr>
          <a:xfrm>
            <a:off x="5303520" y="3611880"/>
            <a:ext cx="3200400"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Risk assessment and mitigation plan</a:t>
            </a:r>
            <a:endParaRPr lang="en-US" sz="1100" dirty="0"/>
          </a:p>
        </p:txBody>
      </p:sp>
      <p:sp>
        <p:nvSpPr>
          <p:cNvPr id="29" name="Text 19"/>
          <p:cNvSpPr/>
          <p:nvPr/>
        </p:nvSpPr>
        <p:spPr>
          <a:xfrm>
            <a:off x="4389120" y="2468880"/>
            <a:ext cx="365760" cy="457200"/>
          </a:xfrm>
          <a:prstGeom prst="rect">
            <a:avLst/>
          </a:prstGeom>
          <a:noFill/>
          <a:ln/>
        </p:spPr>
        <p:txBody>
          <a:bodyPr wrap="square" rtlCol="0" anchor="ctr"/>
          <a:lstStyle/>
          <a:p>
            <a:pPr algn="ctr" indent="0" marL="0">
              <a:buNone/>
            </a:pPr>
            <a:r>
              <a:rPr lang="en-US" sz="2000" dirty="0">
                <a:solidFill>
                  <a:srgbClr val="0D9488"/>
                </a:solidFill>
              </a:rPr>
              <a:t>▶</a:t>
            </a:r>
            <a:endParaRPr lang="en-US" sz="2000" dirty="0"/>
          </a:p>
        </p:txBody>
      </p:sp>
      <p:sp>
        <p:nvSpPr>
          <p:cNvPr id="30" name="Text 2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21 / 93</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Phase 2: Architecture &amp; Design</a:t>
            </a:r>
            <a:endParaRPr lang="en-US" sz="2600" dirty="0"/>
          </a:p>
        </p:txBody>
      </p:sp>
      <p:sp>
        <p:nvSpPr>
          <p:cNvPr id="5" name="Shape 3"/>
          <p:cNvSpPr/>
          <p:nvPr/>
        </p:nvSpPr>
        <p:spPr>
          <a:xfrm>
            <a:off x="457200" y="1097280"/>
            <a:ext cx="8229600" cy="457200"/>
          </a:xfrm>
          <a:prstGeom prst="rect">
            <a:avLst/>
          </a:prstGeom>
          <a:solidFill>
            <a:srgbClr val="0F1B2D"/>
          </a:solidFill>
          <a:ln/>
        </p:spPr>
      </p:sp>
      <p:sp>
        <p:nvSpPr>
          <p:cNvPr id="6" name="Text 4"/>
          <p:cNvSpPr/>
          <p:nvPr/>
        </p:nvSpPr>
        <p:spPr>
          <a:xfrm>
            <a:off x="640080" y="1097280"/>
            <a:ext cx="7863840" cy="457200"/>
          </a:xfrm>
          <a:prstGeom prst="rect">
            <a:avLst/>
          </a:prstGeom>
          <a:noFill/>
          <a:ln/>
        </p:spPr>
        <p:txBody>
          <a:bodyPr wrap="square" lIns="0" tIns="0" rIns="0" bIns="0" rtlCol="0" anchor="ctr"/>
          <a:lstStyle/>
          <a:p>
            <a:pPr indent="0" marL="0">
              <a:buNone/>
            </a:pPr>
            <a:r>
              <a:rPr lang="en-US" sz="1400" dirty="0">
                <a:solidFill>
                  <a:srgbClr val="F59E0B"/>
                </a:solidFill>
                <a:latin typeface="Consolas" pitchFamily="34" charset="0"/>
                <a:ea typeface="Consolas" pitchFamily="34" charset="-122"/>
                <a:cs typeface="Consolas" pitchFamily="34" charset="-120"/>
              </a:rPr>
              <a:t>/create-architecture    —    Architect Agent</a:t>
            </a:r>
            <a:endParaRPr lang="en-US" sz="1400" dirty="0"/>
          </a:p>
        </p:txBody>
      </p:sp>
      <p:sp>
        <p:nvSpPr>
          <p:cNvPr id="7" name="Shape 5"/>
          <p:cNvSpPr/>
          <p:nvPr/>
        </p:nvSpPr>
        <p:spPr>
          <a:xfrm>
            <a:off x="457200" y="178308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783080"/>
            <a:ext cx="2606040" cy="54864"/>
          </a:xfrm>
          <a:prstGeom prst="rect">
            <a:avLst/>
          </a:prstGeom>
          <a:solidFill>
            <a:srgbClr val="0D9488"/>
          </a:solidFill>
          <a:ln/>
        </p:spPr>
      </p:sp>
      <p:sp>
        <p:nvSpPr>
          <p:cNvPr id="9" name="Text 7"/>
          <p:cNvSpPr/>
          <p:nvPr/>
        </p:nvSpPr>
        <p:spPr>
          <a:xfrm>
            <a:off x="594360" y="187452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Tech Stack</a:t>
            </a:r>
            <a:endParaRPr lang="en-US" sz="1200" dirty="0"/>
          </a:p>
        </p:txBody>
      </p:sp>
      <p:sp>
        <p:nvSpPr>
          <p:cNvPr id="10" name="Text 8"/>
          <p:cNvSpPr/>
          <p:nvPr/>
        </p:nvSpPr>
        <p:spPr>
          <a:xfrm>
            <a:off x="594360" y="216712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Approved technologies, frameworks, and tools for the project</a:t>
            </a:r>
            <a:endParaRPr lang="en-US" sz="950" dirty="0"/>
          </a:p>
        </p:txBody>
      </p:sp>
      <p:sp>
        <p:nvSpPr>
          <p:cNvPr id="11" name="Shape 9"/>
          <p:cNvSpPr/>
          <p:nvPr/>
        </p:nvSpPr>
        <p:spPr>
          <a:xfrm>
            <a:off x="3291840" y="178308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3291840" y="1783080"/>
            <a:ext cx="2606040" cy="54864"/>
          </a:xfrm>
          <a:prstGeom prst="rect">
            <a:avLst/>
          </a:prstGeom>
          <a:solidFill>
            <a:srgbClr val="0D9488"/>
          </a:solidFill>
          <a:ln/>
        </p:spPr>
      </p:sp>
      <p:sp>
        <p:nvSpPr>
          <p:cNvPr id="13" name="Text 11"/>
          <p:cNvSpPr/>
          <p:nvPr/>
        </p:nvSpPr>
        <p:spPr>
          <a:xfrm>
            <a:off x="3429000" y="187452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System Design</a:t>
            </a:r>
            <a:endParaRPr lang="en-US" sz="1200" dirty="0"/>
          </a:p>
        </p:txBody>
      </p:sp>
      <p:sp>
        <p:nvSpPr>
          <p:cNvPr id="14" name="Text 12"/>
          <p:cNvSpPr/>
          <p:nvPr/>
        </p:nvSpPr>
        <p:spPr>
          <a:xfrm>
            <a:off x="3429000" y="216712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High-level architecture, service boundaries, deployment model</a:t>
            </a:r>
            <a:endParaRPr lang="en-US" sz="950" dirty="0"/>
          </a:p>
        </p:txBody>
      </p:sp>
      <p:sp>
        <p:nvSpPr>
          <p:cNvPr id="15" name="Shape 13"/>
          <p:cNvSpPr/>
          <p:nvPr/>
        </p:nvSpPr>
        <p:spPr>
          <a:xfrm>
            <a:off x="6126480" y="178308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783080"/>
            <a:ext cx="2606040" cy="54864"/>
          </a:xfrm>
          <a:prstGeom prst="rect">
            <a:avLst/>
          </a:prstGeom>
          <a:solidFill>
            <a:srgbClr val="0D9488"/>
          </a:solidFill>
          <a:ln/>
        </p:spPr>
      </p:sp>
      <p:sp>
        <p:nvSpPr>
          <p:cNvPr id="17" name="Text 15"/>
          <p:cNvSpPr/>
          <p:nvPr/>
        </p:nvSpPr>
        <p:spPr>
          <a:xfrm>
            <a:off x="6263640" y="187452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API Contracts</a:t>
            </a:r>
            <a:endParaRPr lang="en-US" sz="1200" dirty="0"/>
          </a:p>
        </p:txBody>
      </p:sp>
      <p:sp>
        <p:nvSpPr>
          <p:cNvPr id="18" name="Text 16"/>
          <p:cNvSpPr/>
          <p:nvPr/>
        </p:nvSpPr>
        <p:spPr>
          <a:xfrm>
            <a:off x="6263640" y="216712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Interface definitions, data formats, protocol decisions</a:t>
            </a:r>
            <a:endParaRPr lang="en-US" sz="950" dirty="0"/>
          </a:p>
        </p:txBody>
      </p:sp>
      <p:sp>
        <p:nvSpPr>
          <p:cNvPr id="19" name="Shape 17"/>
          <p:cNvSpPr/>
          <p:nvPr/>
        </p:nvSpPr>
        <p:spPr>
          <a:xfrm>
            <a:off x="457200" y="283464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57200" y="2834640"/>
            <a:ext cx="2606040" cy="54864"/>
          </a:xfrm>
          <a:prstGeom prst="rect">
            <a:avLst/>
          </a:prstGeom>
          <a:solidFill>
            <a:srgbClr val="0D9488"/>
          </a:solidFill>
          <a:ln/>
        </p:spPr>
      </p:sp>
      <p:sp>
        <p:nvSpPr>
          <p:cNvPr id="21" name="Text 19"/>
          <p:cNvSpPr/>
          <p:nvPr/>
        </p:nvSpPr>
        <p:spPr>
          <a:xfrm>
            <a:off x="594360" y="292608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Data Models</a:t>
            </a:r>
            <a:endParaRPr lang="en-US" sz="1200" dirty="0"/>
          </a:p>
        </p:txBody>
      </p:sp>
      <p:sp>
        <p:nvSpPr>
          <p:cNvPr id="22" name="Text 20"/>
          <p:cNvSpPr/>
          <p:nvPr/>
        </p:nvSpPr>
        <p:spPr>
          <a:xfrm>
            <a:off x="594360" y="321868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Database schemas, storage strategy, data flow patterns</a:t>
            </a:r>
            <a:endParaRPr lang="en-US" sz="950" dirty="0"/>
          </a:p>
        </p:txBody>
      </p:sp>
      <p:sp>
        <p:nvSpPr>
          <p:cNvPr id="23" name="Shape 21"/>
          <p:cNvSpPr/>
          <p:nvPr/>
        </p:nvSpPr>
        <p:spPr>
          <a:xfrm>
            <a:off x="3291840" y="283464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3291840" y="2834640"/>
            <a:ext cx="2606040" cy="54864"/>
          </a:xfrm>
          <a:prstGeom prst="rect">
            <a:avLst/>
          </a:prstGeom>
          <a:solidFill>
            <a:srgbClr val="0D9488"/>
          </a:solidFill>
          <a:ln/>
        </p:spPr>
      </p:sp>
      <p:sp>
        <p:nvSpPr>
          <p:cNvPr id="25" name="Text 23"/>
          <p:cNvSpPr/>
          <p:nvPr/>
        </p:nvSpPr>
        <p:spPr>
          <a:xfrm>
            <a:off x="3429000" y="292608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NFR Planning</a:t>
            </a:r>
            <a:endParaRPr lang="en-US" sz="1200" dirty="0"/>
          </a:p>
        </p:txBody>
      </p:sp>
      <p:sp>
        <p:nvSpPr>
          <p:cNvPr id="26" name="Text 24"/>
          <p:cNvSpPr/>
          <p:nvPr/>
        </p:nvSpPr>
        <p:spPr>
          <a:xfrm>
            <a:off x="3429000" y="321868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Performance, security, scalability, availability requirements</a:t>
            </a:r>
            <a:endParaRPr lang="en-US" sz="950" dirty="0"/>
          </a:p>
        </p:txBody>
      </p:sp>
      <p:sp>
        <p:nvSpPr>
          <p:cNvPr id="27" name="Shape 25"/>
          <p:cNvSpPr/>
          <p:nvPr/>
        </p:nvSpPr>
        <p:spPr>
          <a:xfrm>
            <a:off x="6126480" y="283464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8" name="Shape 26"/>
          <p:cNvSpPr/>
          <p:nvPr/>
        </p:nvSpPr>
        <p:spPr>
          <a:xfrm>
            <a:off x="6126480" y="2834640"/>
            <a:ext cx="2606040" cy="54864"/>
          </a:xfrm>
          <a:prstGeom prst="rect">
            <a:avLst/>
          </a:prstGeom>
          <a:solidFill>
            <a:srgbClr val="0D9488"/>
          </a:solidFill>
          <a:ln/>
        </p:spPr>
      </p:sp>
      <p:sp>
        <p:nvSpPr>
          <p:cNvPr id="29" name="Text 27"/>
          <p:cNvSpPr/>
          <p:nvPr/>
        </p:nvSpPr>
        <p:spPr>
          <a:xfrm>
            <a:off x="6263640" y="292608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Infrastructure</a:t>
            </a:r>
            <a:endParaRPr lang="en-US" sz="1200" dirty="0"/>
          </a:p>
        </p:txBody>
      </p:sp>
      <p:sp>
        <p:nvSpPr>
          <p:cNvPr id="30" name="Text 28"/>
          <p:cNvSpPr/>
          <p:nvPr/>
        </p:nvSpPr>
        <p:spPr>
          <a:xfrm>
            <a:off x="6263640" y="321868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Kubernetes setup, networking, CI/CD pipeline decisions</a:t>
            </a:r>
            <a:endParaRPr lang="en-US" sz="950" dirty="0"/>
          </a:p>
        </p:txBody>
      </p:sp>
      <p:sp>
        <p:nvSpPr>
          <p:cNvPr id="31" name="Shape 29"/>
          <p:cNvSpPr/>
          <p:nvPr/>
        </p:nvSpPr>
        <p:spPr>
          <a:xfrm>
            <a:off x="457200" y="3886200"/>
            <a:ext cx="260604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457200" y="3886200"/>
            <a:ext cx="2606040" cy="54864"/>
          </a:xfrm>
          <a:prstGeom prst="rect">
            <a:avLst/>
          </a:prstGeom>
          <a:solidFill>
            <a:srgbClr val="0D9488"/>
          </a:solidFill>
          <a:ln/>
        </p:spPr>
      </p:sp>
      <p:sp>
        <p:nvSpPr>
          <p:cNvPr id="33" name="Text 31"/>
          <p:cNvSpPr/>
          <p:nvPr/>
        </p:nvSpPr>
        <p:spPr>
          <a:xfrm>
            <a:off x="594360" y="3977640"/>
            <a:ext cx="233172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UX Design</a:t>
            </a:r>
            <a:endParaRPr lang="en-US" sz="1200" dirty="0"/>
          </a:p>
        </p:txBody>
      </p:sp>
      <p:sp>
        <p:nvSpPr>
          <p:cNvPr id="34" name="Text 32"/>
          <p:cNvSpPr/>
          <p:nvPr/>
        </p:nvSpPr>
        <p:spPr>
          <a:xfrm>
            <a:off x="594360" y="4270248"/>
            <a:ext cx="2331720" cy="41148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Optional: /create-ux-design for UI projects — UX-Designer agent creates wireframes &amp; user flows</a:t>
            </a:r>
            <a:endParaRPr lang="en-US" sz="950" dirty="0"/>
          </a:p>
        </p:txBody>
      </p:sp>
      <p:sp>
        <p:nvSpPr>
          <p:cNvPr id="35" name="Text 33"/>
          <p:cNvSpPr/>
          <p:nvPr/>
        </p:nvSpPr>
        <p:spPr>
          <a:xfrm>
            <a:off x="457200" y="4663440"/>
            <a:ext cx="8229600" cy="320040"/>
          </a:xfrm>
          <a:prstGeom prst="rect">
            <a:avLst/>
          </a:prstGeom>
          <a:noFill/>
          <a:ln/>
        </p:spPr>
        <p:txBody>
          <a:bodyPr wrap="square" rtlCol="0" anchor="ctr"/>
          <a:lstStyle/>
          <a:p>
            <a:pPr algn="ctr" indent="0" marL="0">
              <a:buNone/>
            </a:pPr>
            <a:r>
              <a:rPr lang="en-US" sz="1100" i="1" dirty="0">
                <a:solidFill>
                  <a:srgbClr val="0D9488"/>
                </a:solidFill>
                <a:latin typeface="Calibri" pitchFamily="34" charset="0"/>
                <a:ea typeface="Calibri" pitchFamily="34" charset="-122"/>
                <a:cs typeface="Calibri" pitchFamily="34" charset="-120"/>
              </a:rPr>
              <a:t>The Architecture Doc becomes the contract between planning and implementation</a:t>
            </a:r>
            <a:endParaRPr lang="en-US" sz="1100" dirty="0"/>
          </a:p>
        </p:txBody>
      </p:sp>
      <p:sp>
        <p:nvSpPr>
          <p:cNvPr id="36"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22 / 93</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Phase 3a: Epic &amp; Story Breakdown</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From architecture to actionable work items</a:t>
            </a:r>
            <a:endParaRPr lang="en-US" sz="1300" dirty="0"/>
          </a:p>
        </p:txBody>
      </p:sp>
      <p:sp>
        <p:nvSpPr>
          <p:cNvPr id="5" name="Shape 3"/>
          <p:cNvSpPr/>
          <p:nvPr/>
        </p:nvSpPr>
        <p:spPr>
          <a:xfrm>
            <a:off x="457200" y="1280160"/>
            <a:ext cx="3931920" cy="2011680"/>
          </a:xfrm>
          <a:prstGeom prst="rect">
            <a:avLst/>
          </a:prstGeom>
          <a:solidFill>
            <a:srgbClr val="1A2744"/>
          </a:solidFill>
          <a:ln/>
        </p:spPr>
      </p:sp>
      <p:sp>
        <p:nvSpPr>
          <p:cNvPr id="6" name="Text 4"/>
          <p:cNvSpPr/>
          <p:nvPr/>
        </p:nvSpPr>
        <p:spPr>
          <a:xfrm>
            <a:off x="640080" y="1371600"/>
            <a:ext cx="3657600" cy="320040"/>
          </a:xfrm>
          <a:prstGeom prst="rect">
            <a:avLst/>
          </a:prstGeom>
          <a:noFill/>
          <a:ln/>
        </p:spPr>
        <p:txBody>
          <a:bodyPr wrap="square" lIns="0" tIns="0" rIns="0" bIns="0" rtlCol="0" anchor="ctr"/>
          <a:lstStyle/>
          <a:p>
            <a:pPr indent="0" marL="0">
              <a:buNone/>
            </a:pPr>
            <a:r>
              <a:rPr lang="en-US" sz="1400" dirty="0">
                <a:solidFill>
                  <a:srgbClr val="F59E0B"/>
                </a:solidFill>
                <a:latin typeface="Consolas" pitchFamily="34" charset="0"/>
                <a:ea typeface="Consolas" pitchFamily="34" charset="-122"/>
                <a:cs typeface="Consolas" pitchFamily="34" charset="-120"/>
              </a:rPr>
              <a:t>/create-epics-and-stories</a:t>
            </a:r>
            <a:endParaRPr lang="en-US" sz="1400" dirty="0"/>
          </a:p>
        </p:txBody>
      </p:sp>
      <p:sp>
        <p:nvSpPr>
          <p:cNvPr id="7" name="Text 5"/>
          <p:cNvSpPr/>
          <p:nvPr/>
        </p:nvSpPr>
        <p:spPr>
          <a:xfrm>
            <a:off x="640080" y="1691640"/>
            <a:ext cx="2743200" cy="22860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PM Agent + Architecture</a:t>
            </a:r>
            <a:endParaRPr lang="en-US" sz="1000" dirty="0"/>
          </a:p>
        </p:txBody>
      </p:sp>
      <p:pic>
        <p:nvPicPr>
          <p:cNvPr id="8" name="Image 0" descr="preencoded.png">    </p:cNvPr>
          <p:cNvPicPr>
            <a:picLocks noChangeAspect="1"/>
          </p:cNvPicPr>
          <p:nvPr/>
        </p:nvPicPr>
        <p:blipFill>
          <a:blip r:embed="rId1"/>
          <a:stretch>
            <a:fillRect/>
          </a:stretch>
        </p:blipFill>
        <p:spPr>
          <a:xfrm>
            <a:off x="685800" y="2103120"/>
            <a:ext cx="182880" cy="182880"/>
          </a:xfrm>
          <a:prstGeom prst="rect">
            <a:avLst/>
          </a:prstGeom>
        </p:spPr>
      </p:pic>
      <p:sp>
        <p:nvSpPr>
          <p:cNvPr id="9" name="Text 6"/>
          <p:cNvSpPr/>
          <p:nvPr/>
        </p:nvSpPr>
        <p:spPr>
          <a:xfrm>
            <a:off x="960120" y="2057400"/>
            <a:ext cx="32004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PRD + Architecture → Epic breakdown</a:t>
            </a:r>
            <a:endParaRPr lang="en-US" sz="1050" dirty="0"/>
          </a:p>
        </p:txBody>
      </p:sp>
      <p:pic>
        <p:nvPicPr>
          <p:cNvPr id="10" name="Image 1" descr="preencoded.png">    </p:cNvPr>
          <p:cNvPicPr>
            <a:picLocks noChangeAspect="1"/>
          </p:cNvPicPr>
          <p:nvPr/>
        </p:nvPicPr>
        <p:blipFill>
          <a:blip r:embed="rId2"/>
          <a:stretch>
            <a:fillRect/>
          </a:stretch>
        </p:blipFill>
        <p:spPr>
          <a:xfrm>
            <a:off x="685800" y="2377440"/>
            <a:ext cx="182880" cy="182880"/>
          </a:xfrm>
          <a:prstGeom prst="rect">
            <a:avLst/>
          </a:prstGeom>
        </p:spPr>
      </p:pic>
      <p:sp>
        <p:nvSpPr>
          <p:cNvPr id="11" name="Text 7"/>
          <p:cNvSpPr/>
          <p:nvPr/>
        </p:nvSpPr>
        <p:spPr>
          <a:xfrm>
            <a:off x="960120" y="2331720"/>
            <a:ext cx="32004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Each epic → Prioritized user stories</a:t>
            </a:r>
            <a:endParaRPr lang="en-US" sz="1050" dirty="0"/>
          </a:p>
        </p:txBody>
      </p:sp>
      <p:pic>
        <p:nvPicPr>
          <p:cNvPr id="12" name="Image 2" descr="preencoded.png">    </p:cNvPr>
          <p:cNvPicPr>
            <a:picLocks noChangeAspect="1"/>
          </p:cNvPicPr>
          <p:nvPr/>
        </p:nvPicPr>
        <p:blipFill>
          <a:blip r:embed="rId3"/>
          <a:stretch>
            <a:fillRect/>
          </a:stretch>
        </p:blipFill>
        <p:spPr>
          <a:xfrm>
            <a:off x="685800" y="2651760"/>
            <a:ext cx="182880" cy="182880"/>
          </a:xfrm>
          <a:prstGeom prst="rect">
            <a:avLst/>
          </a:prstGeom>
        </p:spPr>
      </p:pic>
      <p:sp>
        <p:nvSpPr>
          <p:cNvPr id="13" name="Text 8"/>
          <p:cNvSpPr/>
          <p:nvPr/>
        </p:nvSpPr>
        <p:spPr>
          <a:xfrm>
            <a:off x="960120" y="2606040"/>
            <a:ext cx="32004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Stories include acceptance criteria</a:t>
            </a:r>
            <a:endParaRPr lang="en-US" sz="1050" dirty="0"/>
          </a:p>
        </p:txBody>
      </p:sp>
      <p:pic>
        <p:nvPicPr>
          <p:cNvPr id="14" name="Image 3" descr="preencoded.png">    </p:cNvPr>
          <p:cNvPicPr>
            <a:picLocks noChangeAspect="1"/>
          </p:cNvPicPr>
          <p:nvPr/>
        </p:nvPicPr>
        <p:blipFill>
          <a:blip r:embed="rId4"/>
          <a:stretch>
            <a:fillRect/>
          </a:stretch>
        </p:blipFill>
        <p:spPr>
          <a:xfrm>
            <a:off x="685800" y="2926080"/>
            <a:ext cx="182880" cy="182880"/>
          </a:xfrm>
          <a:prstGeom prst="rect">
            <a:avLst/>
          </a:prstGeom>
        </p:spPr>
      </p:pic>
      <p:sp>
        <p:nvSpPr>
          <p:cNvPr id="15" name="Text 9"/>
          <p:cNvSpPr/>
          <p:nvPr/>
        </p:nvSpPr>
        <p:spPr>
          <a:xfrm>
            <a:off x="960120" y="2880360"/>
            <a:ext cx="32004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Dependencies mapped between stories</a:t>
            </a:r>
            <a:endParaRPr lang="en-US" sz="1050" dirty="0"/>
          </a:p>
        </p:txBody>
      </p:sp>
      <p:sp>
        <p:nvSpPr>
          <p:cNvPr id="16" name="Shape 10"/>
          <p:cNvSpPr/>
          <p:nvPr/>
        </p:nvSpPr>
        <p:spPr>
          <a:xfrm>
            <a:off x="4754880" y="1280160"/>
            <a:ext cx="3931920" cy="2011680"/>
          </a:xfrm>
          <a:prstGeom prst="rect">
            <a:avLst/>
          </a:prstGeom>
          <a:solidFill>
            <a:srgbClr val="7F1D1D"/>
          </a:solidFill>
          <a:ln/>
        </p:spPr>
      </p:sp>
      <p:sp>
        <p:nvSpPr>
          <p:cNvPr id="17" name="Shape 11"/>
          <p:cNvSpPr/>
          <p:nvPr/>
        </p:nvSpPr>
        <p:spPr>
          <a:xfrm>
            <a:off x="4754880" y="1280160"/>
            <a:ext cx="3931920" cy="54864"/>
          </a:xfrm>
          <a:prstGeom prst="rect">
            <a:avLst/>
          </a:prstGeom>
          <a:solidFill>
            <a:srgbClr val="DC2626"/>
          </a:solidFill>
          <a:ln/>
        </p:spPr>
      </p:sp>
      <p:sp>
        <p:nvSpPr>
          <p:cNvPr id="18" name="Text 12"/>
          <p:cNvSpPr/>
          <p:nvPr/>
        </p:nvSpPr>
        <p:spPr>
          <a:xfrm>
            <a:off x="4937760" y="1371600"/>
            <a:ext cx="3657600" cy="320040"/>
          </a:xfrm>
          <a:prstGeom prst="rect">
            <a:avLst/>
          </a:prstGeom>
          <a:noFill/>
          <a:ln/>
        </p:spPr>
        <p:txBody>
          <a:bodyPr wrap="square" lIns="0" tIns="0" rIns="0" bIns="0" rtlCol="0" anchor="ctr"/>
          <a:lstStyle/>
          <a:p>
            <a:pPr indent="0" marL="0">
              <a:buNone/>
            </a:pPr>
            <a:r>
              <a:rPr lang="en-US" sz="1300" b="1" dirty="0">
                <a:solidFill>
                  <a:srgbClr val="FCA5A5"/>
                </a:solidFill>
                <a:latin typeface="Calibri" pitchFamily="34" charset="0"/>
                <a:ea typeface="Calibri" pitchFamily="34" charset="-122"/>
                <a:cs typeface="Calibri" pitchFamily="34" charset="-120"/>
              </a:rPr>
              <a:t>⚠  Why Sharding is Critical</a:t>
            </a:r>
            <a:endParaRPr lang="en-US" sz="1300" dirty="0"/>
          </a:p>
        </p:txBody>
      </p:sp>
      <p:sp>
        <p:nvSpPr>
          <p:cNvPr id="19" name="Text 13"/>
          <p:cNvSpPr/>
          <p:nvPr/>
        </p:nvSpPr>
        <p:spPr>
          <a:xfrm>
            <a:off x="4937760" y="1783080"/>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AI agents have limited context windows</a:t>
            </a:r>
            <a:endParaRPr lang="en-US" sz="1000" dirty="0"/>
          </a:p>
        </p:txBody>
      </p:sp>
      <p:sp>
        <p:nvSpPr>
          <p:cNvPr id="20" name="Text 14"/>
          <p:cNvSpPr/>
          <p:nvPr/>
        </p:nvSpPr>
        <p:spPr>
          <a:xfrm>
            <a:off x="4937760" y="2029968"/>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One huge file = agent loses track</a:t>
            </a:r>
            <a:endParaRPr lang="en-US" sz="1000" dirty="0"/>
          </a:p>
        </p:txBody>
      </p:sp>
      <p:sp>
        <p:nvSpPr>
          <p:cNvPr id="21" name="Text 15"/>
          <p:cNvSpPr/>
          <p:nvPr/>
        </p:nvSpPr>
        <p:spPr>
          <a:xfrm>
            <a:off x="4937760" y="2276856"/>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Separate files per epic and per story</a:t>
            </a:r>
            <a:endParaRPr lang="en-US" sz="1000" dirty="0"/>
          </a:p>
        </p:txBody>
      </p:sp>
      <p:sp>
        <p:nvSpPr>
          <p:cNvPr id="22" name="Text 16"/>
          <p:cNvSpPr/>
          <p:nvPr/>
        </p:nvSpPr>
        <p:spPr>
          <a:xfrm>
            <a:off x="4937760" y="2523744"/>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Agent loads only what it needs</a:t>
            </a:r>
            <a:endParaRPr lang="en-US" sz="1000" dirty="0"/>
          </a:p>
        </p:txBody>
      </p:sp>
      <p:sp>
        <p:nvSpPr>
          <p:cNvPr id="23" name="Text 17"/>
          <p:cNvSpPr/>
          <p:nvPr/>
        </p:nvSpPr>
        <p:spPr>
          <a:xfrm>
            <a:off x="4937760" y="2770632"/>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Enables parallel work by multiple devs</a:t>
            </a:r>
            <a:endParaRPr lang="en-US" sz="1000" dirty="0"/>
          </a:p>
        </p:txBody>
      </p:sp>
      <p:sp>
        <p:nvSpPr>
          <p:cNvPr id="24" name="Text 18"/>
          <p:cNvSpPr/>
          <p:nvPr/>
        </p:nvSpPr>
        <p:spPr>
          <a:xfrm>
            <a:off x="4937760" y="3017520"/>
            <a:ext cx="3566160" cy="246888"/>
          </a:xfrm>
          <a:prstGeom prst="rect">
            <a:avLst/>
          </a:prstGeom>
          <a:noFill/>
          <a:ln/>
        </p:spPr>
        <p:txBody>
          <a:bodyPr wrap="square" lIns="0" tIns="0" rIns="0" bIns="0" rtlCol="0" anchor="ctr"/>
          <a:lstStyle/>
          <a:p>
            <a:pPr indent="0" marL="0">
              <a:buNone/>
            </a:pPr>
            <a:r>
              <a:rPr lang="en-US" sz="1000" dirty="0">
                <a:solidFill>
                  <a:srgbClr val="FECACA"/>
                </a:solidFill>
                <a:latin typeface="Calibri" pitchFamily="34" charset="0"/>
                <a:ea typeface="Calibri" pitchFamily="34" charset="-122"/>
                <a:cs typeface="Calibri" pitchFamily="34" charset="-120"/>
              </a:rPr>
              <a:t>•  Each story file is self-contained</a:t>
            </a:r>
            <a:endParaRPr lang="en-US" sz="1000" dirty="0"/>
          </a:p>
        </p:txBody>
      </p:sp>
      <p:sp>
        <p:nvSpPr>
          <p:cNvPr id="25" name="Shape 19"/>
          <p:cNvSpPr/>
          <p:nvPr/>
        </p:nvSpPr>
        <p:spPr>
          <a:xfrm>
            <a:off x="457200" y="3520440"/>
            <a:ext cx="8229600" cy="1371600"/>
          </a:xfrm>
          <a:prstGeom prst="rect">
            <a:avLst/>
          </a:prstGeom>
          <a:solidFill>
            <a:srgbClr val="1E293B"/>
          </a:solidFill>
          <a:ln/>
        </p:spPr>
      </p:sp>
      <p:sp>
        <p:nvSpPr>
          <p:cNvPr id="26" name="Text 20"/>
          <p:cNvSpPr/>
          <p:nvPr/>
        </p:nvSpPr>
        <p:spPr>
          <a:xfrm>
            <a:off x="640080" y="3566160"/>
            <a:ext cx="7315200"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Sharded File Structure:</a:t>
            </a:r>
            <a:endParaRPr lang="en-US" sz="1100" dirty="0"/>
          </a:p>
        </p:txBody>
      </p:sp>
      <p:sp>
        <p:nvSpPr>
          <p:cNvPr id="27" name="Text 21"/>
          <p:cNvSpPr/>
          <p:nvPr/>
        </p:nvSpPr>
        <p:spPr>
          <a:xfrm>
            <a:off x="640080" y="3858768"/>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_bmad-output/</a:t>
            </a:r>
            <a:endParaRPr lang="en-US" sz="800" dirty="0"/>
          </a:p>
        </p:txBody>
      </p:sp>
      <p:sp>
        <p:nvSpPr>
          <p:cNvPr id="28" name="Text 22"/>
          <p:cNvSpPr/>
          <p:nvPr/>
        </p:nvSpPr>
        <p:spPr>
          <a:xfrm>
            <a:off x="640080" y="3986784"/>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epics/</a:t>
            </a:r>
            <a:endParaRPr lang="en-US" sz="800" dirty="0"/>
          </a:p>
        </p:txBody>
      </p:sp>
      <p:sp>
        <p:nvSpPr>
          <p:cNvPr id="29" name="Text 23"/>
          <p:cNvSpPr/>
          <p:nvPr/>
        </p:nvSpPr>
        <p:spPr>
          <a:xfrm>
            <a:off x="640080" y="4114800"/>
            <a:ext cx="7772400" cy="128016"/>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  │   ├─ epic-001-user-management.md      ← One file per epic</a:t>
            </a:r>
            <a:endParaRPr lang="en-US" sz="800" dirty="0"/>
          </a:p>
        </p:txBody>
      </p:sp>
      <p:sp>
        <p:nvSpPr>
          <p:cNvPr id="30" name="Text 24"/>
          <p:cNvSpPr/>
          <p:nvPr/>
        </p:nvSpPr>
        <p:spPr>
          <a:xfrm>
            <a:off x="640080" y="4242816"/>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 epic-002-api-layer.md</a:t>
            </a:r>
            <a:endParaRPr lang="en-US" sz="800" dirty="0"/>
          </a:p>
        </p:txBody>
      </p:sp>
      <p:sp>
        <p:nvSpPr>
          <p:cNvPr id="31" name="Text 25"/>
          <p:cNvSpPr/>
          <p:nvPr/>
        </p:nvSpPr>
        <p:spPr>
          <a:xfrm>
            <a:off x="640080" y="4370832"/>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stories/</a:t>
            </a:r>
            <a:endParaRPr lang="en-US" sz="800" dirty="0"/>
          </a:p>
        </p:txBody>
      </p:sp>
      <p:sp>
        <p:nvSpPr>
          <p:cNvPr id="32" name="Text 26"/>
          <p:cNvSpPr/>
          <p:nvPr/>
        </p:nvSpPr>
        <p:spPr>
          <a:xfrm>
            <a:off x="640080" y="4498848"/>
            <a:ext cx="7772400" cy="128016"/>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      ├─ story-001-auth-api.md              ← One file per story</a:t>
            </a:r>
            <a:endParaRPr lang="en-US" sz="800" dirty="0"/>
          </a:p>
        </p:txBody>
      </p:sp>
      <p:sp>
        <p:nvSpPr>
          <p:cNvPr id="33" name="Text 27"/>
          <p:cNvSpPr/>
          <p:nvPr/>
        </p:nvSpPr>
        <p:spPr>
          <a:xfrm>
            <a:off x="640080" y="4626864"/>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story-002-db-schema.md</a:t>
            </a:r>
            <a:endParaRPr lang="en-US" sz="800" dirty="0"/>
          </a:p>
        </p:txBody>
      </p:sp>
      <p:sp>
        <p:nvSpPr>
          <p:cNvPr id="34" name="Text 28"/>
          <p:cNvSpPr/>
          <p:nvPr/>
        </p:nvSpPr>
        <p:spPr>
          <a:xfrm>
            <a:off x="640080" y="4754880"/>
            <a:ext cx="7772400" cy="128016"/>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 story-003-user-profile.md</a:t>
            </a:r>
            <a:endParaRPr lang="en-US" sz="800" dirty="0"/>
          </a:p>
        </p:txBody>
      </p:sp>
      <p:sp>
        <p:nvSpPr>
          <p:cNvPr id="35" name="Text 29"/>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23 / 93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Phase 3b: Sprint Planning</a:t>
            </a:r>
            <a:endParaRPr lang="en-US" sz="2600" dirty="0"/>
          </a:p>
        </p:txBody>
      </p:sp>
      <p:sp>
        <p:nvSpPr>
          <p:cNvPr id="5" name="Shape 3"/>
          <p:cNvSpPr/>
          <p:nvPr/>
        </p:nvSpPr>
        <p:spPr>
          <a:xfrm>
            <a:off x="457200" y="1097280"/>
            <a:ext cx="8229600" cy="457200"/>
          </a:xfrm>
          <a:prstGeom prst="rect">
            <a:avLst/>
          </a:prstGeom>
          <a:solidFill>
            <a:srgbClr val="0F1B2D"/>
          </a:solidFill>
          <a:ln/>
        </p:spPr>
      </p:sp>
      <p:sp>
        <p:nvSpPr>
          <p:cNvPr id="6" name="Text 4"/>
          <p:cNvSpPr/>
          <p:nvPr/>
        </p:nvSpPr>
        <p:spPr>
          <a:xfrm>
            <a:off x="640080" y="1097280"/>
            <a:ext cx="7863840" cy="457200"/>
          </a:xfrm>
          <a:prstGeom prst="rect">
            <a:avLst/>
          </a:prstGeom>
          <a:noFill/>
          <a:ln/>
        </p:spPr>
        <p:txBody>
          <a:bodyPr wrap="square" lIns="0" tIns="0" rIns="0" bIns="0" rtlCol="0" anchor="ctr"/>
          <a:lstStyle/>
          <a:p>
            <a:pPr indent="0" marL="0">
              <a:buNone/>
            </a:pPr>
            <a:r>
              <a:rPr lang="en-US" sz="1400" dirty="0">
                <a:solidFill>
                  <a:srgbClr val="F59E0B"/>
                </a:solidFill>
                <a:latin typeface="Consolas" pitchFamily="34" charset="0"/>
                <a:ea typeface="Consolas" pitchFamily="34" charset="-122"/>
                <a:cs typeface="Consolas" pitchFamily="34" charset="-120"/>
              </a:rPr>
              <a:t>/sprint-planning    —    Scrum Master Agent</a:t>
            </a:r>
            <a:endParaRPr lang="en-US" sz="1400" dirty="0"/>
          </a:p>
        </p:txBody>
      </p:sp>
      <p:sp>
        <p:nvSpPr>
          <p:cNvPr id="7" name="Shape 5"/>
          <p:cNvSpPr/>
          <p:nvPr/>
        </p:nvSpPr>
        <p:spPr>
          <a:xfrm>
            <a:off x="457200" y="1783080"/>
            <a:ext cx="393192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783080"/>
            <a:ext cx="54864" cy="2286000"/>
          </a:xfrm>
          <a:prstGeom prst="rect">
            <a:avLst/>
          </a:prstGeom>
          <a:solidFill>
            <a:srgbClr val="0D9488"/>
          </a:solidFill>
          <a:ln/>
        </p:spPr>
      </p:sp>
      <p:sp>
        <p:nvSpPr>
          <p:cNvPr id="9" name="Text 7"/>
          <p:cNvSpPr/>
          <p:nvPr/>
        </p:nvSpPr>
        <p:spPr>
          <a:xfrm>
            <a:off x="685800" y="1828800"/>
            <a:ext cx="34747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What Sprint Planning Does</a:t>
            </a:r>
            <a:endParaRPr lang="en-US" sz="1300" dirty="0"/>
          </a:p>
        </p:txBody>
      </p:sp>
      <p:sp>
        <p:nvSpPr>
          <p:cNvPr id="10" name="Text 8"/>
          <p:cNvSpPr/>
          <p:nvPr/>
        </p:nvSpPr>
        <p:spPr>
          <a:xfrm>
            <a:off x="685800" y="2194560"/>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Creates sprint-status.yaml tracking file</a:t>
            </a:r>
            <a:endParaRPr lang="en-US" sz="1050" dirty="0"/>
          </a:p>
        </p:txBody>
      </p:sp>
      <p:sp>
        <p:nvSpPr>
          <p:cNvPr id="11" name="Text 9"/>
          <p:cNvSpPr/>
          <p:nvPr/>
        </p:nvSpPr>
        <p:spPr>
          <a:xfrm>
            <a:off x="685800" y="2487168"/>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Story selection based on priority &amp; dependencies</a:t>
            </a:r>
            <a:endParaRPr lang="en-US" sz="1050" dirty="0"/>
          </a:p>
        </p:txBody>
      </p:sp>
      <p:sp>
        <p:nvSpPr>
          <p:cNvPr id="12" name="Text 10"/>
          <p:cNvSpPr/>
          <p:nvPr/>
        </p:nvSpPr>
        <p:spPr>
          <a:xfrm>
            <a:off x="685800" y="2779776"/>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Effort estimation per story</a:t>
            </a:r>
            <a:endParaRPr lang="en-US" sz="1050" dirty="0"/>
          </a:p>
        </p:txBody>
      </p:sp>
      <p:sp>
        <p:nvSpPr>
          <p:cNvPr id="13" name="Text 11"/>
          <p:cNvSpPr/>
          <p:nvPr/>
        </p:nvSpPr>
        <p:spPr>
          <a:xfrm>
            <a:off x="685800" y="3072384"/>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Sprint scope and goals defined</a:t>
            </a:r>
            <a:endParaRPr lang="en-US" sz="1050" dirty="0"/>
          </a:p>
        </p:txBody>
      </p:sp>
      <p:sp>
        <p:nvSpPr>
          <p:cNvPr id="14" name="Text 12"/>
          <p:cNvSpPr/>
          <p:nvPr/>
        </p:nvSpPr>
        <p:spPr>
          <a:xfrm>
            <a:off x="685800" y="3364992"/>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Assigns stories to developers</a:t>
            </a:r>
            <a:endParaRPr lang="en-US" sz="1050" dirty="0"/>
          </a:p>
        </p:txBody>
      </p:sp>
      <p:sp>
        <p:nvSpPr>
          <p:cNvPr id="15" name="Text 13"/>
          <p:cNvSpPr/>
          <p:nvPr/>
        </p:nvSpPr>
        <p:spPr>
          <a:xfrm>
            <a:off x="685800" y="3657600"/>
            <a:ext cx="347472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Tracks progress across the sprint</a:t>
            </a:r>
            <a:endParaRPr lang="en-US" sz="1050" dirty="0"/>
          </a:p>
        </p:txBody>
      </p:sp>
      <p:sp>
        <p:nvSpPr>
          <p:cNvPr id="16" name="Shape 14"/>
          <p:cNvSpPr/>
          <p:nvPr/>
        </p:nvSpPr>
        <p:spPr>
          <a:xfrm>
            <a:off x="4754880" y="1783080"/>
            <a:ext cx="3931920" cy="2286000"/>
          </a:xfrm>
          <a:prstGeom prst="rect">
            <a:avLst/>
          </a:prstGeom>
          <a:solidFill>
            <a:srgbClr val="1E293B"/>
          </a:solidFill>
          <a:ln/>
        </p:spPr>
      </p:sp>
      <p:sp>
        <p:nvSpPr>
          <p:cNvPr id="17" name="Text 15"/>
          <p:cNvSpPr/>
          <p:nvPr/>
        </p:nvSpPr>
        <p:spPr>
          <a:xfrm>
            <a:off x="4937760" y="1828800"/>
            <a:ext cx="3657600" cy="274320"/>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sprint-status.yaml</a:t>
            </a:r>
            <a:endParaRPr lang="en-US" sz="1200" dirty="0"/>
          </a:p>
        </p:txBody>
      </p:sp>
      <p:sp>
        <p:nvSpPr>
          <p:cNvPr id="18" name="Text 16"/>
          <p:cNvSpPr/>
          <p:nvPr/>
        </p:nvSpPr>
        <p:spPr>
          <a:xfrm>
            <a:off x="4937760" y="2194560"/>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sprint: 1</a:t>
            </a:r>
            <a:endParaRPr lang="en-US" sz="850" dirty="0"/>
          </a:p>
        </p:txBody>
      </p:sp>
      <p:sp>
        <p:nvSpPr>
          <p:cNvPr id="19" name="Text 17"/>
          <p:cNvSpPr/>
          <p:nvPr/>
        </p:nvSpPr>
        <p:spPr>
          <a:xfrm>
            <a:off x="4937760" y="2359152"/>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goal: "Core authentication system"</a:t>
            </a:r>
            <a:endParaRPr lang="en-US" sz="850" dirty="0"/>
          </a:p>
        </p:txBody>
      </p:sp>
      <p:sp>
        <p:nvSpPr>
          <p:cNvPr id="20" name="Text 18"/>
          <p:cNvSpPr/>
          <p:nvPr/>
        </p:nvSpPr>
        <p:spPr>
          <a:xfrm>
            <a:off x="4937760" y="2523744"/>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stories:</a:t>
            </a:r>
            <a:endParaRPr lang="en-US" sz="850" dirty="0"/>
          </a:p>
        </p:txBody>
      </p:sp>
      <p:sp>
        <p:nvSpPr>
          <p:cNvPr id="21" name="Text 19"/>
          <p:cNvSpPr/>
          <p:nvPr/>
        </p:nvSpPr>
        <p:spPr>
          <a:xfrm>
            <a:off x="4937760" y="2688336"/>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id: story-001</a:t>
            </a:r>
            <a:endParaRPr lang="en-US" sz="850" dirty="0"/>
          </a:p>
        </p:txBody>
      </p:sp>
      <p:sp>
        <p:nvSpPr>
          <p:cNvPr id="22" name="Text 20"/>
          <p:cNvSpPr/>
          <p:nvPr/>
        </p:nvSpPr>
        <p:spPr>
          <a:xfrm>
            <a:off x="4937760" y="2852928"/>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title: Auth API</a:t>
            </a:r>
            <a:endParaRPr lang="en-US" sz="850" dirty="0"/>
          </a:p>
        </p:txBody>
      </p:sp>
      <p:sp>
        <p:nvSpPr>
          <p:cNvPr id="23" name="Text 21"/>
          <p:cNvSpPr/>
          <p:nvPr/>
        </p:nvSpPr>
        <p:spPr>
          <a:xfrm>
            <a:off x="4937760" y="3017520"/>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status: in-progress</a:t>
            </a:r>
            <a:endParaRPr lang="en-US" sz="850" dirty="0"/>
          </a:p>
        </p:txBody>
      </p:sp>
      <p:sp>
        <p:nvSpPr>
          <p:cNvPr id="24" name="Text 22"/>
          <p:cNvSpPr/>
          <p:nvPr/>
        </p:nvSpPr>
        <p:spPr>
          <a:xfrm>
            <a:off x="4937760" y="3182112"/>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assignee: dev-a</a:t>
            </a:r>
            <a:endParaRPr lang="en-US" sz="850" dirty="0"/>
          </a:p>
        </p:txBody>
      </p:sp>
      <p:sp>
        <p:nvSpPr>
          <p:cNvPr id="25" name="Text 23"/>
          <p:cNvSpPr/>
          <p:nvPr/>
        </p:nvSpPr>
        <p:spPr>
          <a:xfrm>
            <a:off x="4937760" y="3346704"/>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id: story-002</a:t>
            </a:r>
            <a:endParaRPr lang="en-US" sz="850" dirty="0"/>
          </a:p>
        </p:txBody>
      </p:sp>
      <p:sp>
        <p:nvSpPr>
          <p:cNvPr id="26" name="Text 24"/>
          <p:cNvSpPr/>
          <p:nvPr/>
        </p:nvSpPr>
        <p:spPr>
          <a:xfrm>
            <a:off x="4937760" y="3511296"/>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title: DB Schema</a:t>
            </a:r>
            <a:endParaRPr lang="en-US" sz="850" dirty="0"/>
          </a:p>
        </p:txBody>
      </p:sp>
      <p:sp>
        <p:nvSpPr>
          <p:cNvPr id="27" name="Text 25"/>
          <p:cNvSpPr/>
          <p:nvPr/>
        </p:nvSpPr>
        <p:spPr>
          <a:xfrm>
            <a:off x="4937760" y="3675888"/>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status: ready</a:t>
            </a:r>
            <a:endParaRPr lang="en-US" sz="850" dirty="0"/>
          </a:p>
        </p:txBody>
      </p:sp>
      <p:sp>
        <p:nvSpPr>
          <p:cNvPr id="28" name="Text 26"/>
          <p:cNvSpPr/>
          <p:nvPr/>
        </p:nvSpPr>
        <p:spPr>
          <a:xfrm>
            <a:off x="4937760" y="3840480"/>
            <a:ext cx="3566160" cy="164592"/>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assignee: dev-b</a:t>
            </a:r>
            <a:endParaRPr lang="en-US" sz="850" dirty="0"/>
          </a:p>
        </p:txBody>
      </p:sp>
      <p:sp>
        <p:nvSpPr>
          <p:cNvPr id="29" name="Shape 27"/>
          <p:cNvSpPr/>
          <p:nvPr/>
        </p:nvSpPr>
        <p:spPr>
          <a:xfrm>
            <a:off x="457200" y="4251960"/>
            <a:ext cx="8229600" cy="594360"/>
          </a:xfrm>
          <a:prstGeom prst="rect">
            <a:avLst/>
          </a:prstGeom>
          <a:solidFill>
            <a:srgbClr val="0F1B2D"/>
          </a:solidFill>
          <a:ln/>
        </p:spPr>
      </p:sp>
      <p:sp>
        <p:nvSpPr>
          <p:cNvPr id="30" name="Text 28"/>
          <p:cNvSpPr/>
          <p:nvPr/>
        </p:nvSpPr>
        <p:spPr>
          <a:xfrm>
            <a:off x="640080" y="4297680"/>
            <a:ext cx="7863840" cy="256032"/>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  Recommended: Run /check-implementation-readiness (Architect Agent) before starting development</a:t>
            </a:r>
            <a:endParaRPr lang="en-US" sz="1100" dirty="0"/>
          </a:p>
        </p:txBody>
      </p:sp>
      <p:sp>
        <p:nvSpPr>
          <p:cNvPr id="31" name="Text 29"/>
          <p:cNvSpPr/>
          <p:nvPr/>
        </p:nvSpPr>
        <p:spPr>
          <a:xfrm>
            <a:off x="640080" y="4572000"/>
            <a:ext cx="786384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Validates that architecture, stories, and tech stack are aligned and ready for implementation</a:t>
            </a:r>
            <a:endParaRPr lang="en-US" sz="1000" dirty="0"/>
          </a:p>
        </p:txBody>
      </p:sp>
      <p:sp>
        <p:nvSpPr>
          <p:cNvPr id="32" name="Text 3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24 / 93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Definition of Ready (DOR)</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A story must meet these conditions before it enters a sprint</a:t>
            </a:r>
            <a:endParaRPr lang="en-US" sz="1300" dirty="0"/>
          </a:p>
        </p:txBody>
      </p:sp>
      <p:sp>
        <p:nvSpPr>
          <p:cNvPr id="5" name="Shape 3"/>
          <p:cNvSpPr/>
          <p:nvPr/>
        </p:nvSpPr>
        <p:spPr>
          <a:xfrm>
            <a:off x="457200" y="1234440"/>
            <a:ext cx="393192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54864" cy="1188720"/>
          </a:xfrm>
          <a:prstGeom prst="rect">
            <a:avLst/>
          </a:prstGeom>
          <a:solidFill>
            <a:srgbClr val="10B981"/>
          </a:solidFill>
          <a:ln/>
        </p:spPr>
      </p:sp>
      <p:sp>
        <p:nvSpPr>
          <p:cNvPr id="7" name="Text 5"/>
          <p:cNvSpPr/>
          <p:nvPr/>
        </p:nvSpPr>
        <p:spPr>
          <a:xfrm>
            <a:off x="685800" y="1280160"/>
            <a:ext cx="34747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DOR?</a:t>
            </a:r>
            <a:endParaRPr lang="en-US" sz="1400" dirty="0"/>
          </a:p>
        </p:txBody>
      </p:sp>
      <p:sp>
        <p:nvSpPr>
          <p:cNvPr id="8" name="Text 6"/>
          <p:cNvSpPr/>
          <p:nvPr/>
        </p:nvSpPr>
        <p:spPr>
          <a:xfrm>
            <a:off x="685800" y="1554480"/>
            <a:ext cx="3474720" cy="7772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Conditions a story must fulfill before it can be added to a Sprint Backlog and development can begin.</a:t>
            </a:r>
            <a:endParaRPr lang="en-US" sz="1000" dirty="0"/>
          </a:p>
          <a:p>
            <a:pPr indent="0" marL="0">
              <a:buNone/>
            </a:pP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Purpose: prevent starting work on stories with missing information, unclear scope, or unresolved dependencies.</a:t>
            </a:r>
            <a:endParaRPr lang="en-US" sz="1000" dirty="0"/>
          </a:p>
        </p:txBody>
      </p:sp>
      <p:sp>
        <p:nvSpPr>
          <p:cNvPr id="9" name="Shape 7"/>
          <p:cNvSpPr/>
          <p:nvPr/>
        </p:nvSpPr>
        <p:spPr>
          <a:xfrm>
            <a:off x="4754880" y="1234440"/>
            <a:ext cx="393192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0" name="Shape 8"/>
          <p:cNvSpPr/>
          <p:nvPr/>
        </p:nvSpPr>
        <p:spPr>
          <a:xfrm>
            <a:off x="4754880" y="1234440"/>
            <a:ext cx="54864" cy="1188720"/>
          </a:xfrm>
          <a:prstGeom prst="rect">
            <a:avLst/>
          </a:prstGeom>
          <a:solidFill>
            <a:srgbClr val="EF4444"/>
          </a:solidFill>
          <a:ln/>
        </p:spPr>
      </p:sp>
      <p:sp>
        <p:nvSpPr>
          <p:cNvPr id="11" name="Text 9"/>
          <p:cNvSpPr/>
          <p:nvPr/>
        </p:nvSpPr>
        <p:spPr>
          <a:xfrm>
            <a:off x="4983480" y="1280160"/>
            <a:ext cx="34747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12" name="Text 10"/>
          <p:cNvSpPr/>
          <p:nvPr/>
        </p:nvSpPr>
        <p:spPr>
          <a:xfrm>
            <a:off x="4983480" y="1554480"/>
            <a:ext cx="3474720" cy="7772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Without DOR, developers start coding with incomplete information. This leads to mid-sprint scope changes, blocked work, rework, and missed deadlines.</a:t>
            </a:r>
            <a:endParaRPr lang="en-US" sz="1000" dirty="0"/>
          </a:p>
          <a:p>
            <a:pPr indent="0" marL="0">
              <a:buNone/>
            </a:pP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DOR is a gate — nothing enters the sprint without passing it.</a:t>
            </a:r>
            <a:endParaRPr lang="en-US" sz="1000" dirty="0"/>
          </a:p>
        </p:txBody>
      </p:sp>
      <p:sp>
        <p:nvSpPr>
          <p:cNvPr id="13" name="Shape 11"/>
          <p:cNvSpPr/>
          <p:nvPr/>
        </p:nvSpPr>
        <p:spPr>
          <a:xfrm>
            <a:off x="457200" y="2606040"/>
            <a:ext cx="8229600" cy="2286000"/>
          </a:xfrm>
          <a:prstGeom prst="rect">
            <a:avLst/>
          </a:prstGeom>
          <a:solidFill>
            <a:srgbClr val="1E293B"/>
          </a:solidFill>
          <a:ln/>
        </p:spPr>
      </p:sp>
      <p:sp>
        <p:nvSpPr>
          <p:cNvPr id="14" name="Text 12"/>
          <p:cNvSpPr/>
          <p:nvPr/>
        </p:nvSpPr>
        <p:spPr>
          <a:xfrm>
            <a:off x="640080" y="2651760"/>
            <a:ext cx="731520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DOR Checklist — Story is Ready When:</a:t>
            </a:r>
            <a:endParaRPr lang="en-US" sz="1200" dirty="0"/>
          </a:p>
        </p:txBody>
      </p:sp>
      <p:sp>
        <p:nvSpPr>
          <p:cNvPr id="15" name="Text 13"/>
          <p:cNvSpPr/>
          <p:nvPr/>
        </p:nvSpPr>
        <p:spPr>
          <a:xfrm>
            <a:off x="640080" y="3017520"/>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Clear description of what to implement</a:t>
            </a:r>
            <a:endParaRPr lang="en-US" sz="1000" dirty="0"/>
          </a:p>
        </p:txBody>
      </p:sp>
      <p:sp>
        <p:nvSpPr>
          <p:cNvPr id="16" name="Text 14"/>
          <p:cNvSpPr/>
          <p:nvPr/>
        </p:nvSpPr>
        <p:spPr>
          <a:xfrm>
            <a:off x="4572000" y="3017520"/>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Acceptance Criteria defined and testable</a:t>
            </a:r>
            <a:endParaRPr lang="en-US" sz="1000" dirty="0"/>
          </a:p>
        </p:txBody>
      </p:sp>
      <p:sp>
        <p:nvSpPr>
          <p:cNvPr id="17" name="Text 15"/>
          <p:cNvSpPr/>
          <p:nvPr/>
        </p:nvSpPr>
        <p:spPr>
          <a:xfrm>
            <a:off x="640080" y="3355848"/>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Design / wireframes available (if UI)</a:t>
            </a:r>
            <a:endParaRPr lang="en-US" sz="1000" dirty="0"/>
          </a:p>
        </p:txBody>
      </p:sp>
      <p:sp>
        <p:nvSpPr>
          <p:cNvPr id="18" name="Text 16"/>
          <p:cNvSpPr/>
          <p:nvPr/>
        </p:nvSpPr>
        <p:spPr>
          <a:xfrm>
            <a:off x="4572000" y="3355848"/>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Dependencies identified and resolved</a:t>
            </a:r>
            <a:endParaRPr lang="en-US" sz="1000" dirty="0"/>
          </a:p>
        </p:txBody>
      </p:sp>
      <p:sp>
        <p:nvSpPr>
          <p:cNvPr id="19" name="Text 17"/>
          <p:cNvSpPr/>
          <p:nvPr/>
        </p:nvSpPr>
        <p:spPr>
          <a:xfrm>
            <a:off x="640080" y="3694176"/>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Architecture decisions documented</a:t>
            </a:r>
            <a:endParaRPr lang="en-US" sz="1000" dirty="0"/>
          </a:p>
        </p:txBody>
      </p:sp>
      <p:sp>
        <p:nvSpPr>
          <p:cNvPr id="20" name="Text 18"/>
          <p:cNvSpPr/>
          <p:nvPr/>
        </p:nvSpPr>
        <p:spPr>
          <a:xfrm>
            <a:off x="4572000" y="3694176"/>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Story is small enough for one sprint</a:t>
            </a:r>
            <a:endParaRPr lang="en-US" sz="1000" dirty="0"/>
          </a:p>
        </p:txBody>
      </p:sp>
      <p:sp>
        <p:nvSpPr>
          <p:cNvPr id="21" name="Text 19"/>
          <p:cNvSpPr/>
          <p:nvPr/>
        </p:nvSpPr>
        <p:spPr>
          <a:xfrm>
            <a:off x="640080" y="4032504"/>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Technical approach agreed upon</a:t>
            </a:r>
            <a:endParaRPr lang="en-US" sz="1000" dirty="0"/>
          </a:p>
        </p:txBody>
      </p:sp>
      <p:sp>
        <p:nvSpPr>
          <p:cNvPr id="22" name="Text 20"/>
          <p:cNvSpPr/>
          <p:nvPr/>
        </p:nvSpPr>
        <p:spPr>
          <a:xfrm>
            <a:off x="4572000" y="4032504"/>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Test scenarios defined or derivable from AC</a:t>
            </a:r>
            <a:endParaRPr lang="en-US" sz="1000" dirty="0"/>
          </a:p>
        </p:txBody>
      </p:sp>
      <p:sp>
        <p:nvSpPr>
          <p:cNvPr id="23" name="Text 21"/>
          <p:cNvSpPr/>
          <p:nvPr/>
        </p:nvSpPr>
        <p:spPr>
          <a:xfrm>
            <a:off x="640080" y="4370832"/>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Assigned to a release version</a:t>
            </a:r>
            <a:endParaRPr lang="en-US" sz="1000" dirty="0"/>
          </a:p>
        </p:txBody>
      </p:sp>
      <p:sp>
        <p:nvSpPr>
          <p:cNvPr id="24" name="Text 22"/>
          <p:cNvSpPr/>
          <p:nvPr/>
        </p:nvSpPr>
        <p:spPr>
          <a:xfrm>
            <a:off x="4572000" y="4370832"/>
            <a:ext cx="3749040" cy="29260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No blockers or open questions remain</a:t>
            </a:r>
            <a:endParaRPr lang="en-US" sz="1000" dirty="0"/>
          </a:p>
        </p:txBody>
      </p:sp>
      <p:sp>
        <p:nvSpPr>
          <p:cNvPr id="25" name="Text 23"/>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A story that doesn’t meet DOR goes back to Backlog Grooming — it does not enter the sprint</a:t>
            </a:r>
            <a:endParaRPr lang="en-US" sz="1000" dirty="0"/>
          </a:p>
        </p:txBody>
      </p:sp>
      <p:sp>
        <p:nvSpPr>
          <p:cNvPr id="26" name="Text 2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25 / 93</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Definition of Done (DOD)</a:t>
            </a:r>
            <a:endParaRPr lang="en-US" sz="2600" dirty="0"/>
          </a:p>
        </p:txBody>
      </p:sp>
      <p:sp>
        <p:nvSpPr>
          <p:cNvPr id="5" name="Shape 3"/>
          <p:cNvSpPr/>
          <p:nvPr/>
        </p:nvSpPr>
        <p:spPr>
          <a:xfrm>
            <a:off x="457200" y="100584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05840"/>
            <a:ext cx="54864" cy="640080"/>
          </a:xfrm>
          <a:prstGeom prst="rect">
            <a:avLst/>
          </a:prstGeom>
          <a:solidFill>
            <a:srgbClr val="EF4444"/>
          </a:solidFill>
          <a:ln/>
        </p:spPr>
      </p:sp>
      <p:sp>
        <p:nvSpPr>
          <p:cNvPr id="7" name="Text 5"/>
          <p:cNvSpPr/>
          <p:nvPr/>
        </p:nvSpPr>
        <p:spPr>
          <a:xfrm>
            <a:off x="685800" y="1051560"/>
            <a:ext cx="777240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DOD defines the conditions that must be met for a story or epic to be considered complete. It’s a shared agreement across the team — not per-story, but organization-wide. Without DOD, “done” means different things to different people.</a:t>
            </a:r>
            <a:endParaRPr lang="en-US" sz="1100" dirty="0"/>
          </a:p>
        </p:txBody>
      </p:sp>
      <p:sp>
        <p:nvSpPr>
          <p:cNvPr id="8" name="Shape 6"/>
          <p:cNvSpPr/>
          <p:nvPr/>
        </p:nvSpPr>
        <p:spPr>
          <a:xfrm>
            <a:off x="457200" y="1828800"/>
            <a:ext cx="3931920" cy="2560320"/>
          </a:xfrm>
          <a:prstGeom prst="rect">
            <a:avLst/>
          </a:prstGeom>
          <a:solidFill>
            <a:srgbClr val="0F1B2D"/>
          </a:solidFill>
          <a:ln/>
        </p:spPr>
      </p:sp>
      <p:sp>
        <p:nvSpPr>
          <p:cNvPr id="9" name="Shape 7"/>
          <p:cNvSpPr/>
          <p:nvPr/>
        </p:nvSpPr>
        <p:spPr>
          <a:xfrm>
            <a:off x="457200" y="1828800"/>
            <a:ext cx="3931920" cy="54864"/>
          </a:xfrm>
          <a:prstGeom prst="rect">
            <a:avLst/>
          </a:prstGeom>
          <a:solidFill>
            <a:srgbClr val="EF4444"/>
          </a:solidFill>
          <a:ln/>
        </p:spPr>
      </p:sp>
      <p:sp>
        <p:nvSpPr>
          <p:cNvPr id="10" name="Text 8"/>
          <p:cNvSpPr/>
          <p:nvPr/>
        </p:nvSpPr>
        <p:spPr>
          <a:xfrm>
            <a:off x="640080" y="1920240"/>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Story DOD</a:t>
            </a:r>
            <a:endParaRPr lang="en-US" sz="1300" dirty="0"/>
          </a:p>
        </p:txBody>
      </p:sp>
      <p:sp>
        <p:nvSpPr>
          <p:cNvPr id="11" name="Text 9"/>
          <p:cNvSpPr/>
          <p:nvPr/>
        </p:nvSpPr>
        <p:spPr>
          <a:xfrm>
            <a:off x="640080" y="2286000"/>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All Acceptance Criteria met and verified</a:t>
            </a:r>
            <a:endParaRPr lang="en-US" sz="950" dirty="0"/>
          </a:p>
        </p:txBody>
      </p:sp>
      <p:sp>
        <p:nvSpPr>
          <p:cNvPr id="12" name="Text 10"/>
          <p:cNvSpPr/>
          <p:nvPr/>
        </p:nvSpPr>
        <p:spPr>
          <a:xfrm>
            <a:off x="640080" y="2532888"/>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Code implemented and unit tests passing</a:t>
            </a:r>
            <a:endParaRPr lang="en-US" sz="950" dirty="0"/>
          </a:p>
        </p:txBody>
      </p:sp>
      <p:sp>
        <p:nvSpPr>
          <p:cNvPr id="13" name="Text 11"/>
          <p:cNvSpPr/>
          <p:nvPr/>
        </p:nvSpPr>
        <p:spPr>
          <a:xfrm>
            <a:off x="640080" y="2779776"/>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Code review / Pull Request approved</a:t>
            </a:r>
            <a:endParaRPr lang="en-US" sz="950" dirty="0"/>
          </a:p>
        </p:txBody>
      </p:sp>
      <p:sp>
        <p:nvSpPr>
          <p:cNvPr id="14" name="Text 12"/>
          <p:cNvSpPr/>
          <p:nvPr/>
        </p:nvSpPr>
        <p:spPr>
          <a:xfrm>
            <a:off x="640080" y="3026664"/>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Static analysis &amp; security scan passed</a:t>
            </a:r>
            <a:endParaRPr lang="en-US" sz="950" dirty="0"/>
          </a:p>
        </p:txBody>
      </p:sp>
      <p:sp>
        <p:nvSpPr>
          <p:cNvPr id="15" name="Text 13"/>
          <p:cNvSpPr/>
          <p:nvPr/>
        </p:nvSpPr>
        <p:spPr>
          <a:xfrm>
            <a:off x="640080" y="3273552"/>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Manual / automated testing completed (STD)</a:t>
            </a:r>
            <a:endParaRPr lang="en-US" sz="950" dirty="0"/>
          </a:p>
        </p:txBody>
      </p:sp>
      <p:sp>
        <p:nvSpPr>
          <p:cNvPr id="16" name="Text 14"/>
          <p:cNvSpPr/>
          <p:nvPr/>
        </p:nvSpPr>
        <p:spPr>
          <a:xfrm>
            <a:off x="640080" y="3520440"/>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Deployed to test environment</a:t>
            </a:r>
            <a:endParaRPr lang="en-US" sz="950" dirty="0"/>
          </a:p>
        </p:txBody>
      </p:sp>
      <p:sp>
        <p:nvSpPr>
          <p:cNvPr id="17" name="Text 15"/>
          <p:cNvSpPr/>
          <p:nvPr/>
        </p:nvSpPr>
        <p:spPr>
          <a:xfrm>
            <a:off x="640080" y="3767328"/>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No open critical or major bugs</a:t>
            </a:r>
            <a:endParaRPr lang="en-US" sz="950" dirty="0"/>
          </a:p>
        </p:txBody>
      </p:sp>
      <p:sp>
        <p:nvSpPr>
          <p:cNvPr id="18" name="Text 16"/>
          <p:cNvSpPr/>
          <p:nvPr/>
        </p:nvSpPr>
        <p:spPr>
          <a:xfrm>
            <a:off x="640080" y="4014216"/>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Documentation updated if needed</a:t>
            </a:r>
            <a:endParaRPr lang="en-US" sz="950" dirty="0"/>
          </a:p>
        </p:txBody>
      </p:sp>
      <p:sp>
        <p:nvSpPr>
          <p:cNvPr id="19" name="Shape 17"/>
          <p:cNvSpPr/>
          <p:nvPr/>
        </p:nvSpPr>
        <p:spPr>
          <a:xfrm>
            <a:off x="4754880" y="1828800"/>
            <a:ext cx="3931920" cy="2560320"/>
          </a:xfrm>
          <a:prstGeom prst="rect">
            <a:avLst/>
          </a:prstGeom>
          <a:solidFill>
            <a:srgbClr val="0F1B2D"/>
          </a:solidFill>
          <a:ln/>
        </p:spPr>
      </p:sp>
      <p:sp>
        <p:nvSpPr>
          <p:cNvPr id="20" name="Shape 18"/>
          <p:cNvSpPr/>
          <p:nvPr/>
        </p:nvSpPr>
        <p:spPr>
          <a:xfrm>
            <a:off x="4754880" y="1828800"/>
            <a:ext cx="3931920" cy="54864"/>
          </a:xfrm>
          <a:prstGeom prst="rect">
            <a:avLst/>
          </a:prstGeom>
          <a:solidFill>
            <a:srgbClr val="F59E0B"/>
          </a:solidFill>
          <a:ln/>
        </p:spPr>
      </p:sp>
      <p:sp>
        <p:nvSpPr>
          <p:cNvPr id="21" name="Text 19"/>
          <p:cNvSpPr/>
          <p:nvPr/>
        </p:nvSpPr>
        <p:spPr>
          <a:xfrm>
            <a:off x="4937760" y="1920240"/>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Epic DOD</a:t>
            </a:r>
            <a:endParaRPr lang="en-US" sz="1300" dirty="0"/>
          </a:p>
        </p:txBody>
      </p:sp>
      <p:sp>
        <p:nvSpPr>
          <p:cNvPr id="22" name="Text 20"/>
          <p:cNvSpPr/>
          <p:nvPr/>
        </p:nvSpPr>
        <p:spPr>
          <a:xfrm>
            <a:off x="4937760" y="2286000"/>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All child stories completed (meet Story DOD)</a:t>
            </a:r>
            <a:endParaRPr lang="en-US" sz="950" dirty="0"/>
          </a:p>
        </p:txBody>
      </p:sp>
      <p:sp>
        <p:nvSpPr>
          <p:cNvPr id="23" name="Text 21"/>
          <p:cNvSpPr/>
          <p:nvPr/>
        </p:nvSpPr>
        <p:spPr>
          <a:xfrm>
            <a:off x="4937760" y="2532888"/>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Integration testing between stories passed</a:t>
            </a:r>
            <a:endParaRPr lang="en-US" sz="950" dirty="0"/>
          </a:p>
        </p:txBody>
      </p:sp>
      <p:sp>
        <p:nvSpPr>
          <p:cNvPr id="24" name="Text 22"/>
          <p:cNvSpPr/>
          <p:nvPr/>
        </p:nvSpPr>
        <p:spPr>
          <a:xfrm>
            <a:off x="4937760" y="2779776"/>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System-level testing completed</a:t>
            </a:r>
            <a:endParaRPr lang="en-US" sz="950" dirty="0"/>
          </a:p>
        </p:txBody>
      </p:sp>
      <p:sp>
        <p:nvSpPr>
          <p:cNvPr id="25" name="Text 23"/>
          <p:cNvSpPr/>
          <p:nvPr/>
        </p:nvSpPr>
        <p:spPr>
          <a:xfrm>
            <a:off x="4937760" y="3026664"/>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All linked requirements marked Covered</a:t>
            </a:r>
            <a:endParaRPr lang="en-US" sz="950" dirty="0"/>
          </a:p>
        </p:txBody>
      </p:sp>
      <p:sp>
        <p:nvSpPr>
          <p:cNvPr id="26" name="Text 24"/>
          <p:cNvSpPr/>
          <p:nvPr/>
        </p:nvSpPr>
        <p:spPr>
          <a:xfrm>
            <a:off x="4937760" y="3273552"/>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Performance &amp; security criteria met</a:t>
            </a:r>
            <a:endParaRPr lang="en-US" sz="950" dirty="0"/>
          </a:p>
        </p:txBody>
      </p:sp>
      <p:sp>
        <p:nvSpPr>
          <p:cNvPr id="27" name="Text 25"/>
          <p:cNvSpPr/>
          <p:nvPr/>
        </p:nvSpPr>
        <p:spPr>
          <a:xfrm>
            <a:off x="4937760" y="3520440"/>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Knowledge Base / Confluence updated</a:t>
            </a:r>
            <a:endParaRPr lang="en-US" sz="950" dirty="0"/>
          </a:p>
        </p:txBody>
      </p:sp>
      <p:sp>
        <p:nvSpPr>
          <p:cNvPr id="28" name="Text 26"/>
          <p:cNvSpPr/>
          <p:nvPr/>
        </p:nvSpPr>
        <p:spPr>
          <a:xfrm>
            <a:off x="4937760" y="3767328"/>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Product demo conducted</a:t>
            </a:r>
            <a:endParaRPr lang="en-US" sz="950" dirty="0"/>
          </a:p>
        </p:txBody>
      </p:sp>
      <p:sp>
        <p:nvSpPr>
          <p:cNvPr id="29" name="Text 27"/>
          <p:cNvSpPr/>
          <p:nvPr/>
        </p:nvSpPr>
        <p:spPr>
          <a:xfrm>
            <a:off x="4937760" y="4014216"/>
            <a:ext cx="3566160" cy="24688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Product Owner sign-off received</a:t>
            </a:r>
            <a:endParaRPr lang="en-US" sz="950" dirty="0"/>
          </a:p>
        </p:txBody>
      </p:sp>
      <p:sp>
        <p:nvSpPr>
          <p:cNvPr id="30" name="Text 28"/>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DOD is defined once at the organizational/product level and applies to every story and epic uniformly</a:t>
            </a:r>
            <a:endParaRPr lang="en-US" sz="1000" dirty="0"/>
          </a:p>
        </p:txBody>
      </p:sp>
      <p:sp>
        <p:nvSpPr>
          <p:cNvPr id="31" name="Text 29"/>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26 / 93</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INVEST — Writing Quality Stories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Every Epic and Story should pass the INVEST test before entering development</a:t>
            </a:r>
            <a:endParaRPr lang="en-US" sz="1300" dirty="0"/>
          </a:p>
        </p:txBody>
      </p:sp>
      <p:sp>
        <p:nvSpPr>
          <p:cNvPr id="5" name="Shape 3"/>
          <p:cNvSpPr/>
          <p:nvPr/>
        </p:nvSpPr>
        <p:spPr>
          <a:xfrm>
            <a:off x="457200" y="1280160"/>
            <a:ext cx="457200" cy="457200"/>
          </a:xfrm>
          <a:prstGeom prst="ellipse">
            <a:avLst/>
          </a:prstGeom>
          <a:solidFill>
            <a:srgbClr val="3B82F6"/>
          </a:solidFill>
          <a:ln/>
        </p:spPr>
      </p:sp>
      <p:sp>
        <p:nvSpPr>
          <p:cNvPr id="6" name="Text 4"/>
          <p:cNvSpPr/>
          <p:nvPr/>
        </p:nvSpPr>
        <p:spPr>
          <a:xfrm>
            <a:off x="457200" y="12801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7" name="Text 5"/>
          <p:cNvSpPr/>
          <p:nvPr/>
        </p:nvSpPr>
        <p:spPr>
          <a:xfrm>
            <a:off x="1051560" y="123444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Independent</a:t>
            </a:r>
            <a:endParaRPr lang="en-US" sz="1400" dirty="0"/>
          </a:p>
        </p:txBody>
      </p:sp>
      <p:sp>
        <p:nvSpPr>
          <p:cNvPr id="8" name="Shape 6"/>
          <p:cNvSpPr/>
          <p:nvPr/>
        </p:nvSpPr>
        <p:spPr>
          <a:xfrm>
            <a:off x="2560320" y="1234440"/>
            <a:ext cx="6126480" cy="502920"/>
          </a:xfrm>
          <a:prstGeom prst="rect">
            <a:avLst/>
          </a:prstGeom>
          <a:solidFill>
            <a:srgbClr val="1A2744"/>
          </a:solidFill>
          <a:ln/>
        </p:spPr>
      </p:sp>
      <p:sp>
        <p:nvSpPr>
          <p:cNvPr id="9" name="Shape 7"/>
          <p:cNvSpPr/>
          <p:nvPr/>
        </p:nvSpPr>
        <p:spPr>
          <a:xfrm>
            <a:off x="2560320" y="1234440"/>
            <a:ext cx="36576" cy="502920"/>
          </a:xfrm>
          <a:prstGeom prst="rect">
            <a:avLst/>
          </a:prstGeom>
          <a:solidFill>
            <a:srgbClr val="3B82F6"/>
          </a:solidFill>
          <a:ln/>
        </p:spPr>
      </p:sp>
      <p:sp>
        <p:nvSpPr>
          <p:cNvPr id="10" name="Text 8"/>
          <p:cNvSpPr/>
          <p:nvPr/>
        </p:nvSpPr>
        <p:spPr>
          <a:xfrm>
            <a:off x="2697480" y="123444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story flows through its lifecycle without depending on another story being done first. Can be developed, tested, and deployed on its own.</a:t>
            </a:r>
            <a:endParaRPr lang="en-US" sz="1000" dirty="0"/>
          </a:p>
        </p:txBody>
      </p:sp>
      <p:sp>
        <p:nvSpPr>
          <p:cNvPr id="11" name="Shape 9"/>
          <p:cNvSpPr/>
          <p:nvPr/>
        </p:nvSpPr>
        <p:spPr>
          <a:xfrm>
            <a:off x="457200" y="1874520"/>
            <a:ext cx="457200" cy="457200"/>
          </a:xfrm>
          <a:prstGeom prst="ellipse">
            <a:avLst/>
          </a:prstGeom>
          <a:solidFill>
            <a:srgbClr val="8B5CF6"/>
          </a:solidFill>
          <a:ln/>
        </p:spPr>
      </p:sp>
      <p:sp>
        <p:nvSpPr>
          <p:cNvPr id="12" name="Text 10"/>
          <p:cNvSpPr/>
          <p:nvPr/>
        </p:nvSpPr>
        <p:spPr>
          <a:xfrm>
            <a:off x="457200" y="187452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N</a:t>
            </a:r>
            <a:endParaRPr lang="en-US" sz="2000" dirty="0"/>
          </a:p>
        </p:txBody>
      </p:sp>
      <p:sp>
        <p:nvSpPr>
          <p:cNvPr id="13" name="Text 11"/>
          <p:cNvSpPr/>
          <p:nvPr/>
        </p:nvSpPr>
        <p:spPr>
          <a:xfrm>
            <a:off x="1051560" y="182880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Negotiable</a:t>
            </a:r>
            <a:endParaRPr lang="en-US" sz="1400" dirty="0"/>
          </a:p>
        </p:txBody>
      </p:sp>
      <p:sp>
        <p:nvSpPr>
          <p:cNvPr id="14" name="Shape 12"/>
          <p:cNvSpPr/>
          <p:nvPr/>
        </p:nvSpPr>
        <p:spPr>
          <a:xfrm>
            <a:off x="2560320" y="1828800"/>
            <a:ext cx="6126480" cy="502920"/>
          </a:xfrm>
          <a:prstGeom prst="rect">
            <a:avLst/>
          </a:prstGeom>
          <a:solidFill>
            <a:srgbClr val="1A2744"/>
          </a:solidFill>
          <a:ln/>
        </p:spPr>
      </p:sp>
      <p:sp>
        <p:nvSpPr>
          <p:cNvPr id="15" name="Shape 13"/>
          <p:cNvSpPr/>
          <p:nvPr/>
        </p:nvSpPr>
        <p:spPr>
          <a:xfrm>
            <a:off x="2560320" y="1828800"/>
            <a:ext cx="36576" cy="502920"/>
          </a:xfrm>
          <a:prstGeom prst="rect">
            <a:avLst/>
          </a:prstGeom>
          <a:solidFill>
            <a:srgbClr val="8B5CF6"/>
          </a:solidFill>
          <a:ln/>
        </p:spPr>
      </p:sp>
      <p:sp>
        <p:nvSpPr>
          <p:cNvPr id="16" name="Text 14"/>
          <p:cNvSpPr/>
          <p:nvPr/>
        </p:nvSpPr>
        <p:spPr>
          <a:xfrm>
            <a:off x="2697480" y="182880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Open for discussion between the developer and product owner. The “what” is clear, but the “how” can be refined during implementation.</a:t>
            </a:r>
            <a:endParaRPr lang="en-US" sz="1000" dirty="0"/>
          </a:p>
        </p:txBody>
      </p:sp>
      <p:sp>
        <p:nvSpPr>
          <p:cNvPr id="17" name="Shape 15"/>
          <p:cNvSpPr/>
          <p:nvPr/>
        </p:nvSpPr>
        <p:spPr>
          <a:xfrm>
            <a:off x="457200" y="2468880"/>
            <a:ext cx="457200" cy="457200"/>
          </a:xfrm>
          <a:prstGeom prst="ellipse">
            <a:avLst/>
          </a:prstGeom>
          <a:solidFill>
            <a:srgbClr val="10B981"/>
          </a:solidFill>
          <a:ln/>
        </p:spPr>
      </p:sp>
      <p:sp>
        <p:nvSpPr>
          <p:cNvPr id="18" name="Text 16"/>
          <p:cNvSpPr/>
          <p:nvPr/>
        </p:nvSpPr>
        <p:spPr>
          <a:xfrm>
            <a:off x="457200" y="246888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a:t>
            </a:r>
            <a:endParaRPr lang="en-US" sz="2000" dirty="0"/>
          </a:p>
        </p:txBody>
      </p:sp>
      <p:sp>
        <p:nvSpPr>
          <p:cNvPr id="19" name="Text 17"/>
          <p:cNvSpPr/>
          <p:nvPr/>
        </p:nvSpPr>
        <p:spPr>
          <a:xfrm>
            <a:off x="1051560" y="242316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Valuable</a:t>
            </a:r>
            <a:endParaRPr lang="en-US" sz="1400" dirty="0"/>
          </a:p>
        </p:txBody>
      </p:sp>
      <p:sp>
        <p:nvSpPr>
          <p:cNvPr id="20" name="Shape 18"/>
          <p:cNvSpPr/>
          <p:nvPr/>
        </p:nvSpPr>
        <p:spPr>
          <a:xfrm>
            <a:off x="2560320" y="2423160"/>
            <a:ext cx="6126480" cy="502920"/>
          </a:xfrm>
          <a:prstGeom prst="rect">
            <a:avLst/>
          </a:prstGeom>
          <a:solidFill>
            <a:srgbClr val="1A2744"/>
          </a:solidFill>
          <a:ln/>
        </p:spPr>
      </p:sp>
      <p:sp>
        <p:nvSpPr>
          <p:cNvPr id="21" name="Shape 19"/>
          <p:cNvSpPr/>
          <p:nvPr/>
        </p:nvSpPr>
        <p:spPr>
          <a:xfrm>
            <a:off x="2560320" y="2423160"/>
            <a:ext cx="36576" cy="502920"/>
          </a:xfrm>
          <a:prstGeom prst="rect">
            <a:avLst/>
          </a:prstGeom>
          <a:solidFill>
            <a:srgbClr val="10B981"/>
          </a:solidFill>
          <a:ln/>
        </p:spPr>
      </p:sp>
      <p:sp>
        <p:nvSpPr>
          <p:cNvPr id="22" name="Text 20"/>
          <p:cNvSpPr/>
          <p:nvPr/>
        </p:nvSpPr>
        <p:spPr>
          <a:xfrm>
            <a:off x="2697480" y="242316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Delivers clear value to the end user or the system. If you can’t explain why this story matters, it shouldn’t exist.</a:t>
            </a:r>
            <a:endParaRPr lang="en-US" sz="1000" dirty="0"/>
          </a:p>
        </p:txBody>
      </p:sp>
      <p:sp>
        <p:nvSpPr>
          <p:cNvPr id="23" name="Shape 21"/>
          <p:cNvSpPr/>
          <p:nvPr/>
        </p:nvSpPr>
        <p:spPr>
          <a:xfrm>
            <a:off x="457200" y="3063240"/>
            <a:ext cx="457200" cy="457200"/>
          </a:xfrm>
          <a:prstGeom prst="ellipse">
            <a:avLst/>
          </a:prstGeom>
          <a:solidFill>
            <a:srgbClr val="F59E0B"/>
          </a:solidFill>
          <a:ln/>
        </p:spPr>
      </p:sp>
      <p:sp>
        <p:nvSpPr>
          <p:cNvPr id="24" name="Text 22"/>
          <p:cNvSpPr/>
          <p:nvPr/>
        </p:nvSpPr>
        <p:spPr>
          <a:xfrm>
            <a:off x="457200" y="306324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25" name="Text 23"/>
          <p:cNvSpPr/>
          <p:nvPr/>
        </p:nvSpPr>
        <p:spPr>
          <a:xfrm>
            <a:off x="1051560" y="301752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Estimable</a:t>
            </a:r>
            <a:endParaRPr lang="en-US" sz="1400" dirty="0"/>
          </a:p>
        </p:txBody>
      </p:sp>
      <p:sp>
        <p:nvSpPr>
          <p:cNvPr id="26" name="Shape 24"/>
          <p:cNvSpPr/>
          <p:nvPr/>
        </p:nvSpPr>
        <p:spPr>
          <a:xfrm>
            <a:off x="2560320" y="3017520"/>
            <a:ext cx="6126480" cy="502920"/>
          </a:xfrm>
          <a:prstGeom prst="rect">
            <a:avLst/>
          </a:prstGeom>
          <a:solidFill>
            <a:srgbClr val="1A2744"/>
          </a:solidFill>
          <a:ln/>
        </p:spPr>
      </p:sp>
      <p:sp>
        <p:nvSpPr>
          <p:cNvPr id="27" name="Shape 25"/>
          <p:cNvSpPr/>
          <p:nvPr/>
        </p:nvSpPr>
        <p:spPr>
          <a:xfrm>
            <a:off x="2560320" y="3017520"/>
            <a:ext cx="36576" cy="502920"/>
          </a:xfrm>
          <a:prstGeom prst="rect">
            <a:avLst/>
          </a:prstGeom>
          <a:solidFill>
            <a:srgbClr val="F59E0B"/>
          </a:solidFill>
          <a:ln/>
        </p:spPr>
      </p:sp>
      <p:sp>
        <p:nvSpPr>
          <p:cNvPr id="28" name="Text 26"/>
          <p:cNvSpPr/>
          <p:nvPr/>
        </p:nvSpPr>
        <p:spPr>
          <a:xfrm>
            <a:off x="2697480" y="301752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team can estimate the effort because the scope is clear enough. If you can’t estimate it, you don’t understand it yet.</a:t>
            </a:r>
            <a:endParaRPr lang="en-US" sz="1000" dirty="0"/>
          </a:p>
        </p:txBody>
      </p:sp>
      <p:sp>
        <p:nvSpPr>
          <p:cNvPr id="29" name="Shape 27"/>
          <p:cNvSpPr/>
          <p:nvPr/>
        </p:nvSpPr>
        <p:spPr>
          <a:xfrm>
            <a:off x="457200" y="3657600"/>
            <a:ext cx="457200" cy="457200"/>
          </a:xfrm>
          <a:prstGeom prst="ellipse">
            <a:avLst/>
          </a:prstGeom>
          <a:solidFill>
            <a:srgbClr val="EF4444"/>
          </a:solidFill>
          <a:ln/>
        </p:spPr>
      </p:sp>
      <p:sp>
        <p:nvSpPr>
          <p:cNvPr id="30" name="Text 28"/>
          <p:cNvSpPr/>
          <p:nvPr/>
        </p:nvSpPr>
        <p:spPr>
          <a:xfrm>
            <a:off x="457200" y="365760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31" name="Text 29"/>
          <p:cNvSpPr/>
          <p:nvPr/>
        </p:nvSpPr>
        <p:spPr>
          <a:xfrm>
            <a:off x="1051560" y="361188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Small</a:t>
            </a:r>
            <a:endParaRPr lang="en-US" sz="1400" dirty="0"/>
          </a:p>
        </p:txBody>
      </p:sp>
      <p:sp>
        <p:nvSpPr>
          <p:cNvPr id="32" name="Shape 30"/>
          <p:cNvSpPr/>
          <p:nvPr/>
        </p:nvSpPr>
        <p:spPr>
          <a:xfrm>
            <a:off x="2560320" y="3611880"/>
            <a:ext cx="6126480" cy="502920"/>
          </a:xfrm>
          <a:prstGeom prst="rect">
            <a:avLst/>
          </a:prstGeom>
          <a:solidFill>
            <a:srgbClr val="1A2744"/>
          </a:solidFill>
          <a:ln/>
        </p:spPr>
      </p:sp>
      <p:sp>
        <p:nvSpPr>
          <p:cNvPr id="33" name="Shape 31"/>
          <p:cNvSpPr/>
          <p:nvPr/>
        </p:nvSpPr>
        <p:spPr>
          <a:xfrm>
            <a:off x="2560320" y="3611880"/>
            <a:ext cx="36576" cy="502920"/>
          </a:xfrm>
          <a:prstGeom prst="rect">
            <a:avLst/>
          </a:prstGeom>
          <a:solidFill>
            <a:srgbClr val="EF4444"/>
          </a:solidFill>
          <a:ln/>
        </p:spPr>
      </p:sp>
      <p:sp>
        <p:nvSpPr>
          <p:cNvPr id="34" name="Text 32"/>
          <p:cNvSpPr/>
          <p:nvPr/>
        </p:nvSpPr>
        <p:spPr>
          <a:xfrm>
            <a:off x="2697480" y="361188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Fits within a single sprint. If it’s too large, break it down further. Large stories are harder to estimate, test, and review.</a:t>
            </a:r>
            <a:endParaRPr lang="en-US" sz="1000" dirty="0"/>
          </a:p>
        </p:txBody>
      </p:sp>
      <p:sp>
        <p:nvSpPr>
          <p:cNvPr id="35" name="Shape 33"/>
          <p:cNvSpPr/>
          <p:nvPr/>
        </p:nvSpPr>
        <p:spPr>
          <a:xfrm>
            <a:off x="457200" y="4251960"/>
            <a:ext cx="457200" cy="457200"/>
          </a:xfrm>
          <a:prstGeom prst="ellipse">
            <a:avLst/>
          </a:prstGeom>
          <a:solidFill>
            <a:srgbClr val="EC4899"/>
          </a:solidFill>
          <a:ln/>
        </p:spPr>
      </p:sp>
      <p:sp>
        <p:nvSpPr>
          <p:cNvPr id="36" name="Text 34"/>
          <p:cNvSpPr/>
          <p:nvPr/>
        </p:nvSpPr>
        <p:spPr>
          <a:xfrm>
            <a:off x="457200" y="4251960"/>
            <a:ext cx="45720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a:t>
            </a:r>
            <a:endParaRPr lang="en-US" sz="2000" dirty="0"/>
          </a:p>
        </p:txBody>
      </p:sp>
      <p:sp>
        <p:nvSpPr>
          <p:cNvPr id="37" name="Text 35"/>
          <p:cNvSpPr/>
          <p:nvPr/>
        </p:nvSpPr>
        <p:spPr>
          <a:xfrm>
            <a:off x="1051560" y="4206240"/>
            <a:ext cx="15087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Testable</a:t>
            </a:r>
            <a:endParaRPr lang="en-US" sz="1400" dirty="0"/>
          </a:p>
        </p:txBody>
      </p:sp>
      <p:sp>
        <p:nvSpPr>
          <p:cNvPr id="38" name="Shape 36"/>
          <p:cNvSpPr/>
          <p:nvPr/>
        </p:nvSpPr>
        <p:spPr>
          <a:xfrm>
            <a:off x="2560320" y="4206240"/>
            <a:ext cx="6126480" cy="502920"/>
          </a:xfrm>
          <a:prstGeom prst="rect">
            <a:avLst/>
          </a:prstGeom>
          <a:solidFill>
            <a:srgbClr val="1A2744"/>
          </a:solidFill>
          <a:ln/>
        </p:spPr>
      </p:sp>
      <p:sp>
        <p:nvSpPr>
          <p:cNvPr id="39" name="Shape 37"/>
          <p:cNvSpPr/>
          <p:nvPr/>
        </p:nvSpPr>
        <p:spPr>
          <a:xfrm>
            <a:off x="2560320" y="4206240"/>
            <a:ext cx="36576" cy="502920"/>
          </a:xfrm>
          <a:prstGeom prst="rect">
            <a:avLst/>
          </a:prstGeom>
          <a:solidFill>
            <a:srgbClr val="EC4899"/>
          </a:solidFill>
          <a:ln/>
        </p:spPr>
      </p:sp>
      <p:sp>
        <p:nvSpPr>
          <p:cNvPr id="40" name="Text 38"/>
          <p:cNvSpPr/>
          <p:nvPr/>
        </p:nvSpPr>
        <p:spPr>
          <a:xfrm>
            <a:off x="2697480" y="4206240"/>
            <a:ext cx="585216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Has clear Acceptance Criteria that can be verified. If you can’t test it, you can’t prove it works.</a:t>
            </a:r>
            <a:endParaRPr lang="en-US" sz="1000" dirty="0"/>
          </a:p>
        </p:txBody>
      </p:sp>
      <p:sp>
        <p:nvSpPr>
          <p:cNvPr id="41" name="Text 39"/>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INVEST is your quality gate for story writing — if a story fails any criterion, refine it before moving forward</a:t>
            </a:r>
            <a:endParaRPr lang="en-US" sz="1000" dirty="0"/>
          </a:p>
        </p:txBody>
      </p:sp>
      <p:sp>
        <p:nvSpPr>
          <p:cNvPr id="42" name="Text 4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27 / 93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How BMAD Enforces Quality Gates</a:t>
            </a:r>
            <a:endParaRPr lang="en-US" sz="2600" dirty="0"/>
          </a:p>
        </p:txBody>
      </p:sp>
      <p:sp>
        <p:nvSpPr>
          <p:cNvPr id="5" name="Shape 3"/>
          <p:cNvSpPr/>
          <p:nvPr/>
        </p:nvSpPr>
        <p:spPr>
          <a:xfrm>
            <a:off x="457200" y="1005840"/>
            <a:ext cx="8229600" cy="502920"/>
          </a:xfrm>
          <a:prstGeom prst="rect">
            <a:avLst/>
          </a:prstGeom>
          <a:solidFill>
            <a:srgbClr val="0F1B2D"/>
          </a:solidFill>
          <a:ln/>
        </p:spPr>
      </p:sp>
      <p:sp>
        <p:nvSpPr>
          <p:cNvPr id="6" name="Text 4"/>
          <p:cNvSpPr/>
          <p:nvPr/>
        </p:nvSpPr>
        <p:spPr>
          <a:xfrm>
            <a:off x="640080" y="1024128"/>
            <a:ext cx="7863840" cy="45720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BMAD doesn’t just recommend DOR/DOD/INVEST — it enforces them through workflow checklists and templates</a:t>
            </a:r>
            <a:endParaRPr lang="en-US" sz="1200" dirty="0"/>
          </a:p>
        </p:txBody>
      </p:sp>
      <p:sp>
        <p:nvSpPr>
          <p:cNvPr id="7" name="Shape 5"/>
          <p:cNvSpPr/>
          <p:nvPr/>
        </p:nvSpPr>
        <p:spPr>
          <a:xfrm>
            <a:off x="457200" y="1691640"/>
            <a:ext cx="2606040" cy="3063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691640"/>
            <a:ext cx="2606040" cy="54864"/>
          </a:xfrm>
          <a:prstGeom prst="rect">
            <a:avLst/>
          </a:prstGeom>
          <a:solidFill>
            <a:srgbClr val="10B981"/>
          </a:solidFill>
          <a:ln/>
        </p:spPr>
      </p:sp>
      <p:sp>
        <p:nvSpPr>
          <p:cNvPr id="9" name="Text 7"/>
          <p:cNvSpPr/>
          <p:nvPr/>
        </p:nvSpPr>
        <p:spPr>
          <a:xfrm>
            <a:off x="548640" y="1783080"/>
            <a:ext cx="24231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DOR → Built into Planning</a:t>
            </a:r>
            <a:endParaRPr lang="en-US" sz="1100" dirty="0"/>
          </a:p>
        </p:txBody>
      </p:sp>
      <p:sp>
        <p:nvSpPr>
          <p:cNvPr id="10" name="Text 8"/>
          <p:cNvSpPr/>
          <p:nvPr/>
        </p:nvSpPr>
        <p:spPr>
          <a:xfrm>
            <a:off x="548640" y="2057400"/>
            <a:ext cx="2423160" cy="228600"/>
          </a:xfrm>
          <a:prstGeom prst="rect">
            <a:avLst/>
          </a:prstGeom>
          <a:noFill/>
          <a:ln/>
        </p:spPr>
        <p:txBody>
          <a:bodyPr wrap="square" lIns="0" tIns="0" rIns="0" bIns="0" rtlCol="0" anchor="ctr"/>
          <a:lstStyle/>
          <a:p>
            <a:pPr indent="0" marL="0">
              <a:buNone/>
            </a:pPr>
            <a:r>
              <a:rPr lang="en-US" sz="850" dirty="0">
                <a:solidFill>
                  <a:srgbClr val="0D9488"/>
                </a:solidFill>
                <a:latin typeface="Consolas" pitchFamily="34" charset="0"/>
                <a:ea typeface="Consolas" pitchFamily="34" charset="-122"/>
                <a:cs typeface="Consolas" pitchFamily="34" charset="-120"/>
              </a:rPr>
              <a:t>/create-epics-and-stories</a:t>
            </a:r>
            <a:endParaRPr lang="en-US" sz="850" dirty="0"/>
          </a:p>
        </p:txBody>
      </p:sp>
      <p:sp>
        <p:nvSpPr>
          <p:cNvPr id="11" name="Text 9"/>
          <p:cNvSpPr/>
          <p:nvPr/>
        </p:nvSpPr>
        <p:spPr>
          <a:xfrm>
            <a:off x="548640" y="237744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PM agent reads PRD + Architecture</a:t>
            </a:r>
            <a:endParaRPr lang="en-US" sz="900" dirty="0"/>
          </a:p>
        </p:txBody>
      </p:sp>
      <p:sp>
        <p:nvSpPr>
          <p:cNvPr id="12" name="Text 10"/>
          <p:cNvSpPr/>
          <p:nvPr/>
        </p:nvSpPr>
        <p:spPr>
          <a:xfrm>
            <a:off x="548640" y="2633472"/>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Extracts requirements into epics</a:t>
            </a:r>
            <a:endParaRPr lang="en-US" sz="900" dirty="0"/>
          </a:p>
        </p:txBody>
      </p:sp>
      <p:sp>
        <p:nvSpPr>
          <p:cNvPr id="13" name="Text 11"/>
          <p:cNvSpPr/>
          <p:nvPr/>
        </p:nvSpPr>
        <p:spPr>
          <a:xfrm>
            <a:off x="548640" y="2889504"/>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Each story gets Acceptance Criteria</a:t>
            </a:r>
            <a:endParaRPr lang="en-US" sz="900" dirty="0"/>
          </a:p>
        </p:txBody>
      </p:sp>
      <p:sp>
        <p:nvSpPr>
          <p:cNvPr id="14" name="Text 12"/>
          <p:cNvSpPr/>
          <p:nvPr/>
        </p:nvSpPr>
        <p:spPr>
          <a:xfrm>
            <a:off x="548640" y="3145536"/>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Dependencies explicitly mapped</a:t>
            </a:r>
            <a:endParaRPr lang="en-US" sz="900" dirty="0"/>
          </a:p>
        </p:txBody>
      </p:sp>
      <p:sp>
        <p:nvSpPr>
          <p:cNvPr id="15" name="Text 13"/>
          <p:cNvSpPr/>
          <p:nvPr/>
        </p:nvSpPr>
        <p:spPr>
          <a:xfrm>
            <a:off x="548640" y="3401568"/>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Architecture decisions linked</a:t>
            </a:r>
            <a:endParaRPr lang="en-US" sz="900" dirty="0"/>
          </a:p>
        </p:txBody>
      </p:sp>
      <p:sp>
        <p:nvSpPr>
          <p:cNvPr id="16" name="Text 14"/>
          <p:cNvSpPr/>
          <p:nvPr/>
        </p:nvSpPr>
        <p:spPr>
          <a:xfrm>
            <a:off x="548640" y="365760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Stories validated against DOR checklist</a:t>
            </a:r>
            <a:endParaRPr lang="en-US" sz="900" dirty="0"/>
          </a:p>
        </p:txBody>
      </p:sp>
      <p:sp>
        <p:nvSpPr>
          <p:cNvPr id="17" name="Shape 15"/>
          <p:cNvSpPr/>
          <p:nvPr/>
        </p:nvSpPr>
        <p:spPr>
          <a:xfrm>
            <a:off x="3291840" y="1691640"/>
            <a:ext cx="2606040" cy="3063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3291840" y="1691640"/>
            <a:ext cx="2606040" cy="54864"/>
          </a:xfrm>
          <a:prstGeom prst="rect">
            <a:avLst/>
          </a:prstGeom>
          <a:solidFill>
            <a:srgbClr val="F59E0B"/>
          </a:solidFill>
          <a:ln/>
        </p:spPr>
      </p:sp>
      <p:sp>
        <p:nvSpPr>
          <p:cNvPr id="19" name="Text 17"/>
          <p:cNvSpPr/>
          <p:nvPr/>
        </p:nvSpPr>
        <p:spPr>
          <a:xfrm>
            <a:off x="3383280" y="1783080"/>
            <a:ext cx="24231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INVEST → Story Creation</a:t>
            </a:r>
            <a:endParaRPr lang="en-US" sz="1100" dirty="0"/>
          </a:p>
        </p:txBody>
      </p:sp>
      <p:sp>
        <p:nvSpPr>
          <p:cNvPr id="20" name="Text 18"/>
          <p:cNvSpPr/>
          <p:nvPr/>
        </p:nvSpPr>
        <p:spPr>
          <a:xfrm>
            <a:off x="3383280" y="2057400"/>
            <a:ext cx="2423160" cy="228600"/>
          </a:xfrm>
          <a:prstGeom prst="rect">
            <a:avLst/>
          </a:prstGeom>
          <a:noFill/>
          <a:ln/>
        </p:spPr>
        <p:txBody>
          <a:bodyPr wrap="square" lIns="0" tIns="0" rIns="0" bIns="0" rtlCol="0" anchor="ctr"/>
          <a:lstStyle/>
          <a:p>
            <a:pPr indent="0" marL="0">
              <a:buNone/>
            </a:pPr>
            <a:r>
              <a:rPr lang="en-US" sz="850" dirty="0">
                <a:solidFill>
                  <a:srgbClr val="0D9488"/>
                </a:solidFill>
                <a:latin typeface="Consolas" pitchFamily="34" charset="0"/>
                <a:ea typeface="Consolas" pitchFamily="34" charset="-122"/>
                <a:cs typeface="Consolas" pitchFamily="34" charset="-120"/>
              </a:rPr>
              <a:t>/create-story</a:t>
            </a:r>
            <a:endParaRPr lang="en-US" sz="850" dirty="0"/>
          </a:p>
        </p:txBody>
      </p:sp>
      <p:sp>
        <p:nvSpPr>
          <p:cNvPr id="21" name="Text 19"/>
          <p:cNvSpPr/>
          <p:nvPr/>
        </p:nvSpPr>
        <p:spPr>
          <a:xfrm>
            <a:off x="3383280" y="237744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SM agent loads epic + arch context</a:t>
            </a:r>
            <a:endParaRPr lang="en-US" sz="900" dirty="0"/>
          </a:p>
        </p:txBody>
      </p:sp>
      <p:sp>
        <p:nvSpPr>
          <p:cNvPr id="22" name="Text 20"/>
          <p:cNvSpPr/>
          <p:nvPr/>
        </p:nvSpPr>
        <p:spPr>
          <a:xfrm>
            <a:off x="3383280" y="2633472"/>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Generates story from template</a:t>
            </a:r>
            <a:endParaRPr lang="en-US" sz="900" dirty="0"/>
          </a:p>
        </p:txBody>
      </p:sp>
      <p:sp>
        <p:nvSpPr>
          <p:cNvPr id="23" name="Text 21"/>
          <p:cNvSpPr/>
          <p:nvPr/>
        </p:nvSpPr>
        <p:spPr>
          <a:xfrm>
            <a:off x="3383280" y="2889504"/>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Template enforces: AC, tasks, refs</a:t>
            </a:r>
            <a:endParaRPr lang="en-US" sz="900" dirty="0"/>
          </a:p>
        </p:txBody>
      </p:sp>
      <p:sp>
        <p:nvSpPr>
          <p:cNvPr id="24" name="Text 22"/>
          <p:cNvSpPr/>
          <p:nvPr/>
        </p:nvSpPr>
        <p:spPr>
          <a:xfrm>
            <a:off x="3383280" y="3145536"/>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Stories are scoped to one sprint</a:t>
            </a:r>
            <a:endParaRPr lang="en-US" sz="900" dirty="0"/>
          </a:p>
        </p:txBody>
      </p:sp>
      <p:sp>
        <p:nvSpPr>
          <p:cNvPr id="25" name="Text 23"/>
          <p:cNvSpPr/>
          <p:nvPr/>
        </p:nvSpPr>
        <p:spPr>
          <a:xfrm>
            <a:off x="3383280" y="3401568"/>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Each story is self-contained</a:t>
            </a:r>
            <a:endParaRPr lang="en-US" sz="900" dirty="0"/>
          </a:p>
        </p:txBody>
      </p:sp>
      <p:sp>
        <p:nvSpPr>
          <p:cNvPr id="26" name="Text 24"/>
          <p:cNvSpPr/>
          <p:nvPr/>
        </p:nvSpPr>
        <p:spPr>
          <a:xfrm>
            <a:off x="3383280" y="365760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Checklist validates completeness</a:t>
            </a:r>
            <a:endParaRPr lang="en-US" sz="900" dirty="0"/>
          </a:p>
        </p:txBody>
      </p:sp>
      <p:sp>
        <p:nvSpPr>
          <p:cNvPr id="27" name="Shape 25"/>
          <p:cNvSpPr/>
          <p:nvPr/>
        </p:nvSpPr>
        <p:spPr>
          <a:xfrm>
            <a:off x="6126480" y="1691640"/>
            <a:ext cx="2606040" cy="3063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8" name="Shape 26"/>
          <p:cNvSpPr/>
          <p:nvPr/>
        </p:nvSpPr>
        <p:spPr>
          <a:xfrm>
            <a:off x="6126480" y="1691640"/>
            <a:ext cx="2606040" cy="54864"/>
          </a:xfrm>
          <a:prstGeom prst="rect">
            <a:avLst/>
          </a:prstGeom>
          <a:solidFill>
            <a:srgbClr val="EF4444"/>
          </a:solidFill>
          <a:ln/>
        </p:spPr>
      </p:sp>
      <p:sp>
        <p:nvSpPr>
          <p:cNvPr id="29" name="Text 27"/>
          <p:cNvSpPr/>
          <p:nvPr/>
        </p:nvSpPr>
        <p:spPr>
          <a:xfrm>
            <a:off x="6217920" y="1783080"/>
            <a:ext cx="242316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DOD → Dev Loop Pipeline</a:t>
            </a:r>
            <a:endParaRPr lang="en-US" sz="1100" dirty="0"/>
          </a:p>
        </p:txBody>
      </p:sp>
      <p:sp>
        <p:nvSpPr>
          <p:cNvPr id="30" name="Text 28"/>
          <p:cNvSpPr/>
          <p:nvPr/>
        </p:nvSpPr>
        <p:spPr>
          <a:xfrm>
            <a:off x="6217920" y="2057400"/>
            <a:ext cx="2423160" cy="228600"/>
          </a:xfrm>
          <a:prstGeom prst="rect">
            <a:avLst/>
          </a:prstGeom>
          <a:noFill/>
          <a:ln/>
        </p:spPr>
        <p:txBody>
          <a:bodyPr wrap="square" lIns="0" tIns="0" rIns="0" bIns="0" rtlCol="0" anchor="ctr"/>
          <a:lstStyle/>
          <a:p>
            <a:pPr indent="0" marL="0">
              <a:buNone/>
            </a:pPr>
            <a:r>
              <a:rPr lang="en-US" sz="850" dirty="0">
                <a:solidFill>
                  <a:srgbClr val="0D9488"/>
                </a:solidFill>
                <a:latin typeface="Consolas" pitchFamily="34" charset="0"/>
                <a:ea typeface="Consolas" pitchFamily="34" charset="-122"/>
                <a:cs typeface="Consolas" pitchFamily="34" charset="-120"/>
              </a:rPr>
              <a:t>/dev-story → /code-review</a:t>
            </a:r>
            <a:endParaRPr lang="en-US" sz="850" dirty="0"/>
          </a:p>
        </p:txBody>
      </p:sp>
      <p:sp>
        <p:nvSpPr>
          <p:cNvPr id="31" name="Text 29"/>
          <p:cNvSpPr/>
          <p:nvPr/>
        </p:nvSpPr>
        <p:spPr>
          <a:xfrm>
            <a:off x="6217920" y="237744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Dev agent implements + unit tests</a:t>
            </a:r>
            <a:endParaRPr lang="en-US" sz="900" dirty="0"/>
          </a:p>
        </p:txBody>
      </p:sp>
      <p:sp>
        <p:nvSpPr>
          <p:cNvPr id="32" name="Text 30"/>
          <p:cNvSpPr/>
          <p:nvPr/>
        </p:nvSpPr>
        <p:spPr>
          <a:xfrm>
            <a:off x="6217920" y="2633472"/>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Code review checks quality gates</a:t>
            </a:r>
            <a:endParaRPr lang="en-US" sz="900" dirty="0"/>
          </a:p>
        </p:txBody>
      </p:sp>
      <p:sp>
        <p:nvSpPr>
          <p:cNvPr id="33" name="Text 31"/>
          <p:cNvSpPr/>
          <p:nvPr/>
        </p:nvSpPr>
        <p:spPr>
          <a:xfrm>
            <a:off x="6217920" y="2889504"/>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Validate-story runs full AC check</a:t>
            </a:r>
            <a:endParaRPr lang="en-US" sz="900" dirty="0"/>
          </a:p>
        </p:txBody>
      </p:sp>
      <p:sp>
        <p:nvSpPr>
          <p:cNvPr id="34" name="Text 32"/>
          <p:cNvSpPr/>
          <p:nvPr/>
        </p:nvSpPr>
        <p:spPr>
          <a:xfrm>
            <a:off x="6217920" y="3145536"/>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Status: ready-for-dev → done</a:t>
            </a:r>
            <a:endParaRPr lang="en-US" sz="900" dirty="0"/>
          </a:p>
        </p:txBody>
      </p:sp>
      <p:sp>
        <p:nvSpPr>
          <p:cNvPr id="35" name="Text 33"/>
          <p:cNvSpPr/>
          <p:nvPr/>
        </p:nvSpPr>
        <p:spPr>
          <a:xfrm>
            <a:off x="6217920" y="3401568"/>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Sprint-status.yaml auto-updated</a:t>
            </a:r>
            <a:endParaRPr lang="en-US" sz="900" dirty="0"/>
          </a:p>
        </p:txBody>
      </p:sp>
      <p:sp>
        <p:nvSpPr>
          <p:cNvPr id="36" name="Text 34"/>
          <p:cNvSpPr/>
          <p:nvPr/>
        </p:nvSpPr>
        <p:spPr>
          <a:xfrm>
            <a:off x="6217920" y="3657600"/>
            <a:ext cx="2423160" cy="25603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Story only closes when all pass</a:t>
            </a:r>
            <a:endParaRPr lang="en-US" sz="900" dirty="0"/>
          </a:p>
        </p:txBody>
      </p:sp>
      <p:sp>
        <p:nvSpPr>
          <p:cNvPr id="37" name="Text 35"/>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Traditional Agile relies on team discipline for quality gates. BMAD automates them into the workflow.</a:t>
            </a:r>
            <a:endParaRPr lang="en-US" sz="1000" dirty="0"/>
          </a:p>
        </p:txBody>
      </p:sp>
      <p:sp>
        <p:nvSpPr>
          <p:cNvPr id="38" name="Text 3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28 / 93</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Developer Mind Shift</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From writing every line of code — to leading a team of AI agents that do</a:t>
            </a:r>
            <a:endParaRPr lang="en-US" sz="1300" dirty="0"/>
          </a:p>
        </p:txBody>
      </p:sp>
      <p:sp>
        <p:nvSpPr>
          <p:cNvPr id="5" name="Shape 3"/>
          <p:cNvSpPr/>
          <p:nvPr/>
        </p:nvSpPr>
        <p:spPr>
          <a:xfrm>
            <a:off x="457200" y="1280160"/>
            <a:ext cx="3657600" cy="2194560"/>
          </a:xfrm>
          <a:prstGeom prst="rect">
            <a:avLst/>
          </a:prstGeom>
          <a:solidFill>
            <a:srgbClr val="7F1D1D"/>
          </a:solidFill>
          <a:ln/>
        </p:spPr>
      </p:sp>
      <p:sp>
        <p:nvSpPr>
          <p:cNvPr id="6" name="Shape 4"/>
          <p:cNvSpPr/>
          <p:nvPr/>
        </p:nvSpPr>
        <p:spPr>
          <a:xfrm>
            <a:off x="457200" y="1280160"/>
            <a:ext cx="3657600" cy="54864"/>
          </a:xfrm>
          <a:prstGeom prst="rect">
            <a:avLst/>
          </a:prstGeom>
          <a:solidFill>
            <a:srgbClr val="DC2626"/>
          </a:solidFill>
          <a:ln/>
        </p:spPr>
      </p:sp>
      <p:sp>
        <p:nvSpPr>
          <p:cNvPr id="7" name="Text 5"/>
          <p:cNvSpPr/>
          <p:nvPr/>
        </p:nvSpPr>
        <p:spPr>
          <a:xfrm>
            <a:off x="640080" y="1371600"/>
            <a:ext cx="3291840" cy="274320"/>
          </a:xfrm>
          <a:prstGeom prst="rect">
            <a:avLst/>
          </a:prstGeom>
          <a:noFill/>
          <a:ln/>
        </p:spPr>
        <p:txBody>
          <a:bodyPr wrap="square" lIns="0" tIns="0" rIns="0" bIns="0" rtlCol="0" anchor="ctr"/>
          <a:lstStyle/>
          <a:p>
            <a:pPr indent="0" marL="0">
              <a:buNone/>
            </a:pPr>
            <a:r>
              <a:rPr lang="en-US" sz="1300" b="1" dirty="0">
                <a:solidFill>
                  <a:srgbClr val="FCA5A5"/>
                </a:solidFill>
                <a:latin typeface="Calibri" pitchFamily="34" charset="0"/>
                <a:ea typeface="Calibri" pitchFamily="34" charset="-122"/>
                <a:cs typeface="Calibri" pitchFamily="34" charset="-120"/>
              </a:rPr>
              <a:t>Before: Developer as Coder</a:t>
            </a:r>
            <a:endParaRPr lang="en-US" sz="1300" dirty="0"/>
          </a:p>
        </p:txBody>
      </p:sp>
      <p:sp>
        <p:nvSpPr>
          <p:cNvPr id="8" name="Text 6"/>
          <p:cNvSpPr/>
          <p:nvPr/>
        </p:nvSpPr>
        <p:spPr>
          <a:xfrm>
            <a:off x="640080" y="1737360"/>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Writes every line of code personally</a:t>
            </a:r>
            <a:endParaRPr lang="en-US" sz="950" dirty="0"/>
          </a:p>
        </p:txBody>
      </p:sp>
      <p:sp>
        <p:nvSpPr>
          <p:cNvPr id="9" name="Text 7"/>
          <p:cNvSpPr/>
          <p:nvPr/>
        </p:nvSpPr>
        <p:spPr>
          <a:xfrm>
            <a:off x="640080" y="1993392"/>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Solves problems alone or with pair programming</a:t>
            </a:r>
            <a:endParaRPr lang="en-US" sz="950" dirty="0"/>
          </a:p>
        </p:txBody>
      </p:sp>
      <p:sp>
        <p:nvSpPr>
          <p:cNvPr id="10" name="Text 8"/>
          <p:cNvSpPr/>
          <p:nvPr/>
        </p:nvSpPr>
        <p:spPr>
          <a:xfrm>
            <a:off x="640080" y="2249424"/>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Reviews own work or waits for peer review</a:t>
            </a:r>
            <a:endParaRPr lang="en-US" sz="950" dirty="0"/>
          </a:p>
        </p:txBody>
      </p:sp>
      <p:sp>
        <p:nvSpPr>
          <p:cNvPr id="11" name="Text 9"/>
          <p:cNvSpPr/>
          <p:nvPr/>
        </p:nvSpPr>
        <p:spPr>
          <a:xfrm>
            <a:off x="640080" y="2505456"/>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Context limited to what’s in their head</a:t>
            </a:r>
            <a:endParaRPr lang="en-US" sz="950" dirty="0"/>
          </a:p>
        </p:txBody>
      </p:sp>
      <p:sp>
        <p:nvSpPr>
          <p:cNvPr id="12" name="Text 10"/>
          <p:cNvSpPr/>
          <p:nvPr/>
        </p:nvSpPr>
        <p:spPr>
          <a:xfrm>
            <a:off x="640080" y="2761488"/>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Speed bottlenecked by typing and thinking</a:t>
            </a:r>
            <a:endParaRPr lang="en-US" sz="950" dirty="0"/>
          </a:p>
        </p:txBody>
      </p:sp>
      <p:sp>
        <p:nvSpPr>
          <p:cNvPr id="13" name="Text 11"/>
          <p:cNvSpPr/>
          <p:nvPr/>
        </p:nvSpPr>
        <p:spPr>
          <a:xfrm>
            <a:off x="640080" y="3017520"/>
            <a:ext cx="3291840" cy="25603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One developer = one stream of work</a:t>
            </a:r>
            <a:endParaRPr lang="en-US" sz="950" dirty="0"/>
          </a:p>
        </p:txBody>
      </p:sp>
      <p:sp>
        <p:nvSpPr>
          <p:cNvPr id="14" name="Text 12"/>
          <p:cNvSpPr/>
          <p:nvPr/>
        </p:nvSpPr>
        <p:spPr>
          <a:xfrm>
            <a:off x="4160520" y="2103120"/>
            <a:ext cx="457200" cy="457200"/>
          </a:xfrm>
          <a:prstGeom prst="rect">
            <a:avLst/>
          </a:prstGeom>
          <a:noFill/>
          <a:ln/>
        </p:spPr>
        <p:txBody>
          <a:bodyPr wrap="square" rtlCol="0" anchor="ctr"/>
          <a:lstStyle/>
          <a:p>
            <a:pPr algn="ctr" indent="0" marL="0">
              <a:buNone/>
            </a:pPr>
            <a:r>
              <a:rPr lang="en-US" sz="2400" dirty="0">
                <a:solidFill>
                  <a:srgbClr val="0D9488"/>
                </a:solidFill>
              </a:rPr>
              <a:t>▶</a:t>
            </a:r>
            <a:endParaRPr lang="en-US" sz="2400" dirty="0"/>
          </a:p>
        </p:txBody>
      </p:sp>
      <p:sp>
        <p:nvSpPr>
          <p:cNvPr id="15" name="Shape 13"/>
          <p:cNvSpPr/>
          <p:nvPr/>
        </p:nvSpPr>
        <p:spPr>
          <a:xfrm>
            <a:off x="5029200" y="1280160"/>
            <a:ext cx="3657600" cy="2194560"/>
          </a:xfrm>
          <a:prstGeom prst="rect">
            <a:avLst/>
          </a:prstGeom>
          <a:solidFill>
            <a:srgbClr val="064E3B"/>
          </a:solidFill>
          <a:ln/>
        </p:spPr>
      </p:sp>
      <p:sp>
        <p:nvSpPr>
          <p:cNvPr id="16" name="Shape 14"/>
          <p:cNvSpPr/>
          <p:nvPr/>
        </p:nvSpPr>
        <p:spPr>
          <a:xfrm>
            <a:off x="5029200" y="1280160"/>
            <a:ext cx="3657600" cy="54864"/>
          </a:xfrm>
          <a:prstGeom prst="rect">
            <a:avLst/>
          </a:prstGeom>
          <a:solidFill>
            <a:srgbClr val="10B981"/>
          </a:solidFill>
          <a:ln/>
        </p:spPr>
      </p:sp>
      <p:sp>
        <p:nvSpPr>
          <p:cNvPr id="17" name="Text 15"/>
          <p:cNvSpPr/>
          <p:nvPr/>
        </p:nvSpPr>
        <p:spPr>
          <a:xfrm>
            <a:off x="5212080" y="1371600"/>
            <a:ext cx="3291840" cy="274320"/>
          </a:xfrm>
          <a:prstGeom prst="rect">
            <a:avLst/>
          </a:prstGeom>
          <a:noFill/>
          <a:ln/>
        </p:spPr>
        <p:txBody>
          <a:bodyPr wrap="square" lIns="0" tIns="0" rIns="0" bIns="0"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After: Developer as Team Leader</a:t>
            </a:r>
            <a:endParaRPr lang="en-US" sz="1300" dirty="0"/>
          </a:p>
        </p:txBody>
      </p:sp>
      <p:sp>
        <p:nvSpPr>
          <p:cNvPr id="18" name="Text 16"/>
          <p:cNvSpPr/>
          <p:nvPr/>
        </p:nvSpPr>
        <p:spPr>
          <a:xfrm>
            <a:off x="5212080" y="1737360"/>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Directs AI agents to implement stories</a:t>
            </a:r>
            <a:endParaRPr lang="en-US" sz="950" dirty="0"/>
          </a:p>
        </p:txBody>
      </p:sp>
      <p:sp>
        <p:nvSpPr>
          <p:cNvPr id="19" name="Text 17"/>
          <p:cNvSpPr/>
          <p:nvPr/>
        </p:nvSpPr>
        <p:spPr>
          <a:xfrm>
            <a:off x="5212080" y="1993392"/>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Reviews, validates, and corrects AI output</a:t>
            </a:r>
            <a:endParaRPr lang="en-US" sz="950" dirty="0"/>
          </a:p>
        </p:txBody>
      </p:sp>
      <p:sp>
        <p:nvSpPr>
          <p:cNvPr id="20" name="Text 18"/>
          <p:cNvSpPr/>
          <p:nvPr/>
        </p:nvSpPr>
        <p:spPr>
          <a:xfrm>
            <a:off x="5212080" y="2249424"/>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Manages multiple parallel work streams</a:t>
            </a:r>
            <a:endParaRPr lang="en-US" sz="950" dirty="0"/>
          </a:p>
        </p:txBody>
      </p:sp>
      <p:sp>
        <p:nvSpPr>
          <p:cNvPr id="21" name="Text 19"/>
          <p:cNvSpPr/>
          <p:nvPr/>
        </p:nvSpPr>
        <p:spPr>
          <a:xfrm>
            <a:off x="5212080" y="2505456"/>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Full project context loaded into every agent</a:t>
            </a:r>
            <a:endParaRPr lang="en-US" sz="950" dirty="0"/>
          </a:p>
        </p:txBody>
      </p:sp>
      <p:sp>
        <p:nvSpPr>
          <p:cNvPr id="22" name="Text 20"/>
          <p:cNvSpPr/>
          <p:nvPr/>
        </p:nvSpPr>
        <p:spPr>
          <a:xfrm>
            <a:off x="5212080" y="2761488"/>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Speed multiplied by agent concurrency</a:t>
            </a:r>
            <a:endParaRPr lang="en-US" sz="950" dirty="0"/>
          </a:p>
        </p:txBody>
      </p:sp>
      <p:sp>
        <p:nvSpPr>
          <p:cNvPr id="23" name="Text 21"/>
          <p:cNvSpPr/>
          <p:nvPr/>
        </p:nvSpPr>
        <p:spPr>
          <a:xfrm>
            <a:off x="5212080" y="3017520"/>
            <a:ext cx="3291840" cy="256032"/>
          </a:xfrm>
          <a:prstGeom prst="rect">
            <a:avLst/>
          </a:prstGeom>
          <a:noFill/>
          <a:ln/>
        </p:spPr>
        <p:txBody>
          <a:bodyPr wrap="square" lIns="0" tIns="0" rIns="0" bIns="0" rtlCol="0" anchor="ctr"/>
          <a:lstStyle/>
          <a:p>
            <a:pPr indent="0" marL="0">
              <a:buNone/>
            </a:pPr>
            <a:r>
              <a:rPr lang="en-US" sz="950" dirty="0">
                <a:solidFill>
                  <a:srgbClr val="A7F3D0"/>
                </a:solidFill>
                <a:latin typeface="Calibri" pitchFamily="34" charset="0"/>
                <a:ea typeface="Calibri" pitchFamily="34" charset="-122"/>
                <a:cs typeface="Calibri" pitchFamily="34" charset="-120"/>
              </a:rPr>
              <a:t>•  One developer = team lead of AI agents</a:t>
            </a:r>
            <a:endParaRPr lang="en-US" sz="950" dirty="0"/>
          </a:p>
        </p:txBody>
      </p:sp>
      <p:sp>
        <p:nvSpPr>
          <p:cNvPr id="24" name="Shape 22"/>
          <p:cNvSpPr/>
          <p:nvPr/>
        </p:nvSpPr>
        <p:spPr>
          <a:xfrm>
            <a:off x="457200" y="3703320"/>
            <a:ext cx="8229600" cy="1143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5" name="Shape 23"/>
          <p:cNvSpPr/>
          <p:nvPr/>
        </p:nvSpPr>
        <p:spPr>
          <a:xfrm>
            <a:off x="457200" y="3703320"/>
            <a:ext cx="54864" cy="1143000"/>
          </a:xfrm>
          <a:prstGeom prst="rect">
            <a:avLst/>
          </a:prstGeom>
          <a:solidFill>
            <a:srgbClr val="0D9488"/>
          </a:solidFill>
          <a:ln/>
        </p:spPr>
      </p:sp>
      <p:sp>
        <p:nvSpPr>
          <p:cNvPr id="26" name="Text 24"/>
          <p:cNvSpPr/>
          <p:nvPr/>
        </p:nvSpPr>
        <p:spPr>
          <a:xfrm>
            <a:off x="685800" y="3749040"/>
            <a:ext cx="7772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This Means in Practice</a:t>
            </a:r>
            <a:endParaRPr lang="en-US" sz="1300" dirty="0"/>
          </a:p>
        </p:txBody>
      </p:sp>
      <p:sp>
        <p:nvSpPr>
          <p:cNvPr id="27" name="Text 25"/>
          <p:cNvSpPr/>
          <p:nvPr/>
        </p:nvSpPr>
        <p:spPr>
          <a:xfrm>
            <a:off x="685800" y="4023360"/>
            <a:ext cx="7772400" cy="731520"/>
          </a:xfrm>
          <a:prstGeom prst="rect">
            <a:avLst/>
          </a:prstGeom>
          <a:noFill/>
          <a:ln/>
        </p:spPr>
        <p:txBody>
          <a:bodyPr wrap="square" lIns="0" tIns="0" rIns="0" bIns="0" rtlCol="0" anchor="t"/>
          <a:lstStyle/>
          <a:p>
            <a:pPr indent="0" marL="0">
              <a:buNone/>
            </a:pPr>
            <a:r>
              <a:rPr lang="en-US" sz="1050" dirty="0">
                <a:solidFill>
                  <a:srgbClr val="94A3B8"/>
                </a:solidFill>
                <a:latin typeface="Calibri" pitchFamily="34" charset="0"/>
                <a:ea typeface="Calibri" pitchFamily="34" charset="-122"/>
                <a:cs typeface="Calibri" pitchFamily="34" charset="-120"/>
              </a:rPr>
              <a:t>The developer’s core skills — understanding architecture, debugging, code quality, system thinking — become more valuable, not less. You still need to know what good code looks like. The difference is that instead of writing it all yourself, you’re directing AI agents and ensuring the output meets your standards. Think of it like a tech lead who codes less but ensures the team ships quality.</a:t>
            </a:r>
            <a:endParaRPr lang="en-US" sz="1050" dirty="0"/>
          </a:p>
        </p:txBody>
      </p:sp>
      <p:sp>
        <p:nvSpPr>
          <p:cNvPr id="28" name="Text 2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29 / 93</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Roles in the AI Era</a:t>
            </a:r>
            <a:endParaRPr lang="en-US" sz="2600" dirty="0"/>
          </a:p>
        </p:txBody>
      </p:sp>
      <p:sp>
        <p:nvSpPr>
          <p:cNvPr id="5" name="Shape 3"/>
          <p:cNvSpPr/>
          <p:nvPr/>
        </p:nvSpPr>
        <p:spPr>
          <a:xfrm>
            <a:off x="274320" y="1005840"/>
            <a:ext cx="8595360" cy="320040"/>
          </a:xfrm>
          <a:prstGeom prst="rect">
            <a:avLst/>
          </a:prstGeom>
          <a:solidFill>
            <a:srgbClr val="0F1B2D"/>
          </a:solidFill>
          <a:ln/>
        </p:spPr>
      </p:sp>
      <p:sp>
        <p:nvSpPr>
          <p:cNvPr id="6" name="Text 4"/>
          <p:cNvSpPr/>
          <p:nvPr/>
        </p:nvSpPr>
        <p:spPr>
          <a:xfrm>
            <a:off x="274320" y="1005840"/>
            <a:ext cx="1828800" cy="320040"/>
          </a:xfrm>
          <a:prstGeom prst="rect">
            <a:avLst/>
          </a:prstGeom>
          <a:noFill/>
          <a:ln/>
        </p:spPr>
        <p:txBody>
          <a:bodyPr wrap="square" lIns="0" tIns="76200" rIns="762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Role</a:t>
            </a:r>
            <a:endParaRPr lang="en-US" sz="1000" dirty="0"/>
          </a:p>
        </p:txBody>
      </p:sp>
      <p:sp>
        <p:nvSpPr>
          <p:cNvPr id="7" name="Text 5"/>
          <p:cNvSpPr/>
          <p:nvPr/>
        </p:nvSpPr>
        <p:spPr>
          <a:xfrm>
            <a:off x="2103120" y="1005840"/>
            <a:ext cx="1097280" cy="320040"/>
          </a:xfrm>
          <a:prstGeom prst="rect">
            <a:avLst/>
          </a:prstGeom>
          <a:noFill/>
          <a:ln/>
        </p:spPr>
        <p:txBody>
          <a:bodyPr wrap="square" lIns="0" tIns="76200" rIns="762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Change</a:t>
            </a:r>
            <a:endParaRPr lang="en-US" sz="1000" dirty="0"/>
          </a:p>
        </p:txBody>
      </p:sp>
      <p:sp>
        <p:nvSpPr>
          <p:cNvPr id="8" name="Text 6"/>
          <p:cNvSpPr/>
          <p:nvPr/>
        </p:nvSpPr>
        <p:spPr>
          <a:xfrm>
            <a:off x="3200400" y="1005840"/>
            <a:ext cx="3931920" cy="320040"/>
          </a:xfrm>
          <a:prstGeom prst="rect">
            <a:avLst/>
          </a:prstGeom>
          <a:noFill/>
          <a:ln/>
        </p:spPr>
        <p:txBody>
          <a:bodyPr wrap="square" lIns="0" tIns="76200" rIns="762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Changes</a:t>
            </a:r>
            <a:endParaRPr lang="en-US" sz="1000" dirty="0"/>
          </a:p>
        </p:txBody>
      </p:sp>
      <p:sp>
        <p:nvSpPr>
          <p:cNvPr id="9" name="Text 7"/>
          <p:cNvSpPr/>
          <p:nvPr/>
        </p:nvSpPr>
        <p:spPr>
          <a:xfrm>
            <a:off x="7132320" y="1005840"/>
            <a:ext cx="1737360" cy="320040"/>
          </a:xfrm>
          <a:prstGeom prst="rect">
            <a:avLst/>
          </a:prstGeom>
          <a:noFill/>
          <a:ln/>
        </p:spPr>
        <p:txBody>
          <a:bodyPr wrap="square" lIns="0" tIns="76200" rIns="762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0" name="Shape 8"/>
          <p:cNvSpPr/>
          <p:nvPr/>
        </p:nvSpPr>
        <p:spPr>
          <a:xfrm>
            <a:off x="274320" y="1371600"/>
            <a:ext cx="8595360" cy="502920"/>
          </a:xfrm>
          <a:prstGeom prst="rect">
            <a:avLst/>
          </a:prstGeom>
          <a:solidFill>
            <a:srgbClr val="F8FAFC"/>
          </a:solidFill>
          <a:ln/>
        </p:spPr>
      </p:sp>
      <p:sp>
        <p:nvSpPr>
          <p:cNvPr id="11" name="Text 9"/>
          <p:cNvSpPr/>
          <p:nvPr/>
        </p:nvSpPr>
        <p:spPr>
          <a:xfrm>
            <a:off x="274320" y="137160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Developer / Team Lead</a:t>
            </a:r>
            <a:endParaRPr lang="en-US" sz="1000" dirty="0"/>
          </a:p>
        </p:txBody>
      </p:sp>
      <p:sp>
        <p:nvSpPr>
          <p:cNvPr id="12" name="Shape 10"/>
          <p:cNvSpPr/>
          <p:nvPr/>
        </p:nvSpPr>
        <p:spPr>
          <a:xfrm>
            <a:off x="2194560" y="1481328"/>
            <a:ext cx="914400" cy="274320"/>
          </a:xfrm>
          <a:prstGeom prst="roundRect">
            <a:avLst>
              <a:gd name="adj" fmla="val 16667"/>
            </a:avLst>
          </a:prstGeom>
          <a:solidFill>
            <a:srgbClr val="EF4444"/>
          </a:solidFill>
          <a:ln/>
        </p:spPr>
      </p:sp>
      <p:sp>
        <p:nvSpPr>
          <p:cNvPr id="13" name="Text 11"/>
          <p:cNvSpPr/>
          <p:nvPr/>
        </p:nvSpPr>
        <p:spPr>
          <a:xfrm>
            <a:off x="2194560" y="148132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TRANSFORMS</a:t>
            </a:r>
            <a:endParaRPr lang="en-US" sz="700" dirty="0"/>
          </a:p>
        </p:txBody>
      </p:sp>
      <p:sp>
        <p:nvSpPr>
          <p:cNvPr id="14" name="Text 12"/>
          <p:cNvSpPr/>
          <p:nvPr/>
        </p:nvSpPr>
        <p:spPr>
          <a:xfrm>
            <a:off x="3200400" y="137160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Leads AI agents, reviews AI output, manages parallel streams, ensures quality</a:t>
            </a:r>
            <a:endParaRPr lang="en-US" sz="900" dirty="0"/>
          </a:p>
        </p:txBody>
      </p:sp>
      <p:sp>
        <p:nvSpPr>
          <p:cNvPr id="15" name="Text 13"/>
          <p:cNvSpPr/>
          <p:nvPr/>
        </p:nvSpPr>
        <p:spPr>
          <a:xfrm>
            <a:off x="7132320" y="137160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Highest impact — completely new way of working</a:t>
            </a:r>
            <a:endParaRPr lang="en-US" sz="800" dirty="0"/>
          </a:p>
        </p:txBody>
      </p:sp>
      <p:sp>
        <p:nvSpPr>
          <p:cNvPr id="16" name="Shape 14"/>
          <p:cNvSpPr/>
          <p:nvPr/>
        </p:nvSpPr>
        <p:spPr>
          <a:xfrm>
            <a:off x="274320" y="1920240"/>
            <a:ext cx="8595360" cy="502920"/>
          </a:xfrm>
          <a:prstGeom prst="rect">
            <a:avLst/>
          </a:prstGeom>
          <a:solidFill>
            <a:srgbClr val="FFFFFF"/>
          </a:solidFill>
          <a:ln/>
        </p:spPr>
      </p:sp>
      <p:sp>
        <p:nvSpPr>
          <p:cNvPr id="17" name="Text 15"/>
          <p:cNvSpPr/>
          <p:nvPr/>
        </p:nvSpPr>
        <p:spPr>
          <a:xfrm>
            <a:off x="274320" y="192024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Product Manager</a:t>
            </a:r>
            <a:endParaRPr lang="en-US" sz="1000" dirty="0"/>
          </a:p>
        </p:txBody>
      </p:sp>
      <p:sp>
        <p:nvSpPr>
          <p:cNvPr id="18" name="Shape 16"/>
          <p:cNvSpPr/>
          <p:nvPr/>
        </p:nvSpPr>
        <p:spPr>
          <a:xfrm>
            <a:off x="2194560" y="2029968"/>
            <a:ext cx="914400" cy="274320"/>
          </a:xfrm>
          <a:prstGeom prst="roundRect">
            <a:avLst>
              <a:gd name="adj" fmla="val 16667"/>
            </a:avLst>
          </a:prstGeom>
          <a:solidFill>
            <a:srgbClr val="F59E0B"/>
          </a:solidFill>
          <a:ln/>
        </p:spPr>
      </p:sp>
      <p:sp>
        <p:nvSpPr>
          <p:cNvPr id="19" name="Text 17"/>
          <p:cNvSpPr/>
          <p:nvPr/>
        </p:nvSpPr>
        <p:spPr>
          <a:xfrm>
            <a:off x="2194560" y="202996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ACCELERATES</a:t>
            </a:r>
            <a:endParaRPr lang="en-US" sz="700" dirty="0"/>
          </a:p>
        </p:txBody>
      </p:sp>
      <p:sp>
        <p:nvSpPr>
          <p:cNvPr id="20" name="Text 18"/>
          <p:cNvSpPr/>
          <p:nvPr/>
        </p:nvSpPr>
        <p:spPr>
          <a:xfrm>
            <a:off x="3200400" y="192024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Same responsibilities, but AI agents produce PRD drafts faster. PM validates and refines</a:t>
            </a:r>
            <a:endParaRPr lang="en-US" sz="900" dirty="0"/>
          </a:p>
        </p:txBody>
      </p:sp>
      <p:sp>
        <p:nvSpPr>
          <p:cNvPr id="21" name="Text 19"/>
          <p:cNvSpPr/>
          <p:nvPr/>
        </p:nvSpPr>
        <p:spPr>
          <a:xfrm>
            <a:off x="7132320" y="192024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Faster output, same decision authority</a:t>
            </a:r>
            <a:endParaRPr lang="en-US" sz="800" dirty="0"/>
          </a:p>
        </p:txBody>
      </p:sp>
      <p:sp>
        <p:nvSpPr>
          <p:cNvPr id="22" name="Shape 20"/>
          <p:cNvSpPr/>
          <p:nvPr/>
        </p:nvSpPr>
        <p:spPr>
          <a:xfrm>
            <a:off x="274320" y="2468880"/>
            <a:ext cx="8595360" cy="502920"/>
          </a:xfrm>
          <a:prstGeom prst="rect">
            <a:avLst/>
          </a:prstGeom>
          <a:solidFill>
            <a:srgbClr val="F8FAFC"/>
          </a:solidFill>
          <a:ln/>
        </p:spPr>
      </p:sp>
      <p:sp>
        <p:nvSpPr>
          <p:cNvPr id="23" name="Text 21"/>
          <p:cNvSpPr/>
          <p:nvPr/>
        </p:nvSpPr>
        <p:spPr>
          <a:xfrm>
            <a:off x="274320" y="246888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System Engineer</a:t>
            </a:r>
            <a:endParaRPr lang="en-US" sz="1000" dirty="0"/>
          </a:p>
        </p:txBody>
      </p:sp>
      <p:sp>
        <p:nvSpPr>
          <p:cNvPr id="24" name="Shape 22"/>
          <p:cNvSpPr/>
          <p:nvPr/>
        </p:nvSpPr>
        <p:spPr>
          <a:xfrm>
            <a:off x="2194560" y="2578608"/>
            <a:ext cx="914400" cy="274320"/>
          </a:xfrm>
          <a:prstGeom prst="roundRect">
            <a:avLst>
              <a:gd name="adj" fmla="val 16667"/>
            </a:avLst>
          </a:prstGeom>
          <a:solidFill>
            <a:srgbClr val="10B981"/>
          </a:solidFill>
          <a:ln/>
        </p:spPr>
      </p:sp>
      <p:sp>
        <p:nvSpPr>
          <p:cNvPr id="25" name="Text 23"/>
          <p:cNvSpPr/>
          <p:nvPr/>
        </p:nvSpPr>
        <p:spPr>
          <a:xfrm>
            <a:off x="2194560" y="257860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SAME</a:t>
            </a:r>
            <a:endParaRPr lang="en-US" sz="700" dirty="0"/>
          </a:p>
        </p:txBody>
      </p:sp>
      <p:sp>
        <p:nvSpPr>
          <p:cNvPr id="26" name="Text 24"/>
          <p:cNvSpPr/>
          <p:nvPr/>
        </p:nvSpPr>
        <p:spPr>
          <a:xfrm>
            <a:off x="3200400" y="246888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Still owns system-level requirements. BMAD traces requirements to implementation automatically</a:t>
            </a:r>
            <a:endParaRPr lang="en-US" sz="900" dirty="0"/>
          </a:p>
        </p:txBody>
      </p:sp>
      <p:sp>
        <p:nvSpPr>
          <p:cNvPr id="27" name="Text 25"/>
          <p:cNvSpPr/>
          <p:nvPr/>
        </p:nvSpPr>
        <p:spPr>
          <a:xfrm>
            <a:off x="7132320" y="246888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Better traceability, same expertise needed</a:t>
            </a:r>
            <a:endParaRPr lang="en-US" sz="800" dirty="0"/>
          </a:p>
        </p:txBody>
      </p:sp>
      <p:sp>
        <p:nvSpPr>
          <p:cNvPr id="28" name="Shape 26"/>
          <p:cNvSpPr/>
          <p:nvPr/>
        </p:nvSpPr>
        <p:spPr>
          <a:xfrm>
            <a:off x="274320" y="3017520"/>
            <a:ext cx="8595360" cy="502920"/>
          </a:xfrm>
          <a:prstGeom prst="rect">
            <a:avLst/>
          </a:prstGeom>
          <a:solidFill>
            <a:srgbClr val="FFFFFF"/>
          </a:solidFill>
          <a:ln/>
        </p:spPr>
      </p:sp>
      <p:sp>
        <p:nvSpPr>
          <p:cNvPr id="29" name="Text 27"/>
          <p:cNvSpPr/>
          <p:nvPr/>
        </p:nvSpPr>
        <p:spPr>
          <a:xfrm>
            <a:off x="274320" y="301752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Project Manager</a:t>
            </a:r>
            <a:endParaRPr lang="en-US" sz="1000" dirty="0"/>
          </a:p>
        </p:txBody>
      </p:sp>
      <p:sp>
        <p:nvSpPr>
          <p:cNvPr id="30" name="Shape 28"/>
          <p:cNvSpPr/>
          <p:nvPr/>
        </p:nvSpPr>
        <p:spPr>
          <a:xfrm>
            <a:off x="2194560" y="3127248"/>
            <a:ext cx="914400" cy="274320"/>
          </a:xfrm>
          <a:prstGeom prst="roundRect">
            <a:avLst>
              <a:gd name="adj" fmla="val 16667"/>
            </a:avLst>
          </a:prstGeom>
          <a:solidFill>
            <a:srgbClr val="F59E0B"/>
          </a:solidFill>
          <a:ln/>
        </p:spPr>
      </p:sp>
      <p:sp>
        <p:nvSpPr>
          <p:cNvPr id="31" name="Text 29"/>
          <p:cNvSpPr/>
          <p:nvPr/>
        </p:nvSpPr>
        <p:spPr>
          <a:xfrm>
            <a:off x="2194560" y="312724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ACCELERATES</a:t>
            </a:r>
            <a:endParaRPr lang="en-US" sz="700" dirty="0"/>
          </a:p>
        </p:txBody>
      </p:sp>
      <p:sp>
        <p:nvSpPr>
          <p:cNvPr id="32" name="Text 30"/>
          <p:cNvSpPr/>
          <p:nvPr/>
        </p:nvSpPr>
        <p:spPr>
          <a:xfrm>
            <a:off x="3200400" y="301752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Same role. Sprints are shorter, velocity is higher, sprint-status.yaml gives real-time visibility</a:t>
            </a:r>
            <a:endParaRPr lang="en-US" sz="900" dirty="0"/>
          </a:p>
        </p:txBody>
      </p:sp>
      <p:sp>
        <p:nvSpPr>
          <p:cNvPr id="33" name="Text 31"/>
          <p:cNvSpPr/>
          <p:nvPr/>
        </p:nvSpPr>
        <p:spPr>
          <a:xfrm>
            <a:off x="7132320" y="301752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More frequent delivery cycles</a:t>
            </a:r>
            <a:endParaRPr lang="en-US" sz="800" dirty="0"/>
          </a:p>
        </p:txBody>
      </p:sp>
      <p:sp>
        <p:nvSpPr>
          <p:cNvPr id="34" name="Shape 32"/>
          <p:cNvSpPr/>
          <p:nvPr/>
        </p:nvSpPr>
        <p:spPr>
          <a:xfrm>
            <a:off x="274320" y="3566160"/>
            <a:ext cx="8595360" cy="502920"/>
          </a:xfrm>
          <a:prstGeom prst="rect">
            <a:avLst/>
          </a:prstGeom>
          <a:solidFill>
            <a:srgbClr val="F8FAFC"/>
          </a:solidFill>
          <a:ln/>
        </p:spPr>
      </p:sp>
      <p:sp>
        <p:nvSpPr>
          <p:cNvPr id="35" name="Text 33"/>
          <p:cNvSpPr/>
          <p:nvPr/>
        </p:nvSpPr>
        <p:spPr>
          <a:xfrm>
            <a:off x="274320" y="356616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Architect</a:t>
            </a:r>
            <a:endParaRPr lang="en-US" sz="1000" dirty="0"/>
          </a:p>
        </p:txBody>
      </p:sp>
      <p:sp>
        <p:nvSpPr>
          <p:cNvPr id="36" name="Shape 34"/>
          <p:cNvSpPr/>
          <p:nvPr/>
        </p:nvSpPr>
        <p:spPr>
          <a:xfrm>
            <a:off x="2194560" y="3675888"/>
            <a:ext cx="914400" cy="274320"/>
          </a:xfrm>
          <a:prstGeom prst="roundRect">
            <a:avLst>
              <a:gd name="adj" fmla="val 16667"/>
            </a:avLst>
          </a:prstGeom>
          <a:solidFill>
            <a:srgbClr val="F59E0B"/>
          </a:solidFill>
          <a:ln/>
        </p:spPr>
      </p:sp>
      <p:sp>
        <p:nvSpPr>
          <p:cNvPr id="37" name="Text 35"/>
          <p:cNvSpPr/>
          <p:nvPr/>
        </p:nvSpPr>
        <p:spPr>
          <a:xfrm>
            <a:off x="2194560" y="367588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ACCELERATES</a:t>
            </a:r>
            <a:endParaRPr lang="en-US" sz="700" dirty="0"/>
          </a:p>
        </p:txBody>
      </p:sp>
      <p:sp>
        <p:nvSpPr>
          <p:cNvPr id="38" name="Text 36"/>
          <p:cNvSpPr/>
          <p:nvPr/>
        </p:nvSpPr>
        <p:spPr>
          <a:xfrm>
            <a:off x="3200400" y="356616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Architect agent drafts architecture doc. Architect validates, refines, makes final decisions</a:t>
            </a:r>
            <a:endParaRPr lang="en-US" sz="900" dirty="0"/>
          </a:p>
        </p:txBody>
      </p:sp>
      <p:sp>
        <p:nvSpPr>
          <p:cNvPr id="39" name="Text 37"/>
          <p:cNvSpPr/>
          <p:nvPr/>
        </p:nvSpPr>
        <p:spPr>
          <a:xfrm>
            <a:off x="7132320" y="356616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AI proposes, human decides</a:t>
            </a:r>
            <a:endParaRPr lang="en-US" sz="800" dirty="0"/>
          </a:p>
        </p:txBody>
      </p:sp>
      <p:sp>
        <p:nvSpPr>
          <p:cNvPr id="40" name="Shape 38"/>
          <p:cNvSpPr/>
          <p:nvPr/>
        </p:nvSpPr>
        <p:spPr>
          <a:xfrm>
            <a:off x="274320" y="4114800"/>
            <a:ext cx="8595360" cy="502920"/>
          </a:xfrm>
          <a:prstGeom prst="rect">
            <a:avLst/>
          </a:prstGeom>
          <a:solidFill>
            <a:srgbClr val="FFFFFF"/>
          </a:solidFill>
          <a:ln/>
        </p:spPr>
      </p:sp>
      <p:sp>
        <p:nvSpPr>
          <p:cNvPr id="41" name="Text 39"/>
          <p:cNvSpPr/>
          <p:nvPr/>
        </p:nvSpPr>
        <p:spPr>
          <a:xfrm>
            <a:off x="274320" y="4114800"/>
            <a:ext cx="1828800" cy="502920"/>
          </a:xfrm>
          <a:prstGeom prst="rect">
            <a:avLst/>
          </a:prstGeom>
          <a:noFill/>
          <a:ln/>
        </p:spPr>
        <p:txBody>
          <a:bodyPr wrap="square" lIns="0" tIns="76200" rIns="7620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QA / Test Engineer</a:t>
            </a:r>
            <a:endParaRPr lang="en-US" sz="1000" dirty="0"/>
          </a:p>
        </p:txBody>
      </p:sp>
      <p:sp>
        <p:nvSpPr>
          <p:cNvPr id="42" name="Shape 40"/>
          <p:cNvSpPr/>
          <p:nvPr/>
        </p:nvSpPr>
        <p:spPr>
          <a:xfrm>
            <a:off x="2194560" y="4224528"/>
            <a:ext cx="914400" cy="274320"/>
          </a:xfrm>
          <a:prstGeom prst="roundRect">
            <a:avLst>
              <a:gd name="adj" fmla="val 16667"/>
            </a:avLst>
          </a:prstGeom>
          <a:solidFill>
            <a:srgbClr val="F59E0B"/>
          </a:solidFill>
          <a:ln/>
        </p:spPr>
      </p:sp>
      <p:sp>
        <p:nvSpPr>
          <p:cNvPr id="43" name="Text 41"/>
          <p:cNvSpPr/>
          <p:nvPr/>
        </p:nvSpPr>
        <p:spPr>
          <a:xfrm>
            <a:off x="2194560" y="4224528"/>
            <a:ext cx="914400" cy="27432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ACCELERATES</a:t>
            </a:r>
            <a:endParaRPr lang="en-US" sz="700" dirty="0"/>
          </a:p>
        </p:txBody>
      </p:sp>
      <p:sp>
        <p:nvSpPr>
          <p:cNvPr id="44" name="Text 42"/>
          <p:cNvSpPr/>
          <p:nvPr/>
        </p:nvSpPr>
        <p:spPr>
          <a:xfrm>
            <a:off x="3200400" y="4114800"/>
            <a:ext cx="3931920" cy="502920"/>
          </a:xfrm>
          <a:prstGeom prst="rect">
            <a:avLst/>
          </a:prstGeom>
          <a:noFill/>
          <a:ln/>
        </p:spPr>
        <p:txBody>
          <a:bodyPr wrap="square" lIns="0" tIns="76200" rIns="7620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AI generates test plans from AC. QA validates coverage, designs edge cases, runs system tests</a:t>
            </a:r>
            <a:endParaRPr lang="en-US" sz="900" dirty="0"/>
          </a:p>
        </p:txBody>
      </p:sp>
      <p:sp>
        <p:nvSpPr>
          <p:cNvPr id="45" name="Text 43"/>
          <p:cNvSpPr/>
          <p:nvPr/>
        </p:nvSpPr>
        <p:spPr>
          <a:xfrm>
            <a:off x="7132320" y="4114800"/>
            <a:ext cx="1737360" cy="502920"/>
          </a:xfrm>
          <a:prstGeom prst="rect">
            <a:avLst/>
          </a:prstGeom>
          <a:noFill/>
          <a:ln/>
        </p:spPr>
        <p:txBody>
          <a:bodyPr wrap="square" lIns="0" tIns="50800" rIns="5080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Shift from writing to validating</a:t>
            </a:r>
            <a:endParaRPr lang="en-US" sz="800" dirty="0"/>
          </a:p>
        </p:txBody>
      </p:sp>
      <p:sp>
        <p:nvSpPr>
          <p:cNvPr id="46" name="Shape 44"/>
          <p:cNvSpPr/>
          <p:nvPr/>
        </p:nvSpPr>
        <p:spPr>
          <a:xfrm>
            <a:off x="274320" y="4663440"/>
            <a:ext cx="8595360" cy="9144"/>
          </a:xfrm>
          <a:prstGeom prst="rect">
            <a:avLst/>
          </a:prstGeom>
          <a:solidFill>
            <a:srgbClr val="CBD5E1"/>
          </a:solidFill>
          <a:ln/>
        </p:spPr>
      </p:sp>
      <p:sp>
        <p:nvSpPr>
          <p:cNvPr id="47" name="Text 45"/>
          <p:cNvSpPr/>
          <p:nvPr/>
        </p:nvSpPr>
        <p:spPr>
          <a:xfrm>
            <a:off x="274320" y="4709160"/>
            <a:ext cx="859536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The organizational structure stays the same. The speed and capacity of each role increases dramatically.</a:t>
            </a:r>
            <a:endParaRPr lang="en-US" sz="1000" dirty="0"/>
          </a:p>
        </p:txBody>
      </p:sp>
      <p:sp>
        <p:nvSpPr>
          <p:cNvPr id="48" name="Text 4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30 / 93</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AI-Enhanced Sprints — What Changes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Same Agile framework. Different capacity.</a:t>
            </a:r>
            <a:endParaRPr lang="en-US" sz="1300" dirty="0"/>
          </a:p>
        </p:txBody>
      </p:sp>
      <p:sp>
        <p:nvSpPr>
          <p:cNvPr id="5" name="Shape 3"/>
          <p:cNvSpPr/>
          <p:nvPr/>
        </p:nvSpPr>
        <p:spPr>
          <a:xfrm>
            <a:off x="457200" y="1234440"/>
            <a:ext cx="8229600" cy="7772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54864" cy="777240"/>
          </a:xfrm>
          <a:prstGeom prst="rect">
            <a:avLst/>
          </a:prstGeom>
          <a:solidFill>
            <a:srgbClr val="3B82F6"/>
          </a:solidFill>
          <a:ln/>
        </p:spPr>
      </p:sp>
      <p:sp>
        <p:nvSpPr>
          <p:cNvPr id="7" name="Shape 5"/>
          <p:cNvSpPr/>
          <p:nvPr/>
        </p:nvSpPr>
        <p:spPr>
          <a:xfrm>
            <a:off x="685800" y="1371600"/>
            <a:ext cx="502920" cy="502920"/>
          </a:xfrm>
          <a:prstGeom prst="ellipse">
            <a:avLst/>
          </a:prstGeom>
          <a:solidFill>
            <a:srgbClr val="3B82F6"/>
          </a:solidFill>
          <a:ln/>
        </p:spPr>
      </p:sp>
      <p:pic>
        <p:nvPicPr>
          <p:cNvPr id="8" name="Image 0" descr="preencoded.png">    </p:cNvPr>
          <p:cNvPicPr>
            <a:picLocks noChangeAspect="1"/>
          </p:cNvPicPr>
          <p:nvPr/>
        </p:nvPicPr>
        <p:blipFill>
          <a:blip r:embed="rId1"/>
          <a:stretch>
            <a:fillRect/>
          </a:stretch>
        </p:blipFill>
        <p:spPr>
          <a:xfrm>
            <a:off x="795528" y="1481328"/>
            <a:ext cx="274320" cy="274320"/>
          </a:xfrm>
          <a:prstGeom prst="rect">
            <a:avLst/>
          </a:prstGeom>
        </p:spPr>
      </p:pic>
      <p:sp>
        <p:nvSpPr>
          <p:cNvPr id="9" name="Text 6"/>
          <p:cNvSpPr/>
          <p:nvPr/>
        </p:nvSpPr>
        <p:spPr>
          <a:xfrm>
            <a:off x="1371600" y="12801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Shorter Sprints, More Stories</a:t>
            </a:r>
            <a:endParaRPr lang="en-US" sz="1300" dirty="0"/>
          </a:p>
        </p:txBody>
      </p:sp>
      <p:sp>
        <p:nvSpPr>
          <p:cNvPr id="10" name="Text 7"/>
          <p:cNvSpPr/>
          <p:nvPr/>
        </p:nvSpPr>
        <p:spPr>
          <a:xfrm>
            <a:off x="1371600" y="1554480"/>
            <a:ext cx="7040880" cy="411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When AI agents handle implementation, what took 2 weeks can be done in 1. Sprint duration can shrink, or the same sprint holds significantly more stories. Velocity metrics will need recalibration.</a:t>
            </a:r>
            <a:endParaRPr lang="en-US" sz="950" dirty="0"/>
          </a:p>
        </p:txBody>
      </p:sp>
      <p:sp>
        <p:nvSpPr>
          <p:cNvPr id="11" name="Shape 8"/>
          <p:cNvSpPr/>
          <p:nvPr/>
        </p:nvSpPr>
        <p:spPr>
          <a:xfrm>
            <a:off x="457200" y="2148840"/>
            <a:ext cx="8229600" cy="7772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2" name="Shape 9"/>
          <p:cNvSpPr/>
          <p:nvPr/>
        </p:nvSpPr>
        <p:spPr>
          <a:xfrm>
            <a:off x="457200" y="2148840"/>
            <a:ext cx="54864" cy="777240"/>
          </a:xfrm>
          <a:prstGeom prst="rect">
            <a:avLst/>
          </a:prstGeom>
          <a:solidFill>
            <a:srgbClr val="8B5CF6"/>
          </a:solidFill>
          <a:ln/>
        </p:spPr>
      </p:sp>
      <p:sp>
        <p:nvSpPr>
          <p:cNvPr id="13" name="Shape 10"/>
          <p:cNvSpPr/>
          <p:nvPr/>
        </p:nvSpPr>
        <p:spPr>
          <a:xfrm>
            <a:off x="685800" y="2286000"/>
            <a:ext cx="502920" cy="502920"/>
          </a:xfrm>
          <a:prstGeom prst="ellipse">
            <a:avLst/>
          </a:prstGeom>
          <a:solidFill>
            <a:srgbClr val="8B5CF6"/>
          </a:solidFill>
          <a:ln/>
        </p:spPr>
      </p:sp>
      <p:pic>
        <p:nvPicPr>
          <p:cNvPr id="14" name="Image 1" descr="preencoded.png">    </p:cNvPr>
          <p:cNvPicPr>
            <a:picLocks noChangeAspect="1"/>
          </p:cNvPicPr>
          <p:nvPr/>
        </p:nvPicPr>
        <p:blipFill>
          <a:blip r:embed="rId2"/>
          <a:stretch>
            <a:fillRect/>
          </a:stretch>
        </p:blipFill>
        <p:spPr>
          <a:xfrm>
            <a:off x="795528" y="2395728"/>
            <a:ext cx="274320" cy="274320"/>
          </a:xfrm>
          <a:prstGeom prst="rect">
            <a:avLst/>
          </a:prstGeom>
        </p:spPr>
      </p:pic>
      <p:sp>
        <p:nvSpPr>
          <p:cNvPr id="15" name="Text 11"/>
          <p:cNvSpPr/>
          <p:nvPr/>
        </p:nvSpPr>
        <p:spPr>
          <a:xfrm>
            <a:off x="1371600" y="21945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Planning Involves Everyone</a:t>
            </a:r>
            <a:endParaRPr lang="en-US" sz="1300" dirty="0"/>
          </a:p>
        </p:txBody>
      </p:sp>
      <p:sp>
        <p:nvSpPr>
          <p:cNvPr id="16" name="Text 12"/>
          <p:cNvSpPr/>
          <p:nvPr/>
        </p:nvSpPr>
        <p:spPr>
          <a:xfrm>
            <a:off x="1371600" y="2468880"/>
            <a:ext cx="7040880" cy="411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Product Manager, developers, architect, QA — all participate in planning. With AI agents doing the heavy lifting, the planning meeting focuses more on what to build and why, not who has bandwidth.</a:t>
            </a:r>
            <a:endParaRPr lang="en-US" sz="950" dirty="0"/>
          </a:p>
        </p:txBody>
      </p:sp>
      <p:sp>
        <p:nvSpPr>
          <p:cNvPr id="17" name="Shape 13"/>
          <p:cNvSpPr/>
          <p:nvPr/>
        </p:nvSpPr>
        <p:spPr>
          <a:xfrm>
            <a:off x="457200" y="3063240"/>
            <a:ext cx="8229600" cy="7772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4"/>
          <p:cNvSpPr/>
          <p:nvPr/>
        </p:nvSpPr>
        <p:spPr>
          <a:xfrm>
            <a:off x="457200" y="3063240"/>
            <a:ext cx="54864" cy="777240"/>
          </a:xfrm>
          <a:prstGeom prst="rect">
            <a:avLst/>
          </a:prstGeom>
          <a:solidFill>
            <a:srgbClr val="10B981"/>
          </a:solidFill>
          <a:ln/>
        </p:spPr>
      </p:sp>
      <p:sp>
        <p:nvSpPr>
          <p:cNvPr id="19" name="Shape 15"/>
          <p:cNvSpPr/>
          <p:nvPr/>
        </p:nvSpPr>
        <p:spPr>
          <a:xfrm>
            <a:off x="685800" y="3200400"/>
            <a:ext cx="502920" cy="502920"/>
          </a:xfrm>
          <a:prstGeom prst="ellipse">
            <a:avLst/>
          </a:prstGeom>
          <a:solidFill>
            <a:srgbClr val="10B981"/>
          </a:solidFill>
          <a:ln/>
        </p:spPr>
      </p:sp>
      <p:pic>
        <p:nvPicPr>
          <p:cNvPr id="20" name="Image 2" descr="preencoded.png">    </p:cNvPr>
          <p:cNvPicPr>
            <a:picLocks noChangeAspect="1"/>
          </p:cNvPicPr>
          <p:nvPr/>
        </p:nvPicPr>
        <p:blipFill>
          <a:blip r:embed="rId3"/>
          <a:stretch>
            <a:fillRect/>
          </a:stretch>
        </p:blipFill>
        <p:spPr>
          <a:xfrm>
            <a:off x="795528" y="3310128"/>
            <a:ext cx="274320" cy="274320"/>
          </a:xfrm>
          <a:prstGeom prst="rect">
            <a:avLst/>
          </a:prstGeom>
        </p:spPr>
      </p:pic>
      <p:sp>
        <p:nvSpPr>
          <p:cNvPr id="21" name="Text 16"/>
          <p:cNvSpPr/>
          <p:nvPr/>
        </p:nvSpPr>
        <p:spPr>
          <a:xfrm>
            <a:off x="1371600" y="31089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Easier to Enforce DOR &amp; DOD</a:t>
            </a:r>
            <a:endParaRPr lang="en-US" sz="1300" dirty="0"/>
          </a:p>
        </p:txBody>
      </p:sp>
      <p:sp>
        <p:nvSpPr>
          <p:cNvPr id="22" name="Text 17"/>
          <p:cNvSpPr/>
          <p:nvPr/>
        </p:nvSpPr>
        <p:spPr>
          <a:xfrm>
            <a:off x="1371600" y="3383280"/>
            <a:ext cx="7040880" cy="411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BMAD workflows include built-in checklists and validation steps. The AI agent won’t start a story that doesn’t meet DOR. Code review agents verify DOD criteria automatically. Human discipline replaced by workflow enforcement.</a:t>
            </a:r>
            <a:endParaRPr lang="en-US" sz="950" dirty="0"/>
          </a:p>
        </p:txBody>
      </p:sp>
      <p:sp>
        <p:nvSpPr>
          <p:cNvPr id="23" name="Shape 18"/>
          <p:cNvSpPr/>
          <p:nvPr/>
        </p:nvSpPr>
        <p:spPr>
          <a:xfrm>
            <a:off x="457200" y="3977640"/>
            <a:ext cx="8229600" cy="7772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4" name="Shape 19"/>
          <p:cNvSpPr/>
          <p:nvPr/>
        </p:nvSpPr>
        <p:spPr>
          <a:xfrm>
            <a:off x="457200" y="3977640"/>
            <a:ext cx="54864" cy="777240"/>
          </a:xfrm>
          <a:prstGeom prst="rect">
            <a:avLst/>
          </a:prstGeom>
          <a:solidFill>
            <a:srgbClr val="F59E0B"/>
          </a:solidFill>
          <a:ln/>
        </p:spPr>
      </p:sp>
      <p:sp>
        <p:nvSpPr>
          <p:cNvPr id="25" name="Shape 20"/>
          <p:cNvSpPr/>
          <p:nvPr/>
        </p:nvSpPr>
        <p:spPr>
          <a:xfrm>
            <a:off x="685800" y="4114800"/>
            <a:ext cx="502920" cy="502920"/>
          </a:xfrm>
          <a:prstGeom prst="ellipse">
            <a:avLst/>
          </a:prstGeom>
          <a:solidFill>
            <a:srgbClr val="F59E0B"/>
          </a:solidFill>
          <a:ln/>
        </p:spPr>
      </p:sp>
      <p:pic>
        <p:nvPicPr>
          <p:cNvPr id="26" name="Image 3" descr="preencoded.png">    </p:cNvPr>
          <p:cNvPicPr>
            <a:picLocks noChangeAspect="1"/>
          </p:cNvPicPr>
          <p:nvPr/>
        </p:nvPicPr>
        <p:blipFill>
          <a:blip r:embed="rId4"/>
          <a:stretch>
            <a:fillRect/>
          </a:stretch>
        </p:blipFill>
        <p:spPr>
          <a:xfrm>
            <a:off x="795528" y="4224528"/>
            <a:ext cx="274320" cy="274320"/>
          </a:xfrm>
          <a:prstGeom prst="rect">
            <a:avLst/>
          </a:prstGeom>
        </p:spPr>
      </p:pic>
      <p:sp>
        <p:nvSpPr>
          <p:cNvPr id="27" name="Text 21"/>
          <p:cNvSpPr/>
          <p:nvPr/>
        </p:nvSpPr>
        <p:spPr>
          <a:xfrm>
            <a:off x="1371600" y="40233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Parallel Development is the Norm</a:t>
            </a:r>
            <a:endParaRPr lang="en-US" sz="1300" dirty="0"/>
          </a:p>
        </p:txBody>
      </p:sp>
      <p:sp>
        <p:nvSpPr>
          <p:cNvPr id="28" name="Text 22"/>
          <p:cNvSpPr/>
          <p:nvPr/>
        </p:nvSpPr>
        <p:spPr>
          <a:xfrm>
            <a:off x="1371600" y="4297680"/>
            <a:ext cx="7040880" cy="411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Multiple AI agents work on different stories simultaneously using Git worktrees. A single developer can have 2–3 stories in progress at once, each on its own branch, each managed by its own agent session.</a:t>
            </a:r>
            <a:endParaRPr lang="en-US" sz="950" dirty="0"/>
          </a:p>
        </p:txBody>
      </p:sp>
      <p:sp>
        <p:nvSpPr>
          <p:cNvPr id="29" name="Text 23"/>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Expect 2–5x more stories per sprint — plan accordingly and adjust velocity baselines after the first 2–3 sprints</a:t>
            </a:r>
            <a:endParaRPr lang="en-US" sz="1000" dirty="0"/>
          </a:p>
        </p:txBody>
      </p:sp>
      <p:sp>
        <p:nvSpPr>
          <p:cNvPr id="30" name="Text 2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31 / 93</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Sprint Ceremonies — What Stays the Same</a:t>
            </a:r>
            <a:endParaRPr lang="en-US" sz="2600" dirty="0"/>
          </a:p>
        </p:txBody>
      </p:sp>
      <p:sp>
        <p:nvSpPr>
          <p:cNvPr id="5" name="Shape 3"/>
          <p:cNvSpPr/>
          <p:nvPr/>
        </p:nvSpPr>
        <p:spPr>
          <a:xfrm>
            <a:off x="457200" y="1005840"/>
            <a:ext cx="8229600" cy="502920"/>
          </a:xfrm>
          <a:prstGeom prst="rect">
            <a:avLst/>
          </a:prstGeom>
          <a:solidFill>
            <a:srgbClr val="0F1B2D"/>
          </a:solidFill>
          <a:ln/>
        </p:spPr>
      </p:sp>
      <p:sp>
        <p:nvSpPr>
          <p:cNvPr id="6" name="Text 4"/>
          <p:cNvSpPr/>
          <p:nvPr/>
        </p:nvSpPr>
        <p:spPr>
          <a:xfrm>
            <a:off x="640080" y="1005840"/>
            <a:ext cx="7863840" cy="50292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The Agile structure you know is preserved. AI changes the speed, not the process.</a:t>
            </a:r>
            <a:endParaRPr lang="en-US" sz="1200" dirty="0"/>
          </a:p>
        </p:txBody>
      </p:sp>
      <p:sp>
        <p:nvSpPr>
          <p:cNvPr id="7" name="Shape 5"/>
          <p:cNvSpPr/>
          <p:nvPr/>
        </p:nvSpPr>
        <p:spPr>
          <a:xfrm>
            <a:off x="457200" y="1691640"/>
            <a:ext cx="8229600" cy="4389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548640" y="1801368"/>
            <a:ext cx="219456" cy="219456"/>
          </a:xfrm>
          <a:prstGeom prst="ellipse">
            <a:avLst/>
          </a:prstGeom>
          <a:solidFill>
            <a:srgbClr val="3B82F6"/>
          </a:solidFill>
          <a:ln/>
        </p:spPr>
      </p:sp>
      <p:sp>
        <p:nvSpPr>
          <p:cNvPr id="9" name="Text 7"/>
          <p:cNvSpPr/>
          <p:nvPr/>
        </p:nvSpPr>
        <p:spPr>
          <a:xfrm>
            <a:off x="868680" y="1691640"/>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Sprint Planning</a:t>
            </a:r>
            <a:endParaRPr lang="en-US" sz="1100" dirty="0"/>
          </a:p>
        </p:txBody>
      </p:sp>
      <p:sp>
        <p:nvSpPr>
          <p:cNvPr id="10" name="Text 8"/>
          <p:cNvSpPr/>
          <p:nvPr/>
        </p:nvSpPr>
        <p:spPr>
          <a:xfrm>
            <a:off x="2331720" y="1691640"/>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PM, Developers, Architect, QA</a:t>
            </a:r>
            <a:endParaRPr lang="en-US" sz="850" dirty="0"/>
          </a:p>
        </p:txBody>
      </p:sp>
      <p:sp>
        <p:nvSpPr>
          <p:cNvPr id="11" name="Text 9"/>
          <p:cNvSpPr/>
          <p:nvPr/>
        </p:nvSpPr>
        <p:spPr>
          <a:xfrm>
            <a:off x="4114800" y="1691640"/>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Select stories from prioritized backlog, verify DOR, commit to sprint scope</a:t>
            </a:r>
            <a:endParaRPr lang="en-US" sz="850" dirty="0"/>
          </a:p>
        </p:txBody>
      </p:sp>
      <p:sp>
        <p:nvSpPr>
          <p:cNvPr id="12" name="Text 10"/>
          <p:cNvSpPr/>
          <p:nvPr/>
        </p:nvSpPr>
        <p:spPr>
          <a:xfrm>
            <a:off x="7452360" y="1691640"/>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JIRA / sprint-status.yaml</a:t>
            </a:r>
            <a:endParaRPr lang="en-US" sz="800" dirty="0"/>
          </a:p>
        </p:txBody>
      </p:sp>
      <p:sp>
        <p:nvSpPr>
          <p:cNvPr id="13" name="Shape 11"/>
          <p:cNvSpPr/>
          <p:nvPr/>
        </p:nvSpPr>
        <p:spPr>
          <a:xfrm>
            <a:off x="457200" y="2167128"/>
            <a:ext cx="8229600" cy="438912"/>
          </a:xfrm>
          <a:prstGeom prst="rect">
            <a:avLst/>
          </a:prstGeom>
          <a:solidFill>
            <a:srgbClr val="F8FAFC"/>
          </a:solidFill>
          <a:ln/>
        </p:spPr>
      </p:sp>
      <p:sp>
        <p:nvSpPr>
          <p:cNvPr id="14" name="Shape 12"/>
          <p:cNvSpPr/>
          <p:nvPr/>
        </p:nvSpPr>
        <p:spPr>
          <a:xfrm>
            <a:off x="548640" y="2276856"/>
            <a:ext cx="219456" cy="219456"/>
          </a:xfrm>
          <a:prstGeom prst="ellipse">
            <a:avLst/>
          </a:prstGeom>
          <a:solidFill>
            <a:srgbClr val="8B5CF6"/>
          </a:solidFill>
          <a:ln/>
        </p:spPr>
      </p:sp>
      <p:sp>
        <p:nvSpPr>
          <p:cNvPr id="15" name="Text 13"/>
          <p:cNvSpPr/>
          <p:nvPr/>
        </p:nvSpPr>
        <p:spPr>
          <a:xfrm>
            <a:off x="868680" y="2167128"/>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Daily Standup</a:t>
            </a:r>
            <a:endParaRPr lang="en-US" sz="1100" dirty="0"/>
          </a:p>
        </p:txBody>
      </p:sp>
      <p:sp>
        <p:nvSpPr>
          <p:cNvPr id="16" name="Text 14"/>
          <p:cNvSpPr/>
          <p:nvPr/>
        </p:nvSpPr>
        <p:spPr>
          <a:xfrm>
            <a:off x="2331720" y="2167128"/>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Scrum Master, Dev Team</a:t>
            </a:r>
            <a:endParaRPr lang="en-US" sz="850" dirty="0"/>
          </a:p>
        </p:txBody>
      </p:sp>
      <p:sp>
        <p:nvSpPr>
          <p:cNvPr id="17" name="Text 15"/>
          <p:cNvSpPr/>
          <p:nvPr/>
        </p:nvSpPr>
        <p:spPr>
          <a:xfrm>
            <a:off x="4114800" y="2167128"/>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Progress update, blockers, coordination. AI agent status included in updates</a:t>
            </a:r>
            <a:endParaRPr lang="en-US" sz="850" dirty="0"/>
          </a:p>
        </p:txBody>
      </p:sp>
      <p:sp>
        <p:nvSpPr>
          <p:cNvPr id="18" name="Text 16"/>
          <p:cNvSpPr/>
          <p:nvPr/>
        </p:nvSpPr>
        <p:spPr>
          <a:xfrm>
            <a:off x="7452360" y="2167128"/>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Scrum Board</a:t>
            </a:r>
            <a:endParaRPr lang="en-US" sz="800" dirty="0"/>
          </a:p>
        </p:txBody>
      </p:sp>
      <p:sp>
        <p:nvSpPr>
          <p:cNvPr id="19" name="Shape 17"/>
          <p:cNvSpPr/>
          <p:nvPr/>
        </p:nvSpPr>
        <p:spPr>
          <a:xfrm>
            <a:off x="457200" y="2642616"/>
            <a:ext cx="8229600" cy="4389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548640" y="2752344"/>
            <a:ext cx="219456" cy="219456"/>
          </a:xfrm>
          <a:prstGeom prst="ellipse">
            <a:avLst/>
          </a:prstGeom>
          <a:solidFill>
            <a:srgbClr val="10B981"/>
          </a:solidFill>
          <a:ln/>
        </p:spPr>
      </p:sp>
      <p:sp>
        <p:nvSpPr>
          <p:cNvPr id="21" name="Text 19"/>
          <p:cNvSpPr/>
          <p:nvPr/>
        </p:nvSpPr>
        <p:spPr>
          <a:xfrm>
            <a:off x="868680" y="2642616"/>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Sprint Demo</a:t>
            </a:r>
            <a:endParaRPr lang="en-US" sz="1100" dirty="0"/>
          </a:p>
        </p:txBody>
      </p:sp>
      <p:sp>
        <p:nvSpPr>
          <p:cNvPr id="22" name="Text 20"/>
          <p:cNvSpPr/>
          <p:nvPr/>
        </p:nvSpPr>
        <p:spPr>
          <a:xfrm>
            <a:off x="2331720" y="2642616"/>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PM, Stakeholders, Dev Team</a:t>
            </a:r>
            <a:endParaRPr lang="en-US" sz="850" dirty="0"/>
          </a:p>
        </p:txBody>
      </p:sp>
      <p:sp>
        <p:nvSpPr>
          <p:cNvPr id="23" name="Text 21"/>
          <p:cNvSpPr/>
          <p:nvPr/>
        </p:nvSpPr>
        <p:spPr>
          <a:xfrm>
            <a:off x="4114800" y="2642616"/>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Demonstrate completed stories. Same criteria: working software, not slides</a:t>
            </a:r>
            <a:endParaRPr lang="en-US" sz="850" dirty="0"/>
          </a:p>
        </p:txBody>
      </p:sp>
      <p:sp>
        <p:nvSpPr>
          <p:cNvPr id="24" name="Text 22"/>
          <p:cNvSpPr/>
          <p:nvPr/>
        </p:nvSpPr>
        <p:spPr>
          <a:xfrm>
            <a:off x="7452360" y="2642616"/>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Live environment</a:t>
            </a:r>
            <a:endParaRPr lang="en-US" sz="800" dirty="0"/>
          </a:p>
        </p:txBody>
      </p:sp>
      <p:sp>
        <p:nvSpPr>
          <p:cNvPr id="25" name="Shape 23"/>
          <p:cNvSpPr/>
          <p:nvPr/>
        </p:nvSpPr>
        <p:spPr>
          <a:xfrm>
            <a:off x="457200" y="3118104"/>
            <a:ext cx="8229600" cy="438912"/>
          </a:xfrm>
          <a:prstGeom prst="rect">
            <a:avLst/>
          </a:prstGeom>
          <a:solidFill>
            <a:srgbClr val="F8FAFC"/>
          </a:solidFill>
          <a:ln/>
        </p:spPr>
      </p:sp>
      <p:sp>
        <p:nvSpPr>
          <p:cNvPr id="26" name="Shape 24"/>
          <p:cNvSpPr/>
          <p:nvPr/>
        </p:nvSpPr>
        <p:spPr>
          <a:xfrm>
            <a:off x="548640" y="3227832"/>
            <a:ext cx="219456" cy="219456"/>
          </a:xfrm>
          <a:prstGeom prst="ellipse">
            <a:avLst/>
          </a:prstGeom>
          <a:solidFill>
            <a:srgbClr val="F59E0B"/>
          </a:solidFill>
          <a:ln/>
        </p:spPr>
      </p:sp>
      <p:sp>
        <p:nvSpPr>
          <p:cNvPr id="27" name="Text 25"/>
          <p:cNvSpPr/>
          <p:nvPr/>
        </p:nvSpPr>
        <p:spPr>
          <a:xfrm>
            <a:off x="868680" y="3118104"/>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Sprint Retro</a:t>
            </a:r>
            <a:endParaRPr lang="en-US" sz="1100" dirty="0"/>
          </a:p>
        </p:txBody>
      </p:sp>
      <p:sp>
        <p:nvSpPr>
          <p:cNvPr id="28" name="Text 26"/>
          <p:cNvSpPr/>
          <p:nvPr/>
        </p:nvSpPr>
        <p:spPr>
          <a:xfrm>
            <a:off x="2331720" y="3118104"/>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Scrum Master, Full Team</a:t>
            </a:r>
            <a:endParaRPr lang="en-US" sz="850" dirty="0"/>
          </a:p>
        </p:txBody>
      </p:sp>
      <p:sp>
        <p:nvSpPr>
          <p:cNvPr id="29" name="Text 27"/>
          <p:cNvSpPr/>
          <p:nvPr/>
        </p:nvSpPr>
        <p:spPr>
          <a:xfrm>
            <a:off x="4114800" y="3118104"/>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What worked, what didn’t, what to improve. Include AI workflow lessons learned</a:t>
            </a:r>
            <a:endParaRPr lang="en-US" sz="850" dirty="0"/>
          </a:p>
        </p:txBody>
      </p:sp>
      <p:sp>
        <p:nvSpPr>
          <p:cNvPr id="30" name="Text 28"/>
          <p:cNvSpPr/>
          <p:nvPr/>
        </p:nvSpPr>
        <p:spPr>
          <a:xfrm>
            <a:off x="7452360" y="3118104"/>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Retro board</a:t>
            </a:r>
            <a:endParaRPr lang="en-US" sz="800" dirty="0"/>
          </a:p>
        </p:txBody>
      </p:sp>
      <p:sp>
        <p:nvSpPr>
          <p:cNvPr id="31" name="Shape 29"/>
          <p:cNvSpPr/>
          <p:nvPr/>
        </p:nvSpPr>
        <p:spPr>
          <a:xfrm>
            <a:off x="457200" y="3593592"/>
            <a:ext cx="8229600" cy="43891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548640" y="3703320"/>
            <a:ext cx="219456" cy="219456"/>
          </a:xfrm>
          <a:prstGeom prst="ellipse">
            <a:avLst/>
          </a:prstGeom>
          <a:solidFill>
            <a:srgbClr val="EF4444"/>
          </a:solidFill>
          <a:ln/>
        </p:spPr>
      </p:sp>
      <p:sp>
        <p:nvSpPr>
          <p:cNvPr id="33" name="Text 31"/>
          <p:cNvSpPr/>
          <p:nvPr/>
        </p:nvSpPr>
        <p:spPr>
          <a:xfrm>
            <a:off x="868680" y="3593592"/>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Product Release</a:t>
            </a:r>
            <a:endParaRPr lang="en-US" sz="1100" dirty="0"/>
          </a:p>
        </p:txBody>
      </p:sp>
      <p:sp>
        <p:nvSpPr>
          <p:cNvPr id="34" name="Text 32"/>
          <p:cNvSpPr/>
          <p:nvPr/>
        </p:nvSpPr>
        <p:spPr>
          <a:xfrm>
            <a:off x="2331720" y="3593592"/>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PM, Project Lead, DevOps</a:t>
            </a:r>
            <a:endParaRPr lang="en-US" sz="850" dirty="0"/>
          </a:p>
        </p:txBody>
      </p:sp>
      <p:sp>
        <p:nvSpPr>
          <p:cNvPr id="35" name="Text 33"/>
          <p:cNvSpPr/>
          <p:nvPr/>
        </p:nvSpPr>
        <p:spPr>
          <a:xfrm>
            <a:off x="4114800" y="3593592"/>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Bundle tested sprints into versioned release. Same release notes, same sign-off</a:t>
            </a:r>
            <a:endParaRPr lang="en-US" sz="850" dirty="0"/>
          </a:p>
        </p:txBody>
      </p:sp>
      <p:sp>
        <p:nvSpPr>
          <p:cNvPr id="36" name="Text 34"/>
          <p:cNvSpPr/>
          <p:nvPr/>
        </p:nvSpPr>
        <p:spPr>
          <a:xfrm>
            <a:off x="7452360" y="3593592"/>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Git tags / CI pipeline</a:t>
            </a:r>
            <a:endParaRPr lang="en-US" sz="800" dirty="0"/>
          </a:p>
        </p:txBody>
      </p:sp>
      <p:sp>
        <p:nvSpPr>
          <p:cNvPr id="37" name="Shape 35"/>
          <p:cNvSpPr/>
          <p:nvPr/>
        </p:nvSpPr>
        <p:spPr>
          <a:xfrm>
            <a:off x="457200" y="4069080"/>
            <a:ext cx="8229600" cy="438912"/>
          </a:xfrm>
          <a:prstGeom prst="rect">
            <a:avLst/>
          </a:prstGeom>
          <a:solidFill>
            <a:srgbClr val="F8FAFC"/>
          </a:solidFill>
          <a:ln/>
        </p:spPr>
      </p:sp>
      <p:sp>
        <p:nvSpPr>
          <p:cNvPr id="38" name="Shape 36"/>
          <p:cNvSpPr/>
          <p:nvPr/>
        </p:nvSpPr>
        <p:spPr>
          <a:xfrm>
            <a:off x="548640" y="4178808"/>
            <a:ext cx="219456" cy="219456"/>
          </a:xfrm>
          <a:prstGeom prst="ellipse">
            <a:avLst/>
          </a:prstGeom>
          <a:solidFill>
            <a:srgbClr val="EC4899"/>
          </a:solidFill>
          <a:ln/>
        </p:spPr>
      </p:sp>
      <p:sp>
        <p:nvSpPr>
          <p:cNvPr id="39" name="Text 37"/>
          <p:cNvSpPr/>
          <p:nvPr/>
        </p:nvSpPr>
        <p:spPr>
          <a:xfrm>
            <a:off x="868680" y="4069080"/>
            <a:ext cx="1463040" cy="43891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Backlog Grooming</a:t>
            </a:r>
            <a:endParaRPr lang="en-US" sz="1100" dirty="0"/>
          </a:p>
        </p:txBody>
      </p:sp>
      <p:sp>
        <p:nvSpPr>
          <p:cNvPr id="40" name="Text 38"/>
          <p:cNvSpPr/>
          <p:nvPr/>
        </p:nvSpPr>
        <p:spPr>
          <a:xfrm>
            <a:off x="2331720" y="4069080"/>
            <a:ext cx="1737360" cy="43891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PM, Architect, Dev Leads</a:t>
            </a:r>
            <a:endParaRPr lang="en-US" sz="850" dirty="0"/>
          </a:p>
        </p:txBody>
      </p:sp>
      <p:sp>
        <p:nvSpPr>
          <p:cNvPr id="41" name="Text 39"/>
          <p:cNvSpPr/>
          <p:nvPr/>
        </p:nvSpPr>
        <p:spPr>
          <a:xfrm>
            <a:off x="4114800" y="4069080"/>
            <a:ext cx="3291840" cy="43891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Refine upcoming stories, break down epics, re-prioritize based on feedback</a:t>
            </a:r>
            <a:endParaRPr lang="en-US" sz="850" dirty="0"/>
          </a:p>
        </p:txBody>
      </p:sp>
      <p:sp>
        <p:nvSpPr>
          <p:cNvPr id="42" name="Text 40"/>
          <p:cNvSpPr/>
          <p:nvPr/>
        </p:nvSpPr>
        <p:spPr>
          <a:xfrm>
            <a:off x="7452360" y="4069080"/>
            <a:ext cx="1188720" cy="43891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JIRA / BMAD docs</a:t>
            </a:r>
            <a:endParaRPr lang="en-US" sz="800" dirty="0"/>
          </a:p>
        </p:txBody>
      </p:sp>
      <p:sp>
        <p:nvSpPr>
          <p:cNvPr id="43" name="Shape 41"/>
          <p:cNvSpPr/>
          <p:nvPr/>
        </p:nvSpPr>
        <p:spPr>
          <a:xfrm>
            <a:off x="457200" y="4572000"/>
            <a:ext cx="8229600" cy="411480"/>
          </a:xfrm>
          <a:prstGeom prst="rect">
            <a:avLst/>
          </a:prstGeom>
          <a:solidFill>
            <a:srgbClr val="0F1B2D"/>
          </a:solidFill>
          <a:ln/>
        </p:spPr>
      </p:sp>
      <p:sp>
        <p:nvSpPr>
          <p:cNvPr id="44" name="Text 42"/>
          <p:cNvSpPr/>
          <p:nvPr/>
        </p:nvSpPr>
        <p:spPr>
          <a:xfrm>
            <a:off x="640080" y="4572000"/>
            <a:ext cx="7863840" cy="411480"/>
          </a:xfrm>
          <a:prstGeom prst="rect">
            <a:avLst/>
          </a:prstGeom>
          <a:noFill/>
          <a:ln/>
        </p:spPr>
        <p:txBody>
          <a:bodyPr wrap="square"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Don’t invent new processes. Keep your Agile ceremonies. Let BMAD accelerate what happens between them.</a:t>
            </a:r>
            <a:endParaRPr lang="en-US" sz="1100" dirty="0"/>
          </a:p>
        </p:txBody>
      </p:sp>
      <p:sp>
        <p:nvSpPr>
          <p:cNvPr id="45" name="Text 4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32 / 93</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BMAD &amp; Enterprise Tooling</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How BMAD integrates with existing enterprise infrastructure</a:t>
            </a:r>
            <a:endParaRPr lang="en-US" sz="1300" dirty="0"/>
          </a:p>
        </p:txBody>
      </p:sp>
      <p:sp>
        <p:nvSpPr>
          <p:cNvPr id="5" name="Shape 3"/>
          <p:cNvSpPr/>
          <p:nvPr/>
        </p:nvSpPr>
        <p:spPr>
          <a:xfrm>
            <a:off x="3017520" y="1371600"/>
            <a:ext cx="3108960" cy="1463040"/>
          </a:xfrm>
          <a:prstGeom prst="rect">
            <a:avLst/>
          </a:prstGeom>
          <a:solidFill>
            <a:srgbClr val="0D9488"/>
          </a:solidFill>
          <a:ln/>
          <a:effectLst>
            <a:outerShdw sx="100000" sy="100000" kx="0" ky="0" algn="bl" rotWithShape="0" blurRad="101600" dist="38100" dir="8100000">
              <a:srgbClr val="000000">
                <a:alpha val="15000"/>
              </a:srgbClr>
            </a:outerShdw>
          </a:effectLst>
        </p:spPr>
      </p:sp>
      <p:sp>
        <p:nvSpPr>
          <p:cNvPr id="6" name="Text 4"/>
          <p:cNvSpPr/>
          <p:nvPr/>
        </p:nvSpPr>
        <p:spPr>
          <a:xfrm>
            <a:off x="3017520" y="1417320"/>
            <a:ext cx="310896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BMAD Documents</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in Git</a:t>
            </a:r>
            <a:endParaRPr lang="en-US" sz="1600" dirty="0"/>
          </a:p>
        </p:txBody>
      </p:sp>
      <p:sp>
        <p:nvSpPr>
          <p:cNvPr id="7" name="Text 5"/>
          <p:cNvSpPr/>
          <p:nvPr/>
        </p:nvSpPr>
        <p:spPr>
          <a:xfrm>
            <a:off x="3017520" y="1920240"/>
            <a:ext cx="3108960" cy="411480"/>
          </a:xfrm>
          <a:prstGeom prst="rect">
            <a:avLst/>
          </a:prstGeom>
          <a:noFill/>
          <a:ln/>
        </p:spPr>
        <p:txBody>
          <a:bodyPr wrap="square" rtlCol="0" anchor="ctr"/>
          <a:lstStyle/>
          <a:p>
            <a:pPr algn="ctr" indent="0" marL="0">
              <a:buNone/>
            </a:pPr>
            <a:r>
              <a:rPr lang="en-US" sz="900" dirty="0">
                <a:solidFill>
                  <a:srgbClr val="CCFBF1"/>
                </a:solidFill>
                <a:latin typeface="Consolas" pitchFamily="34" charset="0"/>
                <a:ea typeface="Consolas" pitchFamily="34" charset="-122"/>
                <a:cs typeface="Consolas" pitchFamily="34" charset="-120"/>
              </a:rPr>
              <a:t>epics.md • story files • architecture.md</a:t>
            </a:r>
            <a:endParaRPr lang="en-US" sz="900" dirty="0"/>
          </a:p>
          <a:p>
            <a:pPr algn="ctr" indent="0" marL="0">
              <a:buNone/>
            </a:pPr>
            <a:r>
              <a:rPr lang="en-US" sz="900" dirty="0">
                <a:solidFill>
                  <a:srgbClr val="CCFBF1"/>
                </a:solidFill>
                <a:latin typeface="Consolas" pitchFamily="34" charset="0"/>
                <a:ea typeface="Consolas" pitchFamily="34" charset="-122"/>
                <a:cs typeface="Consolas" pitchFamily="34" charset="-120"/>
              </a:rPr>
              <a:t>sprint-status.yaml • PRD • UX spec</a:t>
            </a:r>
            <a:endParaRPr lang="en-US" sz="900" dirty="0"/>
          </a:p>
        </p:txBody>
      </p:sp>
      <p:sp>
        <p:nvSpPr>
          <p:cNvPr id="8" name="Text 6"/>
          <p:cNvSpPr/>
          <p:nvPr/>
        </p:nvSpPr>
        <p:spPr>
          <a:xfrm>
            <a:off x="3017520" y="2377440"/>
            <a:ext cx="3108960" cy="320040"/>
          </a:xfrm>
          <a:prstGeom prst="rect">
            <a:avLst/>
          </a:prstGeom>
          <a:noFill/>
          <a:ln/>
        </p:spPr>
        <p:txBody>
          <a:bodyPr wrap="square" rtlCol="0" anchor="ctr"/>
          <a:lstStyle/>
          <a:p>
            <a:pPr algn="ctr" indent="0" marL="0">
              <a:buNone/>
            </a:pPr>
            <a:r>
              <a:rPr lang="en-US" sz="1000" i="1" dirty="0">
                <a:solidFill>
                  <a:srgbClr val="A7F3D0"/>
                </a:solidFill>
                <a:latin typeface="Calibri" pitchFamily="34" charset="0"/>
                <a:ea typeface="Calibri" pitchFamily="34" charset="-122"/>
                <a:cs typeface="Calibri" pitchFamily="34" charset="-120"/>
              </a:rPr>
              <a:t>AI Agent’s source of truth</a:t>
            </a:r>
            <a:endParaRPr lang="en-US" sz="1000" dirty="0"/>
          </a:p>
        </p:txBody>
      </p:sp>
      <p:sp>
        <p:nvSpPr>
          <p:cNvPr id="9" name="Shape 7"/>
          <p:cNvSpPr/>
          <p:nvPr/>
        </p:nvSpPr>
        <p:spPr>
          <a:xfrm>
            <a:off x="274320" y="1554480"/>
            <a:ext cx="228600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0" name="Shape 8"/>
          <p:cNvSpPr/>
          <p:nvPr/>
        </p:nvSpPr>
        <p:spPr>
          <a:xfrm>
            <a:off x="274320" y="1554480"/>
            <a:ext cx="54864" cy="1097280"/>
          </a:xfrm>
          <a:prstGeom prst="rect">
            <a:avLst/>
          </a:prstGeom>
          <a:solidFill>
            <a:srgbClr val="0052CC"/>
          </a:solidFill>
          <a:ln/>
        </p:spPr>
      </p:sp>
      <p:sp>
        <p:nvSpPr>
          <p:cNvPr id="11" name="Text 9"/>
          <p:cNvSpPr/>
          <p:nvPr/>
        </p:nvSpPr>
        <p:spPr>
          <a:xfrm>
            <a:off x="457200" y="1600200"/>
            <a:ext cx="19202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JIRA</a:t>
            </a:r>
            <a:endParaRPr lang="en-US" sz="1400" dirty="0"/>
          </a:p>
        </p:txBody>
      </p:sp>
      <p:sp>
        <p:nvSpPr>
          <p:cNvPr id="12" name="Text 10"/>
          <p:cNvSpPr/>
          <p:nvPr/>
        </p:nvSpPr>
        <p:spPr>
          <a:xfrm>
            <a:off x="457200" y="1920240"/>
            <a:ext cx="1920240" cy="64008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Epics, Stories, Sprint Board</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Status tracking, assignments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Agent creates &amp; updates tickets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via MCP / REST API</a:t>
            </a:r>
            <a:endParaRPr lang="en-US" sz="850" dirty="0"/>
          </a:p>
        </p:txBody>
      </p:sp>
      <p:sp>
        <p:nvSpPr>
          <p:cNvPr id="13" name="Text 11"/>
          <p:cNvSpPr/>
          <p:nvPr/>
        </p:nvSpPr>
        <p:spPr>
          <a:xfrm>
            <a:off x="2606040" y="1828800"/>
            <a:ext cx="411480" cy="457200"/>
          </a:xfrm>
          <a:prstGeom prst="rect">
            <a:avLst/>
          </a:prstGeom>
          <a:noFill/>
          <a:ln/>
        </p:spPr>
        <p:txBody>
          <a:bodyPr wrap="square" rtlCol="0" anchor="ctr"/>
          <a:lstStyle/>
          <a:p>
            <a:pPr algn="ctr" indent="0" marL="0">
              <a:buNone/>
            </a:pPr>
            <a:r>
              <a:rPr lang="en-US" sz="2200" dirty="0">
                <a:solidFill>
                  <a:srgbClr val="0052CC"/>
                </a:solidFill>
              </a:rPr>
              <a:t>↔</a:t>
            </a:r>
            <a:endParaRPr lang="en-US" sz="2200" dirty="0"/>
          </a:p>
        </p:txBody>
      </p:sp>
      <p:sp>
        <p:nvSpPr>
          <p:cNvPr id="14" name="Shape 12"/>
          <p:cNvSpPr/>
          <p:nvPr/>
        </p:nvSpPr>
        <p:spPr>
          <a:xfrm>
            <a:off x="6583680" y="1554480"/>
            <a:ext cx="228600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5" name="Shape 13"/>
          <p:cNvSpPr/>
          <p:nvPr/>
        </p:nvSpPr>
        <p:spPr>
          <a:xfrm>
            <a:off x="6583680" y="1554480"/>
            <a:ext cx="54864" cy="1097280"/>
          </a:xfrm>
          <a:prstGeom prst="rect">
            <a:avLst/>
          </a:prstGeom>
          <a:solidFill>
            <a:srgbClr val="F05032"/>
          </a:solidFill>
          <a:ln/>
        </p:spPr>
      </p:sp>
      <p:sp>
        <p:nvSpPr>
          <p:cNvPr id="16" name="Text 14"/>
          <p:cNvSpPr/>
          <p:nvPr/>
        </p:nvSpPr>
        <p:spPr>
          <a:xfrm>
            <a:off x="6766560" y="1600200"/>
            <a:ext cx="19202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CI/CD Pipeline</a:t>
            </a:r>
            <a:endParaRPr lang="en-US" sz="1400" dirty="0"/>
          </a:p>
        </p:txBody>
      </p:sp>
      <p:sp>
        <p:nvSpPr>
          <p:cNvPr id="17" name="Text 15"/>
          <p:cNvSpPr/>
          <p:nvPr/>
        </p:nvSpPr>
        <p:spPr>
          <a:xfrm>
            <a:off x="6766560" y="1920240"/>
            <a:ext cx="1920240" cy="64008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Jenkins / GitLab CI</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Build, test, deploy</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Unchanged — same pipeline</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whether human or AI wrote code</a:t>
            </a:r>
            <a:endParaRPr lang="en-US" sz="850" dirty="0"/>
          </a:p>
        </p:txBody>
      </p:sp>
      <p:sp>
        <p:nvSpPr>
          <p:cNvPr id="18" name="Text 16"/>
          <p:cNvSpPr/>
          <p:nvPr/>
        </p:nvSpPr>
        <p:spPr>
          <a:xfrm>
            <a:off x="6126480" y="1828800"/>
            <a:ext cx="411480" cy="457200"/>
          </a:xfrm>
          <a:prstGeom prst="rect">
            <a:avLst/>
          </a:prstGeom>
          <a:noFill/>
          <a:ln/>
        </p:spPr>
        <p:txBody>
          <a:bodyPr wrap="square" rtlCol="0" anchor="ctr"/>
          <a:lstStyle/>
          <a:p>
            <a:pPr algn="ctr" indent="0" marL="0">
              <a:buNone/>
            </a:pPr>
            <a:r>
              <a:rPr lang="en-US" sz="2200" dirty="0">
                <a:solidFill>
                  <a:srgbClr val="F05032"/>
                </a:solidFill>
              </a:rPr>
              <a:t>↔</a:t>
            </a:r>
            <a:endParaRPr lang="en-US" sz="2200" dirty="0"/>
          </a:p>
        </p:txBody>
      </p:sp>
      <p:sp>
        <p:nvSpPr>
          <p:cNvPr id="19" name="Shape 17"/>
          <p:cNvSpPr/>
          <p:nvPr/>
        </p:nvSpPr>
        <p:spPr>
          <a:xfrm>
            <a:off x="274320" y="3108960"/>
            <a:ext cx="2651760" cy="12801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0" name="Shape 18"/>
          <p:cNvSpPr/>
          <p:nvPr/>
        </p:nvSpPr>
        <p:spPr>
          <a:xfrm>
            <a:off x="274320" y="3108960"/>
            <a:ext cx="2651760" cy="45720"/>
          </a:xfrm>
          <a:prstGeom prst="rect">
            <a:avLst/>
          </a:prstGeom>
          <a:solidFill>
            <a:srgbClr val="1868DB"/>
          </a:solidFill>
          <a:ln/>
        </p:spPr>
      </p:sp>
      <p:sp>
        <p:nvSpPr>
          <p:cNvPr id="21" name="Text 19"/>
          <p:cNvSpPr/>
          <p:nvPr/>
        </p:nvSpPr>
        <p:spPr>
          <a:xfrm>
            <a:off x="411480" y="320040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Confluence</a:t>
            </a:r>
            <a:endParaRPr lang="en-US" sz="1200" dirty="0"/>
          </a:p>
        </p:txBody>
      </p:sp>
      <p:sp>
        <p:nvSpPr>
          <p:cNvPr id="22" name="Text 20"/>
          <p:cNvSpPr/>
          <p:nvPr/>
        </p:nvSpPr>
        <p:spPr>
          <a:xfrm>
            <a:off x="411480" y="3474720"/>
            <a:ext cx="2377440" cy="5029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Org-level standards,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DOD/DOR definitions,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team guidelines</a:t>
            </a:r>
            <a:endParaRPr lang="en-US" sz="850" dirty="0"/>
          </a:p>
        </p:txBody>
      </p:sp>
      <p:sp>
        <p:nvSpPr>
          <p:cNvPr id="23" name="Text 21"/>
          <p:cNvSpPr/>
          <p:nvPr/>
        </p:nvSpPr>
        <p:spPr>
          <a:xfrm>
            <a:off x="411480" y="4023360"/>
            <a:ext cx="2377440" cy="228600"/>
          </a:xfrm>
          <a:prstGeom prst="rect">
            <a:avLst/>
          </a:prstGeom>
          <a:noFill/>
          <a:ln/>
        </p:spPr>
        <p:txBody>
          <a:bodyPr wrap="square" lIns="0" tIns="0" rIns="0" bIns="0" rtlCol="0" anchor="ctr"/>
          <a:lstStyle/>
          <a:p>
            <a:pPr indent="0" marL="0">
              <a:buNone/>
            </a:pPr>
            <a:r>
              <a:rPr lang="en-US" sz="800" i="1" dirty="0">
                <a:solidFill>
                  <a:srgbClr val="14B8A6"/>
                </a:solidFill>
                <a:latin typeface="Calibri" pitchFamily="34" charset="0"/>
                <a:ea typeface="Calibri" pitchFamily="34" charset="-122"/>
                <a:cs typeface="Calibri" pitchFamily="34" charset="-120"/>
              </a:rPr>
              <a:t>Org knowledge only</a:t>
            </a:r>
            <a:endParaRPr lang="en-US" sz="800" dirty="0"/>
          </a:p>
        </p:txBody>
      </p:sp>
      <p:sp>
        <p:nvSpPr>
          <p:cNvPr id="24" name="Shape 22"/>
          <p:cNvSpPr/>
          <p:nvPr/>
        </p:nvSpPr>
        <p:spPr>
          <a:xfrm>
            <a:off x="3200400" y="3108960"/>
            <a:ext cx="2651760" cy="12801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5" name="Shape 23"/>
          <p:cNvSpPr/>
          <p:nvPr/>
        </p:nvSpPr>
        <p:spPr>
          <a:xfrm>
            <a:off x="3200400" y="3108960"/>
            <a:ext cx="2651760" cy="45720"/>
          </a:xfrm>
          <a:prstGeom prst="rect">
            <a:avLst/>
          </a:prstGeom>
          <a:solidFill>
            <a:srgbClr val="40BE46"/>
          </a:solidFill>
          <a:ln/>
        </p:spPr>
      </p:sp>
      <p:sp>
        <p:nvSpPr>
          <p:cNvPr id="26" name="Text 24"/>
          <p:cNvSpPr/>
          <p:nvPr/>
        </p:nvSpPr>
        <p:spPr>
          <a:xfrm>
            <a:off x="3337560" y="320040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Artifactory</a:t>
            </a:r>
            <a:endParaRPr lang="en-US" sz="1200" dirty="0"/>
          </a:p>
        </p:txBody>
      </p:sp>
      <p:sp>
        <p:nvSpPr>
          <p:cNvPr id="27" name="Text 25"/>
          <p:cNvSpPr/>
          <p:nvPr/>
        </p:nvSpPr>
        <p:spPr>
          <a:xfrm>
            <a:off x="3337560" y="3474720"/>
            <a:ext cx="2377440" cy="5029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Build artifacts, Docker</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images, deployments.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Completely unchanged</a:t>
            </a:r>
            <a:endParaRPr lang="en-US" sz="850" dirty="0"/>
          </a:p>
        </p:txBody>
      </p:sp>
      <p:sp>
        <p:nvSpPr>
          <p:cNvPr id="28" name="Text 26"/>
          <p:cNvSpPr/>
          <p:nvPr/>
        </p:nvSpPr>
        <p:spPr>
          <a:xfrm>
            <a:off x="3337560" y="4023360"/>
            <a:ext cx="2377440" cy="228600"/>
          </a:xfrm>
          <a:prstGeom prst="rect">
            <a:avLst/>
          </a:prstGeom>
          <a:noFill/>
          <a:ln/>
        </p:spPr>
        <p:txBody>
          <a:bodyPr wrap="square" lIns="0" tIns="0" rIns="0" bIns="0" rtlCol="0" anchor="ctr"/>
          <a:lstStyle/>
          <a:p>
            <a:pPr indent="0" marL="0">
              <a:buNone/>
            </a:pPr>
            <a:r>
              <a:rPr lang="en-US" sz="800" i="1" dirty="0">
                <a:solidFill>
                  <a:srgbClr val="14B8A6"/>
                </a:solidFill>
                <a:latin typeface="Calibri" pitchFamily="34" charset="0"/>
                <a:ea typeface="Calibri" pitchFamily="34" charset="-122"/>
                <a:cs typeface="Calibri" pitchFamily="34" charset="-120"/>
              </a:rPr>
              <a:t>Unchanged</a:t>
            </a:r>
            <a:endParaRPr lang="en-US" sz="800" dirty="0"/>
          </a:p>
        </p:txBody>
      </p:sp>
      <p:sp>
        <p:nvSpPr>
          <p:cNvPr id="29" name="Shape 27"/>
          <p:cNvSpPr/>
          <p:nvPr/>
        </p:nvSpPr>
        <p:spPr>
          <a:xfrm>
            <a:off x="6126480" y="3108960"/>
            <a:ext cx="2651760" cy="12801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0" name="Shape 28"/>
          <p:cNvSpPr/>
          <p:nvPr/>
        </p:nvSpPr>
        <p:spPr>
          <a:xfrm>
            <a:off x="6126480" y="3108960"/>
            <a:ext cx="2651760" cy="45720"/>
          </a:xfrm>
          <a:prstGeom prst="rect">
            <a:avLst/>
          </a:prstGeom>
          <a:solidFill>
            <a:srgbClr val="F05032"/>
          </a:solidFill>
          <a:ln/>
        </p:spPr>
      </p:sp>
      <p:sp>
        <p:nvSpPr>
          <p:cNvPr id="31" name="Text 29"/>
          <p:cNvSpPr/>
          <p:nvPr/>
        </p:nvSpPr>
        <p:spPr>
          <a:xfrm>
            <a:off x="6263640" y="320040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Git (GitLab/GitHub)</a:t>
            </a:r>
            <a:endParaRPr lang="en-US" sz="1200" dirty="0"/>
          </a:p>
        </p:txBody>
      </p:sp>
      <p:sp>
        <p:nvSpPr>
          <p:cNvPr id="32" name="Text 30"/>
          <p:cNvSpPr/>
          <p:nvPr/>
        </p:nvSpPr>
        <p:spPr>
          <a:xfrm>
            <a:off x="6263640" y="3474720"/>
            <a:ext cx="2377440" cy="5029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Code + BMAD docs live here.</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More important than ever —</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now both code AND context</a:t>
            </a:r>
            <a:endParaRPr lang="en-US" sz="850" dirty="0"/>
          </a:p>
        </p:txBody>
      </p:sp>
      <p:sp>
        <p:nvSpPr>
          <p:cNvPr id="33" name="Text 31"/>
          <p:cNvSpPr/>
          <p:nvPr/>
        </p:nvSpPr>
        <p:spPr>
          <a:xfrm>
            <a:off x="6263640" y="4023360"/>
            <a:ext cx="2377440" cy="228600"/>
          </a:xfrm>
          <a:prstGeom prst="rect">
            <a:avLst/>
          </a:prstGeom>
          <a:noFill/>
          <a:ln/>
        </p:spPr>
        <p:txBody>
          <a:bodyPr wrap="square" lIns="0" tIns="0" rIns="0" bIns="0" rtlCol="0" anchor="ctr"/>
          <a:lstStyle/>
          <a:p>
            <a:pPr indent="0" marL="0">
              <a:buNone/>
            </a:pPr>
            <a:r>
              <a:rPr lang="en-US" sz="800" i="1" dirty="0">
                <a:solidFill>
                  <a:srgbClr val="14B8A6"/>
                </a:solidFill>
                <a:latin typeface="Calibri" pitchFamily="34" charset="0"/>
                <a:ea typeface="Calibri" pitchFamily="34" charset="-122"/>
                <a:cs typeface="Calibri" pitchFamily="34" charset="-120"/>
              </a:rPr>
              <a:t>Expanded role</a:t>
            </a:r>
            <a:endParaRPr lang="en-US" sz="800" dirty="0"/>
          </a:p>
        </p:txBody>
      </p:sp>
      <p:sp>
        <p:nvSpPr>
          <p:cNvPr id="34" name="Text 32"/>
          <p:cNvSpPr/>
          <p:nvPr/>
        </p:nvSpPr>
        <p:spPr>
          <a:xfrm>
            <a:off x="1371600" y="2880360"/>
            <a:ext cx="274320" cy="228600"/>
          </a:xfrm>
          <a:prstGeom prst="rect">
            <a:avLst/>
          </a:prstGeom>
          <a:noFill/>
          <a:ln/>
        </p:spPr>
        <p:txBody>
          <a:bodyPr wrap="square" rtlCol="0" anchor="ctr"/>
          <a:lstStyle/>
          <a:p>
            <a:pPr algn="ctr" indent="0" marL="0">
              <a:buNone/>
            </a:pPr>
            <a:r>
              <a:rPr lang="en-US" sz="1000" dirty="0">
                <a:solidFill>
                  <a:srgbClr val="0D9488"/>
                </a:solidFill>
              </a:rPr>
              <a:t>▲</a:t>
            </a:r>
            <a:endParaRPr lang="en-US" sz="1000" dirty="0"/>
          </a:p>
        </p:txBody>
      </p:sp>
      <p:sp>
        <p:nvSpPr>
          <p:cNvPr id="35" name="Text 33"/>
          <p:cNvSpPr/>
          <p:nvPr/>
        </p:nvSpPr>
        <p:spPr>
          <a:xfrm>
            <a:off x="4297680" y="2880360"/>
            <a:ext cx="274320" cy="228600"/>
          </a:xfrm>
          <a:prstGeom prst="rect">
            <a:avLst/>
          </a:prstGeom>
          <a:noFill/>
          <a:ln/>
        </p:spPr>
        <p:txBody>
          <a:bodyPr wrap="square" rtlCol="0" anchor="ctr"/>
          <a:lstStyle/>
          <a:p>
            <a:pPr algn="ctr" indent="0" marL="0">
              <a:buNone/>
            </a:pPr>
            <a:r>
              <a:rPr lang="en-US" sz="1000" dirty="0">
                <a:solidFill>
                  <a:srgbClr val="0D9488"/>
                </a:solidFill>
              </a:rPr>
              <a:t>▲</a:t>
            </a:r>
            <a:endParaRPr lang="en-US" sz="1000" dirty="0"/>
          </a:p>
        </p:txBody>
      </p:sp>
      <p:sp>
        <p:nvSpPr>
          <p:cNvPr id="36" name="Text 34"/>
          <p:cNvSpPr/>
          <p:nvPr/>
        </p:nvSpPr>
        <p:spPr>
          <a:xfrm>
            <a:off x="7223760" y="2880360"/>
            <a:ext cx="274320" cy="228600"/>
          </a:xfrm>
          <a:prstGeom prst="rect">
            <a:avLst/>
          </a:prstGeom>
          <a:noFill/>
          <a:ln/>
        </p:spPr>
        <p:txBody>
          <a:bodyPr wrap="square" rtlCol="0" anchor="ctr"/>
          <a:lstStyle/>
          <a:p>
            <a:pPr algn="ctr" indent="0" marL="0">
              <a:buNone/>
            </a:pPr>
            <a:r>
              <a:rPr lang="en-US" sz="1000" dirty="0">
                <a:solidFill>
                  <a:srgbClr val="0D9488"/>
                </a:solidFill>
              </a:rPr>
              <a:t>▲</a:t>
            </a:r>
            <a:endParaRPr lang="en-US" sz="1000" dirty="0"/>
          </a:p>
        </p:txBody>
      </p:sp>
      <p:sp>
        <p:nvSpPr>
          <p:cNvPr id="37" name="Text 35"/>
          <p:cNvSpPr/>
          <p:nvPr/>
        </p:nvSpPr>
        <p:spPr>
          <a:xfrm>
            <a:off x="274320" y="4663440"/>
            <a:ext cx="859536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Most of your tooling stays exactly the same. JIRA gains agent integration. Git gains documentation.</a:t>
            </a:r>
            <a:endParaRPr lang="en-US" sz="1000" dirty="0"/>
          </a:p>
        </p:txBody>
      </p:sp>
      <p:sp>
        <p:nvSpPr>
          <p:cNvPr id="38" name="Text 3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33 / 93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BMAD + JIRA — Agent-Managed Lifecycle</a:t>
            </a:r>
            <a:endParaRPr lang="en-US" sz="2600" dirty="0"/>
          </a:p>
        </p:txBody>
      </p:sp>
      <p:sp>
        <p:nvSpPr>
          <p:cNvPr id="5" name="Shape 3"/>
          <p:cNvSpPr/>
          <p:nvPr/>
        </p:nvSpPr>
        <p:spPr>
          <a:xfrm>
            <a:off x="457200" y="1005840"/>
            <a:ext cx="3840480" cy="731520"/>
          </a:xfrm>
          <a:prstGeom prst="rect">
            <a:avLst/>
          </a:prstGeom>
          <a:solidFill>
            <a:srgbClr val="0F1B2D"/>
          </a:solidFill>
          <a:ln/>
        </p:spPr>
      </p:sp>
      <p:sp>
        <p:nvSpPr>
          <p:cNvPr id="6" name="Text 4"/>
          <p:cNvSpPr/>
          <p:nvPr/>
        </p:nvSpPr>
        <p:spPr>
          <a:xfrm>
            <a:off x="640080" y="1024128"/>
            <a:ext cx="347472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BMAD World (Git)</a:t>
            </a:r>
            <a:endParaRPr lang="en-US" sz="1200" dirty="0"/>
          </a:p>
        </p:txBody>
      </p:sp>
      <p:sp>
        <p:nvSpPr>
          <p:cNvPr id="7" name="Text 5"/>
          <p:cNvSpPr/>
          <p:nvPr/>
        </p:nvSpPr>
        <p:spPr>
          <a:xfrm>
            <a:off x="640080" y="1298448"/>
            <a:ext cx="3474720" cy="36576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Rich content: AC, tasks, arch refs, deps.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AI agents read this to do their work.</a:t>
            </a:r>
            <a:endParaRPr lang="en-US" sz="950" dirty="0"/>
          </a:p>
        </p:txBody>
      </p:sp>
      <p:sp>
        <p:nvSpPr>
          <p:cNvPr id="8" name="Shape 6"/>
          <p:cNvSpPr/>
          <p:nvPr/>
        </p:nvSpPr>
        <p:spPr>
          <a:xfrm>
            <a:off x="4846320" y="1005840"/>
            <a:ext cx="3840480" cy="731520"/>
          </a:xfrm>
          <a:prstGeom prst="rect">
            <a:avLst/>
          </a:prstGeom>
          <a:solidFill>
            <a:srgbClr val="0F1B2D"/>
          </a:solidFill>
          <a:ln/>
        </p:spPr>
      </p:sp>
      <p:sp>
        <p:nvSpPr>
          <p:cNvPr id="9" name="Text 7"/>
          <p:cNvSpPr/>
          <p:nvPr/>
        </p:nvSpPr>
        <p:spPr>
          <a:xfrm>
            <a:off x="5029200" y="1024128"/>
            <a:ext cx="3474720" cy="274320"/>
          </a:xfrm>
          <a:prstGeom prst="rect">
            <a:avLst/>
          </a:prstGeom>
          <a:noFill/>
          <a:ln/>
        </p:spPr>
        <p:txBody>
          <a:bodyPr wrap="square" lIns="0" tIns="0" rIns="0" bIns="0" rtlCol="0" anchor="ctr"/>
          <a:lstStyle/>
          <a:p>
            <a:pPr indent="0" marL="0">
              <a:buNone/>
            </a:pPr>
            <a:r>
              <a:rPr lang="en-US" sz="1200" b="1" dirty="0">
                <a:solidFill>
                  <a:srgbClr val="6DB3F2"/>
                </a:solidFill>
                <a:latin typeface="Calibri" pitchFamily="34" charset="0"/>
                <a:ea typeface="Calibri" pitchFamily="34" charset="-122"/>
                <a:cs typeface="Calibri" pitchFamily="34" charset="-120"/>
              </a:rPr>
              <a:t>JIRA World (Dashboard)</a:t>
            </a:r>
            <a:endParaRPr lang="en-US" sz="1200" dirty="0"/>
          </a:p>
        </p:txBody>
      </p:sp>
      <p:sp>
        <p:nvSpPr>
          <p:cNvPr id="10" name="Text 8"/>
          <p:cNvSpPr/>
          <p:nvPr/>
        </p:nvSpPr>
        <p:spPr>
          <a:xfrm>
            <a:off x="5029200" y="1298448"/>
            <a:ext cx="3474720" cy="36576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Status, assignments, sprint board.</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PMs and stakeholders track progress here.</a:t>
            </a:r>
            <a:endParaRPr lang="en-US" sz="950" dirty="0"/>
          </a:p>
        </p:txBody>
      </p:sp>
      <p:sp>
        <p:nvSpPr>
          <p:cNvPr id="11" name="Shape 9"/>
          <p:cNvSpPr/>
          <p:nvPr/>
        </p:nvSpPr>
        <p:spPr>
          <a:xfrm>
            <a:off x="4343400" y="1143000"/>
            <a:ext cx="457200" cy="457200"/>
          </a:xfrm>
          <a:prstGeom prst="rect">
            <a:avLst/>
          </a:prstGeom>
          <a:solidFill>
            <a:srgbClr val="0D9488"/>
          </a:solidFill>
          <a:ln/>
        </p:spPr>
      </p:sp>
      <p:sp>
        <p:nvSpPr>
          <p:cNvPr id="12" name="Text 10"/>
          <p:cNvSpPr/>
          <p:nvPr/>
        </p:nvSpPr>
        <p:spPr>
          <a:xfrm>
            <a:off x="4343400" y="1143000"/>
            <a:ext cx="457200" cy="457200"/>
          </a:xfrm>
          <a:prstGeom prst="rect">
            <a:avLst/>
          </a:prstGeom>
          <a:noFill/>
          <a:ln/>
        </p:spPr>
        <p:txBody>
          <a:bodyPr wrap="square"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57200" y="1920240"/>
            <a:ext cx="8229600" cy="365760"/>
          </a:xfrm>
          <a:prstGeom prst="rect">
            <a:avLst/>
          </a:prstGeom>
          <a:solidFill>
            <a:srgbClr val="0052CC"/>
          </a:solidFill>
          <a:ln/>
        </p:spPr>
      </p:sp>
      <p:sp>
        <p:nvSpPr>
          <p:cNvPr id="14" name="Text 12"/>
          <p:cNvSpPr/>
          <p:nvPr/>
        </p:nvSpPr>
        <p:spPr>
          <a:xfrm>
            <a:off x="640080" y="1920240"/>
            <a:ext cx="7863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Actions on JIRA (via MCP Server or REST API)</a:t>
            </a:r>
            <a:endParaRPr lang="en-US" sz="1300" dirty="0"/>
          </a:p>
        </p:txBody>
      </p:sp>
      <p:sp>
        <p:nvSpPr>
          <p:cNvPr id="15" name="Shape 13"/>
          <p:cNvSpPr/>
          <p:nvPr/>
        </p:nvSpPr>
        <p:spPr>
          <a:xfrm>
            <a:off x="365760" y="2514600"/>
            <a:ext cx="1371600" cy="640080"/>
          </a:xfrm>
          <a:prstGeom prst="roundRect">
            <a:avLst>
              <a:gd name="adj" fmla="val 11429"/>
            </a:avLst>
          </a:prstGeom>
          <a:solidFill>
            <a:srgbClr val="10B981"/>
          </a:solidFill>
          <a:ln/>
        </p:spPr>
      </p:sp>
      <p:sp>
        <p:nvSpPr>
          <p:cNvPr id="16" name="Text 14"/>
          <p:cNvSpPr/>
          <p:nvPr/>
        </p:nvSpPr>
        <p:spPr>
          <a:xfrm>
            <a:off x="365760" y="2514600"/>
            <a:ext cx="137160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For Dev</a:t>
            </a:r>
            <a:endParaRPr lang="en-US" sz="1100" dirty="0"/>
          </a:p>
        </p:txBody>
      </p:sp>
      <p:sp>
        <p:nvSpPr>
          <p:cNvPr id="17" name="Text 15"/>
          <p:cNvSpPr/>
          <p:nvPr/>
        </p:nvSpPr>
        <p:spPr>
          <a:xfrm>
            <a:off x="1737360" y="2651760"/>
            <a:ext cx="320040" cy="365760"/>
          </a:xfrm>
          <a:prstGeom prst="rect">
            <a:avLst/>
          </a:prstGeom>
          <a:noFill/>
          <a:ln/>
        </p:spPr>
        <p:txBody>
          <a:bodyPr wrap="square" rtlCol="0" anchor="ctr"/>
          <a:lstStyle/>
          <a:p>
            <a:pPr algn="ctr" indent="0" marL="0">
              <a:buNone/>
            </a:pPr>
            <a:r>
              <a:rPr lang="en-US" sz="1200" dirty="0">
                <a:solidFill>
                  <a:srgbClr val="94A3B8"/>
                </a:solidFill>
              </a:rPr>
              <a:t>▶</a:t>
            </a:r>
            <a:endParaRPr lang="en-US" sz="1200" dirty="0"/>
          </a:p>
        </p:txBody>
      </p:sp>
      <p:sp>
        <p:nvSpPr>
          <p:cNvPr id="18" name="Text 16"/>
          <p:cNvSpPr/>
          <p:nvPr/>
        </p:nvSpPr>
        <p:spPr>
          <a:xfrm>
            <a:off x="274320" y="3200400"/>
            <a:ext cx="1554480" cy="411480"/>
          </a:xfrm>
          <a:prstGeom prst="rect">
            <a:avLst/>
          </a:prstGeom>
          <a:noFill/>
          <a:ln/>
        </p:spPr>
        <p:txBody>
          <a:bodyPr wrap="square" lIns="0" tIns="0" rIns="0" bIns="0"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Agent picks story</a:t>
            </a:r>
            <a:endParaRPr lang="en-US" sz="750" dirty="0"/>
          </a:p>
          <a:p>
            <a:pPr algn="ctr" indent="0" marL="0">
              <a:buNone/>
            </a:pPr>
            <a:r>
              <a:rPr lang="en-US" sz="750" dirty="0">
                <a:solidFill>
                  <a:srgbClr val="475569"/>
                </a:solidFill>
                <a:latin typeface="Calibri" pitchFamily="34" charset="0"/>
                <a:ea typeface="Calibri" pitchFamily="34" charset="-122"/>
                <a:cs typeface="Calibri" pitchFamily="34" charset="-120"/>
              </a:rPr>
              <a:t>from sprint backlog</a:t>
            </a:r>
            <a:endParaRPr lang="en-US" sz="750" dirty="0"/>
          </a:p>
        </p:txBody>
      </p:sp>
      <p:sp>
        <p:nvSpPr>
          <p:cNvPr id="19" name="Shape 17"/>
          <p:cNvSpPr/>
          <p:nvPr/>
        </p:nvSpPr>
        <p:spPr>
          <a:xfrm>
            <a:off x="2011680" y="2514600"/>
            <a:ext cx="1371600" cy="640080"/>
          </a:xfrm>
          <a:prstGeom prst="roundRect">
            <a:avLst>
              <a:gd name="adj" fmla="val 11429"/>
            </a:avLst>
          </a:prstGeom>
          <a:solidFill>
            <a:srgbClr val="3B82F6"/>
          </a:solidFill>
          <a:ln/>
        </p:spPr>
      </p:sp>
      <p:sp>
        <p:nvSpPr>
          <p:cNvPr id="20" name="Text 18"/>
          <p:cNvSpPr/>
          <p:nvPr/>
        </p:nvSpPr>
        <p:spPr>
          <a:xfrm>
            <a:off x="2011680" y="2514600"/>
            <a:ext cx="137160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Dev</a:t>
            </a:r>
            <a:endParaRPr lang="en-US" sz="1100" dirty="0"/>
          </a:p>
        </p:txBody>
      </p:sp>
      <p:sp>
        <p:nvSpPr>
          <p:cNvPr id="21" name="Text 19"/>
          <p:cNvSpPr/>
          <p:nvPr/>
        </p:nvSpPr>
        <p:spPr>
          <a:xfrm>
            <a:off x="3383280" y="2651760"/>
            <a:ext cx="320040" cy="365760"/>
          </a:xfrm>
          <a:prstGeom prst="rect">
            <a:avLst/>
          </a:prstGeom>
          <a:noFill/>
          <a:ln/>
        </p:spPr>
        <p:txBody>
          <a:bodyPr wrap="square" rtlCol="0" anchor="ctr"/>
          <a:lstStyle/>
          <a:p>
            <a:pPr algn="ctr" indent="0" marL="0">
              <a:buNone/>
            </a:pPr>
            <a:r>
              <a:rPr lang="en-US" sz="1200" dirty="0">
                <a:solidFill>
                  <a:srgbClr val="94A3B8"/>
                </a:solidFill>
              </a:rPr>
              <a:t>▶</a:t>
            </a:r>
            <a:endParaRPr lang="en-US" sz="1200" dirty="0"/>
          </a:p>
        </p:txBody>
      </p:sp>
      <p:sp>
        <p:nvSpPr>
          <p:cNvPr id="22" name="Text 20"/>
          <p:cNvSpPr/>
          <p:nvPr/>
        </p:nvSpPr>
        <p:spPr>
          <a:xfrm>
            <a:off x="1920240" y="3200400"/>
            <a:ext cx="1554480" cy="411480"/>
          </a:xfrm>
          <a:prstGeom prst="rect">
            <a:avLst/>
          </a:prstGeom>
          <a:noFill/>
          <a:ln/>
        </p:spPr>
        <p:txBody>
          <a:bodyPr wrap="square" lIns="0" tIns="0" rIns="0" bIns="0"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/dev-story starts</a:t>
            </a:r>
            <a:endParaRPr lang="en-US" sz="750" dirty="0"/>
          </a:p>
          <a:p>
            <a:pPr algn="ctr" indent="0" marL="0">
              <a:buNone/>
            </a:pPr>
            <a:r>
              <a:rPr lang="en-US" sz="750" dirty="0">
                <a:solidFill>
                  <a:srgbClr val="475569"/>
                </a:solidFill>
                <a:latin typeface="Calibri" pitchFamily="34" charset="0"/>
                <a:ea typeface="Calibri" pitchFamily="34" charset="-122"/>
                <a:cs typeface="Calibri" pitchFamily="34" charset="-120"/>
              </a:rPr>
              <a:t>Agent moves to In Dev</a:t>
            </a:r>
            <a:endParaRPr lang="en-US" sz="750" dirty="0"/>
          </a:p>
        </p:txBody>
      </p:sp>
      <p:sp>
        <p:nvSpPr>
          <p:cNvPr id="23" name="Shape 21"/>
          <p:cNvSpPr/>
          <p:nvPr/>
        </p:nvSpPr>
        <p:spPr>
          <a:xfrm>
            <a:off x="3657600" y="2514600"/>
            <a:ext cx="1371600" cy="640080"/>
          </a:xfrm>
          <a:prstGeom prst="roundRect">
            <a:avLst>
              <a:gd name="adj" fmla="val 11429"/>
            </a:avLst>
          </a:prstGeom>
          <a:solidFill>
            <a:srgbClr val="F59E0B"/>
          </a:solidFill>
          <a:ln/>
        </p:spPr>
      </p:sp>
      <p:sp>
        <p:nvSpPr>
          <p:cNvPr id="24" name="Text 22"/>
          <p:cNvSpPr/>
          <p:nvPr/>
        </p:nvSpPr>
        <p:spPr>
          <a:xfrm>
            <a:off x="3657600" y="2514600"/>
            <a:ext cx="137160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25" name="Text 23"/>
          <p:cNvSpPr/>
          <p:nvPr/>
        </p:nvSpPr>
        <p:spPr>
          <a:xfrm>
            <a:off x="5029200" y="2651760"/>
            <a:ext cx="320040" cy="365760"/>
          </a:xfrm>
          <a:prstGeom prst="rect">
            <a:avLst/>
          </a:prstGeom>
          <a:noFill/>
          <a:ln/>
        </p:spPr>
        <p:txBody>
          <a:bodyPr wrap="square" rtlCol="0" anchor="ctr"/>
          <a:lstStyle/>
          <a:p>
            <a:pPr algn="ctr" indent="0" marL="0">
              <a:buNone/>
            </a:pPr>
            <a:r>
              <a:rPr lang="en-US" sz="1200" dirty="0">
                <a:solidFill>
                  <a:srgbClr val="94A3B8"/>
                </a:solidFill>
              </a:rPr>
              <a:t>▶</a:t>
            </a:r>
            <a:endParaRPr lang="en-US" sz="1200" dirty="0"/>
          </a:p>
        </p:txBody>
      </p:sp>
      <p:sp>
        <p:nvSpPr>
          <p:cNvPr id="26" name="Text 24"/>
          <p:cNvSpPr/>
          <p:nvPr/>
        </p:nvSpPr>
        <p:spPr>
          <a:xfrm>
            <a:off x="3566160" y="3200400"/>
            <a:ext cx="1554480" cy="411480"/>
          </a:xfrm>
          <a:prstGeom prst="rect">
            <a:avLst/>
          </a:prstGeom>
          <a:noFill/>
          <a:ln/>
        </p:spPr>
        <p:txBody>
          <a:bodyPr wrap="square" lIns="0" tIns="0" rIns="0" bIns="0"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Dev complete</a:t>
            </a:r>
            <a:endParaRPr lang="en-US" sz="750" dirty="0"/>
          </a:p>
          <a:p>
            <a:pPr algn="ctr" indent="0" marL="0">
              <a:buNone/>
            </a:pPr>
            <a:r>
              <a:rPr lang="en-US" sz="750" dirty="0">
                <a:solidFill>
                  <a:srgbClr val="475569"/>
                </a:solidFill>
                <a:latin typeface="Calibri" pitchFamily="34" charset="0"/>
                <a:ea typeface="Calibri" pitchFamily="34" charset="-122"/>
                <a:cs typeface="Calibri" pitchFamily="34" charset="-120"/>
              </a:rPr>
              <a:t>Agent moves to Pending Test</a:t>
            </a:r>
            <a:endParaRPr lang="en-US" sz="750" dirty="0"/>
          </a:p>
        </p:txBody>
      </p:sp>
      <p:sp>
        <p:nvSpPr>
          <p:cNvPr id="27" name="Shape 25"/>
          <p:cNvSpPr/>
          <p:nvPr/>
        </p:nvSpPr>
        <p:spPr>
          <a:xfrm>
            <a:off x="5303520" y="2514600"/>
            <a:ext cx="1371600" cy="640080"/>
          </a:xfrm>
          <a:prstGeom prst="roundRect">
            <a:avLst>
              <a:gd name="adj" fmla="val 11429"/>
            </a:avLst>
          </a:prstGeom>
          <a:solidFill>
            <a:srgbClr val="8B5CF6"/>
          </a:solidFill>
          <a:ln/>
        </p:spPr>
      </p:sp>
      <p:sp>
        <p:nvSpPr>
          <p:cNvPr id="28" name="Text 26"/>
          <p:cNvSpPr/>
          <p:nvPr/>
        </p:nvSpPr>
        <p:spPr>
          <a:xfrm>
            <a:off x="5303520" y="2514600"/>
            <a:ext cx="137160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Testing</a:t>
            </a:r>
            <a:endParaRPr lang="en-US" sz="1100" dirty="0"/>
          </a:p>
        </p:txBody>
      </p:sp>
      <p:sp>
        <p:nvSpPr>
          <p:cNvPr id="29" name="Text 27"/>
          <p:cNvSpPr/>
          <p:nvPr/>
        </p:nvSpPr>
        <p:spPr>
          <a:xfrm>
            <a:off x="6675120" y="2651760"/>
            <a:ext cx="320040" cy="365760"/>
          </a:xfrm>
          <a:prstGeom prst="rect">
            <a:avLst/>
          </a:prstGeom>
          <a:noFill/>
          <a:ln/>
        </p:spPr>
        <p:txBody>
          <a:bodyPr wrap="square" rtlCol="0" anchor="ctr"/>
          <a:lstStyle/>
          <a:p>
            <a:pPr algn="ctr" indent="0" marL="0">
              <a:buNone/>
            </a:pPr>
            <a:r>
              <a:rPr lang="en-US" sz="1200" dirty="0">
                <a:solidFill>
                  <a:srgbClr val="94A3B8"/>
                </a:solidFill>
              </a:rPr>
              <a:t>▶</a:t>
            </a:r>
            <a:endParaRPr lang="en-US" sz="1200" dirty="0"/>
          </a:p>
        </p:txBody>
      </p:sp>
      <p:sp>
        <p:nvSpPr>
          <p:cNvPr id="30" name="Text 28"/>
          <p:cNvSpPr/>
          <p:nvPr/>
        </p:nvSpPr>
        <p:spPr>
          <a:xfrm>
            <a:off x="5212080" y="3200400"/>
            <a:ext cx="1554480" cy="411480"/>
          </a:xfrm>
          <a:prstGeom prst="rect">
            <a:avLst/>
          </a:prstGeom>
          <a:noFill/>
          <a:ln/>
        </p:spPr>
        <p:txBody>
          <a:bodyPr wrap="square" lIns="0" tIns="0" rIns="0" bIns="0"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QA starts testing</a:t>
            </a:r>
            <a:endParaRPr lang="en-US" sz="750" dirty="0"/>
          </a:p>
          <a:p>
            <a:pPr algn="ctr" indent="0" marL="0">
              <a:buNone/>
            </a:pPr>
            <a:r>
              <a:rPr lang="en-US" sz="750" dirty="0">
                <a:solidFill>
                  <a:srgbClr val="475569"/>
                </a:solidFill>
                <a:latin typeface="Calibri" pitchFamily="34" charset="0"/>
                <a:ea typeface="Calibri" pitchFamily="34" charset="-122"/>
                <a:cs typeface="Calibri" pitchFamily="34" charset="-120"/>
              </a:rPr>
              <a:t>Agent moves to In Testing</a:t>
            </a:r>
            <a:endParaRPr lang="en-US" sz="750" dirty="0"/>
          </a:p>
        </p:txBody>
      </p:sp>
      <p:sp>
        <p:nvSpPr>
          <p:cNvPr id="31" name="Shape 29"/>
          <p:cNvSpPr/>
          <p:nvPr/>
        </p:nvSpPr>
        <p:spPr>
          <a:xfrm>
            <a:off x="6949440" y="2514600"/>
            <a:ext cx="1371600" cy="640080"/>
          </a:xfrm>
          <a:prstGeom prst="roundRect">
            <a:avLst>
              <a:gd name="adj" fmla="val 11429"/>
            </a:avLst>
          </a:prstGeom>
          <a:solidFill>
            <a:srgbClr val="059669"/>
          </a:solidFill>
          <a:ln/>
        </p:spPr>
      </p:sp>
      <p:sp>
        <p:nvSpPr>
          <p:cNvPr id="32" name="Text 30"/>
          <p:cNvSpPr/>
          <p:nvPr/>
        </p:nvSpPr>
        <p:spPr>
          <a:xfrm>
            <a:off x="6949440" y="2514600"/>
            <a:ext cx="137160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33" name="Text 31"/>
          <p:cNvSpPr/>
          <p:nvPr/>
        </p:nvSpPr>
        <p:spPr>
          <a:xfrm>
            <a:off x="6858000" y="3200400"/>
            <a:ext cx="1554480" cy="411480"/>
          </a:xfrm>
          <a:prstGeom prst="rect">
            <a:avLst/>
          </a:prstGeom>
          <a:noFill/>
          <a:ln/>
        </p:spPr>
        <p:txBody>
          <a:bodyPr wrap="square" lIns="0" tIns="0" rIns="0" bIns="0" rtlCol="0" anchor="t"/>
          <a:lstStyle/>
          <a:p>
            <a:pPr algn="ctr" indent="0" marL="0">
              <a:buNone/>
            </a:pPr>
            <a:r>
              <a:rPr lang="en-US" sz="750" dirty="0">
                <a:solidFill>
                  <a:srgbClr val="475569"/>
                </a:solidFill>
                <a:latin typeface="Calibri" pitchFamily="34" charset="0"/>
                <a:ea typeface="Calibri" pitchFamily="34" charset="-122"/>
                <a:cs typeface="Calibri" pitchFamily="34" charset="-120"/>
              </a:rPr>
              <a:t>Tests pass</a:t>
            </a:r>
            <a:endParaRPr lang="en-US" sz="750" dirty="0"/>
          </a:p>
          <a:p>
            <a:pPr algn="ctr" indent="0" marL="0">
              <a:buNone/>
            </a:pPr>
            <a:r>
              <a:rPr lang="en-US" sz="750" dirty="0">
                <a:solidFill>
                  <a:srgbClr val="475569"/>
                </a:solidFill>
                <a:latin typeface="Calibri" pitchFamily="34" charset="0"/>
                <a:ea typeface="Calibri" pitchFamily="34" charset="-122"/>
                <a:cs typeface="Calibri" pitchFamily="34" charset="-120"/>
              </a:rPr>
              <a:t>Agent moves to Done</a:t>
            </a:r>
            <a:endParaRPr lang="en-US" sz="750" dirty="0"/>
          </a:p>
        </p:txBody>
      </p:sp>
      <p:sp>
        <p:nvSpPr>
          <p:cNvPr id="34" name="Shape 32"/>
          <p:cNvSpPr/>
          <p:nvPr/>
        </p:nvSpPr>
        <p:spPr>
          <a:xfrm>
            <a:off x="3383280" y="3657600"/>
            <a:ext cx="3291840" cy="18288"/>
          </a:xfrm>
          <a:prstGeom prst="rect">
            <a:avLst/>
          </a:prstGeom>
          <a:solidFill>
            <a:srgbClr val="EF4444"/>
          </a:solidFill>
          <a:ln/>
        </p:spPr>
      </p:sp>
      <p:sp>
        <p:nvSpPr>
          <p:cNvPr id="35" name="Text 33"/>
          <p:cNvSpPr/>
          <p:nvPr/>
        </p:nvSpPr>
        <p:spPr>
          <a:xfrm>
            <a:off x="3383280" y="3703320"/>
            <a:ext cx="3291840" cy="228600"/>
          </a:xfrm>
          <a:prstGeom prst="rect">
            <a:avLst/>
          </a:prstGeom>
          <a:noFill/>
          <a:ln/>
        </p:spPr>
        <p:txBody>
          <a:bodyPr wrap="square" rtlCol="0" anchor="ctr"/>
          <a:lstStyle/>
          <a:p>
            <a:pPr algn="ctr" indent="0" marL="0">
              <a:buNone/>
            </a:pPr>
            <a:r>
              <a:rPr lang="en-US" sz="800" dirty="0">
                <a:solidFill>
                  <a:srgbClr val="EF4444"/>
                </a:solidFill>
                <a:latin typeface="Calibri" pitchFamily="34" charset="0"/>
                <a:ea typeface="Calibri" pitchFamily="34" charset="-122"/>
                <a:cs typeface="Calibri" pitchFamily="34" charset="-120"/>
              </a:rPr>
              <a:t>◀  Test failed → back to In Dev</a:t>
            </a:r>
            <a:endParaRPr lang="en-US" sz="800" dirty="0"/>
          </a:p>
        </p:txBody>
      </p:sp>
      <p:sp>
        <p:nvSpPr>
          <p:cNvPr id="36" name="Shape 34"/>
          <p:cNvSpPr/>
          <p:nvPr/>
        </p:nvSpPr>
        <p:spPr>
          <a:xfrm>
            <a:off x="457200" y="4069080"/>
            <a:ext cx="8229600" cy="822960"/>
          </a:xfrm>
          <a:prstGeom prst="rect">
            <a:avLst/>
          </a:prstGeom>
          <a:solidFill>
            <a:srgbClr val="1E293B"/>
          </a:solidFill>
          <a:ln/>
        </p:spPr>
      </p:sp>
      <p:sp>
        <p:nvSpPr>
          <p:cNvPr id="37" name="Text 35"/>
          <p:cNvSpPr/>
          <p:nvPr/>
        </p:nvSpPr>
        <p:spPr>
          <a:xfrm>
            <a:off x="640080" y="4096512"/>
            <a:ext cx="786384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Agent Creates JIRA Tickets On Request</a:t>
            </a:r>
            <a:endParaRPr lang="en-US" sz="1100" dirty="0"/>
          </a:p>
        </p:txBody>
      </p:sp>
      <p:sp>
        <p:nvSpPr>
          <p:cNvPr id="38" name="Text 36"/>
          <p:cNvSpPr/>
          <p:nvPr/>
        </p:nvSpPr>
        <p:spPr>
          <a:xfrm>
            <a:off x="640080" y="4343400"/>
            <a:ext cx="868680" cy="22860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Create Epic:</a:t>
            </a:r>
            <a:endParaRPr lang="en-US" sz="900" dirty="0"/>
          </a:p>
        </p:txBody>
      </p:sp>
      <p:sp>
        <p:nvSpPr>
          <p:cNvPr id="39" name="Text 37"/>
          <p:cNvSpPr/>
          <p:nvPr/>
        </p:nvSpPr>
        <p:spPr>
          <a:xfrm>
            <a:off x="1508760" y="4343400"/>
            <a:ext cx="1783080" cy="45720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From epics.md → JIRA Epic with title, description, acceptance criteria, linked to requirements</a:t>
            </a:r>
            <a:endParaRPr lang="en-US" sz="800" dirty="0"/>
          </a:p>
        </p:txBody>
      </p:sp>
      <p:sp>
        <p:nvSpPr>
          <p:cNvPr id="40" name="Text 38"/>
          <p:cNvSpPr/>
          <p:nvPr/>
        </p:nvSpPr>
        <p:spPr>
          <a:xfrm>
            <a:off x="3383280" y="4343400"/>
            <a:ext cx="868680" cy="22860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Create Stories:</a:t>
            </a:r>
            <a:endParaRPr lang="en-US" sz="900" dirty="0"/>
          </a:p>
        </p:txBody>
      </p:sp>
      <p:sp>
        <p:nvSpPr>
          <p:cNvPr id="41" name="Text 39"/>
          <p:cNvSpPr/>
          <p:nvPr/>
        </p:nvSpPr>
        <p:spPr>
          <a:xfrm>
            <a:off x="4251960" y="4343400"/>
            <a:ext cx="1783080" cy="45720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From story files → JIRA Stories with AC, tasks, sprint assignment, linked to parent Epic</a:t>
            </a:r>
            <a:endParaRPr lang="en-US" sz="800" dirty="0"/>
          </a:p>
        </p:txBody>
      </p:sp>
      <p:sp>
        <p:nvSpPr>
          <p:cNvPr id="42" name="Text 40"/>
          <p:cNvSpPr/>
          <p:nvPr/>
        </p:nvSpPr>
        <p:spPr>
          <a:xfrm>
            <a:off x="6126480" y="4343400"/>
            <a:ext cx="868680" cy="22860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Link to BMAD docs:</a:t>
            </a:r>
            <a:endParaRPr lang="en-US" sz="900" dirty="0"/>
          </a:p>
        </p:txBody>
      </p:sp>
      <p:sp>
        <p:nvSpPr>
          <p:cNvPr id="43" name="Text 41"/>
          <p:cNvSpPr/>
          <p:nvPr/>
        </p:nvSpPr>
        <p:spPr>
          <a:xfrm>
            <a:off x="6995160" y="4343400"/>
            <a:ext cx="1783080" cy="457200"/>
          </a:xfrm>
          <a:prstGeom prst="rect">
            <a:avLst/>
          </a:prstGeom>
          <a:noFill/>
          <a:ln/>
        </p:spPr>
        <p:txBody>
          <a:bodyPr wrap="square" lIns="0" tIns="0" rIns="0" bIns="0" rtlCol="0" anchor="t"/>
          <a:lstStyle/>
          <a:p>
            <a:pPr indent="0" marL="0">
              <a:buNone/>
            </a:pPr>
            <a:r>
              <a:rPr lang="en-US" sz="800" dirty="0">
                <a:solidFill>
                  <a:srgbClr val="94A3B8"/>
                </a:solidFill>
                <a:latin typeface="Calibri" pitchFamily="34" charset="0"/>
                <a:ea typeface="Calibri" pitchFamily="34" charset="-122"/>
                <a:cs typeface="Calibri" pitchFamily="34" charset="-120"/>
              </a:rPr>
              <a:t>JIRA ticket includes link to the .md file in Git. Ticket ID goes into BMAD filename (e.g. story-MOT-1234.md)</a:t>
            </a:r>
            <a:endParaRPr lang="en-US" sz="800" dirty="0"/>
          </a:p>
        </p:txBody>
      </p:sp>
      <p:sp>
        <p:nvSpPr>
          <p:cNvPr id="44" name="Text 42"/>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The developer never leaves the IDE to update JIRA — the agent handles it as part of the workflow</a:t>
            </a:r>
            <a:endParaRPr lang="en-US" sz="1000" dirty="0"/>
          </a:p>
        </p:txBody>
      </p:sp>
      <p:sp>
        <p:nvSpPr>
          <p:cNvPr id="45" name="Text 4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34 / 93</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Tooling — What Changes, What Stays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Enterprise infrastructure remains stable. BMAD adds a new layer — it doesn’t replace.</a:t>
            </a:r>
            <a:endParaRPr lang="en-US" sz="1300" dirty="0"/>
          </a:p>
        </p:txBody>
      </p:sp>
      <p:sp>
        <p:nvSpPr>
          <p:cNvPr id="5" name="Shape 3"/>
          <p:cNvSpPr/>
          <p:nvPr/>
        </p:nvSpPr>
        <p:spPr>
          <a:xfrm>
            <a:off x="457200" y="1280160"/>
            <a:ext cx="3931920" cy="3474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80160"/>
            <a:ext cx="3931920" cy="54864"/>
          </a:xfrm>
          <a:prstGeom prst="rect">
            <a:avLst/>
          </a:prstGeom>
          <a:solidFill>
            <a:srgbClr val="10B981"/>
          </a:solidFill>
          <a:ln/>
        </p:spPr>
      </p:sp>
      <p:sp>
        <p:nvSpPr>
          <p:cNvPr id="7" name="Text 5"/>
          <p:cNvSpPr/>
          <p:nvPr/>
        </p:nvSpPr>
        <p:spPr>
          <a:xfrm>
            <a:off x="640080" y="1371600"/>
            <a:ext cx="3657600" cy="320040"/>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  Stays the Same</a:t>
            </a:r>
            <a:endParaRPr lang="en-US" sz="1500" dirty="0"/>
          </a:p>
        </p:txBody>
      </p:sp>
      <p:sp>
        <p:nvSpPr>
          <p:cNvPr id="8" name="Text 6"/>
          <p:cNvSpPr/>
          <p:nvPr/>
        </p:nvSpPr>
        <p:spPr>
          <a:xfrm>
            <a:off x="640080" y="182880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JIRA</a:t>
            </a:r>
            <a:endParaRPr lang="en-US" sz="1000" dirty="0"/>
          </a:p>
        </p:txBody>
      </p:sp>
      <p:sp>
        <p:nvSpPr>
          <p:cNvPr id="9" name="Text 7"/>
          <p:cNvSpPr/>
          <p:nvPr/>
        </p:nvSpPr>
        <p:spPr>
          <a:xfrm>
            <a:off x="1920240" y="182880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Sprint boards, backlogs, reports, dashboards — same UI, same workflows</a:t>
            </a:r>
            <a:endParaRPr lang="en-US" sz="900" dirty="0"/>
          </a:p>
        </p:txBody>
      </p:sp>
      <p:sp>
        <p:nvSpPr>
          <p:cNvPr id="10" name="Text 8"/>
          <p:cNvSpPr/>
          <p:nvPr/>
        </p:nvSpPr>
        <p:spPr>
          <a:xfrm>
            <a:off x="640080" y="224028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CI/CD Pipeline</a:t>
            </a:r>
            <a:endParaRPr lang="en-US" sz="1000" dirty="0"/>
          </a:p>
        </p:txBody>
      </p:sp>
      <p:sp>
        <p:nvSpPr>
          <p:cNvPr id="11" name="Text 9"/>
          <p:cNvSpPr/>
          <p:nvPr/>
        </p:nvSpPr>
        <p:spPr>
          <a:xfrm>
            <a:off x="1920240" y="224028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Jenkins / GitLab CI builds, tests, deploys — doesn’t matter who wrote the code</a:t>
            </a:r>
            <a:endParaRPr lang="en-US" sz="900" dirty="0"/>
          </a:p>
        </p:txBody>
      </p:sp>
      <p:sp>
        <p:nvSpPr>
          <p:cNvPr id="12" name="Text 10"/>
          <p:cNvSpPr/>
          <p:nvPr/>
        </p:nvSpPr>
        <p:spPr>
          <a:xfrm>
            <a:off x="640080" y="265176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Artifactory</a:t>
            </a:r>
            <a:endParaRPr lang="en-US" sz="1000" dirty="0"/>
          </a:p>
        </p:txBody>
      </p:sp>
      <p:sp>
        <p:nvSpPr>
          <p:cNvPr id="13" name="Text 11"/>
          <p:cNvSpPr/>
          <p:nvPr/>
        </p:nvSpPr>
        <p:spPr>
          <a:xfrm>
            <a:off x="1920240" y="265176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Build artifacts, Docker images, release packages — completely unchanged</a:t>
            </a:r>
            <a:endParaRPr lang="en-US" sz="900" dirty="0"/>
          </a:p>
        </p:txBody>
      </p:sp>
      <p:sp>
        <p:nvSpPr>
          <p:cNvPr id="14" name="Text 12"/>
          <p:cNvSpPr/>
          <p:nvPr/>
        </p:nvSpPr>
        <p:spPr>
          <a:xfrm>
            <a:off x="640080" y="306324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Code Reviews</a:t>
            </a:r>
            <a:endParaRPr lang="en-US" sz="1000" dirty="0"/>
          </a:p>
        </p:txBody>
      </p:sp>
      <p:sp>
        <p:nvSpPr>
          <p:cNvPr id="15" name="Text 13"/>
          <p:cNvSpPr/>
          <p:nvPr/>
        </p:nvSpPr>
        <p:spPr>
          <a:xfrm>
            <a:off x="1920240" y="306324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Pull requests in GitLab/GitHub — same review process, same approval gates</a:t>
            </a:r>
            <a:endParaRPr lang="en-US" sz="900" dirty="0"/>
          </a:p>
        </p:txBody>
      </p:sp>
      <p:sp>
        <p:nvSpPr>
          <p:cNvPr id="16" name="Text 14"/>
          <p:cNvSpPr/>
          <p:nvPr/>
        </p:nvSpPr>
        <p:spPr>
          <a:xfrm>
            <a:off x="640080" y="347472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Release Process</a:t>
            </a:r>
            <a:endParaRPr lang="en-US" sz="1000" dirty="0"/>
          </a:p>
        </p:txBody>
      </p:sp>
      <p:sp>
        <p:nvSpPr>
          <p:cNvPr id="17" name="Text 15"/>
          <p:cNvSpPr/>
          <p:nvPr/>
        </p:nvSpPr>
        <p:spPr>
          <a:xfrm>
            <a:off x="1920240" y="347472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Same versioning, same sign-offs, same release notes, same deployment</a:t>
            </a:r>
            <a:endParaRPr lang="en-US" sz="900" dirty="0"/>
          </a:p>
        </p:txBody>
      </p:sp>
      <p:sp>
        <p:nvSpPr>
          <p:cNvPr id="18" name="Text 16"/>
          <p:cNvSpPr/>
          <p:nvPr/>
        </p:nvSpPr>
        <p:spPr>
          <a:xfrm>
            <a:off x="640080" y="388620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Sprint Ceremonies</a:t>
            </a:r>
            <a:endParaRPr lang="en-US" sz="1000" dirty="0"/>
          </a:p>
        </p:txBody>
      </p:sp>
      <p:sp>
        <p:nvSpPr>
          <p:cNvPr id="19" name="Text 17"/>
          <p:cNvSpPr/>
          <p:nvPr/>
        </p:nvSpPr>
        <p:spPr>
          <a:xfrm>
            <a:off x="1920240" y="388620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Planning, daily, demo, retro — same structure, same participants</a:t>
            </a:r>
            <a:endParaRPr lang="en-US" sz="900" dirty="0"/>
          </a:p>
        </p:txBody>
      </p:sp>
      <p:sp>
        <p:nvSpPr>
          <p:cNvPr id="20" name="Text 18"/>
          <p:cNvSpPr/>
          <p:nvPr/>
        </p:nvSpPr>
        <p:spPr>
          <a:xfrm>
            <a:off x="640080" y="4297680"/>
            <a:ext cx="128016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Confluence</a:t>
            </a:r>
            <a:endParaRPr lang="en-US" sz="1000" dirty="0"/>
          </a:p>
        </p:txBody>
      </p:sp>
      <p:sp>
        <p:nvSpPr>
          <p:cNvPr id="21" name="Text 19"/>
          <p:cNvSpPr/>
          <p:nvPr/>
        </p:nvSpPr>
        <p:spPr>
          <a:xfrm>
            <a:off x="1920240" y="4297680"/>
            <a:ext cx="228600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Org-level standards, DOD/DOR definitions, team guidelines remain here</a:t>
            </a:r>
            <a:endParaRPr lang="en-US" sz="900" dirty="0"/>
          </a:p>
        </p:txBody>
      </p:sp>
      <p:sp>
        <p:nvSpPr>
          <p:cNvPr id="22" name="Shape 20"/>
          <p:cNvSpPr/>
          <p:nvPr/>
        </p:nvSpPr>
        <p:spPr>
          <a:xfrm>
            <a:off x="4754880" y="1280160"/>
            <a:ext cx="3931920" cy="3474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3" name="Shape 21"/>
          <p:cNvSpPr/>
          <p:nvPr/>
        </p:nvSpPr>
        <p:spPr>
          <a:xfrm>
            <a:off x="4754880" y="1280160"/>
            <a:ext cx="3931920" cy="54864"/>
          </a:xfrm>
          <a:prstGeom prst="rect">
            <a:avLst/>
          </a:prstGeom>
          <a:solidFill>
            <a:srgbClr val="0D9488"/>
          </a:solidFill>
          <a:ln/>
        </p:spPr>
      </p:sp>
      <p:sp>
        <p:nvSpPr>
          <p:cNvPr id="24" name="Text 22"/>
          <p:cNvSpPr/>
          <p:nvPr/>
        </p:nvSpPr>
        <p:spPr>
          <a:xfrm>
            <a:off x="4937760" y="1371600"/>
            <a:ext cx="3657600" cy="320040"/>
          </a:xfrm>
          <a:prstGeom prst="rect">
            <a:avLst/>
          </a:prstGeom>
          <a:noFill/>
          <a:ln/>
        </p:spPr>
        <p:txBody>
          <a:bodyPr wrap="square" lIns="0" tIns="0" rIns="0" bIns="0"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  New with BMAD</a:t>
            </a:r>
            <a:endParaRPr lang="en-US" sz="1500" dirty="0"/>
          </a:p>
        </p:txBody>
      </p:sp>
      <p:sp>
        <p:nvSpPr>
          <p:cNvPr id="25" name="Text 23"/>
          <p:cNvSpPr/>
          <p:nvPr/>
        </p:nvSpPr>
        <p:spPr>
          <a:xfrm>
            <a:off x="4937760" y="182880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Story Content in Git</a:t>
            </a:r>
            <a:endParaRPr lang="en-US" sz="1000" dirty="0"/>
          </a:p>
        </p:txBody>
      </p:sp>
      <p:sp>
        <p:nvSpPr>
          <p:cNvPr id="26" name="Text 24"/>
          <p:cNvSpPr/>
          <p:nvPr/>
        </p:nvSpPr>
        <p:spPr>
          <a:xfrm>
            <a:off x="6400800" y="182880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Rich markdown files with AC, tasks, architecture refs — the AI’s context</a:t>
            </a:r>
            <a:endParaRPr lang="en-US" sz="900" dirty="0"/>
          </a:p>
        </p:txBody>
      </p:sp>
      <p:sp>
        <p:nvSpPr>
          <p:cNvPr id="27" name="Text 25"/>
          <p:cNvSpPr/>
          <p:nvPr/>
        </p:nvSpPr>
        <p:spPr>
          <a:xfrm>
            <a:off x="4937760" y="224028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JIRA via Agent</a:t>
            </a:r>
            <a:endParaRPr lang="en-US" sz="1000" dirty="0"/>
          </a:p>
        </p:txBody>
      </p:sp>
      <p:sp>
        <p:nvSpPr>
          <p:cNvPr id="28" name="Text 26"/>
          <p:cNvSpPr/>
          <p:nvPr/>
        </p:nvSpPr>
        <p:spPr>
          <a:xfrm>
            <a:off x="6400800" y="224028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 agent creates tickets and updates status automatically via MCP / REST API</a:t>
            </a:r>
            <a:endParaRPr lang="en-US" sz="900" dirty="0"/>
          </a:p>
        </p:txBody>
      </p:sp>
      <p:sp>
        <p:nvSpPr>
          <p:cNvPr id="29" name="Text 27"/>
          <p:cNvSpPr/>
          <p:nvPr/>
        </p:nvSpPr>
        <p:spPr>
          <a:xfrm>
            <a:off x="4937760" y="265176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sprint-status.yaml</a:t>
            </a:r>
            <a:endParaRPr lang="en-US" sz="1000" dirty="0"/>
          </a:p>
        </p:txBody>
      </p:sp>
      <p:sp>
        <p:nvSpPr>
          <p:cNvPr id="30" name="Text 28"/>
          <p:cNvSpPr/>
          <p:nvPr/>
        </p:nvSpPr>
        <p:spPr>
          <a:xfrm>
            <a:off x="6400800" y="265176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Machine-readable sprint tracking file that agents read and update in real-time</a:t>
            </a:r>
            <a:endParaRPr lang="en-US" sz="900" dirty="0"/>
          </a:p>
        </p:txBody>
      </p:sp>
      <p:sp>
        <p:nvSpPr>
          <p:cNvPr id="31" name="Text 29"/>
          <p:cNvSpPr/>
          <p:nvPr/>
        </p:nvSpPr>
        <p:spPr>
          <a:xfrm>
            <a:off x="4937760" y="306324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Architecture as Code</a:t>
            </a:r>
            <a:endParaRPr lang="en-US" sz="1000" dirty="0"/>
          </a:p>
        </p:txBody>
      </p:sp>
      <p:sp>
        <p:nvSpPr>
          <p:cNvPr id="32" name="Text 30"/>
          <p:cNvSpPr/>
          <p:nvPr/>
        </p:nvSpPr>
        <p:spPr>
          <a:xfrm>
            <a:off x="6400800" y="306324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architecture.md in git, not a wiki page. Versioned, diffable, agent-readable</a:t>
            </a:r>
            <a:endParaRPr lang="en-US" sz="900" dirty="0"/>
          </a:p>
        </p:txBody>
      </p:sp>
      <p:sp>
        <p:nvSpPr>
          <p:cNvPr id="33" name="Text 31"/>
          <p:cNvSpPr/>
          <p:nvPr/>
        </p:nvSpPr>
        <p:spPr>
          <a:xfrm>
            <a:off x="4937760" y="347472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Agent Workflows</a:t>
            </a:r>
            <a:endParaRPr lang="en-US" sz="1000" dirty="0"/>
          </a:p>
        </p:txBody>
      </p:sp>
      <p:sp>
        <p:nvSpPr>
          <p:cNvPr id="34" name="Text 32"/>
          <p:cNvSpPr/>
          <p:nvPr/>
        </p:nvSpPr>
        <p:spPr>
          <a:xfrm>
            <a:off x="6400800" y="347472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/create-story, /dev-story, /code-review — structured workflows replace ad-hoc prompting</a:t>
            </a:r>
            <a:endParaRPr lang="en-US" sz="900" dirty="0"/>
          </a:p>
        </p:txBody>
      </p:sp>
      <p:sp>
        <p:nvSpPr>
          <p:cNvPr id="35" name="Text 33"/>
          <p:cNvSpPr/>
          <p:nvPr/>
        </p:nvSpPr>
        <p:spPr>
          <a:xfrm>
            <a:off x="4937760" y="388620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Git Worktrees</a:t>
            </a:r>
            <a:endParaRPr lang="en-US" sz="1000" dirty="0"/>
          </a:p>
        </p:txBody>
      </p:sp>
      <p:sp>
        <p:nvSpPr>
          <p:cNvPr id="36" name="Text 34"/>
          <p:cNvSpPr/>
          <p:nvPr/>
        </p:nvSpPr>
        <p:spPr>
          <a:xfrm>
            <a:off x="6400800" y="388620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Multiple agent sessions working in parallel on different branches, same repo</a:t>
            </a:r>
            <a:endParaRPr lang="en-US" sz="900" dirty="0"/>
          </a:p>
        </p:txBody>
      </p:sp>
      <p:sp>
        <p:nvSpPr>
          <p:cNvPr id="37" name="Text 35"/>
          <p:cNvSpPr/>
          <p:nvPr/>
        </p:nvSpPr>
        <p:spPr>
          <a:xfrm>
            <a:off x="4937760" y="4297680"/>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Automated Quality Gates</a:t>
            </a:r>
            <a:endParaRPr lang="en-US" sz="1000" dirty="0"/>
          </a:p>
        </p:txBody>
      </p:sp>
      <p:sp>
        <p:nvSpPr>
          <p:cNvPr id="38" name="Text 36"/>
          <p:cNvSpPr/>
          <p:nvPr/>
        </p:nvSpPr>
        <p:spPr>
          <a:xfrm>
            <a:off x="6400800" y="4297680"/>
            <a:ext cx="210312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DOR/DOD/INVEST enforced by workflow checklists, not human memory</a:t>
            </a:r>
            <a:endParaRPr lang="en-US" sz="900" dirty="0"/>
          </a:p>
        </p:txBody>
      </p:sp>
      <p:sp>
        <p:nvSpPr>
          <p:cNvPr id="39" name="Text 37"/>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BMAD is additive, not disruptive. Your existing processes and tools continue to work.</a:t>
            </a:r>
            <a:endParaRPr lang="en-US" sz="1000" dirty="0"/>
          </a:p>
        </p:txBody>
      </p:sp>
      <p:sp>
        <p:nvSpPr>
          <p:cNvPr id="40" name="Text 38"/>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35 / 93</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Phase 4: The Development Loop</a:t>
            </a:r>
            <a:endParaRPr lang="en-US" sz="2600" dirty="0"/>
          </a:p>
        </p:txBody>
      </p:sp>
      <p:sp>
        <p:nvSpPr>
          <p:cNvPr id="5" name="Text 3"/>
          <p:cNvSpPr/>
          <p:nvPr/>
        </p:nvSpPr>
        <p:spPr>
          <a:xfrm>
            <a:off x="457200" y="1051560"/>
            <a:ext cx="8229600" cy="320040"/>
          </a:xfrm>
          <a:prstGeom prst="rect">
            <a:avLst/>
          </a:prstGeom>
          <a:noFill/>
          <a:ln/>
        </p:spPr>
        <p:txBody>
          <a:bodyPr wrap="square"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Repeat for each story in the sprint:</a:t>
            </a:r>
            <a:endParaRPr lang="en-US" sz="1300" dirty="0"/>
          </a:p>
        </p:txBody>
      </p:sp>
      <p:sp>
        <p:nvSpPr>
          <p:cNvPr id="6" name="Shape 4"/>
          <p:cNvSpPr/>
          <p:nvPr/>
        </p:nvSpPr>
        <p:spPr>
          <a:xfrm>
            <a:off x="320040" y="1554480"/>
            <a:ext cx="269748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1554480"/>
            <a:ext cx="2697480" cy="502920"/>
          </a:xfrm>
          <a:prstGeom prst="rect">
            <a:avLst/>
          </a:prstGeom>
          <a:solidFill>
            <a:srgbClr val="0D9488"/>
          </a:solidFill>
          <a:ln/>
        </p:spPr>
      </p:sp>
      <p:sp>
        <p:nvSpPr>
          <p:cNvPr id="8" name="Text 6"/>
          <p:cNvSpPr/>
          <p:nvPr/>
        </p:nvSpPr>
        <p:spPr>
          <a:xfrm>
            <a:off x="457200" y="1572768"/>
            <a:ext cx="2423160" cy="45720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/create-story</a:t>
            </a:r>
            <a:endParaRPr lang="en-US" sz="1300" dirty="0"/>
          </a:p>
        </p:txBody>
      </p:sp>
      <p:sp>
        <p:nvSpPr>
          <p:cNvPr id="9" name="Text 7"/>
          <p:cNvSpPr/>
          <p:nvPr/>
        </p:nvSpPr>
        <p:spPr>
          <a:xfrm>
            <a:off x="457200" y="2194560"/>
            <a:ext cx="242316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Create Story</a:t>
            </a:r>
            <a:endParaRPr lang="en-US" sz="1600" dirty="0"/>
          </a:p>
        </p:txBody>
      </p:sp>
      <p:sp>
        <p:nvSpPr>
          <p:cNvPr id="10" name="Text 8"/>
          <p:cNvSpPr/>
          <p:nvPr/>
        </p:nvSpPr>
        <p:spPr>
          <a:xfrm>
            <a:off x="457200" y="2606040"/>
            <a:ext cx="2423160" cy="12801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SM agent generates a detailed story file with full context, tasks, and acceptance criteria</a:t>
            </a:r>
            <a:endParaRPr lang="en-US" sz="1050" dirty="0"/>
          </a:p>
        </p:txBody>
      </p:sp>
      <p:sp>
        <p:nvSpPr>
          <p:cNvPr id="11" name="Text 9"/>
          <p:cNvSpPr/>
          <p:nvPr/>
        </p:nvSpPr>
        <p:spPr>
          <a:xfrm>
            <a:off x="3017520" y="2377440"/>
            <a:ext cx="228600" cy="45720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2" name="Shape 10"/>
          <p:cNvSpPr/>
          <p:nvPr/>
        </p:nvSpPr>
        <p:spPr>
          <a:xfrm>
            <a:off x="3246120" y="1554480"/>
            <a:ext cx="269748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3246120" y="1554480"/>
            <a:ext cx="2697480" cy="502920"/>
          </a:xfrm>
          <a:prstGeom prst="rect">
            <a:avLst/>
          </a:prstGeom>
          <a:solidFill>
            <a:srgbClr val="0891B2"/>
          </a:solidFill>
          <a:ln/>
        </p:spPr>
      </p:sp>
      <p:sp>
        <p:nvSpPr>
          <p:cNvPr id="14" name="Text 12"/>
          <p:cNvSpPr/>
          <p:nvPr/>
        </p:nvSpPr>
        <p:spPr>
          <a:xfrm>
            <a:off x="3383280" y="1572768"/>
            <a:ext cx="2423160" cy="45720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/dev-story</a:t>
            </a:r>
            <a:endParaRPr lang="en-US" sz="1300" dirty="0"/>
          </a:p>
        </p:txBody>
      </p:sp>
      <p:sp>
        <p:nvSpPr>
          <p:cNvPr id="15" name="Text 13"/>
          <p:cNvSpPr/>
          <p:nvPr/>
        </p:nvSpPr>
        <p:spPr>
          <a:xfrm>
            <a:off x="3383280" y="2194560"/>
            <a:ext cx="242316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Develop</a:t>
            </a:r>
            <a:endParaRPr lang="en-US" sz="1600" dirty="0"/>
          </a:p>
        </p:txBody>
      </p:sp>
      <p:sp>
        <p:nvSpPr>
          <p:cNvPr id="16" name="Text 14"/>
          <p:cNvSpPr/>
          <p:nvPr/>
        </p:nvSpPr>
        <p:spPr>
          <a:xfrm>
            <a:off x="3383280" y="2606040"/>
            <a:ext cx="2423160" cy="12801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Dev agent implements the story: writes code, unit tests, follows architecture. All context is pre-loaded.</a:t>
            </a:r>
            <a:endParaRPr lang="en-US" sz="1050" dirty="0"/>
          </a:p>
        </p:txBody>
      </p:sp>
      <p:sp>
        <p:nvSpPr>
          <p:cNvPr id="17" name="Text 15"/>
          <p:cNvSpPr/>
          <p:nvPr/>
        </p:nvSpPr>
        <p:spPr>
          <a:xfrm>
            <a:off x="5943600" y="2377440"/>
            <a:ext cx="228600" cy="45720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8" name="Shape 16"/>
          <p:cNvSpPr/>
          <p:nvPr/>
        </p:nvSpPr>
        <p:spPr>
          <a:xfrm>
            <a:off x="6172200" y="1554480"/>
            <a:ext cx="269748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6172200" y="1554480"/>
            <a:ext cx="2697480" cy="502920"/>
          </a:xfrm>
          <a:prstGeom prst="rect">
            <a:avLst/>
          </a:prstGeom>
          <a:solidFill>
            <a:srgbClr val="155E75"/>
          </a:solidFill>
          <a:ln/>
        </p:spPr>
      </p:sp>
      <p:sp>
        <p:nvSpPr>
          <p:cNvPr id="20" name="Text 18"/>
          <p:cNvSpPr/>
          <p:nvPr/>
        </p:nvSpPr>
        <p:spPr>
          <a:xfrm>
            <a:off x="6309360" y="1572768"/>
            <a:ext cx="2423160" cy="45720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/code-review</a:t>
            </a:r>
            <a:endParaRPr lang="en-US" sz="1300" dirty="0"/>
          </a:p>
        </p:txBody>
      </p:sp>
      <p:sp>
        <p:nvSpPr>
          <p:cNvPr id="21" name="Text 19"/>
          <p:cNvSpPr/>
          <p:nvPr/>
        </p:nvSpPr>
        <p:spPr>
          <a:xfrm>
            <a:off x="6309360" y="2194560"/>
            <a:ext cx="242316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Review</a:t>
            </a:r>
            <a:endParaRPr lang="en-US" sz="1600" dirty="0"/>
          </a:p>
        </p:txBody>
      </p:sp>
      <p:sp>
        <p:nvSpPr>
          <p:cNvPr id="22" name="Text 20"/>
          <p:cNvSpPr/>
          <p:nvPr/>
        </p:nvSpPr>
        <p:spPr>
          <a:xfrm>
            <a:off x="6309360" y="2606040"/>
            <a:ext cx="2423160" cy="12801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QA agent validates: code quality, test coverage, adherence to PRD + architecture, story completion.</a:t>
            </a:r>
            <a:endParaRPr lang="en-US" sz="1050" dirty="0"/>
          </a:p>
        </p:txBody>
      </p:sp>
      <p:sp>
        <p:nvSpPr>
          <p:cNvPr id="23" name="Shape 21"/>
          <p:cNvSpPr/>
          <p:nvPr/>
        </p:nvSpPr>
        <p:spPr>
          <a:xfrm>
            <a:off x="320040" y="4297680"/>
            <a:ext cx="8458200" cy="457200"/>
          </a:xfrm>
          <a:prstGeom prst="rect">
            <a:avLst/>
          </a:prstGeom>
          <a:solidFill>
            <a:srgbClr val="0F1B2D"/>
          </a:solidFill>
          <a:ln/>
        </p:spPr>
      </p:sp>
      <p:sp>
        <p:nvSpPr>
          <p:cNvPr id="24" name="Text 22"/>
          <p:cNvSpPr/>
          <p:nvPr/>
        </p:nvSpPr>
        <p:spPr>
          <a:xfrm>
            <a:off x="457200" y="4297680"/>
            <a:ext cx="8229600" cy="45720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  Pick next story and repeat until sprint is complete</a:t>
            </a:r>
            <a:endParaRPr lang="en-US" sz="1300" dirty="0"/>
          </a:p>
        </p:txBody>
      </p:sp>
      <p:sp>
        <p:nvSpPr>
          <p:cNvPr id="25" name="Text 2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36 / 93</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Artifact Flow — The Full Picture</a:t>
            </a:r>
            <a:endParaRPr lang="en-US" sz="2800" dirty="0"/>
          </a:p>
        </p:txBody>
      </p:sp>
      <p:sp>
        <p:nvSpPr>
          <p:cNvPr id="4" name="Text 2"/>
          <p:cNvSpPr/>
          <p:nvPr/>
        </p:nvSpPr>
        <p:spPr>
          <a:xfrm>
            <a:off x="457200" y="868680"/>
            <a:ext cx="2743200"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Planning Phase</a:t>
            </a:r>
            <a:endParaRPr lang="en-US" sz="1100" dirty="0"/>
          </a:p>
        </p:txBody>
      </p:sp>
      <p:sp>
        <p:nvSpPr>
          <p:cNvPr id="5" name="Shape 3"/>
          <p:cNvSpPr/>
          <p:nvPr/>
        </p:nvSpPr>
        <p:spPr>
          <a:xfrm>
            <a:off x="457200" y="1188720"/>
            <a:ext cx="1783080" cy="1005840"/>
          </a:xfrm>
          <a:prstGeom prst="rect">
            <a:avLst/>
          </a:prstGeom>
          <a:solidFill>
            <a:srgbClr val="0D9488"/>
          </a:solidFill>
          <a:ln/>
        </p:spPr>
      </p:sp>
      <p:sp>
        <p:nvSpPr>
          <p:cNvPr id="6" name="Text 4"/>
          <p:cNvSpPr/>
          <p:nvPr/>
        </p:nvSpPr>
        <p:spPr>
          <a:xfrm>
            <a:off x="457200" y="1188720"/>
            <a:ext cx="17830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Brief</a:t>
            </a:r>
            <a:endParaRPr lang="en-US" sz="1100" dirty="0"/>
          </a:p>
        </p:txBody>
      </p:sp>
      <p:sp>
        <p:nvSpPr>
          <p:cNvPr id="7" name="Text 5"/>
          <p:cNvSpPr/>
          <p:nvPr/>
        </p:nvSpPr>
        <p:spPr>
          <a:xfrm>
            <a:off x="457200" y="1874520"/>
            <a:ext cx="17830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Analyst</a:t>
            </a:r>
            <a:endParaRPr lang="en-US" sz="900" dirty="0"/>
          </a:p>
        </p:txBody>
      </p:sp>
      <p:sp>
        <p:nvSpPr>
          <p:cNvPr id="8" name="Text 6"/>
          <p:cNvSpPr/>
          <p:nvPr/>
        </p:nvSpPr>
        <p:spPr>
          <a:xfrm>
            <a:off x="2240280" y="1463040"/>
            <a:ext cx="32004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9" name="Shape 7"/>
          <p:cNvSpPr/>
          <p:nvPr/>
        </p:nvSpPr>
        <p:spPr>
          <a:xfrm>
            <a:off x="2560320" y="1188720"/>
            <a:ext cx="1783080" cy="1005840"/>
          </a:xfrm>
          <a:prstGeom prst="rect">
            <a:avLst/>
          </a:prstGeom>
          <a:solidFill>
            <a:srgbClr val="0891B2"/>
          </a:solidFill>
          <a:ln/>
        </p:spPr>
      </p:sp>
      <p:sp>
        <p:nvSpPr>
          <p:cNvPr id="10" name="Text 8"/>
          <p:cNvSpPr/>
          <p:nvPr/>
        </p:nvSpPr>
        <p:spPr>
          <a:xfrm>
            <a:off x="2560320" y="1188720"/>
            <a:ext cx="17830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PRD</a:t>
            </a:r>
            <a:endParaRPr lang="en-US" sz="1100" dirty="0"/>
          </a:p>
        </p:txBody>
      </p:sp>
      <p:sp>
        <p:nvSpPr>
          <p:cNvPr id="11" name="Text 9"/>
          <p:cNvSpPr/>
          <p:nvPr/>
        </p:nvSpPr>
        <p:spPr>
          <a:xfrm>
            <a:off x="2560320" y="1874520"/>
            <a:ext cx="17830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PM</a:t>
            </a:r>
            <a:endParaRPr lang="en-US" sz="900" dirty="0"/>
          </a:p>
        </p:txBody>
      </p:sp>
      <p:sp>
        <p:nvSpPr>
          <p:cNvPr id="12" name="Text 10"/>
          <p:cNvSpPr/>
          <p:nvPr/>
        </p:nvSpPr>
        <p:spPr>
          <a:xfrm>
            <a:off x="4343400" y="1463040"/>
            <a:ext cx="32004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13" name="Shape 11"/>
          <p:cNvSpPr/>
          <p:nvPr/>
        </p:nvSpPr>
        <p:spPr>
          <a:xfrm>
            <a:off x="4663440" y="1188720"/>
            <a:ext cx="1783080" cy="1005840"/>
          </a:xfrm>
          <a:prstGeom prst="rect">
            <a:avLst/>
          </a:prstGeom>
          <a:solidFill>
            <a:srgbClr val="0E7490"/>
          </a:solidFill>
          <a:ln/>
        </p:spPr>
      </p:sp>
      <p:sp>
        <p:nvSpPr>
          <p:cNvPr id="14" name="Text 12"/>
          <p:cNvSpPr/>
          <p:nvPr/>
        </p:nvSpPr>
        <p:spPr>
          <a:xfrm>
            <a:off x="4663440" y="1188720"/>
            <a:ext cx="17830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Architecture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Doc</a:t>
            </a:r>
            <a:endParaRPr lang="en-US" sz="1100" dirty="0"/>
          </a:p>
        </p:txBody>
      </p:sp>
      <p:sp>
        <p:nvSpPr>
          <p:cNvPr id="15" name="Text 13"/>
          <p:cNvSpPr/>
          <p:nvPr/>
        </p:nvSpPr>
        <p:spPr>
          <a:xfrm>
            <a:off x="4663440" y="1874520"/>
            <a:ext cx="17830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Architect</a:t>
            </a:r>
            <a:endParaRPr lang="en-US" sz="900" dirty="0"/>
          </a:p>
        </p:txBody>
      </p:sp>
      <p:sp>
        <p:nvSpPr>
          <p:cNvPr id="16" name="Text 14"/>
          <p:cNvSpPr/>
          <p:nvPr/>
        </p:nvSpPr>
        <p:spPr>
          <a:xfrm>
            <a:off x="6446520" y="1463040"/>
            <a:ext cx="32004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17" name="Shape 15"/>
          <p:cNvSpPr/>
          <p:nvPr/>
        </p:nvSpPr>
        <p:spPr>
          <a:xfrm>
            <a:off x="6766560" y="1188720"/>
            <a:ext cx="1783080" cy="1005840"/>
          </a:xfrm>
          <a:prstGeom prst="rect">
            <a:avLst/>
          </a:prstGeom>
          <a:solidFill>
            <a:srgbClr val="155E75"/>
          </a:solidFill>
          <a:ln/>
        </p:spPr>
      </p:sp>
      <p:sp>
        <p:nvSpPr>
          <p:cNvPr id="18" name="Text 16"/>
          <p:cNvSpPr/>
          <p:nvPr/>
        </p:nvSpPr>
        <p:spPr>
          <a:xfrm>
            <a:off x="6766560" y="1188720"/>
            <a:ext cx="17830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Epics &amp;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Stories</a:t>
            </a:r>
            <a:endParaRPr lang="en-US" sz="1100" dirty="0"/>
          </a:p>
        </p:txBody>
      </p:sp>
      <p:sp>
        <p:nvSpPr>
          <p:cNvPr id="19" name="Text 17"/>
          <p:cNvSpPr/>
          <p:nvPr/>
        </p:nvSpPr>
        <p:spPr>
          <a:xfrm>
            <a:off x="6766560" y="1874520"/>
            <a:ext cx="17830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SM</a:t>
            </a:r>
            <a:endParaRPr lang="en-US" sz="900" dirty="0"/>
          </a:p>
        </p:txBody>
      </p:sp>
      <p:sp>
        <p:nvSpPr>
          <p:cNvPr id="20" name="Text 18"/>
          <p:cNvSpPr/>
          <p:nvPr/>
        </p:nvSpPr>
        <p:spPr>
          <a:xfrm>
            <a:off x="4297680" y="2240280"/>
            <a:ext cx="548640" cy="32004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1" name="Text 19"/>
          <p:cNvSpPr/>
          <p:nvPr/>
        </p:nvSpPr>
        <p:spPr>
          <a:xfrm>
            <a:off x="457200" y="2560320"/>
            <a:ext cx="4572000"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Development Loop (per story)</a:t>
            </a:r>
            <a:endParaRPr lang="en-US" sz="1100" dirty="0"/>
          </a:p>
        </p:txBody>
      </p:sp>
      <p:sp>
        <p:nvSpPr>
          <p:cNvPr id="22" name="Shape 20"/>
          <p:cNvSpPr/>
          <p:nvPr/>
        </p:nvSpPr>
        <p:spPr>
          <a:xfrm>
            <a:off x="1097280" y="2880360"/>
            <a:ext cx="2011680" cy="1005840"/>
          </a:xfrm>
          <a:prstGeom prst="rect">
            <a:avLst/>
          </a:prstGeom>
          <a:solidFill>
            <a:srgbClr val="155E75"/>
          </a:solidFill>
          <a:ln/>
        </p:spPr>
      </p:sp>
      <p:sp>
        <p:nvSpPr>
          <p:cNvPr id="23" name="Text 21"/>
          <p:cNvSpPr/>
          <p:nvPr/>
        </p:nvSpPr>
        <p:spPr>
          <a:xfrm>
            <a:off x="1097280" y="2880360"/>
            <a:ext cx="20116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p>
        </p:txBody>
      </p:sp>
      <p:sp>
        <p:nvSpPr>
          <p:cNvPr id="24" name="Text 22"/>
          <p:cNvSpPr/>
          <p:nvPr/>
        </p:nvSpPr>
        <p:spPr>
          <a:xfrm>
            <a:off x="1097280" y="3566160"/>
            <a:ext cx="20116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SM</a:t>
            </a:r>
            <a:endParaRPr lang="en-US" sz="900" dirty="0"/>
          </a:p>
        </p:txBody>
      </p:sp>
      <p:sp>
        <p:nvSpPr>
          <p:cNvPr id="25" name="Text 23"/>
          <p:cNvSpPr/>
          <p:nvPr/>
        </p:nvSpPr>
        <p:spPr>
          <a:xfrm>
            <a:off x="3108960" y="3154680"/>
            <a:ext cx="45720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26" name="Shape 24"/>
          <p:cNvSpPr/>
          <p:nvPr/>
        </p:nvSpPr>
        <p:spPr>
          <a:xfrm>
            <a:off x="3566160" y="2880360"/>
            <a:ext cx="2011680" cy="1005840"/>
          </a:xfrm>
          <a:prstGeom prst="rect">
            <a:avLst/>
          </a:prstGeom>
          <a:solidFill>
            <a:srgbClr val="0F1B2D"/>
          </a:solidFill>
          <a:ln/>
        </p:spPr>
      </p:sp>
      <p:sp>
        <p:nvSpPr>
          <p:cNvPr id="27" name="Text 25"/>
          <p:cNvSpPr/>
          <p:nvPr/>
        </p:nvSpPr>
        <p:spPr>
          <a:xfrm>
            <a:off x="3566160" y="2880360"/>
            <a:ext cx="20116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Code +</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Unit Tests</a:t>
            </a:r>
            <a:endParaRPr lang="en-US" sz="1100" dirty="0"/>
          </a:p>
        </p:txBody>
      </p:sp>
      <p:sp>
        <p:nvSpPr>
          <p:cNvPr id="28" name="Text 26"/>
          <p:cNvSpPr/>
          <p:nvPr/>
        </p:nvSpPr>
        <p:spPr>
          <a:xfrm>
            <a:off x="3566160" y="3566160"/>
            <a:ext cx="20116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Dev</a:t>
            </a:r>
            <a:endParaRPr lang="en-US" sz="900" dirty="0"/>
          </a:p>
        </p:txBody>
      </p:sp>
      <p:sp>
        <p:nvSpPr>
          <p:cNvPr id="29" name="Text 27"/>
          <p:cNvSpPr/>
          <p:nvPr/>
        </p:nvSpPr>
        <p:spPr>
          <a:xfrm>
            <a:off x="5577840" y="3154680"/>
            <a:ext cx="45720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30" name="Shape 28"/>
          <p:cNvSpPr/>
          <p:nvPr/>
        </p:nvSpPr>
        <p:spPr>
          <a:xfrm>
            <a:off x="6035040" y="2880360"/>
            <a:ext cx="2011680" cy="1005840"/>
          </a:xfrm>
          <a:prstGeom prst="rect">
            <a:avLst/>
          </a:prstGeom>
          <a:solidFill>
            <a:srgbClr val="1E3A5F"/>
          </a:solidFill>
          <a:ln/>
        </p:spPr>
      </p:sp>
      <p:sp>
        <p:nvSpPr>
          <p:cNvPr id="31" name="Text 29"/>
          <p:cNvSpPr/>
          <p:nvPr/>
        </p:nvSpPr>
        <p:spPr>
          <a:xfrm>
            <a:off x="6035040" y="2880360"/>
            <a:ext cx="20116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Review</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Report</a:t>
            </a:r>
            <a:endParaRPr lang="en-US" sz="1100" dirty="0"/>
          </a:p>
        </p:txBody>
      </p:sp>
      <p:sp>
        <p:nvSpPr>
          <p:cNvPr id="32" name="Text 30"/>
          <p:cNvSpPr/>
          <p:nvPr/>
        </p:nvSpPr>
        <p:spPr>
          <a:xfrm>
            <a:off x="6035040" y="3566160"/>
            <a:ext cx="2011680" cy="274320"/>
          </a:xfrm>
          <a:prstGeom prst="rect">
            <a:avLst/>
          </a:prstGeom>
          <a:noFill/>
          <a:ln/>
        </p:spPr>
        <p:txBody>
          <a:bodyPr wrap="square" rtlCol="0" anchor="ctr"/>
          <a:lstStyle/>
          <a:p>
            <a:pPr algn="ctr" indent="0" marL="0">
              <a:buNone/>
            </a:pPr>
            <a:r>
              <a:rPr lang="en-US" sz="900" dirty="0">
                <a:solidFill>
                  <a:srgbClr val="CCEDFC"/>
                </a:solidFill>
                <a:latin typeface="Calibri" pitchFamily="34" charset="0"/>
                <a:ea typeface="Calibri" pitchFamily="34" charset="-122"/>
                <a:cs typeface="Calibri" pitchFamily="34" charset="-120"/>
              </a:rPr>
              <a:t>QA</a:t>
            </a:r>
            <a:endParaRPr lang="en-US" sz="900" dirty="0"/>
          </a:p>
        </p:txBody>
      </p:sp>
      <p:sp>
        <p:nvSpPr>
          <p:cNvPr id="33" name="Shape 31"/>
          <p:cNvSpPr/>
          <p:nvPr/>
        </p:nvSpPr>
        <p:spPr>
          <a:xfrm>
            <a:off x="1097280" y="4069080"/>
            <a:ext cx="7040880" cy="365760"/>
          </a:xfrm>
          <a:prstGeom prst="rect">
            <a:avLst/>
          </a:prstGeom>
          <a:solidFill>
            <a:srgbClr val="1A2744"/>
          </a:solidFill>
          <a:ln/>
        </p:spPr>
      </p:sp>
      <p:sp>
        <p:nvSpPr>
          <p:cNvPr id="34" name="Text 32"/>
          <p:cNvSpPr/>
          <p:nvPr/>
        </p:nvSpPr>
        <p:spPr>
          <a:xfrm>
            <a:off x="1097280" y="4069080"/>
            <a:ext cx="7040880" cy="365760"/>
          </a:xfrm>
          <a:prstGeom prst="rect">
            <a:avLst/>
          </a:prstGeom>
          <a:noFill/>
          <a:ln/>
        </p:spPr>
        <p:txBody>
          <a:bodyPr wrap="square" rtlCol="0" anchor="ctr"/>
          <a:lstStyle/>
          <a:p>
            <a:pPr algn="ctr" indent="0" marL="0">
              <a:buNone/>
            </a:pPr>
            <a:r>
              <a:rPr lang="en-US" sz="1100" dirty="0">
                <a:solidFill>
                  <a:srgbClr val="14B8A6"/>
                </a:solidFill>
                <a:latin typeface="Calibri" pitchFamily="34" charset="0"/>
                <a:ea typeface="Calibri" pitchFamily="34" charset="-122"/>
                <a:cs typeface="Calibri" pitchFamily="34" charset="-120"/>
              </a:rPr>
              <a:t>↺  Repeat for each story in the sprint</a:t>
            </a:r>
            <a:endParaRPr lang="en-US" sz="1100" dirty="0"/>
          </a:p>
        </p:txBody>
      </p:sp>
      <p:sp>
        <p:nvSpPr>
          <p:cNvPr id="35" name="Text 33"/>
          <p:cNvSpPr/>
          <p:nvPr/>
        </p:nvSpPr>
        <p:spPr>
          <a:xfrm>
            <a:off x="457200" y="4617720"/>
            <a:ext cx="8229600" cy="32004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Every artifact is versioned, traceable, and auditable — matching MIL-STD-498 documentation requirements</a:t>
            </a:r>
            <a:endParaRPr lang="en-US" sz="1000" dirty="0"/>
          </a:p>
        </p:txBody>
      </p:sp>
      <p:sp>
        <p:nvSpPr>
          <p:cNvPr id="36"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37 / 93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Human-in-the-Loop Checkpoints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AI agents draft. Humans approve. Nothing advances without explicit sign-off.</a:t>
            </a:r>
            <a:endParaRPr lang="en-US" sz="1200" dirty="0"/>
          </a:p>
        </p:txBody>
      </p:sp>
      <p:sp>
        <p:nvSpPr>
          <p:cNvPr id="5" name="Shape 3"/>
          <p:cNvSpPr/>
          <p:nvPr/>
        </p:nvSpPr>
        <p:spPr>
          <a:xfrm>
            <a:off x="457200" y="1234440"/>
            <a:ext cx="8229600" cy="475488"/>
          </a:xfrm>
          <a:prstGeom prst="rect">
            <a:avLst/>
          </a:prstGeom>
          <a:solidFill>
            <a:srgbClr val="1A2744"/>
          </a:solidFill>
          <a:ln/>
        </p:spPr>
      </p:sp>
      <p:sp>
        <p:nvSpPr>
          <p:cNvPr id="6" name="Shape 4"/>
          <p:cNvSpPr/>
          <p:nvPr/>
        </p:nvSpPr>
        <p:spPr>
          <a:xfrm>
            <a:off x="457200" y="1234440"/>
            <a:ext cx="45720" cy="475488"/>
          </a:xfrm>
          <a:prstGeom prst="rect">
            <a:avLst/>
          </a:prstGeom>
          <a:solidFill>
            <a:srgbClr val="3B82F6"/>
          </a:solidFill>
          <a:ln/>
        </p:spPr>
      </p:sp>
      <p:sp>
        <p:nvSpPr>
          <p:cNvPr id="7" name="Text 5"/>
          <p:cNvSpPr/>
          <p:nvPr/>
        </p:nvSpPr>
        <p:spPr>
          <a:xfrm>
            <a:off x="594360" y="1234440"/>
            <a:ext cx="2103120" cy="475488"/>
          </a:xfrm>
          <a:prstGeom prst="rect">
            <a:avLst/>
          </a:prstGeom>
          <a:noFill/>
          <a:ln/>
        </p:spPr>
        <p:txBody>
          <a:bodyPr wrap="square" lIns="0" tIns="0" rIns="0" bIns="0" rtlCol="0" anchor="ctr"/>
          <a:lstStyle/>
          <a:p>
            <a:pPr indent="0" marL="0">
              <a:buNone/>
            </a:pPr>
            <a:r>
              <a:rPr lang="en-US" sz="900" b="1" dirty="0">
                <a:solidFill>
                  <a:srgbClr val="3B82F6"/>
                </a:solidFill>
                <a:latin typeface="Consolas" pitchFamily="34" charset="0"/>
                <a:ea typeface="Consolas" pitchFamily="34" charset="-122"/>
                <a:cs typeface="Consolas" pitchFamily="34" charset="-120"/>
              </a:rPr>
              <a:t>After /create-prd</a:t>
            </a:r>
            <a:endParaRPr lang="en-US" sz="900" dirty="0"/>
          </a:p>
        </p:txBody>
      </p:sp>
      <p:sp>
        <p:nvSpPr>
          <p:cNvPr id="8" name="Shape 6"/>
          <p:cNvSpPr/>
          <p:nvPr/>
        </p:nvSpPr>
        <p:spPr>
          <a:xfrm>
            <a:off x="2788920" y="1325880"/>
            <a:ext cx="1280160" cy="292608"/>
          </a:xfrm>
          <a:prstGeom prst="roundRect">
            <a:avLst>
              <a:gd name="adj" fmla="val 12500"/>
            </a:avLst>
          </a:prstGeom>
          <a:solidFill>
            <a:srgbClr val="3B82F6"/>
          </a:solidFill>
          <a:ln/>
        </p:spPr>
      </p:sp>
      <p:sp>
        <p:nvSpPr>
          <p:cNvPr id="9" name="Text 7"/>
          <p:cNvSpPr/>
          <p:nvPr/>
        </p:nvSpPr>
        <p:spPr>
          <a:xfrm>
            <a:off x="2788920" y="132588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Product Owner</a:t>
            </a:r>
            <a:endParaRPr lang="en-US" sz="800" dirty="0"/>
          </a:p>
        </p:txBody>
      </p:sp>
      <p:sp>
        <p:nvSpPr>
          <p:cNvPr id="10" name="Text 8"/>
          <p:cNvSpPr/>
          <p:nvPr/>
        </p:nvSpPr>
        <p:spPr>
          <a:xfrm>
            <a:off x="4206240" y="123444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Review PRD scope, personas, requirements. Approve before architecture begins.</a:t>
            </a:r>
            <a:endParaRPr lang="en-US" sz="900" dirty="0"/>
          </a:p>
        </p:txBody>
      </p:sp>
      <p:sp>
        <p:nvSpPr>
          <p:cNvPr id="11" name="Shape 9"/>
          <p:cNvSpPr/>
          <p:nvPr/>
        </p:nvSpPr>
        <p:spPr>
          <a:xfrm>
            <a:off x="457200" y="1783080"/>
            <a:ext cx="8229600" cy="475488"/>
          </a:xfrm>
          <a:prstGeom prst="rect">
            <a:avLst/>
          </a:prstGeom>
          <a:solidFill>
            <a:srgbClr val="1A2744"/>
          </a:solidFill>
          <a:ln/>
        </p:spPr>
      </p:sp>
      <p:sp>
        <p:nvSpPr>
          <p:cNvPr id="12" name="Shape 10"/>
          <p:cNvSpPr/>
          <p:nvPr/>
        </p:nvSpPr>
        <p:spPr>
          <a:xfrm>
            <a:off x="457200" y="1783080"/>
            <a:ext cx="45720" cy="475488"/>
          </a:xfrm>
          <a:prstGeom prst="rect">
            <a:avLst/>
          </a:prstGeom>
          <a:solidFill>
            <a:srgbClr val="8B5CF6"/>
          </a:solidFill>
          <a:ln/>
        </p:spPr>
      </p:sp>
      <p:sp>
        <p:nvSpPr>
          <p:cNvPr id="13" name="Text 11"/>
          <p:cNvSpPr/>
          <p:nvPr/>
        </p:nvSpPr>
        <p:spPr>
          <a:xfrm>
            <a:off x="594360" y="1783080"/>
            <a:ext cx="2103120" cy="475488"/>
          </a:xfrm>
          <a:prstGeom prst="rect">
            <a:avLst/>
          </a:prstGeom>
          <a:noFill/>
          <a:ln/>
        </p:spPr>
        <p:txBody>
          <a:bodyPr wrap="square" lIns="0" tIns="0" rIns="0" bIns="0" rtlCol="0" anchor="ctr"/>
          <a:lstStyle/>
          <a:p>
            <a:pPr indent="0" marL="0">
              <a:buNone/>
            </a:pPr>
            <a:r>
              <a:rPr lang="en-US" sz="900" b="1" dirty="0">
                <a:solidFill>
                  <a:srgbClr val="8B5CF6"/>
                </a:solidFill>
                <a:latin typeface="Consolas" pitchFamily="34" charset="0"/>
                <a:ea typeface="Consolas" pitchFamily="34" charset="-122"/>
                <a:cs typeface="Consolas" pitchFamily="34" charset="-120"/>
              </a:rPr>
              <a:t>After /create-architecture</a:t>
            </a:r>
            <a:endParaRPr lang="en-US" sz="900" dirty="0"/>
          </a:p>
        </p:txBody>
      </p:sp>
      <p:sp>
        <p:nvSpPr>
          <p:cNvPr id="14" name="Shape 12"/>
          <p:cNvSpPr/>
          <p:nvPr/>
        </p:nvSpPr>
        <p:spPr>
          <a:xfrm>
            <a:off x="2788920" y="1874520"/>
            <a:ext cx="1280160" cy="292608"/>
          </a:xfrm>
          <a:prstGeom prst="roundRect">
            <a:avLst>
              <a:gd name="adj" fmla="val 12500"/>
            </a:avLst>
          </a:prstGeom>
          <a:solidFill>
            <a:srgbClr val="8B5CF6"/>
          </a:solidFill>
          <a:ln/>
        </p:spPr>
      </p:sp>
      <p:sp>
        <p:nvSpPr>
          <p:cNvPr id="15" name="Text 13"/>
          <p:cNvSpPr/>
          <p:nvPr/>
        </p:nvSpPr>
        <p:spPr>
          <a:xfrm>
            <a:off x="2788920" y="187452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Architect (human)</a:t>
            </a:r>
            <a:endParaRPr lang="en-US" sz="800" dirty="0"/>
          </a:p>
        </p:txBody>
      </p:sp>
      <p:sp>
        <p:nvSpPr>
          <p:cNvPr id="16" name="Text 14"/>
          <p:cNvSpPr/>
          <p:nvPr/>
        </p:nvSpPr>
        <p:spPr>
          <a:xfrm>
            <a:off x="4206240" y="178308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Validate tech stack decisions, API contracts, data models. Sign off before stories are generated.</a:t>
            </a:r>
            <a:endParaRPr lang="en-US" sz="900" dirty="0"/>
          </a:p>
        </p:txBody>
      </p:sp>
      <p:sp>
        <p:nvSpPr>
          <p:cNvPr id="17" name="Shape 15"/>
          <p:cNvSpPr/>
          <p:nvPr/>
        </p:nvSpPr>
        <p:spPr>
          <a:xfrm>
            <a:off x="457200" y="2331720"/>
            <a:ext cx="8229600" cy="475488"/>
          </a:xfrm>
          <a:prstGeom prst="rect">
            <a:avLst/>
          </a:prstGeom>
          <a:solidFill>
            <a:srgbClr val="1A2744"/>
          </a:solidFill>
          <a:ln/>
        </p:spPr>
      </p:sp>
      <p:sp>
        <p:nvSpPr>
          <p:cNvPr id="18" name="Shape 16"/>
          <p:cNvSpPr/>
          <p:nvPr/>
        </p:nvSpPr>
        <p:spPr>
          <a:xfrm>
            <a:off x="457200" y="2331720"/>
            <a:ext cx="45720" cy="475488"/>
          </a:xfrm>
          <a:prstGeom prst="rect">
            <a:avLst/>
          </a:prstGeom>
          <a:solidFill>
            <a:srgbClr val="0D9488"/>
          </a:solidFill>
          <a:ln/>
        </p:spPr>
      </p:sp>
      <p:sp>
        <p:nvSpPr>
          <p:cNvPr id="19" name="Text 17"/>
          <p:cNvSpPr/>
          <p:nvPr/>
        </p:nvSpPr>
        <p:spPr>
          <a:xfrm>
            <a:off x="594360" y="2331720"/>
            <a:ext cx="2103120" cy="475488"/>
          </a:xfrm>
          <a:prstGeom prst="rect">
            <a:avLst/>
          </a:prstGeom>
          <a:noFill/>
          <a:ln/>
        </p:spPr>
        <p:txBody>
          <a:bodyPr wrap="square" lIns="0" tIns="0" rIns="0" bIns="0" rtlCol="0" anchor="ctr"/>
          <a:lstStyle/>
          <a:p>
            <a:pPr indent="0" marL="0">
              <a:buNone/>
            </a:pPr>
            <a:r>
              <a:rPr lang="en-US" sz="900" b="1" dirty="0">
                <a:solidFill>
                  <a:srgbClr val="0D9488"/>
                </a:solidFill>
                <a:latin typeface="Consolas" pitchFamily="34" charset="0"/>
                <a:ea typeface="Consolas" pitchFamily="34" charset="-122"/>
                <a:cs typeface="Consolas" pitchFamily="34" charset="-120"/>
              </a:rPr>
              <a:t>After /create-epics-and-stories</a:t>
            </a:r>
            <a:endParaRPr lang="en-US" sz="900" dirty="0"/>
          </a:p>
        </p:txBody>
      </p:sp>
      <p:sp>
        <p:nvSpPr>
          <p:cNvPr id="20" name="Shape 18"/>
          <p:cNvSpPr/>
          <p:nvPr/>
        </p:nvSpPr>
        <p:spPr>
          <a:xfrm>
            <a:off x="2788920" y="2423160"/>
            <a:ext cx="1280160" cy="292608"/>
          </a:xfrm>
          <a:prstGeom prst="roundRect">
            <a:avLst>
              <a:gd name="adj" fmla="val 12500"/>
            </a:avLst>
          </a:prstGeom>
          <a:solidFill>
            <a:srgbClr val="0D9488"/>
          </a:solidFill>
          <a:ln/>
        </p:spPr>
      </p:sp>
      <p:sp>
        <p:nvSpPr>
          <p:cNvPr id="21" name="Text 19"/>
          <p:cNvSpPr/>
          <p:nvPr/>
        </p:nvSpPr>
        <p:spPr>
          <a:xfrm>
            <a:off x="2788920" y="242316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Team Lead / SM</a:t>
            </a:r>
            <a:endParaRPr lang="en-US" sz="800" dirty="0"/>
          </a:p>
        </p:txBody>
      </p:sp>
      <p:sp>
        <p:nvSpPr>
          <p:cNvPr id="22" name="Text 20"/>
          <p:cNvSpPr/>
          <p:nvPr/>
        </p:nvSpPr>
        <p:spPr>
          <a:xfrm>
            <a:off x="4206240" y="233172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Review story breakdown, AC quality, sprint assignment. Run /validate-epics-and-stories first.</a:t>
            </a:r>
            <a:endParaRPr lang="en-US" sz="900" dirty="0"/>
          </a:p>
        </p:txBody>
      </p:sp>
      <p:sp>
        <p:nvSpPr>
          <p:cNvPr id="23" name="Shape 21"/>
          <p:cNvSpPr/>
          <p:nvPr/>
        </p:nvSpPr>
        <p:spPr>
          <a:xfrm>
            <a:off x="457200" y="2880360"/>
            <a:ext cx="8229600" cy="475488"/>
          </a:xfrm>
          <a:prstGeom prst="rect">
            <a:avLst/>
          </a:prstGeom>
          <a:solidFill>
            <a:srgbClr val="1A2744"/>
          </a:solidFill>
          <a:ln/>
        </p:spPr>
      </p:sp>
      <p:sp>
        <p:nvSpPr>
          <p:cNvPr id="24" name="Shape 22"/>
          <p:cNvSpPr/>
          <p:nvPr/>
        </p:nvSpPr>
        <p:spPr>
          <a:xfrm>
            <a:off x="457200" y="2880360"/>
            <a:ext cx="45720" cy="475488"/>
          </a:xfrm>
          <a:prstGeom prst="rect">
            <a:avLst/>
          </a:prstGeom>
          <a:solidFill>
            <a:srgbClr val="F59E0B"/>
          </a:solidFill>
          <a:ln/>
        </p:spPr>
      </p:sp>
      <p:sp>
        <p:nvSpPr>
          <p:cNvPr id="25" name="Text 23"/>
          <p:cNvSpPr/>
          <p:nvPr/>
        </p:nvSpPr>
        <p:spPr>
          <a:xfrm>
            <a:off x="594360" y="2880360"/>
            <a:ext cx="2103120" cy="475488"/>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After /dev-story</a:t>
            </a:r>
            <a:endParaRPr lang="en-US" sz="900" dirty="0"/>
          </a:p>
        </p:txBody>
      </p:sp>
      <p:sp>
        <p:nvSpPr>
          <p:cNvPr id="26" name="Shape 24"/>
          <p:cNvSpPr/>
          <p:nvPr/>
        </p:nvSpPr>
        <p:spPr>
          <a:xfrm>
            <a:off x="2788920" y="2971800"/>
            <a:ext cx="1280160" cy="292608"/>
          </a:xfrm>
          <a:prstGeom prst="roundRect">
            <a:avLst>
              <a:gd name="adj" fmla="val 12500"/>
            </a:avLst>
          </a:prstGeom>
          <a:solidFill>
            <a:srgbClr val="F59E0B"/>
          </a:solidFill>
          <a:ln/>
        </p:spPr>
      </p:sp>
      <p:sp>
        <p:nvSpPr>
          <p:cNvPr id="27" name="Text 25"/>
          <p:cNvSpPr/>
          <p:nvPr/>
        </p:nvSpPr>
        <p:spPr>
          <a:xfrm>
            <a:off x="2788920" y="297180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Developer</a:t>
            </a:r>
            <a:endParaRPr lang="en-US" sz="800" dirty="0"/>
          </a:p>
        </p:txBody>
      </p:sp>
      <p:sp>
        <p:nvSpPr>
          <p:cNvPr id="28" name="Text 26"/>
          <p:cNvSpPr/>
          <p:nvPr/>
        </p:nvSpPr>
        <p:spPr>
          <a:xfrm>
            <a:off x="4206240" y="288036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Review generated code, run locally, check tests pass. Don’t commit blindly.</a:t>
            </a:r>
            <a:endParaRPr lang="en-US" sz="900" dirty="0"/>
          </a:p>
        </p:txBody>
      </p:sp>
      <p:sp>
        <p:nvSpPr>
          <p:cNvPr id="29" name="Shape 27"/>
          <p:cNvSpPr/>
          <p:nvPr/>
        </p:nvSpPr>
        <p:spPr>
          <a:xfrm>
            <a:off x="457200" y="3429000"/>
            <a:ext cx="8229600" cy="475488"/>
          </a:xfrm>
          <a:prstGeom prst="rect">
            <a:avLst/>
          </a:prstGeom>
          <a:solidFill>
            <a:srgbClr val="1A2744"/>
          </a:solidFill>
          <a:ln/>
        </p:spPr>
      </p:sp>
      <p:sp>
        <p:nvSpPr>
          <p:cNvPr id="30" name="Shape 28"/>
          <p:cNvSpPr/>
          <p:nvPr/>
        </p:nvSpPr>
        <p:spPr>
          <a:xfrm>
            <a:off x="457200" y="3429000"/>
            <a:ext cx="45720" cy="475488"/>
          </a:xfrm>
          <a:prstGeom prst="rect">
            <a:avLst/>
          </a:prstGeom>
          <a:solidFill>
            <a:srgbClr val="10B981"/>
          </a:solidFill>
          <a:ln/>
        </p:spPr>
      </p:sp>
      <p:sp>
        <p:nvSpPr>
          <p:cNvPr id="31" name="Text 29"/>
          <p:cNvSpPr/>
          <p:nvPr/>
        </p:nvSpPr>
        <p:spPr>
          <a:xfrm>
            <a:off x="594360" y="3429000"/>
            <a:ext cx="2103120" cy="475488"/>
          </a:xfrm>
          <a:prstGeom prst="rect">
            <a:avLst/>
          </a:prstGeom>
          <a:noFill/>
          <a:ln/>
        </p:spPr>
        <p:txBody>
          <a:bodyPr wrap="square" lIns="0" tIns="0" rIns="0" bIns="0" rtlCol="0" anchor="ctr"/>
          <a:lstStyle/>
          <a:p>
            <a:pPr indent="0" marL="0">
              <a:buNone/>
            </a:pPr>
            <a:r>
              <a:rPr lang="en-US" sz="900" b="1" dirty="0">
                <a:solidFill>
                  <a:srgbClr val="10B981"/>
                </a:solidFill>
                <a:latin typeface="Consolas" pitchFamily="34" charset="0"/>
                <a:ea typeface="Consolas" pitchFamily="34" charset="-122"/>
                <a:cs typeface="Consolas" pitchFamily="34" charset="-120"/>
              </a:rPr>
              <a:t>After /code-review</a:t>
            </a:r>
            <a:endParaRPr lang="en-US" sz="900" dirty="0"/>
          </a:p>
        </p:txBody>
      </p:sp>
      <p:sp>
        <p:nvSpPr>
          <p:cNvPr id="32" name="Shape 30"/>
          <p:cNvSpPr/>
          <p:nvPr/>
        </p:nvSpPr>
        <p:spPr>
          <a:xfrm>
            <a:off x="2788920" y="3520440"/>
            <a:ext cx="1280160" cy="292608"/>
          </a:xfrm>
          <a:prstGeom prst="roundRect">
            <a:avLst>
              <a:gd name="adj" fmla="val 12500"/>
            </a:avLst>
          </a:prstGeom>
          <a:solidFill>
            <a:srgbClr val="10B981"/>
          </a:solidFill>
          <a:ln/>
        </p:spPr>
      </p:sp>
      <p:sp>
        <p:nvSpPr>
          <p:cNvPr id="33" name="Text 31"/>
          <p:cNvSpPr/>
          <p:nvPr/>
        </p:nvSpPr>
        <p:spPr>
          <a:xfrm>
            <a:off x="2788920" y="352044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Peer Reviewer</a:t>
            </a:r>
            <a:endParaRPr lang="en-US" sz="800" dirty="0"/>
          </a:p>
        </p:txBody>
      </p:sp>
      <p:sp>
        <p:nvSpPr>
          <p:cNvPr id="34" name="Text 32"/>
          <p:cNvSpPr/>
          <p:nvPr/>
        </p:nvSpPr>
        <p:spPr>
          <a:xfrm>
            <a:off x="4206240" y="342900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Human reads the PR. Agent review is a first pass, not a replacement for human judgment.</a:t>
            </a:r>
            <a:endParaRPr lang="en-US" sz="900" dirty="0"/>
          </a:p>
        </p:txBody>
      </p:sp>
      <p:sp>
        <p:nvSpPr>
          <p:cNvPr id="35" name="Shape 33"/>
          <p:cNvSpPr/>
          <p:nvPr/>
        </p:nvSpPr>
        <p:spPr>
          <a:xfrm>
            <a:off x="457200" y="3977640"/>
            <a:ext cx="8229600" cy="475488"/>
          </a:xfrm>
          <a:prstGeom prst="rect">
            <a:avLst/>
          </a:prstGeom>
          <a:solidFill>
            <a:srgbClr val="1A2744"/>
          </a:solidFill>
          <a:ln/>
        </p:spPr>
      </p:sp>
      <p:sp>
        <p:nvSpPr>
          <p:cNvPr id="36" name="Shape 34"/>
          <p:cNvSpPr/>
          <p:nvPr/>
        </p:nvSpPr>
        <p:spPr>
          <a:xfrm>
            <a:off x="457200" y="3977640"/>
            <a:ext cx="45720" cy="475488"/>
          </a:xfrm>
          <a:prstGeom prst="rect">
            <a:avLst/>
          </a:prstGeom>
          <a:solidFill>
            <a:srgbClr val="EF4444"/>
          </a:solidFill>
          <a:ln/>
        </p:spPr>
      </p:sp>
      <p:sp>
        <p:nvSpPr>
          <p:cNvPr id="37" name="Text 35"/>
          <p:cNvSpPr/>
          <p:nvPr/>
        </p:nvSpPr>
        <p:spPr>
          <a:xfrm>
            <a:off x="594360" y="3977640"/>
            <a:ext cx="2103120" cy="475488"/>
          </a:xfrm>
          <a:prstGeom prst="rect">
            <a:avLst/>
          </a:prstGeom>
          <a:noFill/>
          <a:ln/>
        </p:spPr>
        <p:txBody>
          <a:bodyPr wrap="square" lIns="0" tIns="0" rIns="0" bIns="0" rtlCol="0" anchor="ctr"/>
          <a:lstStyle/>
          <a:p>
            <a:pPr indent="0" marL="0">
              <a:buNone/>
            </a:pPr>
            <a:r>
              <a:rPr lang="en-US" sz="900" b="1" dirty="0">
                <a:solidFill>
                  <a:srgbClr val="EF4444"/>
                </a:solidFill>
                <a:latin typeface="Consolas" pitchFamily="34" charset="0"/>
                <a:ea typeface="Consolas" pitchFamily="34" charset="-122"/>
                <a:cs typeface="Consolas" pitchFamily="34" charset="-120"/>
              </a:rPr>
              <a:t>Before release</a:t>
            </a:r>
            <a:endParaRPr lang="en-US" sz="900" dirty="0"/>
          </a:p>
        </p:txBody>
      </p:sp>
      <p:sp>
        <p:nvSpPr>
          <p:cNvPr id="38" name="Shape 36"/>
          <p:cNvSpPr/>
          <p:nvPr/>
        </p:nvSpPr>
        <p:spPr>
          <a:xfrm>
            <a:off x="2788920" y="4069080"/>
            <a:ext cx="1280160" cy="292608"/>
          </a:xfrm>
          <a:prstGeom prst="roundRect">
            <a:avLst>
              <a:gd name="adj" fmla="val 12500"/>
            </a:avLst>
          </a:prstGeom>
          <a:solidFill>
            <a:srgbClr val="EF4444"/>
          </a:solidFill>
          <a:ln/>
        </p:spPr>
      </p:sp>
      <p:sp>
        <p:nvSpPr>
          <p:cNvPr id="39" name="Text 37"/>
          <p:cNvSpPr/>
          <p:nvPr/>
        </p:nvSpPr>
        <p:spPr>
          <a:xfrm>
            <a:off x="2788920" y="4069080"/>
            <a:ext cx="128016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Project Lead</a:t>
            </a:r>
            <a:endParaRPr lang="en-US" sz="800" dirty="0"/>
          </a:p>
        </p:txBody>
      </p:sp>
      <p:sp>
        <p:nvSpPr>
          <p:cNvPr id="40" name="Text 38"/>
          <p:cNvSpPr/>
          <p:nvPr/>
        </p:nvSpPr>
        <p:spPr>
          <a:xfrm>
            <a:off x="4206240" y="3977640"/>
            <a:ext cx="4389120" cy="47548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Run /check-implementation-readiness. All verification commands pass. Human sign-off on release.</a:t>
            </a:r>
            <a:endParaRPr lang="en-US" sz="900" dirty="0"/>
          </a:p>
        </p:txBody>
      </p:sp>
      <p:sp>
        <p:nvSpPr>
          <p:cNvPr id="41" name="Text 39"/>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AI is fast, not infallible. Every phase has a human gate — the methodology enforces this, not just recommends it.</a:t>
            </a:r>
            <a:endParaRPr lang="en-US" sz="1000" dirty="0"/>
          </a:p>
        </p:txBody>
      </p:sp>
      <p:sp>
        <p:nvSpPr>
          <p:cNvPr id="42" name="Text 4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38 / 93</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Testing in BMAD</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Two levels of testing support — built-in for every project, enterprise module for regulated environments</a:t>
            </a:r>
            <a:endParaRPr lang="en-US" sz="1200" dirty="0"/>
          </a:p>
        </p:txBody>
      </p:sp>
      <p:sp>
        <p:nvSpPr>
          <p:cNvPr id="5" name="Shape 3"/>
          <p:cNvSpPr/>
          <p:nvPr/>
        </p:nvSpPr>
        <p:spPr>
          <a:xfrm>
            <a:off x="457200" y="1280160"/>
            <a:ext cx="3931920" cy="3108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80160"/>
            <a:ext cx="3931920" cy="54864"/>
          </a:xfrm>
          <a:prstGeom prst="rect">
            <a:avLst/>
          </a:prstGeom>
          <a:solidFill>
            <a:srgbClr val="10B981"/>
          </a:solidFill>
          <a:ln/>
        </p:spPr>
      </p:sp>
      <p:sp>
        <p:nvSpPr>
          <p:cNvPr id="7" name="Text 5"/>
          <p:cNvSpPr/>
          <p:nvPr/>
        </p:nvSpPr>
        <p:spPr>
          <a:xfrm>
            <a:off x="640080" y="1371600"/>
            <a:ext cx="3566160" cy="320040"/>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Built-in: QA Agent (Quinn)</a:t>
            </a:r>
            <a:endParaRPr lang="en-US" sz="1500" dirty="0"/>
          </a:p>
        </p:txBody>
      </p:sp>
      <p:sp>
        <p:nvSpPr>
          <p:cNvPr id="8" name="Text 6"/>
          <p:cNvSpPr/>
          <p:nvPr/>
        </p:nvSpPr>
        <p:spPr>
          <a:xfrm>
            <a:off x="640080" y="1691640"/>
            <a:ext cx="3566160"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Included with every BMAD installation</a:t>
            </a:r>
            <a:endParaRPr lang="en-US" sz="1000" dirty="0"/>
          </a:p>
        </p:txBody>
      </p:sp>
      <p:sp>
        <p:nvSpPr>
          <p:cNvPr id="9" name="Text 7"/>
          <p:cNvSpPr/>
          <p:nvPr/>
        </p:nvSpPr>
        <p:spPr>
          <a:xfrm>
            <a:off x="640080" y="201168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Code review (/code-review workflow)</a:t>
            </a:r>
            <a:endParaRPr lang="en-US" sz="950" dirty="0"/>
          </a:p>
        </p:txBody>
      </p:sp>
      <p:sp>
        <p:nvSpPr>
          <p:cNvPr id="10" name="Text 8"/>
          <p:cNvSpPr/>
          <p:nvPr/>
        </p:nvSpPr>
        <p:spPr>
          <a:xfrm>
            <a:off x="640080" y="228600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Unit test generation from story context</a:t>
            </a:r>
            <a:endParaRPr lang="en-US" sz="950" dirty="0"/>
          </a:p>
        </p:txBody>
      </p:sp>
      <p:sp>
        <p:nvSpPr>
          <p:cNvPr id="11" name="Text 9"/>
          <p:cNvSpPr/>
          <p:nvPr/>
        </p:nvSpPr>
        <p:spPr>
          <a:xfrm>
            <a:off x="640080" y="256032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API test generation — status codes, happy path, error cases</a:t>
            </a:r>
            <a:endParaRPr lang="en-US" sz="950" dirty="0"/>
          </a:p>
        </p:txBody>
      </p:sp>
      <p:sp>
        <p:nvSpPr>
          <p:cNvPr id="12" name="Text 10"/>
          <p:cNvSpPr/>
          <p:nvPr/>
        </p:nvSpPr>
        <p:spPr>
          <a:xfrm>
            <a:off x="640080" y="283464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E2E test generation — user workflows with semantic locators</a:t>
            </a:r>
            <a:endParaRPr lang="en-US" sz="950" dirty="0"/>
          </a:p>
        </p:txBody>
      </p:sp>
      <p:sp>
        <p:nvSpPr>
          <p:cNvPr id="13" name="Text 11"/>
          <p:cNvSpPr/>
          <p:nvPr/>
        </p:nvSpPr>
        <p:spPr>
          <a:xfrm>
            <a:off x="640080" y="310896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Run and verify — executes tests, fixes failures immediately</a:t>
            </a:r>
            <a:endParaRPr lang="en-US" sz="950" dirty="0"/>
          </a:p>
        </p:txBody>
      </p:sp>
      <p:sp>
        <p:nvSpPr>
          <p:cNvPr id="14" name="Text 12"/>
          <p:cNvSpPr/>
          <p:nvPr/>
        </p:nvSpPr>
        <p:spPr>
          <a:xfrm>
            <a:off x="640080" y="338328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Works directly from source code + story AC</a:t>
            </a:r>
            <a:endParaRPr lang="en-US" sz="950" dirty="0"/>
          </a:p>
        </p:txBody>
      </p:sp>
      <p:sp>
        <p:nvSpPr>
          <p:cNvPr id="15" name="Text 13"/>
          <p:cNvSpPr/>
          <p:nvPr/>
        </p:nvSpPr>
        <p:spPr>
          <a:xfrm>
            <a:off x="640080" y="365760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Integrated into the dev loop (Phase 4)</a:t>
            </a:r>
            <a:endParaRPr lang="en-US" sz="950" dirty="0"/>
          </a:p>
        </p:txBody>
      </p:sp>
      <p:sp>
        <p:nvSpPr>
          <p:cNvPr id="16" name="Shape 14"/>
          <p:cNvSpPr/>
          <p:nvPr/>
        </p:nvSpPr>
        <p:spPr>
          <a:xfrm>
            <a:off x="640080" y="4023360"/>
            <a:ext cx="1463040" cy="256032"/>
          </a:xfrm>
          <a:prstGeom prst="roundRect">
            <a:avLst>
              <a:gd name="adj" fmla="val 17857"/>
            </a:avLst>
          </a:prstGeom>
          <a:solidFill>
            <a:srgbClr val="10B981"/>
          </a:solidFill>
          <a:ln/>
        </p:spPr>
      </p:sp>
      <p:sp>
        <p:nvSpPr>
          <p:cNvPr id="17" name="Text 15"/>
          <p:cNvSpPr/>
          <p:nvPr/>
        </p:nvSpPr>
        <p:spPr>
          <a:xfrm>
            <a:off x="640080" y="4023360"/>
            <a:ext cx="14630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Every project</a:t>
            </a:r>
            <a:endParaRPr lang="en-US" sz="900" dirty="0"/>
          </a:p>
        </p:txBody>
      </p:sp>
      <p:sp>
        <p:nvSpPr>
          <p:cNvPr id="18" name="Shape 16"/>
          <p:cNvSpPr/>
          <p:nvPr/>
        </p:nvSpPr>
        <p:spPr>
          <a:xfrm>
            <a:off x="4754880" y="1280160"/>
            <a:ext cx="3931920" cy="3108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9" name="Shape 17"/>
          <p:cNvSpPr/>
          <p:nvPr/>
        </p:nvSpPr>
        <p:spPr>
          <a:xfrm>
            <a:off x="4754880" y="1280160"/>
            <a:ext cx="3931920" cy="54864"/>
          </a:xfrm>
          <a:prstGeom prst="rect">
            <a:avLst/>
          </a:prstGeom>
          <a:solidFill>
            <a:srgbClr val="8B5CF6"/>
          </a:solidFill>
          <a:ln/>
        </p:spPr>
      </p:sp>
      <p:sp>
        <p:nvSpPr>
          <p:cNvPr id="20" name="Text 18"/>
          <p:cNvSpPr/>
          <p:nvPr/>
        </p:nvSpPr>
        <p:spPr>
          <a:xfrm>
            <a:off x="4937760" y="1371600"/>
            <a:ext cx="3566160" cy="320040"/>
          </a:xfrm>
          <a:prstGeom prst="rect">
            <a:avLst/>
          </a:prstGeom>
          <a:noFill/>
          <a:ln/>
        </p:spPr>
        <p:txBody>
          <a:bodyPr wrap="square" lIns="0" tIns="0" rIns="0" bIns="0"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Enterprise: TEA Module (Murat)</a:t>
            </a:r>
            <a:endParaRPr lang="en-US" sz="1500" dirty="0"/>
          </a:p>
        </p:txBody>
      </p:sp>
      <p:sp>
        <p:nvSpPr>
          <p:cNvPr id="21" name="Text 19"/>
          <p:cNvSpPr/>
          <p:nvPr/>
        </p:nvSpPr>
        <p:spPr>
          <a:xfrm>
            <a:off x="4937760" y="1691640"/>
            <a:ext cx="3566160" cy="22860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Optional module — install via ma-agents</a:t>
            </a:r>
            <a:endParaRPr lang="en-US" sz="1000" dirty="0"/>
          </a:p>
        </p:txBody>
      </p:sp>
      <p:sp>
        <p:nvSpPr>
          <p:cNvPr id="22" name="Text 20"/>
          <p:cNvSpPr/>
          <p:nvPr/>
        </p:nvSpPr>
        <p:spPr>
          <a:xfrm>
            <a:off x="4937760" y="201168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9 structured workflows for enterprise testing</a:t>
            </a:r>
            <a:endParaRPr lang="en-US" sz="950" dirty="0"/>
          </a:p>
        </p:txBody>
      </p:sp>
      <p:sp>
        <p:nvSpPr>
          <p:cNvPr id="23" name="Text 21"/>
          <p:cNvSpPr/>
          <p:nvPr/>
        </p:nvSpPr>
        <p:spPr>
          <a:xfrm>
            <a:off x="4937760" y="228600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Risk-based test strategy (P0–P3 prioritization)</a:t>
            </a:r>
            <a:endParaRPr lang="en-US" sz="950" dirty="0"/>
          </a:p>
        </p:txBody>
      </p:sp>
      <p:sp>
        <p:nvSpPr>
          <p:cNvPr id="24" name="Text 22"/>
          <p:cNvSpPr/>
          <p:nvPr/>
        </p:nvSpPr>
        <p:spPr>
          <a:xfrm>
            <a:off x="4937760" y="256032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ATDD — Acceptance Test Driven Development</a:t>
            </a:r>
            <a:endParaRPr lang="en-US" sz="950" dirty="0"/>
          </a:p>
        </p:txBody>
      </p:sp>
      <p:sp>
        <p:nvSpPr>
          <p:cNvPr id="25" name="Text 23"/>
          <p:cNvSpPr/>
          <p:nvPr/>
        </p:nvSpPr>
        <p:spPr>
          <a:xfrm>
            <a:off x="4937760" y="283464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Test framework setup (Playwright, Cypress, Jest, etc.)</a:t>
            </a:r>
            <a:endParaRPr lang="en-US" sz="950" dirty="0"/>
          </a:p>
        </p:txBody>
      </p:sp>
      <p:sp>
        <p:nvSpPr>
          <p:cNvPr id="26" name="Text 24"/>
          <p:cNvSpPr/>
          <p:nvPr/>
        </p:nvSpPr>
        <p:spPr>
          <a:xfrm>
            <a:off x="4937760" y="310896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Requirements traceability (AC → test → result)</a:t>
            </a:r>
            <a:endParaRPr lang="en-US" sz="950" dirty="0"/>
          </a:p>
        </p:txBody>
      </p:sp>
      <p:sp>
        <p:nvSpPr>
          <p:cNvPr id="27" name="Text 25"/>
          <p:cNvSpPr/>
          <p:nvPr/>
        </p:nvSpPr>
        <p:spPr>
          <a:xfrm>
            <a:off x="4937760" y="338328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NFR assessment (performance, security, load)</a:t>
            </a:r>
            <a:endParaRPr lang="en-US" sz="950" dirty="0"/>
          </a:p>
        </p:txBody>
      </p:sp>
      <p:sp>
        <p:nvSpPr>
          <p:cNvPr id="28" name="Text 26"/>
          <p:cNvSpPr/>
          <p:nvPr/>
        </p:nvSpPr>
        <p:spPr>
          <a:xfrm>
            <a:off x="4937760" y="365760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CI pipeline integration guidance</a:t>
            </a:r>
            <a:endParaRPr lang="en-US" sz="950" dirty="0"/>
          </a:p>
        </p:txBody>
      </p:sp>
      <p:sp>
        <p:nvSpPr>
          <p:cNvPr id="29" name="Text 27"/>
          <p:cNvSpPr/>
          <p:nvPr/>
        </p:nvSpPr>
        <p:spPr>
          <a:xfrm>
            <a:off x="4937760" y="3931920"/>
            <a:ext cx="3566160"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Go/no-go release gate decisions</a:t>
            </a:r>
            <a:endParaRPr lang="en-US" sz="950" dirty="0"/>
          </a:p>
        </p:txBody>
      </p:sp>
      <p:sp>
        <p:nvSpPr>
          <p:cNvPr id="30" name="Shape 28"/>
          <p:cNvSpPr/>
          <p:nvPr/>
        </p:nvSpPr>
        <p:spPr>
          <a:xfrm>
            <a:off x="4937760" y="4023360"/>
            <a:ext cx="1828800" cy="256032"/>
          </a:xfrm>
          <a:prstGeom prst="roundRect">
            <a:avLst>
              <a:gd name="adj" fmla="val 17857"/>
            </a:avLst>
          </a:prstGeom>
          <a:solidFill>
            <a:srgbClr val="8B5CF6"/>
          </a:solidFill>
          <a:ln/>
        </p:spPr>
      </p:sp>
      <p:sp>
        <p:nvSpPr>
          <p:cNvPr id="31" name="Text 29"/>
          <p:cNvSpPr/>
          <p:nvPr/>
        </p:nvSpPr>
        <p:spPr>
          <a:xfrm>
            <a:off x="4937760" y="4023360"/>
            <a:ext cx="18288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Regulated / Enterprise</a:t>
            </a:r>
            <a:endParaRPr lang="en-US" sz="900" dirty="0"/>
          </a:p>
        </p:txBody>
      </p:sp>
      <p:sp>
        <p:nvSpPr>
          <p:cNvPr id="32" name="Text 30"/>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Quinn handles day-to-day testing. TEA adds strategy, traceability, and compliance for defence / regulated projects.</a:t>
            </a:r>
            <a:endParaRPr lang="en-US" sz="1000" dirty="0"/>
          </a:p>
        </p:txBody>
      </p:sp>
      <p:sp>
        <p:nvSpPr>
          <p:cNvPr id="33" name="Text 3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39 / 93</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Testing Types &amp; BMAD Coverage</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914400"/>
        </p:xfrm>
        <a:graphic>
          <a:graphicData uri="http://schemas.openxmlformats.org/drawingml/2006/table">
            <a:tbl>
              <a:tblPr/>
              <a:tblGrid>
                <a:gridCol w="1188720"/>
                <a:gridCol w="1828800"/>
                <a:gridCol w="2011680"/>
                <a:gridCol w="1188720"/>
                <a:gridCol w="11887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Test Type</a:t>
                      </a:r>
                      <a:endParaRPr lang="en-US" sz="9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Tests</a:t>
                      </a:r>
                      <a:endParaRPr lang="en-US" sz="9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Who / What Runs It</a:t>
                      </a:r>
                      <a:endParaRPr lang="en-US" sz="9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When</a:t>
                      </a:r>
                      <a:endParaRPr lang="en-US" sz="9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BMAD Agent</a:t>
                      </a:r>
                      <a:endParaRPr lang="en-US" sz="9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9488"/>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Unit Tests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Individual functions, modules, classes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Dev agent generates + runs</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automatically during /dev-story</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Every story,</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in CI pipeline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Dev Agent</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(Quinn reviews)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API Tests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Endpoints: status codes, response</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structure, error handling</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Quinn’s /automate workflow</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generates from story AC</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After story dev,</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in CI pipeline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QA Agent</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(Quinn)</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E2E Tests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Full user workflows across</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the UI, end to end</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Quinn or TEA generates with</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Playwright / Cypress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Per epic or</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release gate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QA Agent</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or TEA</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Integration Tests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Interactions between modules,</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services, APIs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Dev agent writes during /dev-story</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for cross-module stories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After story dev,</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in CI pipeline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Dev Agent</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Security / SAST</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Vulnerabilities, code scanning,</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secure coding practices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Static analysis tools in CI</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pipeline (SonarQube, etc.)</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Every commit</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(CI pipeline)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CI Pipeline</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(unchanged)</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Performance / NFR</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Load, stress, response times,</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scalability</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TEA’s /nfr-assess workflow</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defines strategy + criteria</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Pre-release</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gate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TEA Module</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(Murat)</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Regression</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Existing functionality still works</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after changes</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Automated test suite in CI</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expands with each story</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Every build</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(CI pipeline)</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CI Pipeline</a:t>
                      </a:r>
                      <a:endParaRPr lang="en-US" sz="850" dirty="0">
                        <a:latin typeface="Calibri" charset="0"/>
                        <a:ea typeface="Calibri" charset="0"/>
                        <a:cs typeface="Calibri" charset="0"/>
                      </a:endParaRPr>
                    </a:p>
                    <a:p>
                      <a:pPr indent="0" marL="0">
                        <a:buNone/>
                      </a:pPr>
                      <a:r>
                        <a:rPr lang="en-US" sz="850" dirty="0">
                          <a:solidFill>
                            <a:srgbClr val="1E293B"/>
                          </a:solidFill>
                          <a:latin typeface="Calibri" pitchFamily="34" charset="0"/>
                          <a:ea typeface="Calibri" pitchFamily="34" charset="-122"/>
                          <a:cs typeface="Calibri" pitchFamily="34" charset="-120"/>
                        </a:rPr>
                        <a:t>+ Quinn</a:t>
                      </a:r>
                      <a:endParaRPr lang="en-US" sz="850" dirty="0">
                        <a:latin typeface="Calibri" charset="0"/>
                        <a:ea typeface="Calibri" charset="0"/>
                        <a:cs typeface="Calibri" charset="0"/>
                      </a:endParaRPr>
                    </a:p>
                  </a:txBody>
                  <a:tcPr marL="50800" marR="508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bl>
          </a:graphicData>
        </a:graphic>
      </p:graphicFrame>
      <p:sp>
        <p:nvSpPr>
          <p:cNvPr id="6" name="Text 3"/>
          <p:cNvSpPr/>
          <p:nvPr/>
        </p:nvSpPr>
        <p:spPr>
          <a:xfrm>
            <a:off x="182880" y="4663440"/>
            <a:ext cx="877824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AI agents generate tests from Acceptance Criteria and architecture context — not from guesswork</a:t>
            </a:r>
            <a:endParaRPr lang="en-US" sz="1000" dirty="0"/>
          </a:p>
        </p:txBody>
      </p:sp>
      <p:sp>
        <p:nvSpPr>
          <p:cNvPr id="7" name="Text 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40 / 93</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Testing in the Dev Loop</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How testing integrates into every story’s lifecycle</a:t>
            </a:r>
            <a:endParaRPr lang="en-US" sz="1300" dirty="0"/>
          </a:p>
        </p:txBody>
      </p:sp>
      <p:sp>
        <p:nvSpPr>
          <p:cNvPr id="5" name="Shape 3"/>
          <p:cNvSpPr/>
          <p:nvPr/>
        </p:nvSpPr>
        <p:spPr>
          <a:xfrm>
            <a:off x="274320" y="1280160"/>
            <a:ext cx="1508760" cy="457200"/>
          </a:xfrm>
          <a:prstGeom prst="roundRect">
            <a:avLst>
              <a:gd name="adj" fmla="val 16000"/>
            </a:avLst>
          </a:prstGeom>
          <a:solidFill>
            <a:srgbClr val="10B981"/>
          </a:solidFill>
          <a:ln/>
        </p:spPr>
      </p:sp>
      <p:sp>
        <p:nvSpPr>
          <p:cNvPr id="6" name="Text 4"/>
          <p:cNvSpPr/>
          <p:nvPr/>
        </p:nvSpPr>
        <p:spPr>
          <a:xfrm>
            <a:off x="274320" y="1280160"/>
            <a:ext cx="1508760" cy="45720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/create-story</a:t>
            </a:r>
            <a:endParaRPr lang="en-US" sz="1000" dirty="0"/>
          </a:p>
        </p:txBody>
      </p:sp>
      <p:sp>
        <p:nvSpPr>
          <p:cNvPr id="7" name="Text 5"/>
          <p:cNvSpPr/>
          <p:nvPr/>
        </p:nvSpPr>
        <p:spPr>
          <a:xfrm>
            <a:off x="182880" y="1783080"/>
            <a:ext cx="1691640" cy="411480"/>
          </a:xfrm>
          <a:prstGeom prst="rect">
            <a:avLst/>
          </a:prstGeom>
          <a:noFill/>
          <a:ln/>
        </p:spPr>
        <p:txBody>
          <a:bodyPr wrap="square" lIns="0" tIns="0" rIns="0" bIns="0" rtlCol="0" anchor="t"/>
          <a:lstStyle/>
          <a:p>
            <a:pPr algn="ctr" indent="0" marL="0">
              <a:buNone/>
            </a:pPr>
            <a:r>
              <a:rPr lang="en-US" sz="800" dirty="0">
                <a:solidFill>
                  <a:srgbClr val="94A3B8"/>
                </a:solidFill>
                <a:latin typeface="Calibri" pitchFamily="34" charset="0"/>
                <a:ea typeface="Calibri" pitchFamily="34" charset="-122"/>
                <a:cs typeface="Calibri" pitchFamily="34" charset="-120"/>
              </a:rPr>
              <a:t>SM generates story</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with testable AC</a:t>
            </a:r>
            <a:endParaRPr lang="en-US" sz="800" dirty="0"/>
          </a:p>
        </p:txBody>
      </p:sp>
      <p:sp>
        <p:nvSpPr>
          <p:cNvPr id="8" name="Text 6"/>
          <p:cNvSpPr/>
          <p:nvPr/>
        </p:nvSpPr>
        <p:spPr>
          <a:xfrm>
            <a:off x="1783080" y="1371600"/>
            <a:ext cx="274320" cy="27432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9" name="Shape 7"/>
          <p:cNvSpPr/>
          <p:nvPr/>
        </p:nvSpPr>
        <p:spPr>
          <a:xfrm>
            <a:off x="2057400" y="1280160"/>
            <a:ext cx="1508760" cy="457200"/>
          </a:xfrm>
          <a:prstGeom prst="roundRect">
            <a:avLst>
              <a:gd name="adj" fmla="val 16000"/>
            </a:avLst>
          </a:prstGeom>
          <a:solidFill>
            <a:srgbClr val="3B82F6"/>
          </a:solidFill>
          <a:ln/>
        </p:spPr>
      </p:sp>
      <p:sp>
        <p:nvSpPr>
          <p:cNvPr id="10" name="Text 8"/>
          <p:cNvSpPr/>
          <p:nvPr/>
        </p:nvSpPr>
        <p:spPr>
          <a:xfrm>
            <a:off x="2057400" y="1280160"/>
            <a:ext cx="1508760" cy="45720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/dev-story</a:t>
            </a:r>
            <a:endParaRPr lang="en-US" sz="1000" dirty="0"/>
          </a:p>
        </p:txBody>
      </p:sp>
      <p:sp>
        <p:nvSpPr>
          <p:cNvPr id="11" name="Text 9"/>
          <p:cNvSpPr/>
          <p:nvPr/>
        </p:nvSpPr>
        <p:spPr>
          <a:xfrm>
            <a:off x="1965960" y="1783080"/>
            <a:ext cx="1691640" cy="411480"/>
          </a:xfrm>
          <a:prstGeom prst="rect">
            <a:avLst/>
          </a:prstGeom>
          <a:noFill/>
          <a:ln/>
        </p:spPr>
        <p:txBody>
          <a:bodyPr wrap="square" lIns="0" tIns="0" rIns="0" bIns="0" rtlCol="0" anchor="t"/>
          <a:lstStyle/>
          <a:p>
            <a:pPr algn="ctr" indent="0" marL="0">
              <a:buNone/>
            </a:pPr>
            <a:r>
              <a:rPr lang="en-US" sz="800" dirty="0">
                <a:solidFill>
                  <a:srgbClr val="94A3B8"/>
                </a:solidFill>
                <a:latin typeface="Calibri" pitchFamily="34" charset="0"/>
                <a:ea typeface="Calibri" pitchFamily="34" charset="-122"/>
                <a:cs typeface="Calibri" pitchFamily="34" charset="-120"/>
              </a:rPr>
              <a:t>Dev agent implements</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 writes unit tests</a:t>
            </a:r>
            <a:endParaRPr lang="en-US" sz="800" dirty="0"/>
          </a:p>
        </p:txBody>
      </p:sp>
      <p:sp>
        <p:nvSpPr>
          <p:cNvPr id="12" name="Text 10"/>
          <p:cNvSpPr/>
          <p:nvPr/>
        </p:nvSpPr>
        <p:spPr>
          <a:xfrm>
            <a:off x="3566160" y="1371600"/>
            <a:ext cx="274320" cy="27432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13" name="Shape 11"/>
          <p:cNvSpPr/>
          <p:nvPr/>
        </p:nvSpPr>
        <p:spPr>
          <a:xfrm>
            <a:off x="3840480" y="1280160"/>
            <a:ext cx="1508760" cy="457200"/>
          </a:xfrm>
          <a:prstGeom prst="roundRect">
            <a:avLst>
              <a:gd name="adj" fmla="val 16000"/>
            </a:avLst>
          </a:prstGeom>
          <a:solidFill>
            <a:srgbClr val="8B5CF6"/>
          </a:solidFill>
          <a:ln/>
        </p:spPr>
      </p:sp>
      <p:sp>
        <p:nvSpPr>
          <p:cNvPr id="14" name="Text 12"/>
          <p:cNvSpPr/>
          <p:nvPr/>
        </p:nvSpPr>
        <p:spPr>
          <a:xfrm>
            <a:off x="3840480" y="1280160"/>
            <a:ext cx="1508760" cy="45720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/automate</a:t>
            </a:r>
            <a:endParaRPr lang="en-US" sz="1000" dirty="0"/>
          </a:p>
        </p:txBody>
      </p:sp>
      <p:sp>
        <p:nvSpPr>
          <p:cNvPr id="15" name="Text 13"/>
          <p:cNvSpPr/>
          <p:nvPr/>
        </p:nvSpPr>
        <p:spPr>
          <a:xfrm>
            <a:off x="3749040" y="1783080"/>
            <a:ext cx="1691640" cy="411480"/>
          </a:xfrm>
          <a:prstGeom prst="rect">
            <a:avLst/>
          </a:prstGeom>
          <a:noFill/>
          <a:ln/>
        </p:spPr>
        <p:txBody>
          <a:bodyPr wrap="square" lIns="0" tIns="0" rIns="0" bIns="0" rtlCol="0" anchor="t"/>
          <a:lstStyle/>
          <a:p>
            <a:pPr algn="ctr" indent="0" marL="0">
              <a:buNone/>
            </a:pPr>
            <a:r>
              <a:rPr lang="en-US" sz="800" dirty="0">
                <a:solidFill>
                  <a:srgbClr val="94A3B8"/>
                </a:solidFill>
                <a:latin typeface="Calibri" pitchFamily="34" charset="0"/>
                <a:ea typeface="Calibri" pitchFamily="34" charset="-122"/>
                <a:cs typeface="Calibri" pitchFamily="34" charset="-120"/>
              </a:rPr>
              <a:t>Quinn generates API</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&amp; E2E tests from AC</a:t>
            </a:r>
            <a:endParaRPr lang="en-US" sz="800" dirty="0"/>
          </a:p>
        </p:txBody>
      </p:sp>
      <p:sp>
        <p:nvSpPr>
          <p:cNvPr id="16" name="Text 14"/>
          <p:cNvSpPr/>
          <p:nvPr/>
        </p:nvSpPr>
        <p:spPr>
          <a:xfrm>
            <a:off x="5349240" y="1371600"/>
            <a:ext cx="274320" cy="27432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17" name="Shape 15"/>
          <p:cNvSpPr/>
          <p:nvPr/>
        </p:nvSpPr>
        <p:spPr>
          <a:xfrm>
            <a:off x="5623560" y="1280160"/>
            <a:ext cx="1508760" cy="457200"/>
          </a:xfrm>
          <a:prstGeom prst="roundRect">
            <a:avLst>
              <a:gd name="adj" fmla="val 16000"/>
            </a:avLst>
          </a:prstGeom>
          <a:solidFill>
            <a:srgbClr val="F59E0B"/>
          </a:solidFill>
          <a:ln/>
        </p:spPr>
      </p:sp>
      <p:sp>
        <p:nvSpPr>
          <p:cNvPr id="18" name="Text 16"/>
          <p:cNvSpPr/>
          <p:nvPr/>
        </p:nvSpPr>
        <p:spPr>
          <a:xfrm>
            <a:off x="5623560" y="1280160"/>
            <a:ext cx="1508760" cy="45720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/code-review</a:t>
            </a:r>
            <a:endParaRPr lang="en-US" sz="1000" dirty="0"/>
          </a:p>
        </p:txBody>
      </p:sp>
      <p:sp>
        <p:nvSpPr>
          <p:cNvPr id="19" name="Text 17"/>
          <p:cNvSpPr/>
          <p:nvPr/>
        </p:nvSpPr>
        <p:spPr>
          <a:xfrm>
            <a:off x="5532120" y="1783080"/>
            <a:ext cx="1691640" cy="411480"/>
          </a:xfrm>
          <a:prstGeom prst="rect">
            <a:avLst/>
          </a:prstGeom>
          <a:noFill/>
          <a:ln/>
        </p:spPr>
        <p:txBody>
          <a:bodyPr wrap="square" lIns="0" tIns="0" rIns="0" bIns="0" rtlCol="0" anchor="t"/>
          <a:lstStyle/>
          <a:p>
            <a:pPr algn="ctr" indent="0" marL="0">
              <a:buNone/>
            </a:pPr>
            <a:r>
              <a:rPr lang="en-US" sz="800" dirty="0">
                <a:solidFill>
                  <a:srgbClr val="94A3B8"/>
                </a:solidFill>
                <a:latin typeface="Calibri" pitchFamily="34" charset="0"/>
                <a:ea typeface="Calibri" pitchFamily="34" charset="-122"/>
                <a:cs typeface="Calibri" pitchFamily="34" charset="-120"/>
              </a:rPr>
              <a:t>Review checks tests</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exist and pass</a:t>
            </a:r>
            <a:endParaRPr lang="en-US" sz="800" dirty="0"/>
          </a:p>
        </p:txBody>
      </p:sp>
      <p:sp>
        <p:nvSpPr>
          <p:cNvPr id="20" name="Text 18"/>
          <p:cNvSpPr/>
          <p:nvPr/>
        </p:nvSpPr>
        <p:spPr>
          <a:xfrm>
            <a:off x="7132320" y="1371600"/>
            <a:ext cx="274320" cy="27432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p:txBody>
      </p:sp>
      <p:sp>
        <p:nvSpPr>
          <p:cNvPr id="21" name="Shape 19"/>
          <p:cNvSpPr/>
          <p:nvPr/>
        </p:nvSpPr>
        <p:spPr>
          <a:xfrm>
            <a:off x="7406640" y="1280160"/>
            <a:ext cx="1508760" cy="457200"/>
          </a:xfrm>
          <a:prstGeom prst="roundRect">
            <a:avLst>
              <a:gd name="adj" fmla="val 16000"/>
            </a:avLst>
          </a:prstGeom>
          <a:solidFill>
            <a:srgbClr val="059669"/>
          </a:solidFill>
          <a:ln/>
        </p:spPr>
      </p:sp>
      <p:sp>
        <p:nvSpPr>
          <p:cNvPr id="22" name="Text 20"/>
          <p:cNvSpPr/>
          <p:nvPr/>
        </p:nvSpPr>
        <p:spPr>
          <a:xfrm>
            <a:off x="7406640" y="1280160"/>
            <a:ext cx="1508760" cy="457200"/>
          </a:xfrm>
          <a:prstGeom prst="rect">
            <a:avLst/>
          </a:prstGeom>
          <a:noFill/>
          <a:ln/>
        </p:spPr>
        <p:txBody>
          <a:bodyPr wrap="square"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Done</a:t>
            </a:r>
            <a:endParaRPr lang="en-US" sz="1000" dirty="0"/>
          </a:p>
        </p:txBody>
      </p:sp>
      <p:sp>
        <p:nvSpPr>
          <p:cNvPr id="23" name="Text 21"/>
          <p:cNvSpPr/>
          <p:nvPr/>
        </p:nvSpPr>
        <p:spPr>
          <a:xfrm>
            <a:off x="7315200" y="1783080"/>
            <a:ext cx="1691640" cy="411480"/>
          </a:xfrm>
          <a:prstGeom prst="rect">
            <a:avLst/>
          </a:prstGeom>
          <a:noFill/>
          <a:ln/>
        </p:spPr>
        <p:txBody>
          <a:bodyPr wrap="square" lIns="0" tIns="0" rIns="0" bIns="0" rtlCol="0" anchor="t"/>
          <a:lstStyle/>
          <a:p>
            <a:pPr algn="ctr" indent="0" marL="0">
              <a:buNone/>
            </a:pPr>
            <a:r>
              <a:rPr lang="en-US" sz="800" dirty="0">
                <a:solidFill>
                  <a:srgbClr val="94A3B8"/>
                </a:solidFill>
                <a:latin typeface="Calibri" pitchFamily="34" charset="0"/>
                <a:ea typeface="Calibri" pitchFamily="34" charset="-122"/>
                <a:cs typeface="Calibri" pitchFamily="34" charset="-120"/>
              </a:rPr>
              <a:t>All tests green</a:t>
            </a:r>
            <a:endParaRPr lang="en-US" sz="800" dirty="0"/>
          </a:p>
          <a:p>
            <a:pPr algn="ctr" indent="0" marL="0">
              <a:buNone/>
            </a:pPr>
            <a:r>
              <a:rPr lang="en-US" sz="800" dirty="0">
                <a:solidFill>
                  <a:srgbClr val="94A3B8"/>
                </a:solidFill>
                <a:latin typeface="Calibri" pitchFamily="34" charset="0"/>
                <a:ea typeface="Calibri" pitchFamily="34" charset="-122"/>
                <a:cs typeface="Calibri" pitchFamily="34" charset="-120"/>
              </a:rPr>
              <a:t>Story complete</a:t>
            </a:r>
            <a:endParaRPr lang="en-US" sz="800" dirty="0"/>
          </a:p>
        </p:txBody>
      </p:sp>
      <p:sp>
        <p:nvSpPr>
          <p:cNvPr id="24" name="Shape 22"/>
          <p:cNvSpPr/>
          <p:nvPr/>
        </p:nvSpPr>
        <p:spPr>
          <a:xfrm>
            <a:off x="457200" y="2331720"/>
            <a:ext cx="8229600" cy="6858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5" name="Shape 23"/>
          <p:cNvSpPr/>
          <p:nvPr/>
        </p:nvSpPr>
        <p:spPr>
          <a:xfrm>
            <a:off x="457200" y="2331720"/>
            <a:ext cx="54864" cy="685800"/>
          </a:xfrm>
          <a:prstGeom prst="rect">
            <a:avLst/>
          </a:prstGeom>
          <a:solidFill>
            <a:srgbClr val="3B82F6"/>
          </a:solidFill>
          <a:ln/>
        </p:spPr>
      </p:sp>
      <p:sp>
        <p:nvSpPr>
          <p:cNvPr id="26" name="Text 24"/>
          <p:cNvSpPr/>
          <p:nvPr/>
        </p:nvSpPr>
        <p:spPr>
          <a:xfrm>
            <a:off x="685800" y="235915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Unit Tests — Part of Every Story</a:t>
            </a:r>
            <a:endParaRPr lang="en-US" sz="1200" dirty="0"/>
          </a:p>
        </p:txBody>
      </p:sp>
      <p:sp>
        <p:nvSpPr>
          <p:cNvPr id="27" name="Text 25"/>
          <p:cNvSpPr/>
          <p:nvPr/>
        </p:nvSpPr>
        <p:spPr>
          <a:xfrm>
            <a:off x="685800" y="2606040"/>
            <a:ext cx="7772400" cy="36576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The dev agent writes unit tests as part of /dev-story, not as a separate step. Tests are committed with the code. If tests fail, the agent fixes them before moving to review. This is enforced by the DOD checklist.</a:t>
            </a:r>
            <a:endParaRPr lang="en-US" sz="900" dirty="0"/>
          </a:p>
        </p:txBody>
      </p:sp>
      <p:sp>
        <p:nvSpPr>
          <p:cNvPr id="28" name="Shape 26"/>
          <p:cNvSpPr/>
          <p:nvPr/>
        </p:nvSpPr>
        <p:spPr>
          <a:xfrm>
            <a:off x="457200" y="3108960"/>
            <a:ext cx="8229600" cy="6858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9" name="Shape 27"/>
          <p:cNvSpPr/>
          <p:nvPr/>
        </p:nvSpPr>
        <p:spPr>
          <a:xfrm>
            <a:off x="457200" y="3108960"/>
            <a:ext cx="54864" cy="685800"/>
          </a:xfrm>
          <a:prstGeom prst="rect">
            <a:avLst/>
          </a:prstGeom>
          <a:solidFill>
            <a:srgbClr val="8B5CF6"/>
          </a:solidFill>
          <a:ln/>
        </p:spPr>
      </p:sp>
      <p:sp>
        <p:nvSpPr>
          <p:cNvPr id="30" name="Text 28"/>
          <p:cNvSpPr/>
          <p:nvPr/>
        </p:nvSpPr>
        <p:spPr>
          <a:xfrm>
            <a:off x="685800" y="313639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API &amp; E2E Tests — Generated from AC</a:t>
            </a:r>
            <a:endParaRPr lang="en-US" sz="1200" dirty="0"/>
          </a:p>
        </p:txBody>
      </p:sp>
      <p:sp>
        <p:nvSpPr>
          <p:cNvPr id="31" name="Text 29"/>
          <p:cNvSpPr/>
          <p:nvPr/>
        </p:nvSpPr>
        <p:spPr>
          <a:xfrm>
            <a:off x="685800" y="3383280"/>
            <a:ext cx="7772400" cy="36576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Quinn’s /automate workflow reads the story’s Acceptance Criteria and generates test cases. API tests cover status codes, response structure, and error handling. E2E tests cover user workflows with semantic locators. No manual test writing needed for standard cases.</a:t>
            </a:r>
            <a:endParaRPr lang="en-US" sz="900" dirty="0"/>
          </a:p>
        </p:txBody>
      </p:sp>
      <p:sp>
        <p:nvSpPr>
          <p:cNvPr id="32" name="Shape 30"/>
          <p:cNvSpPr/>
          <p:nvPr/>
        </p:nvSpPr>
        <p:spPr>
          <a:xfrm>
            <a:off x="457200" y="3886200"/>
            <a:ext cx="8229600" cy="6858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3" name="Shape 31"/>
          <p:cNvSpPr/>
          <p:nvPr/>
        </p:nvSpPr>
        <p:spPr>
          <a:xfrm>
            <a:off x="457200" y="3886200"/>
            <a:ext cx="54864" cy="685800"/>
          </a:xfrm>
          <a:prstGeom prst="rect">
            <a:avLst/>
          </a:prstGeom>
          <a:solidFill>
            <a:srgbClr val="10B981"/>
          </a:solidFill>
          <a:ln/>
        </p:spPr>
      </p:sp>
      <p:sp>
        <p:nvSpPr>
          <p:cNvPr id="34" name="Text 32"/>
          <p:cNvSpPr/>
          <p:nvPr/>
        </p:nvSpPr>
        <p:spPr>
          <a:xfrm>
            <a:off x="685800" y="391363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CI Pipeline — Runs Everything Automatically</a:t>
            </a:r>
            <a:endParaRPr lang="en-US" sz="1200" dirty="0"/>
          </a:p>
        </p:txBody>
      </p:sp>
      <p:sp>
        <p:nvSpPr>
          <p:cNvPr id="35" name="Text 33"/>
          <p:cNvSpPr/>
          <p:nvPr/>
        </p:nvSpPr>
        <p:spPr>
          <a:xfrm>
            <a:off x="685800" y="4160520"/>
            <a:ext cx="7772400" cy="36576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All generated tests feed into the CI pipeline (Jenkins / GitLab CI). Unit tests run on every commit. API and E2E tests run on merge requests. Regression suite grows automatically as stories complete. The pipeline is unchanged — only the test content is AI-generated.</a:t>
            </a:r>
            <a:endParaRPr lang="en-US" sz="900" dirty="0"/>
          </a:p>
        </p:txBody>
      </p:sp>
      <p:sp>
        <p:nvSpPr>
          <p:cNvPr id="36" name="Text 34"/>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Tests are first-class artifacts in BMAD — not an afterthought. They’re generated, executed, and tracked as part of every story.</a:t>
            </a:r>
            <a:endParaRPr lang="en-US" sz="1000" dirty="0"/>
          </a:p>
        </p:txBody>
      </p:sp>
      <p:sp>
        <p:nvSpPr>
          <p:cNvPr id="37" name="Text 3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41 / 93</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EF4444"/>
          </a:solidFill>
          <a:ln/>
        </p:spPr>
      </p:sp>
      <p:sp>
        <p:nvSpPr>
          <p:cNvPr id="4" name="Shape 2"/>
          <p:cNvSpPr/>
          <p:nvPr/>
        </p:nvSpPr>
        <p:spPr>
          <a:xfrm>
            <a:off x="457200" y="1645920"/>
            <a:ext cx="8229600" cy="36576"/>
          </a:xfrm>
          <a:prstGeom prst="rect">
            <a:avLst/>
          </a:prstGeom>
          <a:solidFill>
            <a:srgbClr val="EF4444"/>
          </a:solidFill>
          <a:ln/>
        </p:spPr>
      </p:sp>
      <p:sp>
        <p:nvSpPr>
          <p:cNvPr id="5" name="Text 3"/>
          <p:cNvSpPr/>
          <p:nvPr/>
        </p:nvSpPr>
        <p:spPr>
          <a:xfrm>
            <a:off x="457200" y="1828800"/>
            <a:ext cx="8229600" cy="731520"/>
          </a:xfrm>
          <a:prstGeom prst="rect">
            <a:avLst/>
          </a:prstGeom>
          <a:noFill/>
          <a:ln/>
        </p:spPr>
        <p:txBody>
          <a:bodyPr wrap="square" rtlCol="0" anchor="ctr"/>
          <a:lstStyle/>
          <a:p>
            <a:pPr algn="ctr" indent="0" marL="0">
              <a:buNone/>
            </a:pPr>
            <a:r>
              <a:rPr lang="en-US" sz="4200" b="1" dirty="0">
                <a:solidFill>
                  <a:srgbClr val="FFFFFF"/>
                </a:solidFill>
              </a:rPr>
              <a:t>In-Process Verification</a:t>
            </a:r>
            <a:endParaRPr lang="en-US" sz="42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400" dirty="0">
                <a:solidFill>
                  <a:srgbClr val="FCA5A5"/>
                </a:solidFill>
              </a:rPr>
              <a:t>Preventing Drift Before It Becomes Debt</a:t>
            </a:r>
            <a:endParaRPr lang="en-US" sz="2400" dirty="0"/>
          </a:p>
        </p:txBody>
      </p:sp>
      <p:sp>
        <p:nvSpPr>
          <p:cNvPr id="7" name="Shape 5"/>
          <p:cNvSpPr/>
          <p:nvPr/>
        </p:nvSpPr>
        <p:spPr>
          <a:xfrm>
            <a:off x="457200" y="3200400"/>
            <a:ext cx="8229600" cy="36576"/>
          </a:xfrm>
          <a:prstGeom prst="rect">
            <a:avLst/>
          </a:prstGeom>
          <a:solidFill>
            <a:srgbClr val="EF4444"/>
          </a:solidFill>
          <a:ln/>
        </p:spPr>
      </p:sp>
      <p:sp>
        <p:nvSpPr>
          <p:cNvPr id="8" name="Text 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42 / 93</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is Project Drift?</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FCA5A5"/>
                </a:solidFill>
                <a:latin typeface="Calibri" pitchFamily="34" charset="0"/>
                <a:ea typeface="Calibri" pitchFamily="34" charset="-122"/>
                <a:cs typeface="Calibri" pitchFamily="34" charset="-120"/>
              </a:rPr>
              <a:t>When implementation silently diverges from what was planned — and nobody notices until it’s too late</a:t>
            </a:r>
            <a:endParaRPr lang="en-US" sz="1200" dirty="0"/>
          </a:p>
        </p:txBody>
      </p:sp>
      <p:sp>
        <p:nvSpPr>
          <p:cNvPr id="5" name="Shape 3"/>
          <p:cNvSpPr/>
          <p:nvPr/>
        </p:nvSpPr>
        <p:spPr>
          <a:xfrm>
            <a:off x="457200" y="1280160"/>
            <a:ext cx="3931920" cy="3108960"/>
          </a:xfrm>
          <a:prstGeom prst="rect">
            <a:avLst/>
          </a:prstGeom>
          <a:solidFill>
            <a:srgbClr val="7F1D1D"/>
          </a:solidFill>
          <a:ln/>
        </p:spPr>
      </p:sp>
      <p:sp>
        <p:nvSpPr>
          <p:cNvPr id="6" name="Shape 4"/>
          <p:cNvSpPr/>
          <p:nvPr/>
        </p:nvSpPr>
        <p:spPr>
          <a:xfrm>
            <a:off x="457200" y="1280160"/>
            <a:ext cx="3931920" cy="54864"/>
          </a:xfrm>
          <a:prstGeom prst="rect">
            <a:avLst/>
          </a:prstGeom>
          <a:solidFill>
            <a:srgbClr val="DC2626"/>
          </a:solidFill>
          <a:ln/>
        </p:spPr>
      </p:sp>
      <p:sp>
        <p:nvSpPr>
          <p:cNvPr id="7" name="Text 5"/>
          <p:cNvSpPr/>
          <p:nvPr/>
        </p:nvSpPr>
        <p:spPr>
          <a:xfrm>
            <a:off x="640080" y="1371600"/>
            <a:ext cx="3566160" cy="320040"/>
          </a:xfrm>
          <a:prstGeom prst="rect">
            <a:avLst/>
          </a:prstGeom>
          <a:noFill/>
          <a:ln/>
        </p:spPr>
        <p:txBody>
          <a:bodyPr wrap="square" lIns="0" tIns="0" rIns="0" bIns="0" rtlCol="0" anchor="ctr"/>
          <a:lstStyle/>
          <a:p>
            <a:pPr indent="0" marL="0">
              <a:buNone/>
            </a:pPr>
            <a:r>
              <a:rPr lang="en-US" sz="1400" b="1" dirty="0">
                <a:solidFill>
                  <a:srgbClr val="FCA5A5"/>
                </a:solidFill>
                <a:latin typeface="Calibri" pitchFamily="34" charset="0"/>
                <a:ea typeface="Calibri" pitchFamily="34" charset="-122"/>
                <a:cs typeface="Calibri" pitchFamily="34" charset="-120"/>
              </a:rPr>
              <a:t>⚠  How Drift Occurs</a:t>
            </a:r>
            <a:endParaRPr lang="en-US" sz="1400" dirty="0"/>
          </a:p>
        </p:txBody>
      </p:sp>
      <p:sp>
        <p:nvSpPr>
          <p:cNvPr id="8" name="Text 6"/>
          <p:cNvSpPr/>
          <p:nvPr/>
        </p:nvSpPr>
        <p:spPr>
          <a:xfrm>
            <a:off x="640080" y="1783080"/>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AI agent makes architecture decisions not in the arch doc</a:t>
            </a:r>
            <a:endParaRPr lang="en-US" sz="950" dirty="0"/>
          </a:p>
        </p:txBody>
      </p:sp>
      <p:sp>
        <p:nvSpPr>
          <p:cNvPr id="9" name="Text 7"/>
          <p:cNvSpPr/>
          <p:nvPr/>
        </p:nvSpPr>
        <p:spPr>
          <a:xfrm>
            <a:off x="640080" y="2084832"/>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Story implementation deviates from acceptance criteria</a:t>
            </a:r>
            <a:endParaRPr lang="en-US" sz="950" dirty="0"/>
          </a:p>
        </p:txBody>
      </p:sp>
      <p:sp>
        <p:nvSpPr>
          <p:cNvPr id="10" name="Text 8"/>
          <p:cNvSpPr/>
          <p:nvPr/>
        </p:nvSpPr>
        <p:spPr>
          <a:xfrm>
            <a:off x="640080" y="2386584"/>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Requirement changes but epics/stories are not updated</a:t>
            </a:r>
            <a:endParaRPr lang="en-US" sz="950" dirty="0"/>
          </a:p>
        </p:txBody>
      </p:sp>
      <p:sp>
        <p:nvSpPr>
          <p:cNvPr id="11" name="Text 9"/>
          <p:cNvSpPr/>
          <p:nvPr/>
        </p:nvSpPr>
        <p:spPr>
          <a:xfrm>
            <a:off x="640080" y="2688336"/>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Architecture evolves but PRD still references old design</a:t>
            </a:r>
            <a:endParaRPr lang="en-US" sz="950" dirty="0"/>
          </a:p>
        </p:txBody>
      </p:sp>
      <p:sp>
        <p:nvSpPr>
          <p:cNvPr id="12" name="Text 10"/>
          <p:cNvSpPr/>
          <p:nvPr/>
        </p:nvSpPr>
        <p:spPr>
          <a:xfrm>
            <a:off x="640080" y="2990088"/>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Developer solves a problem differently than planned</a:t>
            </a:r>
            <a:endParaRPr lang="en-US" sz="950" dirty="0"/>
          </a:p>
        </p:txBody>
      </p:sp>
      <p:sp>
        <p:nvSpPr>
          <p:cNvPr id="13" name="Text 11"/>
          <p:cNvSpPr/>
          <p:nvPr/>
        </p:nvSpPr>
        <p:spPr>
          <a:xfrm>
            <a:off x="640080" y="3291840"/>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New stories are created without checking arch alignment</a:t>
            </a:r>
            <a:endParaRPr lang="en-US" sz="950" dirty="0"/>
          </a:p>
        </p:txBody>
      </p:sp>
      <p:sp>
        <p:nvSpPr>
          <p:cNvPr id="14" name="Text 12"/>
          <p:cNvSpPr/>
          <p:nvPr/>
        </p:nvSpPr>
        <p:spPr>
          <a:xfrm>
            <a:off x="640080" y="3593592"/>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Tests validate the wrong behavior (based on stale docs)</a:t>
            </a:r>
            <a:endParaRPr lang="en-US" sz="950" dirty="0"/>
          </a:p>
        </p:txBody>
      </p:sp>
      <p:sp>
        <p:nvSpPr>
          <p:cNvPr id="15" name="Text 13"/>
          <p:cNvSpPr/>
          <p:nvPr/>
        </p:nvSpPr>
        <p:spPr>
          <a:xfrm>
            <a:off x="640080" y="3895344"/>
            <a:ext cx="3566160" cy="301752"/>
          </a:xfrm>
          <a:prstGeom prst="rect">
            <a:avLst/>
          </a:prstGeom>
          <a:noFill/>
          <a:ln/>
        </p:spPr>
        <p:txBody>
          <a:bodyPr wrap="square" lIns="0" tIns="0" rIns="0" bIns="0" rtlCol="0" anchor="ctr"/>
          <a:lstStyle/>
          <a:p>
            <a:pPr indent="0" marL="0">
              <a:buNone/>
            </a:pPr>
            <a:r>
              <a:rPr lang="en-US" sz="950" dirty="0">
                <a:solidFill>
                  <a:srgbClr val="FECACA"/>
                </a:solidFill>
                <a:latin typeface="Calibri" pitchFamily="34" charset="0"/>
                <a:ea typeface="Calibri" pitchFamily="34" charset="-122"/>
                <a:cs typeface="Calibri" pitchFamily="34" charset="-120"/>
              </a:rPr>
              <a:t>•  Multiple agents work in parallel with conflicting context</a:t>
            </a:r>
            <a:endParaRPr lang="en-US" sz="950" dirty="0"/>
          </a:p>
        </p:txBody>
      </p:sp>
      <p:sp>
        <p:nvSpPr>
          <p:cNvPr id="16" name="Shape 14"/>
          <p:cNvSpPr/>
          <p:nvPr/>
        </p:nvSpPr>
        <p:spPr>
          <a:xfrm>
            <a:off x="4754880" y="1280160"/>
            <a:ext cx="3931920" cy="1371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7" name="Shape 15"/>
          <p:cNvSpPr/>
          <p:nvPr/>
        </p:nvSpPr>
        <p:spPr>
          <a:xfrm>
            <a:off x="4754880" y="1280160"/>
            <a:ext cx="54864" cy="1371600"/>
          </a:xfrm>
          <a:prstGeom prst="rect">
            <a:avLst/>
          </a:prstGeom>
          <a:solidFill>
            <a:srgbClr val="EF4444"/>
          </a:solidFill>
          <a:ln/>
        </p:spPr>
      </p:sp>
      <p:sp>
        <p:nvSpPr>
          <p:cNvPr id="18" name="Text 16"/>
          <p:cNvSpPr/>
          <p:nvPr/>
        </p:nvSpPr>
        <p:spPr>
          <a:xfrm>
            <a:off x="4983480" y="1325880"/>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It’s Dangerous</a:t>
            </a:r>
            <a:endParaRPr lang="en-US" sz="1300" dirty="0"/>
          </a:p>
        </p:txBody>
      </p:sp>
      <p:sp>
        <p:nvSpPr>
          <p:cNvPr id="19" name="Text 17"/>
          <p:cNvSpPr/>
          <p:nvPr/>
        </p:nvSpPr>
        <p:spPr>
          <a:xfrm>
            <a:off x="4983480" y="1645920"/>
            <a:ext cx="3474720" cy="9144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Drift is silent. The code compiles. Tests pass (because they test the wrong thing). The sprint demo looks fine. But the system being built is not the system that was designed.</a:t>
            </a:r>
            <a:endParaRPr lang="en-US" sz="1000" dirty="0"/>
          </a:p>
          <a:p>
            <a:pPr indent="0" marL="0">
              <a:buNone/>
            </a:pP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In defence software, drift means failing compliance audits, losing traceability, and building something that doesn’t meet requirements.</a:t>
            </a:r>
            <a:endParaRPr lang="en-US" sz="1000" dirty="0"/>
          </a:p>
        </p:txBody>
      </p:sp>
      <p:sp>
        <p:nvSpPr>
          <p:cNvPr id="20" name="Shape 18"/>
          <p:cNvSpPr/>
          <p:nvPr/>
        </p:nvSpPr>
        <p:spPr>
          <a:xfrm>
            <a:off x="4754880" y="2834640"/>
            <a:ext cx="3931920" cy="1554480"/>
          </a:xfrm>
          <a:prstGeom prst="rect">
            <a:avLst/>
          </a:prstGeom>
          <a:solidFill>
            <a:srgbClr val="064E3B"/>
          </a:solidFill>
          <a:ln/>
        </p:spPr>
      </p:sp>
      <p:sp>
        <p:nvSpPr>
          <p:cNvPr id="21" name="Shape 19"/>
          <p:cNvSpPr/>
          <p:nvPr/>
        </p:nvSpPr>
        <p:spPr>
          <a:xfrm>
            <a:off x="4754880" y="2834640"/>
            <a:ext cx="3931920" cy="54864"/>
          </a:xfrm>
          <a:prstGeom prst="rect">
            <a:avLst/>
          </a:prstGeom>
          <a:solidFill>
            <a:srgbClr val="10B981"/>
          </a:solidFill>
          <a:ln/>
        </p:spPr>
      </p:sp>
      <p:sp>
        <p:nvSpPr>
          <p:cNvPr id="22" name="Text 20"/>
          <p:cNvSpPr/>
          <p:nvPr/>
        </p:nvSpPr>
        <p:spPr>
          <a:xfrm>
            <a:off x="4937760" y="2926080"/>
            <a:ext cx="3566160" cy="274320"/>
          </a:xfrm>
          <a:prstGeom prst="rect">
            <a:avLst/>
          </a:prstGeom>
          <a:noFill/>
          <a:ln/>
        </p:spPr>
        <p:txBody>
          <a:bodyPr wrap="square" lIns="0" tIns="0" rIns="0" bIns="0"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  The Solution: Continuous Verification</a:t>
            </a:r>
            <a:endParaRPr lang="en-US" sz="1300" dirty="0"/>
          </a:p>
        </p:txBody>
      </p:sp>
      <p:sp>
        <p:nvSpPr>
          <p:cNvPr id="23" name="Text 21"/>
          <p:cNvSpPr/>
          <p:nvPr/>
        </p:nvSpPr>
        <p:spPr>
          <a:xfrm>
            <a:off x="4937760" y="3246120"/>
            <a:ext cx="3566160" cy="1051560"/>
          </a:xfrm>
          <a:prstGeom prst="rect">
            <a:avLst/>
          </a:prstGeom>
          <a:noFill/>
          <a:ln/>
        </p:spPr>
        <p:txBody>
          <a:bodyPr wrap="square" lIns="0" tIns="0" rIns="0" bIns="0" rtlCol="0" anchor="t"/>
          <a:lstStyle/>
          <a:p>
            <a:pPr indent="0" marL="0">
              <a:buNone/>
            </a:pPr>
            <a:r>
              <a:rPr lang="en-US" sz="1000" dirty="0">
                <a:solidFill>
                  <a:srgbClr val="A7F3D0"/>
                </a:solidFill>
                <a:latin typeface="Calibri" pitchFamily="34" charset="0"/>
                <a:ea typeface="Calibri" pitchFamily="34" charset="-122"/>
                <a:cs typeface="Calibri" pitchFamily="34" charset="-120"/>
              </a:rPr>
              <a:t>Don’t wait for the end to check alignment. Verify each artifact as it’s created, against its predecessors. Run adversarial reviews at every phase transition. Propagate changes through the entire document chain.</a:t>
            </a:r>
            <a:endParaRPr lang="en-US" sz="1000" dirty="0"/>
          </a:p>
          <a:p>
            <a:pPr indent="0" marL="0">
              <a:buNone/>
            </a:pPr>
            <a:endParaRPr lang="en-US" sz="1000" dirty="0"/>
          </a:p>
          <a:p>
            <a:pPr indent="0" marL="0">
              <a:buNone/>
            </a:pPr>
            <a:r>
              <a:rPr lang="en-US" sz="1000" dirty="0">
                <a:solidFill>
                  <a:srgbClr val="A7F3D0"/>
                </a:solidFill>
                <a:latin typeface="Calibri" pitchFamily="34" charset="0"/>
                <a:ea typeface="Calibri" pitchFamily="34" charset="-122"/>
                <a:cs typeface="Calibri" pitchFamily="34" charset="-120"/>
              </a:rPr>
              <a:t>BMAD provides dedicated verification workflows for exactly this purpose.</a:t>
            </a:r>
            <a:endParaRPr lang="en-US" sz="1000" dirty="0"/>
          </a:p>
        </p:txBody>
      </p:sp>
      <p:sp>
        <p:nvSpPr>
          <p:cNvPr id="24" name="Text 22"/>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In AI-driven development, drift happens faster because agents produce more code faster — verification must keep pace</a:t>
            </a:r>
            <a:endParaRPr lang="en-US" sz="1000" dirty="0"/>
          </a:p>
        </p:txBody>
      </p:sp>
      <p:sp>
        <p:nvSpPr>
          <p:cNvPr id="25" name="Text 2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43 / 93</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BMAD Verification Workflows</a:t>
            </a:r>
            <a:endParaRPr lang="en-US" sz="2600" dirty="0"/>
          </a:p>
        </p:txBody>
      </p:sp>
      <p:sp>
        <p:nvSpPr>
          <p:cNvPr id="5" name="Shape 3"/>
          <p:cNvSpPr/>
          <p:nvPr/>
        </p:nvSpPr>
        <p:spPr>
          <a:xfrm>
            <a:off x="274320" y="1005840"/>
            <a:ext cx="8595360" cy="320040"/>
          </a:xfrm>
          <a:prstGeom prst="rect">
            <a:avLst/>
          </a:prstGeom>
          <a:solidFill>
            <a:srgbClr val="0F1B2D"/>
          </a:solidFill>
          <a:ln/>
        </p:spPr>
      </p:sp>
      <p:sp>
        <p:nvSpPr>
          <p:cNvPr id="6" name="Text 4"/>
          <p:cNvSpPr/>
          <p:nvPr/>
        </p:nvSpPr>
        <p:spPr>
          <a:xfrm>
            <a:off x="274320" y="1005840"/>
            <a:ext cx="2468880" cy="320040"/>
          </a:xfrm>
          <a:prstGeom prst="rect">
            <a:avLst/>
          </a:prstGeom>
          <a:noFill/>
          <a:ln/>
        </p:spPr>
        <p:txBody>
          <a:bodyPr wrap="square" lIns="0" tIns="63500" rIns="635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Command</a:t>
            </a:r>
            <a:endParaRPr lang="en-US" sz="1000" dirty="0"/>
          </a:p>
        </p:txBody>
      </p:sp>
      <p:sp>
        <p:nvSpPr>
          <p:cNvPr id="7" name="Text 5"/>
          <p:cNvSpPr/>
          <p:nvPr/>
        </p:nvSpPr>
        <p:spPr>
          <a:xfrm>
            <a:off x="2743200" y="1005840"/>
            <a:ext cx="1005840" cy="320040"/>
          </a:xfrm>
          <a:prstGeom prst="rect">
            <a:avLst/>
          </a:prstGeom>
          <a:noFill/>
          <a:ln/>
        </p:spPr>
        <p:txBody>
          <a:bodyPr wrap="square" lIns="0" tIns="63500" rIns="635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8" name="Text 6"/>
          <p:cNvSpPr/>
          <p:nvPr/>
        </p:nvSpPr>
        <p:spPr>
          <a:xfrm>
            <a:off x="3749040" y="1005840"/>
            <a:ext cx="3108960" cy="320040"/>
          </a:xfrm>
          <a:prstGeom prst="rect">
            <a:avLst/>
          </a:prstGeom>
          <a:noFill/>
          <a:ln/>
        </p:spPr>
        <p:txBody>
          <a:bodyPr wrap="square" lIns="0" tIns="63500" rIns="635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It Checks</a:t>
            </a:r>
            <a:endParaRPr lang="en-US" sz="1000" dirty="0"/>
          </a:p>
        </p:txBody>
      </p:sp>
      <p:sp>
        <p:nvSpPr>
          <p:cNvPr id="9" name="Text 7"/>
          <p:cNvSpPr/>
          <p:nvPr/>
        </p:nvSpPr>
        <p:spPr>
          <a:xfrm>
            <a:off x="6858000" y="1005840"/>
            <a:ext cx="2011680" cy="320040"/>
          </a:xfrm>
          <a:prstGeom prst="rect">
            <a:avLst/>
          </a:prstGeom>
          <a:noFill/>
          <a:ln/>
        </p:spPr>
        <p:txBody>
          <a:bodyPr wrap="square" lIns="0" tIns="63500" rIns="6350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Run</a:t>
            </a:r>
            <a:endParaRPr lang="en-US" sz="1000" dirty="0"/>
          </a:p>
        </p:txBody>
      </p:sp>
      <p:sp>
        <p:nvSpPr>
          <p:cNvPr id="10" name="Shape 8"/>
          <p:cNvSpPr/>
          <p:nvPr/>
        </p:nvSpPr>
        <p:spPr>
          <a:xfrm>
            <a:off x="274320" y="1371600"/>
            <a:ext cx="8595360" cy="365760"/>
          </a:xfrm>
          <a:prstGeom prst="rect">
            <a:avLst/>
          </a:prstGeom>
          <a:solidFill>
            <a:srgbClr val="F8FAFC"/>
          </a:solidFill>
          <a:ln/>
        </p:spPr>
      </p:sp>
      <p:sp>
        <p:nvSpPr>
          <p:cNvPr id="11" name="Shape 9"/>
          <p:cNvSpPr/>
          <p:nvPr/>
        </p:nvSpPr>
        <p:spPr>
          <a:xfrm>
            <a:off x="274320" y="1371600"/>
            <a:ext cx="54864" cy="365760"/>
          </a:xfrm>
          <a:prstGeom prst="rect">
            <a:avLst/>
          </a:prstGeom>
          <a:solidFill>
            <a:srgbClr val="3B82F6"/>
          </a:solidFill>
          <a:ln/>
        </p:spPr>
      </p:sp>
      <p:sp>
        <p:nvSpPr>
          <p:cNvPr id="12" name="Text 10"/>
          <p:cNvSpPr/>
          <p:nvPr/>
        </p:nvSpPr>
        <p:spPr>
          <a:xfrm>
            <a:off x="411480" y="1371600"/>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/bmad-bmm-validate-brief</a:t>
            </a:r>
            <a:endParaRPr lang="en-US" sz="700" dirty="0"/>
          </a:p>
        </p:txBody>
      </p:sp>
      <p:sp>
        <p:nvSpPr>
          <p:cNvPr id="13" name="Text 11"/>
          <p:cNvSpPr/>
          <p:nvPr/>
        </p:nvSpPr>
        <p:spPr>
          <a:xfrm>
            <a:off x="2743200" y="1371600"/>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Analyst</a:t>
            </a:r>
            <a:endParaRPr lang="en-US" sz="800" dirty="0"/>
          </a:p>
        </p:txBody>
      </p:sp>
      <p:sp>
        <p:nvSpPr>
          <p:cNvPr id="14" name="Text 12"/>
          <p:cNvSpPr/>
          <p:nvPr/>
        </p:nvSpPr>
        <p:spPr>
          <a:xfrm>
            <a:off x="3749040" y="1371600"/>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Brief completeness, market fit, scope clarity, stakeholder alignment</a:t>
            </a:r>
            <a:endParaRPr lang="en-US" sz="750" dirty="0"/>
          </a:p>
        </p:txBody>
      </p:sp>
      <p:sp>
        <p:nvSpPr>
          <p:cNvPr id="15" name="Text 13"/>
          <p:cNvSpPr/>
          <p:nvPr/>
        </p:nvSpPr>
        <p:spPr>
          <a:xfrm>
            <a:off x="6858000" y="1371600"/>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creating brief, before starting PRD</a:t>
            </a:r>
            <a:endParaRPr lang="en-US" sz="750" dirty="0"/>
          </a:p>
        </p:txBody>
      </p:sp>
      <p:sp>
        <p:nvSpPr>
          <p:cNvPr id="16" name="Shape 14"/>
          <p:cNvSpPr/>
          <p:nvPr/>
        </p:nvSpPr>
        <p:spPr>
          <a:xfrm>
            <a:off x="274320" y="1773936"/>
            <a:ext cx="8595360" cy="365760"/>
          </a:xfrm>
          <a:prstGeom prst="rect">
            <a:avLst/>
          </a:prstGeom>
          <a:solidFill>
            <a:srgbClr val="FFFFFF"/>
          </a:solidFill>
          <a:ln/>
        </p:spPr>
      </p:sp>
      <p:sp>
        <p:nvSpPr>
          <p:cNvPr id="17" name="Shape 15"/>
          <p:cNvSpPr/>
          <p:nvPr/>
        </p:nvSpPr>
        <p:spPr>
          <a:xfrm>
            <a:off x="274320" y="1773936"/>
            <a:ext cx="54864" cy="365760"/>
          </a:xfrm>
          <a:prstGeom prst="rect">
            <a:avLst/>
          </a:prstGeom>
          <a:solidFill>
            <a:srgbClr val="8B5CF6"/>
          </a:solidFill>
          <a:ln/>
        </p:spPr>
      </p:sp>
      <p:sp>
        <p:nvSpPr>
          <p:cNvPr id="18" name="Text 16"/>
          <p:cNvSpPr/>
          <p:nvPr/>
        </p:nvSpPr>
        <p:spPr>
          <a:xfrm>
            <a:off x="411480" y="1773936"/>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/bmad-bmm-validate-prd</a:t>
            </a:r>
            <a:endParaRPr lang="en-US" sz="700" dirty="0"/>
          </a:p>
        </p:txBody>
      </p:sp>
      <p:sp>
        <p:nvSpPr>
          <p:cNvPr id="19" name="Text 17"/>
          <p:cNvSpPr/>
          <p:nvPr/>
        </p:nvSpPr>
        <p:spPr>
          <a:xfrm>
            <a:off x="2743200" y="1773936"/>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PM Agent</a:t>
            </a:r>
            <a:endParaRPr lang="en-US" sz="800" dirty="0"/>
          </a:p>
        </p:txBody>
      </p:sp>
      <p:sp>
        <p:nvSpPr>
          <p:cNvPr id="20" name="Text 18"/>
          <p:cNvSpPr/>
          <p:nvPr/>
        </p:nvSpPr>
        <p:spPr>
          <a:xfrm>
            <a:off x="3749040" y="1773936"/>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FR/NFR completeness, consistency with brief, measurable requirements, no gaps</a:t>
            </a:r>
            <a:endParaRPr lang="en-US" sz="750" dirty="0"/>
          </a:p>
        </p:txBody>
      </p:sp>
      <p:sp>
        <p:nvSpPr>
          <p:cNvPr id="21" name="Text 19"/>
          <p:cNvSpPr/>
          <p:nvPr/>
        </p:nvSpPr>
        <p:spPr>
          <a:xfrm>
            <a:off x="6858000" y="1773936"/>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PRD creation, before architecture</a:t>
            </a:r>
            <a:endParaRPr lang="en-US" sz="750" dirty="0"/>
          </a:p>
        </p:txBody>
      </p:sp>
      <p:sp>
        <p:nvSpPr>
          <p:cNvPr id="22" name="Shape 20"/>
          <p:cNvSpPr/>
          <p:nvPr/>
        </p:nvSpPr>
        <p:spPr>
          <a:xfrm>
            <a:off x="274320" y="2176272"/>
            <a:ext cx="8595360" cy="365760"/>
          </a:xfrm>
          <a:prstGeom prst="rect">
            <a:avLst/>
          </a:prstGeom>
          <a:solidFill>
            <a:srgbClr val="F8FAFC"/>
          </a:solidFill>
          <a:ln/>
        </p:spPr>
      </p:sp>
      <p:sp>
        <p:nvSpPr>
          <p:cNvPr id="23" name="Shape 21"/>
          <p:cNvSpPr/>
          <p:nvPr/>
        </p:nvSpPr>
        <p:spPr>
          <a:xfrm>
            <a:off x="274320" y="2176272"/>
            <a:ext cx="54864" cy="365760"/>
          </a:xfrm>
          <a:prstGeom prst="rect">
            <a:avLst/>
          </a:prstGeom>
          <a:solidFill>
            <a:srgbClr val="10B981"/>
          </a:solidFill>
          <a:ln/>
        </p:spPr>
      </p:sp>
      <p:sp>
        <p:nvSpPr>
          <p:cNvPr id="24" name="Text 22"/>
          <p:cNvSpPr/>
          <p:nvPr/>
        </p:nvSpPr>
        <p:spPr>
          <a:xfrm>
            <a:off x="411480" y="2176272"/>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/bmad-bmm-validate-architecture</a:t>
            </a:r>
            <a:endParaRPr lang="en-US" sz="700" dirty="0"/>
          </a:p>
        </p:txBody>
      </p:sp>
      <p:sp>
        <p:nvSpPr>
          <p:cNvPr id="25" name="Text 23"/>
          <p:cNvSpPr/>
          <p:nvPr/>
        </p:nvSpPr>
        <p:spPr>
          <a:xfrm>
            <a:off x="2743200" y="2176272"/>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Architect</a:t>
            </a:r>
            <a:endParaRPr lang="en-US" sz="800" dirty="0"/>
          </a:p>
        </p:txBody>
      </p:sp>
      <p:sp>
        <p:nvSpPr>
          <p:cNvPr id="26" name="Text 24"/>
          <p:cNvSpPr/>
          <p:nvPr/>
        </p:nvSpPr>
        <p:spPr>
          <a:xfrm>
            <a:off x="3749040" y="2176272"/>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Architecture aligns with PRD, tech stack justified, interfaces defined, NFRs addressed</a:t>
            </a:r>
            <a:endParaRPr lang="en-US" sz="750" dirty="0"/>
          </a:p>
        </p:txBody>
      </p:sp>
      <p:sp>
        <p:nvSpPr>
          <p:cNvPr id="27" name="Text 25"/>
          <p:cNvSpPr/>
          <p:nvPr/>
        </p:nvSpPr>
        <p:spPr>
          <a:xfrm>
            <a:off x="6858000" y="2176272"/>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architecture, before epics</a:t>
            </a:r>
            <a:endParaRPr lang="en-US" sz="750" dirty="0"/>
          </a:p>
        </p:txBody>
      </p:sp>
      <p:sp>
        <p:nvSpPr>
          <p:cNvPr id="28" name="Shape 26"/>
          <p:cNvSpPr/>
          <p:nvPr/>
        </p:nvSpPr>
        <p:spPr>
          <a:xfrm>
            <a:off x="274320" y="2578608"/>
            <a:ext cx="8595360" cy="365760"/>
          </a:xfrm>
          <a:prstGeom prst="rect">
            <a:avLst/>
          </a:prstGeom>
          <a:solidFill>
            <a:srgbClr val="FFFFFF"/>
          </a:solidFill>
          <a:ln/>
        </p:spPr>
      </p:sp>
      <p:sp>
        <p:nvSpPr>
          <p:cNvPr id="29" name="Shape 27"/>
          <p:cNvSpPr/>
          <p:nvPr/>
        </p:nvSpPr>
        <p:spPr>
          <a:xfrm>
            <a:off x="274320" y="2578608"/>
            <a:ext cx="54864" cy="365760"/>
          </a:xfrm>
          <a:prstGeom prst="rect">
            <a:avLst/>
          </a:prstGeom>
          <a:solidFill>
            <a:srgbClr val="F59E0B"/>
          </a:solidFill>
          <a:ln/>
        </p:spPr>
      </p:sp>
      <p:sp>
        <p:nvSpPr>
          <p:cNvPr id="30" name="Text 28"/>
          <p:cNvSpPr/>
          <p:nvPr/>
        </p:nvSpPr>
        <p:spPr>
          <a:xfrm>
            <a:off x="411480" y="2578608"/>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/bmad-bmm-validate-epics-and-stories</a:t>
            </a:r>
            <a:endParaRPr lang="en-US" sz="700" dirty="0"/>
          </a:p>
        </p:txBody>
      </p:sp>
      <p:sp>
        <p:nvSpPr>
          <p:cNvPr id="31" name="Text 29"/>
          <p:cNvSpPr/>
          <p:nvPr/>
        </p:nvSpPr>
        <p:spPr>
          <a:xfrm>
            <a:off x="2743200" y="2578608"/>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PM Agent</a:t>
            </a:r>
            <a:endParaRPr lang="en-US" sz="800" dirty="0"/>
          </a:p>
        </p:txBody>
      </p:sp>
      <p:sp>
        <p:nvSpPr>
          <p:cNvPr id="32" name="Text 30"/>
          <p:cNvSpPr/>
          <p:nvPr/>
        </p:nvSpPr>
        <p:spPr>
          <a:xfrm>
            <a:off x="3749040" y="2578608"/>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All PRD requirements covered by epics, stories have AC, INVEST criteria met, no orphans</a:t>
            </a:r>
            <a:endParaRPr lang="en-US" sz="750" dirty="0"/>
          </a:p>
        </p:txBody>
      </p:sp>
      <p:sp>
        <p:nvSpPr>
          <p:cNvPr id="33" name="Text 31"/>
          <p:cNvSpPr/>
          <p:nvPr/>
        </p:nvSpPr>
        <p:spPr>
          <a:xfrm>
            <a:off x="6858000" y="2578608"/>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epic/story creation, before sprint</a:t>
            </a:r>
            <a:endParaRPr lang="en-US" sz="750" dirty="0"/>
          </a:p>
        </p:txBody>
      </p:sp>
      <p:sp>
        <p:nvSpPr>
          <p:cNvPr id="34" name="Shape 32"/>
          <p:cNvSpPr/>
          <p:nvPr/>
        </p:nvSpPr>
        <p:spPr>
          <a:xfrm>
            <a:off x="274320" y="2980944"/>
            <a:ext cx="8595360" cy="365760"/>
          </a:xfrm>
          <a:prstGeom prst="rect">
            <a:avLst/>
          </a:prstGeom>
          <a:solidFill>
            <a:srgbClr val="F8FAFC"/>
          </a:solidFill>
          <a:ln/>
        </p:spPr>
      </p:sp>
      <p:sp>
        <p:nvSpPr>
          <p:cNvPr id="35" name="Shape 33"/>
          <p:cNvSpPr/>
          <p:nvPr/>
        </p:nvSpPr>
        <p:spPr>
          <a:xfrm>
            <a:off x="274320" y="2980944"/>
            <a:ext cx="54864" cy="365760"/>
          </a:xfrm>
          <a:prstGeom prst="rect">
            <a:avLst/>
          </a:prstGeom>
          <a:solidFill>
            <a:srgbClr val="EF4444"/>
          </a:solidFill>
          <a:ln/>
        </p:spPr>
      </p:sp>
      <p:sp>
        <p:nvSpPr>
          <p:cNvPr id="36" name="Text 34"/>
          <p:cNvSpPr/>
          <p:nvPr/>
        </p:nvSpPr>
        <p:spPr>
          <a:xfrm>
            <a:off x="411480" y="2980944"/>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/bmad-bmm-check-impl-readiness</a:t>
            </a:r>
            <a:endParaRPr lang="en-US" sz="700" dirty="0"/>
          </a:p>
        </p:txBody>
      </p:sp>
      <p:sp>
        <p:nvSpPr>
          <p:cNvPr id="37" name="Text 35"/>
          <p:cNvSpPr/>
          <p:nvPr/>
        </p:nvSpPr>
        <p:spPr>
          <a:xfrm>
            <a:off x="2743200" y="2980944"/>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Architect</a:t>
            </a:r>
            <a:endParaRPr lang="en-US" sz="800" dirty="0"/>
          </a:p>
        </p:txBody>
      </p:sp>
      <p:sp>
        <p:nvSpPr>
          <p:cNvPr id="38" name="Text 36"/>
          <p:cNvSpPr/>
          <p:nvPr/>
        </p:nvSpPr>
        <p:spPr>
          <a:xfrm>
            <a:off x="3749040" y="2980944"/>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Full alignment: PRD ↔ Architecture ↔ Epics ↔ Stories. PASS / CONCERNS / FAIL decision</a:t>
            </a:r>
            <a:endParaRPr lang="en-US" sz="750" dirty="0"/>
          </a:p>
        </p:txBody>
      </p:sp>
      <p:sp>
        <p:nvSpPr>
          <p:cNvPr id="39" name="Text 37"/>
          <p:cNvSpPr/>
          <p:nvPr/>
        </p:nvSpPr>
        <p:spPr>
          <a:xfrm>
            <a:off x="6858000" y="2980944"/>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Gate check before starting development</a:t>
            </a:r>
            <a:endParaRPr lang="en-US" sz="750" dirty="0"/>
          </a:p>
        </p:txBody>
      </p:sp>
      <p:sp>
        <p:nvSpPr>
          <p:cNvPr id="40" name="Shape 38"/>
          <p:cNvSpPr/>
          <p:nvPr/>
        </p:nvSpPr>
        <p:spPr>
          <a:xfrm>
            <a:off x="274320" y="3383280"/>
            <a:ext cx="8595360" cy="365760"/>
          </a:xfrm>
          <a:prstGeom prst="rect">
            <a:avLst/>
          </a:prstGeom>
          <a:solidFill>
            <a:srgbClr val="FFFFFF"/>
          </a:solidFill>
          <a:ln/>
        </p:spPr>
      </p:sp>
      <p:sp>
        <p:nvSpPr>
          <p:cNvPr id="41" name="Shape 39"/>
          <p:cNvSpPr/>
          <p:nvPr/>
        </p:nvSpPr>
        <p:spPr>
          <a:xfrm>
            <a:off x="274320" y="3383280"/>
            <a:ext cx="54864" cy="365760"/>
          </a:xfrm>
          <a:prstGeom prst="rect">
            <a:avLst/>
          </a:prstGeom>
          <a:solidFill>
            <a:srgbClr val="EC4899"/>
          </a:solidFill>
          <a:ln/>
        </p:spPr>
      </p:sp>
      <p:sp>
        <p:nvSpPr>
          <p:cNvPr id="42" name="Text 40"/>
          <p:cNvSpPr/>
          <p:nvPr/>
        </p:nvSpPr>
        <p:spPr>
          <a:xfrm>
            <a:off x="411480" y="3383280"/>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/bmad-bmm-code-review</a:t>
            </a:r>
            <a:endParaRPr lang="en-US" sz="700" dirty="0"/>
          </a:p>
        </p:txBody>
      </p:sp>
      <p:sp>
        <p:nvSpPr>
          <p:cNvPr id="43" name="Text 41"/>
          <p:cNvSpPr/>
          <p:nvPr/>
        </p:nvSpPr>
        <p:spPr>
          <a:xfrm>
            <a:off x="2743200" y="3383280"/>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QA Agent</a:t>
            </a:r>
            <a:endParaRPr lang="en-US" sz="800" dirty="0"/>
          </a:p>
        </p:txBody>
      </p:sp>
      <p:sp>
        <p:nvSpPr>
          <p:cNvPr id="44" name="Text 42"/>
          <p:cNvSpPr/>
          <p:nvPr/>
        </p:nvSpPr>
        <p:spPr>
          <a:xfrm>
            <a:off x="3749040" y="3383280"/>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Code matches story AC, follows architecture, tests exist and pass, no regressions</a:t>
            </a:r>
            <a:endParaRPr lang="en-US" sz="750" dirty="0"/>
          </a:p>
        </p:txBody>
      </p:sp>
      <p:sp>
        <p:nvSpPr>
          <p:cNvPr id="45" name="Text 43"/>
          <p:cNvSpPr/>
          <p:nvPr/>
        </p:nvSpPr>
        <p:spPr>
          <a:xfrm>
            <a:off x="6858000" y="3383280"/>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every story implementation</a:t>
            </a:r>
            <a:endParaRPr lang="en-US" sz="750" dirty="0"/>
          </a:p>
        </p:txBody>
      </p:sp>
      <p:sp>
        <p:nvSpPr>
          <p:cNvPr id="46" name="Shape 44"/>
          <p:cNvSpPr/>
          <p:nvPr/>
        </p:nvSpPr>
        <p:spPr>
          <a:xfrm>
            <a:off x="274320" y="3785616"/>
            <a:ext cx="8595360" cy="365760"/>
          </a:xfrm>
          <a:prstGeom prst="rect">
            <a:avLst/>
          </a:prstGeom>
          <a:solidFill>
            <a:srgbClr val="F8FAFC"/>
          </a:solidFill>
          <a:ln/>
        </p:spPr>
      </p:sp>
      <p:sp>
        <p:nvSpPr>
          <p:cNvPr id="47" name="Shape 45"/>
          <p:cNvSpPr/>
          <p:nvPr/>
        </p:nvSpPr>
        <p:spPr>
          <a:xfrm>
            <a:off x="274320" y="3785616"/>
            <a:ext cx="54864" cy="365760"/>
          </a:xfrm>
          <a:prstGeom prst="rect">
            <a:avLst/>
          </a:prstGeom>
          <a:solidFill>
            <a:srgbClr val="6366F1"/>
          </a:solidFill>
          <a:ln/>
        </p:spPr>
      </p:sp>
      <p:sp>
        <p:nvSpPr>
          <p:cNvPr id="48" name="Text 46"/>
          <p:cNvSpPr/>
          <p:nvPr/>
        </p:nvSpPr>
        <p:spPr>
          <a:xfrm>
            <a:off x="411480" y="3785616"/>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/bmad-review-adversarial-general</a:t>
            </a:r>
            <a:endParaRPr lang="en-US" sz="700" dirty="0"/>
          </a:p>
        </p:txBody>
      </p:sp>
      <p:sp>
        <p:nvSpPr>
          <p:cNvPr id="49" name="Text 47"/>
          <p:cNvSpPr/>
          <p:nvPr/>
        </p:nvSpPr>
        <p:spPr>
          <a:xfrm>
            <a:off x="2743200" y="3785616"/>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Any Agent</a:t>
            </a:r>
            <a:endParaRPr lang="en-US" sz="800" dirty="0"/>
          </a:p>
        </p:txBody>
      </p:sp>
      <p:sp>
        <p:nvSpPr>
          <p:cNvPr id="50" name="Text 48"/>
          <p:cNvSpPr/>
          <p:nvPr/>
        </p:nvSpPr>
        <p:spPr>
          <a:xfrm>
            <a:off x="3749040" y="3785616"/>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General-purpose adversarial review for any artifact. Challenges assumptions, finds contradictions, scope creep</a:t>
            </a:r>
            <a:endParaRPr lang="en-US" sz="750" dirty="0"/>
          </a:p>
        </p:txBody>
      </p:sp>
      <p:sp>
        <p:nvSpPr>
          <p:cNvPr id="51" name="Text 49"/>
          <p:cNvSpPr/>
          <p:nvPr/>
        </p:nvSpPr>
        <p:spPr>
          <a:xfrm>
            <a:off x="6858000" y="3785616"/>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Any time — on any document at any phase</a:t>
            </a:r>
            <a:endParaRPr lang="en-US" sz="750" dirty="0"/>
          </a:p>
        </p:txBody>
      </p:sp>
      <p:sp>
        <p:nvSpPr>
          <p:cNvPr id="52" name="Shape 50"/>
          <p:cNvSpPr/>
          <p:nvPr/>
        </p:nvSpPr>
        <p:spPr>
          <a:xfrm>
            <a:off x="274320" y="4187952"/>
            <a:ext cx="8595360" cy="365760"/>
          </a:xfrm>
          <a:prstGeom prst="rect">
            <a:avLst/>
          </a:prstGeom>
          <a:solidFill>
            <a:srgbClr val="FFFFFF"/>
          </a:solidFill>
          <a:ln/>
        </p:spPr>
      </p:sp>
      <p:sp>
        <p:nvSpPr>
          <p:cNvPr id="53" name="Shape 51"/>
          <p:cNvSpPr/>
          <p:nvPr/>
        </p:nvSpPr>
        <p:spPr>
          <a:xfrm>
            <a:off x="274320" y="4187952"/>
            <a:ext cx="54864" cy="365760"/>
          </a:xfrm>
          <a:prstGeom prst="rect">
            <a:avLst/>
          </a:prstGeom>
          <a:solidFill>
            <a:srgbClr val="0EA5E9"/>
          </a:solidFill>
          <a:ln/>
        </p:spPr>
      </p:sp>
      <p:sp>
        <p:nvSpPr>
          <p:cNvPr id="54" name="Text 52"/>
          <p:cNvSpPr/>
          <p:nvPr/>
        </p:nvSpPr>
        <p:spPr>
          <a:xfrm>
            <a:off x="411480" y="4187952"/>
            <a:ext cx="2286000" cy="365760"/>
          </a:xfrm>
          <a:prstGeom prst="rect">
            <a:avLst/>
          </a:prstGeom>
          <a:noFill/>
          <a:ln/>
        </p:spPr>
        <p:txBody>
          <a:bodyPr wrap="square" lIns="0" tIns="0" rIns="0" bIns="0" rtlCol="0" anchor="ctr"/>
          <a:lstStyle/>
          <a:p>
            <a:pPr indent="0" marL="0">
              <a:buNone/>
            </a:pPr>
            <a:r>
              <a:rPr lang="en-US" sz="700" dirty="0">
                <a:solidFill>
                  <a:srgbClr val="0D9488"/>
                </a:solidFill>
                <a:latin typeface="Consolas" pitchFamily="34" charset="0"/>
                <a:ea typeface="Consolas" pitchFamily="34" charset="-122"/>
                <a:cs typeface="Consolas" pitchFamily="34" charset="-120"/>
              </a:rPr>
              <a:t>/bmad-review-edge-case-hunter</a:t>
            </a:r>
            <a:endParaRPr lang="en-US" sz="700" dirty="0"/>
          </a:p>
        </p:txBody>
      </p:sp>
      <p:sp>
        <p:nvSpPr>
          <p:cNvPr id="55" name="Text 53"/>
          <p:cNvSpPr/>
          <p:nvPr/>
        </p:nvSpPr>
        <p:spPr>
          <a:xfrm>
            <a:off x="2743200" y="4187952"/>
            <a:ext cx="1005840" cy="36576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Any Agent</a:t>
            </a:r>
            <a:endParaRPr lang="en-US" sz="800" dirty="0"/>
          </a:p>
        </p:txBody>
      </p:sp>
      <p:sp>
        <p:nvSpPr>
          <p:cNvPr id="56" name="Text 54"/>
          <p:cNvSpPr/>
          <p:nvPr/>
        </p:nvSpPr>
        <p:spPr>
          <a:xfrm>
            <a:off x="3749040" y="4187952"/>
            <a:ext cx="3108960" cy="365760"/>
          </a:xfrm>
          <a:prstGeom prst="rect">
            <a:avLst/>
          </a:prstGeom>
          <a:noFill/>
          <a:ln/>
        </p:spPr>
        <p:txBody>
          <a:bodyPr wrap="square" lIns="0" tIns="0" rIns="5080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Finds edge cases, boundary conditions, race conditions, and failure scenarios not covered by AC or tests</a:t>
            </a:r>
            <a:endParaRPr lang="en-US" sz="750" dirty="0"/>
          </a:p>
        </p:txBody>
      </p:sp>
      <p:sp>
        <p:nvSpPr>
          <p:cNvPr id="57" name="Text 55"/>
          <p:cNvSpPr/>
          <p:nvPr/>
        </p:nvSpPr>
        <p:spPr>
          <a:xfrm>
            <a:off x="6858000" y="4187952"/>
            <a:ext cx="2011680" cy="365760"/>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After story creation or before release gate</a:t>
            </a:r>
            <a:endParaRPr lang="en-US" sz="750" dirty="0"/>
          </a:p>
        </p:txBody>
      </p:sp>
      <p:sp>
        <p:nvSpPr>
          <p:cNvPr id="58" name="Shape 56"/>
          <p:cNvSpPr/>
          <p:nvPr/>
        </p:nvSpPr>
        <p:spPr>
          <a:xfrm>
            <a:off x="274320" y="4572000"/>
            <a:ext cx="8595360" cy="411480"/>
          </a:xfrm>
          <a:prstGeom prst="rect">
            <a:avLst/>
          </a:prstGeom>
          <a:solidFill>
            <a:srgbClr val="0F1B2D"/>
          </a:solidFill>
          <a:ln/>
        </p:spPr>
      </p:sp>
      <p:sp>
        <p:nvSpPr>
          <p:cNvPr id="59" name="Text 57"/>
          <p:cNvSpPr/>
          <p:nvPr/>
        </p:nvSpPr>
        <p:spPr>
          <a:xfrm>
            <a:off x="457200" y="4572000"/>
            <a:ext cx="8229600" cy="411480"/>
          </a:xfrm>
          <a:prstGeom prst="rect">
            <a:avLst/>
          </a:prstGeom>
          <a:noFill/>
          <a:ln/>
        </p:spPr>
        <p:txBody>
          <a:bodyPr wrap="square"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Run verification at every phase transition. Think of it as CI for your planning documents.</a:t>
            </a:r>
            <a:endParaRPr lang="en-US" sz="1100" dirty="0"/>
          </a:p>
        </p:txBody>
      </p:sp>
      <p:sp>
        <p:nvSpPr>
          <p:cNvPr id="60" name="Text 58"/>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44 / 93</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Verification During Document Creation</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Every BMAD artifact is validated against its predecessors as it’s built</a:t>
            </a:r>
            <a:endParaRPr lang="en-US" sz="1200" dirty="0"/>
          </a:p>
        </p:txBody>
      </p:sp>
      <p:sp>
        <p:nvSpPr>
          <p:cNvPr id="5" name="Shape 3"/>
          <p:cNvSpPr/>
          <p:nvPr/>
        </p:nvSpPr>
        <p:spPr>
          <a:xfrm>
            <a:off x="320040" y="1280160"/>
            <a:ext cx="1188720" cy="457200"/>
          </a:xfrm>
          <a:prstGeom prst="roundRect">
            <a:avLst>
              <a:gd name="adj" fmla="val 16000"/>
            </a:avLst>
          </a:prstGeom>
          <a:solidFill>
            <a:srgbClr val="3B82F6"/>
          </a:solidFill>
          <a:ln/>
        </p:spPr>
      </p:sp>
      <p:sp>
        <p:nvSpPr>
          <p:cNvPr id="6" name="Text 4"/>
          <p:cNvSpPr/>
          <p:nvPr/>
        </p:nvSpPr>
        <p:spPr>
          <a:xfrm>
            <a:off x="32004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Brief</a:t>
            </a:r>
            <a:endParaRPr lang="en-US" sz="1100" dirty="0"/>
          </a:p>
        </p:txBody>
      </p:sp>
      <p:sp>
        <p:nvSpPr>
          <p:cNvPr id="7" name="Text 5"/>
          <p:cNvSpPr/>
          <p:nvPr/>
        </p:nvSpPr>
        <p:spPr>
          <a:xfrm>
            <a:off x="1508760" y="1371600"/>
            <a:ext cx="274320" cy="274320"/>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8" name="Shape 6"/>
          <p:cNvSpPr/>
          <p:nvPr/>
        </p:nvSpPr>
        <p:spPr>
          <a:xfrm>
            <a:off x="1783080" y="1280160"/>
            <a:ext cx="1188720" cy="457200"/>
          </a:xfrm>
          <a:prstGeom prst="roundRect">
            <a:avLst>
              <a:gd name="adj" fmla="val 16000"/>
            </a:avLst>
          </a:prstGeom>
          <a:solidFill>
            <a:srgbClr val="8B5CF6"/>
          </a:solidFill>
          <a:ln/>
        </p:spPr>
      </p:sp>
      <p:sp>
        <p:nvSpPr>
          <p:cNvPr id="9" name="Text 7"/>
          <p:cNvSpPr/>
          <p:nvPr/>
        </p:nvSpPr>
        <p:spPr>
          <a:xfrm>
            <a:off x="178308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PRD</a:t>
            </a:r>
            <a:endParaRPr lang="en-US" sz="1100" dirty="0"/>
          </a:p>
        </p:txBody>
      </p:sp>
      <p:sp>
        <p:nvSpPr>
          <p:cNvPr id="10" name="Text 8"/>
          <p:cNvSpPr/>
          <p:nvPr/>
        </p:nvSpPr>
        <p:spPr>
          <a:xfrm>
            <a:off x="2971800" y="1371600"/>
            <a:ext cx="274320" cy="274320"/>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11" name="Shape 9"/>
          <p:cNvSpPr/>
          <p:nvPr/>
        </p:nvSpPr>
        <p:spPr>
          <a:xfrm>
            <a:off x="3246120" y="1280160"/>
            <a:ext cx="1188720" cy="457200"/>
          </a:xfrm>
          <a:prstGeom prst="roundRect">
            <a:avLst>
              <a:gd name="adj" fmla="val 16000"/>
            </a:avLst>
          </a:prstGeom>
          <a:solidFill>
            <a:srgbClr val="10B981"/>
          </a:solidFill>
          <a:ln/>
        </p:spPr>
      </p:sp>
      <p:sp>
        <p:nvSpPr>
          <p:cNvPr id="12" name="Text 10"/>
          <p:cNvSpPr/>
          <p:nvPr/>
        </p:nvSpPr>
        <p:spPr>
          <a:xfrm>
            <a:off x="324612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Arch</a:t>
            </a:r>
            <a:endParaRPr lang="en-US" sz="1100" dirty="0"/>
          </a:p>
        </p:txBody>
      </p:sp>
      <p:sp>
        <p:nvSpPr>
          <p:cNvPr id="13" name="Text 11"/>
          <p:cNvSpPr/>
          <p:nvPr/>
        </p:nvSpPr>
        <p:spPr>
          <a:xfrm>
            <a:off x="4434840" y="1371600"/>
            <a:ext cx="274320" cy="274320"/>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14" name="Shape 12"/>
          <p:cNvSpPr/>
          <p:nvPr/>
        </p:nvSpPr>
        <p:spPr>
          <a:xfrm>
            <a:off x="4709160" y="1280160"/>
            <a:ext cx="1188720" cy="457200"/>
          </a:xfrm>
          <a:prstGeom prst="roundRect">
            <a:avLst>
              <a:gd name="adj" fmla="val 16000"/>
            </a:avLst>
          </a:prstGeom>
          <a:solidFill>
            <a:srgbClr val="F59E0B"/>
          </a:solidFill>
          <a:ln/>
        </p:spPr>
      </p:sp>
      <p:sp>
        <p:nvSpPr>
          <p:cNvPr id="15" name="Text 13"/>
          <p:cNvSpPr/>
          <p:nvPr/>
        </p:nvSpPr>
        <p:spPr>
          <a:xfrm>
            <a:off x="470916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Epics</a:t>
            </a:r>
            <a:endParaRPr lang="en-US" sz="1100" dirty="0"/>
          </a:p>
        </p:txBody>
      </p:sp>
      <p:sp>
        <p:nvSpPr>
          <p:cNvPr id="16" name="Text 14"/>
          <p:cNvSpPr/>
          <p:nvPr/>
        </p:nvSpPr>
        <p:spPr>
          <a:xfrm>
            <a:off x="5897880" y="1371600"/>
            <a:ext cx="274320" cy="274320"/>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17" name="Shape 15"/>
          <p:cNvSpPr/>
          <p:nvPr/>
        </p:nvSpPr>
        <p:spPr>
          <a:xfrm>
            <a:off x="6172200" y="1280160"/>
            <a:ext cx="1188720" cy="457200"/>
          </a:xfrm>
          <a:prstGeom prst="roundRect">
            <a:avLst>
              <a:gd name="adj" fmla="val 16000"/>
            </a:avLst>
          </a:prstGeom>
          <a:solidFill>
            <a:srgbClr val="EF4444"/>
          </a:solidFill>
          <a:ln/>
        </p:spPr>
      </p:sp>
      <p:sp>
        <p:nvSpPr>
          <p:cNvPr id="18" name="Text 16"/>
          <p:cNvSpPr/>
          <p:nvPr/>
        </p:nvSpPr>
        <p:spPr>
          <a:xfrm>
            <a:off x="617220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Stories</a:t>
            </a:r>
            <a:endParaRPr lang="en-US" sz="1100" dirty="0"/>
          </a:p>
        </p:txBody>
      </p:sp>
      <p:sp>
        <p:nvSpPr>
          <p:cNvPr id="19" name="Text 17"/>
          <p:cNvSpPr/>
          <p:nvPr/>
        </p:nvSpPr>
        <p:spPr>
          <a:xfrm>
            <a:off x="7360920" y="1371600"/>
            <a:ext cx="274320" cy="274320"/>
          </a:xfrm>
          <a:prstGeom prst="rect">
            <a:avLst/>
          </a:prstGeom>
          <a:noFill/>
          <a:ln/>
        </p:spPr>
        <p:txBody>
          <a:bodyPr wrap="square" rtlCol="0" anchor="ctr"/>
          <a:lstStyle/>
          <a:p>
            <a:pPr algn="ctr" indent="0" marL="0">
              <a:buNone/>
            </a:pPr>
            <a:r>
              <a:rPr lang="en-US" sz="1000" dirty="0">
                <a:solidFill>
                  <a:srgbClr val="94A3B8"/>
                </a:solidFill>
              </a:rPr>
              <a:t>▶</a:t>
            </a:r>
            <a:endParaRPr lang="en-US" sz="1000" dirty="0"/>
          </a:p>
        </p:txBody>
      </p:sp>
      <p:sp>
        <p:nvSpPr>
          <p:cNvPr id="20" name="Shape 18"/>
          <p:cNvSpPr/>
          <p:nvPr/>
        </p:nvSpPr>
        <p:spPr>
          <a:xfrm>
            <a:off x="7635240" y="1280160"/>
            <a:ext cx="1188720" cy="457200"/>
          </a:xfrm>
          <a:prstGeom prst="roundRect">
            <a:avLst>
              <a:gd name="adj" fmla="val 16000"/>
            </a:avLst>
          </a:prstGeom>
          <a:solidFill>
            <a:srgbClr val="EC4899"/>
          </a:solidFill>
          <a:ln/>
        </p:spPr>
      </p:sp>
      <p:sp>
        <p:nvSpPr>
          <p:cNvPr id="21" name="Text 19"/>
          <p:cNvSpPr/>
          <p:nvPr/>
        </p:nvSpPr>
        <p:spPr>
          <a:xfrm>
            <a:off x="7635240" y="12801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Code</a:t>
            </a:r>
            <a:endParaRPr lang="en-US" sz="1100" dirty="0"/>
          </a:p>
        </p:txBody>
      </p:sp>
      <p:sp>
        <p:nvSpPr>
          <p:cNvPr id="22" name="Text 20"/>
          <p:cNvSpPr/>
          <p:nvPr/>
        </p:nvSpPr>
        <p:spPr>
          <a:xfrm>
            <a:off x="457200" y="1783080"/>
            <a:ext cx="8229600" cy="228600"/>
          </a:xfrm>
          <a:prstGeom prst="rect">
            <a:avLst/>
          </a:prstGeom>
          <a:noFill/>
          <a:ln/>
        </p:spPr>
        <p:txBody>
          <a:bodyPr wrap="square"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Each document reads and validates against everything that came before it</a:t>
            </a:r>
            <a:endParaRPr lang="en-US" sz="900" dirty="0"/>
          </a:p>
        </p:txBody>
      </p:sp>
      <p:sp>
        <p:nvSpPr>
          <p:cNvPr id="23" name="Shape 21"/>
          <p:cNvSpPr/>
          <p:nvPr/>
        </p:nvSpPr>
        <p:spPr>
          <a:xfrm>
            <a:off x="457200" y="2148840"/>
            <a:ext cx="8229600" cy="731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4" name="Shape 22"/>
          <p:cNvSpPr/>
          <p:nvPr/>
        </p:nvSpPr>
        <p:spPr>
          <a:xfrm>
            <a:off x="457200" y="2148840"/>
            <a:ext cx="54864" cy="731520"/>
          </a:xfrm>
          <a:prstGeom prst="rect">
            <a:avLst/>
          </a:prstGeom>
          <a:solidFill>
            <a:srgbClr val="3B82F6"/>
          </a:solidFill>
          <a:ln/>
        </p:spPr>
      </p:sp>
      <p:sp>
        <p:nvSpPr>
          <p:cNvPr id="25" name="Text 23"/>
          <p:cNvSpPr/>
          <p:nvPr/>
        </p:nvSpPr>
        <p:spPr>
          <a:xfrm>
            <a:off x="685800" y="217627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Predecessor Loading</a:t>
            </a:r>
            <a:endParaRPr lang="en-US" sz="1200" dirty="0"/>
          </a:p>
        </p:txBody>
      </p:sp>
      <p:sp>
        <p:nvSpPr>
          <p:cNvPr id="26" name="Text 24"/>
          <p:cNvSpPr/>
          <p:nvPr/>
        </p:nvSpPr>
        <p:spPr>
          <a:xfrm>
            <a:off x="685800" y="2423160"/>
            <a:ext cx="7772400" cy="4114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When an agent creates a document, it first loads ALL predecessor documents into context. The Architect reads both the Brief and PRD. The SM reads PRD, Architecture, and UX spec. This ensures every decision is informed by what came before — the agent can’t make decisions that contradict earlier artifacts.</a:t>
            </a:r>
            <a:endParaRPr lang="en-US" sz="900" dirty="0"/>
          </a:p>
        </p:txBody>
      </p:sp>
      <p:sp>
        <p:nvSpPr>
          <p:cNvPr id="27" name="Shape 25"/>
          <p:cNvSpPr/>
          <p:nvPr/>
        </p:nvSpPr>
        <p:spPr>
          <a:xfrm>
            <a:off x="457200" y="2971800"/>
            <a:ext cx="8229600" cy="731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8" name="Shape 26"/>
          <p:cNvSpPr/>
          <p:nvPr/>
        </p:nvSpPr>
        <p:spPr>
          <a:xfrm>
            <a:off x="457200" y="2971800"/>
            <a:ext cx="54864" cy="731520"/>
          </a:xfrm>
          <a:prstGeom prst="rect">
            <a:avLst/>
          </a:prstGeom>
          <a:solidFill>
            <a:srgbClr val="10B981"/>
          </a:solidFill>
          <a:ln/>
        </p:spPr>
      </p:sp>
      <p:sp>
        <p:nvSpPr>
          <p:cNvPr id="29" name="Text 27"/>
          <p:cNvSpPr/>
          <p:nvPr/>
        </p:nvSpPr>
        <p:spPr>
          <a:xfrm>
            <a:off x="685800" y="299923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Checklist Validation</a:t>
            </a:r>
            <a:endParaRPr lang="en-US" sz="1200" dirty="0"/>
          </a:p>
        </p:txBody>
      </p:sp>
      <p:sp>
        <p:nvSpPr>
          <p:cNvPr id="30" name="Text 28"/>
          <p:cNvSpPr/>
          <p:nvPr/>
        </p:nvSpPr>
        <p:spPr>
          <a:xfrm>
            <a:off x="685800" y="3246120"/>
            <a:ext cx="7772400" cy="4114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Every BMAD workflow includes a checklist.md file that the agent runs against the output. The checklist verifies: all predecessor requirements are addressed, no contradictions exist, required sections are complete, acceptance criteria are traceable to requirements. A story can’t be created without referencing the epic and architecture.</a:t>
            </a:r>
            <a:endParaRPr lang="en-US" sz="900" dirty="0"/>
          </a:p>
        </p:txBody>
      </p:sp>
      <p:sp>
        <p:nvSpPr>
          <p:cNvPr id="31" name="Shape 29"/>
          <p:cNvSpPr/>
          <p:nvPr/>
        </p:nvSpPr>
        <p:spPr>
          <a:xfrm>
            <a:off x="457200" y="3794760"/>
            <a:ext cx="8229600" cy="7315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2" name="Shape 30"/>
          <p:cNvSpPr/>
          <p:nvPr/>
        </p:nvSpPr>
        <p:spPr>
          <a:xfrm>
            <a:off x="457200" y="3794760"/>
            <a:ext cx="54864" cy="731520"/>
          </a:xfrm>
          <a:prstGeom prst="rect">
            <a:avLst/>
          </a:prstGeom>
          <a:solidFill>
            <a:srgbClr val="EF4444"/>
          </a:solidFill>
          <a:ln/>
        </p:spPr>
      </p:sp>
      <p:sp>
        <p:nvSpPr>
          <p:cNvPr id="33" name="Text 31"/>
          <p:cNvSpPr/>
          <p:nvPr/>
        </p:nvSpPr>
        <p:spPr>
          <a:xfrm>
            <a:off x="685800" y="3822192"/>
            <a:ext cx="7772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Adversarial Review</a:t>
            </a:r>
            <a:endParaRPr lang="en-US" sz="1200" dirty="0"/>
          </a:p>
        </p:txBody>
      </p:sp>
      <p:sp>
        <p:nvSpPr>
          <p:cNvPr id="34" name="Text 32"/>
          <p:cNvSpPr/>
          <p:nvPr/>
        </p:nvSpPr>
        <p:spPr>
          <a:xfrm>
            <a:off x="685800" y="4069080"/>
            <a:ext cx="7772400" cy="41148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The agent deliberately tries to find problems in its own output. BMAD’s review-adversarial-general task challenges the document: Does this contradict the architecture? Are there requirements not covered? Is there scope creep? Does this match the PRD? The adversarial mode is opt-in but strongly recommended for every artifact.</a:t>
            </a:r>
            <a:endParaRPr lang="en-US" sz="900" dirty="0"/>
          </a:p>
        </p:txBody>
      </p:sp>
      <p:sp>
        <p:nvSpPr>
          <p:cNvPr id="35" name="Text 33"/>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Verification is not a phase at the end — it’s embedded in every step of the development process</a:t>
            </a:r>
            <a:endParaRPr lang="en-US" sz="1000" dirty="0"/>
          </a:p>
        </p:txBody>
      </p:sp>
      <p:sp>
        <p:nvSpPr>
          <p:cNvPr id="36"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45 / 93</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Change Propagation: Top-Down</a:t>
            </a:r>
            <a:endParaRPr lang="en-US" sz="2600" dirty="0"/>
          </a:p>
        </p:txBody>
      </p:sp>
      <p:sp>
        <p:nvSpPr>
          <p:cNvPr id="5" name="Text 3"/>
          <p:cNvSpPr/>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When a requirement changes — how it flows down through the entire chain</a:t>
            </a:r>
            <a:endParaRPr lang="en-US" sz="1200" dirty="0"/>
          </a:p>
        </p:txBody>
      </p:sp>
      <p:sp>
        <p:nvSpPr>
          <p:cNvPr id="6" name="Shape 4"/>
          <p:cNvSpPr/>
          <p:nvPr/>
        </p:nvSpPr>
        <p:spPr>
          <a:xfrm>
            <a:off x="457200" y="1371600"/>
            <a:ext cx="411480" cy="411480"/>
          </a:xfrm>
          <a:prstGeom prst="ellipse">
            <a:avLst/>
          </a:prstGeom>
          <a:solidFill>
            <a:srgbClr val="EF4444"/>
          </a:solidFill>
          <a:ln/>
        </p:spPr>
      </p:sp>
      <p:sp>
        <p:nvSpPr>
          <p:cNvPr id="7" name="Text 5"/>
          <p:cNvSpPr/>
          <p:nvPr/>
        </p:nvSpPr>
        <p:spPr>
          <a:xfrm>
            <a:off x="45720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05840" y="1325880"/>
            <a:ext cx="210312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Requirement Changes</a:t>
            </a:r>
            <a:endParaRPr lang="en-US" sz="1200" dirty="0"/>
          </a:p>
        </p:txBody>
      </p:sp>
      <p:sp>
        <p:nvSpPr>
          <p:cNvPr id="9" name="Shape 7"/>
          <p:cNvSpPr/>
          <p:nvPr/>
        </p:nvSpPr>
        <p:spPr>
          <a:xfrm>
            <a:off x="3200400" y="1325880"/>
            <a:ext cx="5577840" cy="54864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10" name="Shape 8"/>
          <p:cNvSpPr/>
          <p:nvPr/>
        </p:nvSpPr>
        <p:spPr>
          <a:xfrm>
            <a:off x="3200400" y="1325880"/>
            <a:ext cx="36576" cy="548640"/>
          </a:xfrm>
          <a:prstGeom prst="rect">
            <a:avLst/>
          </a:prstGeom>
          <a:solidFill>
            <a:srgbClr val="EF4444"/>
          </a:solidFill>
          <a:ln/>
        </p:spPr>
      </p:sp>
      <p:sp>
        <p:nvSpPr>
          <p:cNvPr id="11" name="Text 9"/>
          <p:cNvSpPr/>
          <p:nvPr/>
        </p:nvSpPr>
        <p:spPr>
          <a:xfrm>
            <a:off x="3337560" y="1325880"/>
            <a:ext cx="530352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System engineer updates the requirement.</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PM updates the PRD to reflect the change.</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Run /validate-prd to check consistency.</a:t>
            </a:r>
            <a:endParaRPr lang="en-US" sz="850" dirty="0"/>
          </a:p>
        </p:txBody>
      </p:sp>
      <p:sp>
        <p:nvSpPr>
          <p:cNvPr id="12" name="Text 10"/>
          <p:cNvSpPr/>
          <p:nvPr/>
        </p:nvSpPr>
        <p:spPr>
          <a:xfrm>
            <a:off x="548640" y="1801368"/>
            <a:ext cx="228600" cy="182880"/>
          </a:xfrm>
          <a:prstGeom prst="rect">
            <a:avLst/>
          </a:prstGeom>
          <a:noFill/>
          <a:ln/>
        </p:spPr>
        <p:txBody>
          <a:bodyPr wrap="square" rtlCol="0" anchor="ctr"/>
          <a:lstStyle/>
          <a:p>
            <a:pPr algn="ctr" indent="0" marL="0">
              <a:buNone/>
            </a:pPr>
            <a:r>
              <a:rPr lang="en-US" sz="1000" dirty="0">
                <a:solidFill>
                  <a:srgbClr val="EF4444"/>
                </a:solidFill>
              </a:rPr>
              <a:t>▼</a:t>
            </a:r>
            <a:endParaRPr lang="en-US" sz="1000" dirty="0"/>
          </a:p>
        </p:txBody>
      </p:sp>
      <p:sp>
        <p:nvSpPr>
          <p:cNvPr id="13" name="Shape 11"/>
          <p:cNvSpPr/>
          <p:nvPr/>
        </p:nvSpPr>
        <p:spPr>
          <a:xfrm>
            <a:off x="457200" y="2057400"/>
            <a:ext cx="411480" cy="411480"/>
          </a:xfrm>
          <a:prstGeom prst="ellipse">
            <a:avLst/>
          </a:prstGeom>
          <a:solidFill>
            <a:srgbClr val="F59E0B"/>
          </a:solidFill>
          <a:ln/>
        </p:spPr>
      </p:sp>
      <p:sp>
        <p:nvSpPr>
          <p:cNvPr id="14" name="Text 12"/>
          <p:cNvSpPr/>
          <p:nvPr/>
        </p:nvSpPr>
        <p:spPr>
          <a:xfrm>
            <a:off x="457200" y="20574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005840" y="2011680"/>
            <a:ext cx="210312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Architecture Updated</a:t>
            </a:r>
            <a:endParaRPr lang="en-US" sz="1200" dirty="0"/>
          </a:p>
        </p:txBody>
      </p:sp>
      <p:sp>
        <p:nvSpPr>
          <p:cNvPr id="16" name="Shape 14"/>
          <p:cNvSpPr/>
          <p:nvPr/>
        </p:nvSpPr>
        <p:spPr>
          <a:xfrm>
            <a:off x="3200400" y="2011680"/>
            <a:ext cx="5577840" cy="54864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17" name="Shape 15"/>
          <p:cNvSpPr/>
          <p:nvPr/>
        </p:nvSpPr>
        <p:spPr>
          <a:xfrm>
            <a:off x="3200400" y="2011680"/>
            <a:ext cx="36576" cy="548640"/>
          </a:xfrm>
          <a:prstGeom prst="rect">
            <a:avLst/>
          </a:prstGeom>
          <a:solidFill>
            <a:srgbClr val="F59E0B"/>
          </a:solidFill>
          <a:ln/>
        </p:spPr>
      </p:sp>
      <p:sp>
        <p:nvSpPr>
          <p:cNvPr id="18" name="Text 16"/>
          <p:cNvSpPr/>
          <p:nvPr/>
        </p:nvSpPr>
        <p:spPr>
          <a:xfrm>
            <a:off x="3337560" y="2011680"/>
            <a:ext cx="530352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Architect reviews impacted sections.</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Update architecture.md if the change affects tech decisions.</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Run /validate-architecture against updated PRD.</a:t>
            </a:r>
            <a:endParaRPr lang="en-US" sz="850" dirty="0"/>
          </a:p>
        </p:txBody>
      </p:sp>
      <p:sp>
        <p:nvSpPr>
          <p:cNvPr id="19" name="Text 17"/>
          <p:cNvSpPr/>
          <p:nvPr/>
        </p:nvSpPr>
        <p:spPr>
          <a:xfrm>
            <a:off x="548640" y="2487168"/>
            <a:ext cx="228600" cy="182880"/>
          </a:xfrm>
          <a:prstGeom prst="rect">
            <a:avLst/>
          </a:prstGeom>
          <a:noFill/>
          <a:ln/>
        </p:spPr>
        <p:txBody>
          <a:bodyPr wrap="square" rtlCol="0" anchor="ctr"/>
          <a:lstStyle/>
          <a:p>
            <a:pPr algn="ctr" indent="0" marL="0">
              <a:buNone/>
            </a:pPr>
            <a:r>
              <a:rPr lang="en-US" sz="1000" dirty="0">
                <a:solidFill>
                  <a:srgbClr val="F59E0B"/>
                </a:solidFill>
              </a:rPr>
              <a:t>▼</a:t>
            </a:r>
            <a:endParaRPr lang="en-US" sz="1000" dirty="0"/>
          </a:p>
        </p:txBody>
      </p:sp>
      <p:sp>
        <p:nvSpPr>
          <p:cNvPr id="20" name="Shape 18"/>
          <p:cNvSpPr/>
          <p:nvPr/>
        </p:nvSpPr>
        <p:spPr>
          <a:xfrm>
            <a:off x="457200" y="2743200"/>
            <a:ext cx="411480" cy="411480"/>
          </a:xfrm>
          <a:prstGeom prst="ellipse">
            <a:avLst/>
          </a:prstGeom>
          <a:solidFill>
            <a:srgbClr val="8B5CF6"/>
          </a:solidFill>
          <a:ln/>
        </p:spPr>
      </p:sp>
      <p:sp>
        <p:nvSpPr>
          <p:cNvPr id="21" name="Text 19"/>
          <p:cNvSpPr/>
          <p:nvPr/>
        </p:nvSpPr>
        <p:spPr>
          <a:xfrm>
            <a:off x="457200" y="27432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1005840" y="2697480"/>
            <a:ext cx="210312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UX Design Updated (if UI)</a:t>
            </a:r>
            <a:endParaRPr lang="en-US" sz="1200" dirty="0"/>
          </a:p>
        </p:txBody>
      </p:sp>
      <p:sp>
        <p:nvSpPr>
          <p:cNvPr id="23" name="Shape 21"/>
          <p:cNvSpPr/>
          <p:nvPr/>
        </p:nvSpPr>
        <p:spPr>
          <a:xfrm>
            <a:off x="3200400" y="2697480"/>
            <a:ext cx="5577840" cy="54864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24" name="Shape 22"/>
          <p:cNvSpPr/>
          <p:nvPr/>
        </p:nvSpPr>
        <p:spPr>
          <a:xfrm>
            <a:off x="3200400" y="2697480"/>
            <a:ext cx="36576" cy="548640"/>
          </a:xfrm>
          <a:prstGeom prst="rect">
            <a:avLst/>
          </a:prstGeom>
          <a:solidFill>
            <a:srgbClr val="8B5CF6"/>
          </a:solidFill>
          <a:ln/>
        </p:spPr>
      </p:sp>
      <p:sp>
        <p:nvSpPr>
          <p:cNvPr id="25" name="Text 23"/>
          <p:cNvSpPr/>
          <p:nvPr/>
        </p:nvSpPr>
        <p:spPr>
          <a:xfrm>
            <a:off x="3337560" y="2697480"/>
            <a:ext cx="530352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UX Designer reviews impacted screens.</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Update UX spec if user flows are affected.</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Validate against updated PRD.</a:t>
            </a:r>
            <a:endParaRPr lang="en-US" sz="850" dirty="0"/>
          </a:p>
        </p:txBody>
      </p:sp>
      <p:sp>
        <p:nvSpPr>
          <p:cNvPr id="26" name="Text 24"/>
          <p:cNvSpPr/>
          <p:nvPr/>
        </p:nvSpPr>
        <p:spPr>
          <a:xfrm>
            <a:off x="548640" y="3172968"/>
            <a:ext cx="228600" cy="182880"/>
          </a:xfrm>
          <a:prstGeom prst="rect">
            <a:avLst/>
          </a:prstGeom>
          <a:noFill/>
          <a:ln/>
        </p:spPr>
        <p:txBody>
          <a:bodyPr wrap="square" rtlCol="0" anchor="ctr"/>
          <a:lstStyle/>
          <a:p>
            <a:pPr algn="ctr" indent="0" marL="0">
              <a:buNone/>
            </a:pPr>
            <a:r>
              <a:rPr lang="en-US" sz="1000" dirty="0">
                <a:solidFill>
                  <a:srgbClr val="8B5CF6"/>
                </a:solidFill>
              </a:rPr>
              <a:t>▼</a:t>
            </a:r>
            <a:endParaRPr lang="en-US" sz="1000" dirty="0"/>
          </a:p>
        </p:txBody>
      </p:sp>
      <p:sp>
        <p:nvSpPr>
          <p:cNvPr id="27" name="Shape 25"/>
          <p:cNvSpPr/>
          <p:nvPr/>
        </p:nvSpPr>
        <p:spPr>
          <a:xfrm>
            <a:off x="457200" y="3429000"/>
            <a:ext cx="411480" cy="411480"/>
          </a:xfrm>
          <a:prstGeom prst="ellipse">
            <a:avLst/>
          </a:prstGeom>
          <a:solidFill>
            <a:srgbClr val="3B82F6"/>
          </a:solidFill>
          <a:ln/>
        </p:spPr>
      </p:sp>
      <p:sp>
        <p:nvSpPr>
          <p:cNvPr id="28" name="Text 26"/>
          <p:cNvSpPr/>
          <p:nvPr/>
        </p:nvSpPr>
        <p:spPr>
          <a:xfrm>
            <a:off x="457200" y="34290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1005840" y="3383280"/>
            <a:ext cx="210312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Epics &amp; Stories Updated</a:t>
            </a:r>
            <a:endParaRPr lang="en-US" sz="1200" dirty="0"/>
          </a:p>
        </p:txBody>
      </p:sp>
      <p:sp>
        <p:nvSpPr>
          <p:cNvPr id="30" name="Shape 28"/>
          <p:cNvSpPr/>
          <p:nvPr/>
        </p:nvSpPr>
        <p:spPr>
          <a:xfrm>
            <a:off x="3200400" y="3383280"/>
            <a:ext cx="5577840" cy="54864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31" name="Shape 29"/>
          <p:cNvSpPr/>
          <p:nvPr/>
        </p:nvSpPr>
        <p:spPr>
          <a:xfrm>
            <a:off x="3200400" y="3383280"/>
            <a:ext cx="36576" cy="548640"/>
          </a:xfrm>
          <a:prstGeom prst="rect">
            <a:avLst/>
          </a:prstGeom>
          <a:solidFill>
            <a:srgbClr val="3B82F6"/>
          </a:solidFill>
          <a:ln/>
        </p:spPr>
      </p:sp>
      <p:sp>
        <p:nvSpPr>
          <p:cNvPr id="32" name="Text 30"/>
          <p:cNvSpPr/>
          <p:nvPr/>
        </p:nvSpPr>
        <p:spPr>
          <a:xfrm>
            <a:off x="3337560" y="3383280"/>
            <a:ext cx="530352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PM reviews epics for coverage gaps. Stories with affected AC are flagged.</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New stories created if needed. Run /validate-epics-and-stories.</a:t>
            </a:r>
            <a:endParaRPr lang="en-US" sz="850" dirty="0"/>
          </a:p>
        </p:txBody>
      </p:sp>
      <p:sp>
        <p:nvSpPr>
          <p:cNvPr id="33" name="Text 31"/>
          <p:cNvSpPr/>
          <p:nvPr/>
        </p:nvSpPr>
        <p:spPr>
          <a:xfrm>
            <a:off x="548640" y="3858768"/>
            <a:ext cx="228600" cy="182880"/>
          </a:xfrm>
          <a:prstGeom prst="rect">
            <a:avLst/>
          </a:prstGeom>
          <a:noFill/>
          <a:ln/>
        </p:spPr>
        <p:txBody>
          <a:bodyPr wrap="square" rtlCol="0" anchor="ctr"/>
          <a:lstStyle/>
          <a:p>
            <a:pPr algn="ctr" indent="0" marL="0">
              <a:buNone/>
            </a:pPr>
            <a:r>
              <a:rPr lang="en-US" sz="1000" dirty="0">
                <a:solidFill>
                  <a:srgbClr val="3B82F6"/>
                </a:solidFill>
              </a:rPr>
              <a:t>▼</a:t>
            </a:r>
            <a:endParaRPr lang="en-US" sz="1000" dirty="0"/>
          </a:p>
        </p:txBody>
      </p:sp>
      <p:sp>
        <p:nvSpPr>
          <p:cNvPr id="34" name="Shape 32"/>
          <p:cNvSpPr/>
          <p:nvPr/>
        </p:nvSpPr>
        <p:spPr>
          <a:xfrm>
            <a:off x="457200" y="4114800"/>
            <a:ext cx="411480" cy="411480"/>
          </a:xfrm>
          <a:prstGeom prst="ellipse">
            <a:avLst/>
          </a:prstGeom>
          <a:solidFill>
            <a:srgbClr val="10B981"/>
          </a:solidFill>
          <a:ln/>
        </p:spPr>
      </p:sp>
      <p:sp>
        <p:nvSpPr>
          <p:cNvPr id="35" name="Text 33"/>
          <p:cNvSpPr/>
          <p:nvPr/>
        </p:nvSpPr>
        <p:spPr>
          <a:xfrm>
            <a:off x="457200" y="411480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6" name="Text 34"/>
          <p:cNvSpPr/>
          <p:nvPr/>
        </p:nvSpPr>
        <p:spPr>
          <a:xfrm>
            <a:off x="1005840" y="4069080"/>
            <a:ext cx="210312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Tests Updated</a:t>
            </a:r>
            <a:endParaRPr lang="en-US" sz="1200" dirty="0"/>
          </a:p>
        </p:txBody>
      </p:sp>
      <p:sp>
        <p:nvSpPr>
          <p:cNvPr id="37" name="Shape 35"/>
          <p:cNvSpPr/>
          <p:nvPr/>
        </p:nvSpPr>
        <p:spPr>
          <a:xfrm>
            <a:off x="3200400" y="4069080"/>
            <a:ext cx="5577840" cy="54864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38" name="Shape 36"/>
          <p:cNvSpPr/>
          <p:nvPr/>
        </p:nvSpPr>
        <p:spPr>
          <a:xfrm>
            <a:off x="3200400" y="4069080"/>
            <a:ext cx="36576" cy="548640"/>
          </a:xfrm>
          <a:prstGeom prst="rect">
            <a:avLst/>
          </a:prstGeom>
          <a:solidFill>
            <a:srgbClr val="10B981"/>
          </a:solidFill>
          <a:ln/>
        </p:spPr>
      </p:sp>
      <p:sp>
        <p:nvSpPr>
          <p:cNvPr id="39" name="Text 37"/>
          <p:cNvSpPr/>
          <p:nvPr/>
        </p:nvSpPr>
        <p:spPr>
          <a:xfrm>
            <a:off x="3337560" y="4069080"/>
            <a:ext cx="5303520" cy="54864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QA reviews test coverage against new AC.</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Update or generate new tests for changed stories.</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Regression suite updated. Run /check-implementation-readiness.</a:t>
            </a:r>
            <a:endParaRPr lang="en-US" sz="850" dirty="0"/>
          </a:p>
        </p:txBody>
      </p:sp>
      <p:sp>
        <p:nvSpPr>
          <p:cNvPr id="40" name="Text 38"/>
          <p:cNvSpPr/>
          <p:nvPr/>
        </p:nvSpPr>
        <p:spPr>
          <a:xfrm>
            <a:off x="274320" y="4709160"/>
            <a:ext cx="859536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Key rule: never update a downstream artifact without first updating its predecessors. Changes flow top-down.</a:t>
            </a:r>
            <a:endParaRPr lang="en-US" sz="1000" dirty="0"/>
          </a:p>
        </p:txBody>
      </p:sp>
      <p:sp>
        <p:nvSpPr>
          <p:cNvPr id="41" name="Text 39"/>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46 / 93</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Change Propagation: Bottom-Up</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When an architecture or implementation decision forces upstream changes</a:t>
            </a:r>
            <a:endParaRPr lang="en-US" sz="1200" dirty="0"/>
          </a:p>
        </p:txBody>
      </p:sp>
      <p:sp>
        <p:nvSpPr>
          <p:cNvPr id="5" name="Shape 3"/>
          <p:cNvSpPr/>
          <p:nvPr/>
        </p:nvSpPr>
        <p:spPr>
          <a:xfrm>
            <a:off x="457200" y="1234440"/>
            <a:ext cx="8229600" cy="9601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54864" cy="960120"/>
          </a:xfrm>
          <a:prstGeom prst="rect">
            <a:avLst/>
          </a:prstGeom>
          <a:solidFill>
            <a:srgbClr val="F59E0B"/>
          </a:solidFill>
          <a:ln/>
        </p:spPr>
      </p:sp>
      <p:sp>
        <p:nvSpPr>
          <p:cNvPr id="7" name="Shape 5"/>
          <p:cNvSpPr/>
          <p:nvPr/>
        </p:nvSpPr>
        <p:spPr>
          <a:xfrm>
            <a:off x="640080" y="1307592"/>
            <a:ext cx="1645920" cy="228600"/>
          </a:xfrm>
          <a:prstGeom prst="roundRect">
            <a:avLst>
              <a:gd name="adj" fmla="val 20000"/>
            </a:avLst>
          </a:prstGeom>
          <a:solidFill>
            <a:srgbClr val="F59E0B"/>
          </a:solidFill>
          <a:ln/>
        </p:spPr>
      </p:sp>
      <p:sp>
        <p:nvSpPr>
          <p:cNvPr id="8" name="Text 6"/>
          <p:cNvSpPr/>
          <p:nvPr/>
        </p:nvSpPr>
        <p:spPr>
          <a:xfrm>
            <a:off x="640080" y="1307592"/>
            <a:ext cx="164592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Architecture Change</a:t>
            </a:r>
            <a:endParaRPr lang="en-US" sz="900" dirty="0"/>
          </a:p>
        </p:txBody>
      </p:sp>
      <p:sp>
        <p:nvSpPr>
          <p:cNvPr id="9" name="Text 7"/>
          <p:cNvSpPr/>
          <p:nvPr/>
        </p:nvSpPr>
        <p:spPr>
          <a:xfrm>
            <a:off x="2377440" y="1280160"/>
            <a:ext cx="6126480" cy="27432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Architect discovers the chosen database can’t handle the required scale. Switches from PostgreSQL to a distributed DB.</a:t>
            </a:r>
            <a:endParaRPr lang="en-US" sz="900" dirty="0"/>
          </a:p>
        </p:txBody>
      </p:sp>
      <p:sp>
        <p:nvSpPr>
          <p:cNvPr id="10" name="Text 8"/>
          <p:cNvSpPr/>
          <p:nvPr/>
        </p:nvSpPr>
        <p:spPr>
          <a:xfrm>
            <a:off x="640080" y="1600200"/>
            <a:ext cx="7863840" cy="29260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Architecture.md updated → Check which PRD NFRs are affected → Update PRD if scope/constraints change → Review impacted epics (data layer stories) → Update or create new stories → Flag affected tests for regeneration</a:t>
            </a:r>
            <a:endParaRPr lang="en-US" sz="850" dirty="0"/>
          </a:p>
        </p:txBody>
      </p:sp>
      <p:sp>
        <p:nvSpPr>
          <p:cNvPr id="11" name="Text 9"/>
          <p:cNvSpPr/>
          <p:nvPr/>
        </p:nvSpPr>
        <p:spPr>
          <a:xfrm>
            <a:off x="640080" y="1920240"/>
            <a:ext cx="7863840" cy="201168"/>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/validate-architecture → /validate-prd → /validate-epics-and-stories</a:t>
            </a:r>
            <a:endParaRPr lang="en-US" sz="800" dirty="0"/>
          </a:p>
        </p:txBody>
      </p:sp>
      <p:sp>
        <p:nvSpPr>
          <p:cNvPr id="12" name="Shape 10"/>
          <p:cNvSpPr/>
          <p:nvPr/>
        </p:nvSpPr>
        <p:spPr>
          <a:xfrm>
            <a:off x="457200" y="2331720"/>
            <a:ext cx="8229600" cy="9601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3" name="Shape 11"/>
          <p:cNvSpPr/>
          <p:nvPr/>
        </p:nvSpPr>
        <p:spPr>
          <a:xfrm>
            <a:off x="457200" y="2331720"/>
            <a:ext cx="54864" cy="960120"/>
          </a:xfrm>
          <a:prstGeom prst="rect">
            <a:avLst/>
          </a:prstGeom>
          <a:solidFill>
            <a:srgbClr val="EF4444"/>
          </a:solidFill>
          <a:ln/>
        </p:spPr>
      </p:sp>
      <p:sp>
        <p:nvSpPr>
          <p:cNvPr id="14" name="Shape 12"/>
          <p:cNvSpPr/>
          <p:nvPr/>
        </p:nvSpPr>
        <p:spPr>
          <a:xfrm>
            <a:off x="640080" y="2404872"/>
            <a:ext cx="1645920" cy="228600"/>
          </a:xfrm>
          <a:prstGeom prst="roundRect">
            <a:avLst>
              <a:gd name="adj" fmla="val 20000"/>
            </a:avLst>
          </a:prstGeom>
          <a:solidFill>
            <a:srgbClr val="EF4444"/>
          </a:solidFill>
          <a:ln/>
        </p:spPr>
      </p:sp>
      <p:sp>
        <p:nvSpPr>
          <p:cNvPr id="15" name="Text 13"/>
          <p:cNvSpPr/>
          <p:nvPr/>
        </p:nvSpPr>
        <p:spPr>
          <a:xfrm>
            <a:off x="640080" y="2404872"/>
            <a:ext cx="164592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Implementation Discovery</a:t>
            </a:r>
            <a:endParaRPr lang="en-US" sz="900" dirty="0"/>
          </a:p>
        </p:txBody>
      </p:sp>
      <p:sp>
        <p:nvSpPr>
          <p:cNvPr id="16" name="Text 14"/>
          <p:cNvSpPr/>
          <p:nvPr/>
        </p:nvSpPr>
        <p:spPr>
          <a:xfrm>
            <a:off x="2377440" y="2377440"/>
            <a:ext cx="6126480" cy="27432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During /dev-story, developer discovers a 3rd-party API doesn’t support a feature assumed in the architecture.</a:t>
            </a:r>
            <a:endParaRPr lang="en-US" sz="900" dirty="0"/>
          </a:p>
        </p:txBody>
      </p:sp>
      <p:sp>
        <p:nvSpPr>
          <p:cNvPr id="17" name="Text 15"/>
          <p:cNvSpPr/>
          <p:nvPr/>
        </p:nvSpPr>
        <p:spPr>
          <a:xfrm>
            <a:off x="640080" y="2697480"/>
            <a:ext cx="7863840" cy="29260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Stop development → Switch to Architect agent → Update architecture.md with new approach → PM reviews if PRD requirements are still achievable → Update affected stories → Resume development with corrected context</a:t>
            </a:r>
            <a:endParaRPr lang="en-US" sz="850" dirty="0"/>
          </a:p>
        </p:txBody>
      </p:sp>
      <p:sp>
        <p:nvSpPr>
          <p:cNvPr id="18" name="Text 16"/>
          <p:cNvSpPr/>
          <p:nvPr/>
        </p:nvSpPr>
        <p:spPr>
          <a:xfrm>
            <a:off x="640080" y="3017520"/>
            <a:ext cx="7863840" cy="201168"/>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Switch agent → /validate-architecture → /check-implementation-readiness</a:t>
            </a:r>
            <a:endParaRPr lang="en-US" sz="800" dirty="0"/>
          </a:p>
        </p:txBody>
      </p:sp>
      <p:sp>
        <p:nvSpPr>
          <p:cNvPr id="19" name="Shape 17"/>
          <p:cNvSpPr/>
          <p:nvPr/>
        </p:nvSpPr>
        <p:spPr>
          <a:xfrm>
            <a:off x="457200" y="3429000"/>
            <a:ext cx="8229600" cy="9601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0" name="Shape 18"/>
          <p:cNvSpPr/>
          <p:nvPr/>
        </p:nvSpPr>
        <p:spPr>
          <a:xfrm>
            <a:off x="457200" y="3429000"/>
            <a:ext cx="54864" cy="960120"/>
          </a:xfrm>
          <a:prstGeom prst="rect">
            <a:avLst/>
          </a:prstGeom>
          <a:solidFill>
            <a:srgbClr val="8B5CF6"/>
          </a:solidFill>
          <a:ln/>
        </p:spPr>
      </p:sp>
      <p:sp>
        <p:nvSpPr>
          <p:cNvPr id="21" name="Shape 19"/>
          <p:cNvSpPr/>
          <p:nvPr/>
        </p:nvSpPr>
        <p:spPr>
          <a:xfrm>
            <a:off x="640080" y="3502152"/>
            <a:ext cx="1645920" cy="228600"/>
          </a:xfrm>
          <a:prstGeom prst="roundRect">
            <a:avLst>
              <a:gd name="adj" fmla="val 20000"/>
            </a:avLst>
          </a:prstGeom>
          <a:solidFill>
            <a:srgbClr val="8B5CF6"/>
          </a:solidFill>
          <a:ln/>
        </p:spPr>
      </p:sp>
      <p:sp>
        <p:nvSpPr>
          <p:cNvPr id="22" name="Text 20"/>
          <p:cNvSpPr/>
          <p:nvPr/>
        </p:nvSpPr>
        <p:spPr>
          <a:xfrm>
            <a:off x="640080" y="3502152"/>
            <a:ext cx="164592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Test Failure Reveals Design Flaw</a:t>
            </a:r>
            <a:endParaRPr lang="en-US" sz="900" dirty="0"/>
          </a:p>
        </p:txBody>
      </p:sp>
      <p:sp>
        <p:nvSpPr>
          <p:cNvPr id="23" name="Text 21"/>
          <p:cNvSpPr/>
          <p:nvPr/>
        </p:nvSpPr>
        <p:spPr>
          <a:xfrm>
            <a:off x="2377440" y="3474720"/>
            <a:ext cx="6126480" cy="274320"/>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E2E tests consistently fail because the UX flow assumed a synchronous API that’s actually async.</a:t>
            </a:r>
            <a:endParaRPr lang="en-US" sz="900" dirty="0"/>
          </a:p>
        </p:txBody>
      </p:sp>
      <p:sp>
        <p:nvSpPr>
          <p:cNvPr id="24" name="Text 22"/>
          <p:cNvSpPr/>
          <p:nvPr/>
        </p:nvSpPr>
        <p:spPr>
          <a:xfrm>
            <a:off x="640080" y="3794760"/>
            <a:ext cx="7863840" cy="29260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QA flags the issue → Architect updates design for async pattern → UX Designer updates affected flows → Stories updated with new AC → Tests regenerated from corrected AC</a:t>
            </a:r>
            <a:endParaRPr lang="en-US" sz="850" dirty="0"/>
          </a:p>
        </p:txBody>
      </p:sp>
      <p:sp>
        <p:nvSpPr>
          <p:cNvPr id="25" name="Text 23"/>
          <p:cNvSpPr/>
          <p:nvPr/>
        </p:nvSpPr>
        <p:spPr>
          <a:xfrm>
            <a:off x="640080" y="4114800"/>
            <a:ext cx="7863840" cy="201168"/>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/validate-architecture → validate UX → /validate-epics-and-stories</a:t>
            </a:r>
            <a:endParaRPr lang="en-US" sz="800" dirty="0"/>
          </a:p>
        </p:txBody>
      </p:sp>
      <p:sp>
        <p:nvSpPr>
          <p:cNvPr id="26" name="Shape 24"/>
          <p:cNvSpPr/>
          <p:nvPr/>
        </p:nvSpPr>
        <p:spPr>
          <a:xfrm>
            <a:off x="457200" y="4526280"/>
            <a:ext cx="8229600" cy="457200"/>
          </a:xfrm>
          <a:prstGeom prst="rect">
            <a:avLst/>
          </a:prstGeom>
          <a:solidFill>
            <a:srgbClr val="7F1D1D"/>
          </a:solidFill>
          <a:ln/>
        </p:spPr>
      </p:sp>
      <p:sp>
        <p:nvSpPr>
          <p:cNvPr id="27" name="Text 25"/>
          <p:cNvSpPr/>
          <p:nvPr/>
        </p:nvSpPr>
        <p:spPr>
          <a:xfrm>
            <a:off x="640080" y="4544568"/>
            <a:ext cx="7863840" cy="411480"/>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Critical Rule: Never fix downstream without updating upstream first. If the architecture changes, update the architecture document BEFORE modifying stories or code. Otherwise, the next agent session will use stale context and re-introduce the old design.</a:t>
            </a:r>
            <a:endParaRPr lang="en-US" sz="950" dirty="0"/>
          </a:p>
        </p:txBody>
      </p:sp>
      <p:sp>
        <p:nvSpPr>
          <p:cNvPr id="28" name="Text 2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47 / 93</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F59E0B"/>
          </a:solidFill>
          <a:ln/>
        </p:spPr>
      </p:sp>
      <p:sp>
        <p:nvSpPr>
          <p:cNvPr id="4" name="Shape 2"/>
          <p:cNvSpPr/>
          <p:nvPr/>
        </p:nvSpPr>
        <p:spPr>
          <a:xfrm>
            <a:off x="457200" y="1645920"/>
            <a:ext cx="8229600" cy="36576"/>
          </a:xfrm>
          <a:prstGeom prst="rect">
            <a:avLst/>
          </a:prstGeom>
          <a:solidFill>
            <a:srgbClr val="F59E0B"/>
          </a:solidFill>
          <a:ln/>
        </p:spPr>
      </p:sp>
      <p:sp>
        <p:nvSpPr>
          <p:cNvPr id="5" name="Text 3"/>
          <p:cNvSpPr/>
          <p:nvPr/>
        </p:nvSpPr>
        <p:spPr>
          <a:xfrm>
            <a:off x="457200" y="1828800"/>
            <a:ext cx="8229600" cy="731520"/>
          </a:xfrm>
          <a:prstGeom prst="rect">
            <a:avLst/>
          </a:prstGeom>
          <a:noFill/>
          <a:ln/>
        </p:spPr>
        <p:txBody>
          <a:bodyPr wrap="square" rtlCol="0" anchor="ctr"/>
          <a:lstStyle/>
          <a:p>
            <a:pPr algn="ctr" indent="0" marL="0">
              <a:buNone/>
            </a:pPr>
            <a:r>
              <a:rPr lang="en-US" sz="4000" b="1" dirty="0">
                <a:solidFill>
                  <a:srgbClr val="FFFFFF"/>
                </a:solidFill>
              </a:rPr>
              <a:t>Working with Existing Projects</a:t>
            </a:r>
            <a:endParaRPr lang="en-US" sz="40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200" dirty="0">
                <a:solidFill>
                  <a:srgbClr val="FCD34D"/>
                </a:solidFill>
              </a:rPr>
              <a:t>Three Approaches — From Quick Fix to Full Adoption</a:t>
            </a:r>
            <a:endParaRPr lang="en-US" sz="2200" dirty="0"/>
          </a:p>
        </p:txBody>
      </p:sp>
      <p:sp>
        <p:nvSpPr>
          <p:cNvPr id="7" name="Shape 5"/>
          <p:cNvSpPr/>
          <p:nvPr/>
        </p:nvSpPr>
        <p:spPr>
          <a:xfrm>
            <a:off x="457200" y="3200400"/>
            <a:ext cx="8229600" cy="36576"/>
          </a:xfrm>
          <a:prstGeom prst="rect">
            <a:avLst/>
          </a:prstGeom>
          <a:solidFill>
            <a:srgbClr val="F59E0B"/>
          </a:solidFill>
          <a:ln/>
        </p:spPr>
      </p:sp>
      <p:sp>
        <p:nvSpPr>
          <p:cNvPr id="8" name="Text 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48 / 93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Choosing Your Approach</a:t>
            </a:r>
            <a:endParaRPr lang="en-US" sz="2600" dirty="0"/>
          </a:p>
        </p:txBody>
      </p:sp>
      <p:sp>
        <p:nvSpPr>
          <p:cNvPr id="5" name="Shape 3"/>
          <p:cNvSpPr/>
          <p:nvPr/>
        </p:nvSpPr>
        <p:spPr>
          <a:xfrm>
            <a:off x="274320" y="1005840"/>
            <a:ext cx="8595360" cy="457200"/>
          </a:xfrm>
          <a:prstGeom prst="rect">
            <a:avLst/>
          </a:prstGeom>
          <a:solidFill>
            <a:srgbClr val="0F1B2D"/>
          </a:solidFill>
          <a:ln/>
        </p:spPr>
      </p:sp>
      <p:sp>
        <p:nvSpPr>
          <p:cNvPr id="6" name="Text 4"/>
          <p:cNvSpPr/>
          <p:nvPr/>
        </p:nvSpPr>
        <p:spPr>
          <a:xfrm>
            <a:off x="457200" y="1005840"/>
            <a:ext cx="8229600" cy="457200"/>
          </a:xfrm>
          <a:prstGeom prst="rect">
            <a:avLst/>
          </a:prstGeom>
          <a:noFill/>
          <a:ln/>
        </p:spPr>
        <p:txBody>
          <a:bodyPr wrap="square" lIns="0" tIns="0" rIns="0" bIns="0" rtlCol="0" anchor="ctr"/>
          <a:lstStyle/>
          <a:p>
            <a:pPr indent="0" marL="0">
              <a:buNone/>
            </a:pPr>
            <a:r>
              <a:rPr lang="en-US" sz="1100" dirty="0">
                <a:solidFill>
                  <a:srgbClr val="14B8A6"/>
                </a:solidFill>
                <a:latin typeface="Calibri" pitchFamily="34" charset="0"/>
                <a:ea typeface="Calibri" pitchFamily="34" charset="-122"/>
                <a:cs typeface="Calibri" pitchFamily="34" charset="-120"/>
              </a:rPr>
              <a:t>Most of our software work is on existing projects. BMAD supports three approaches based on scope and familiarity.</a:t>
            </a:r>
            <a:endParaRPr lang="en-US" sz="1100" dirty="0"/>
          </a:p>
        </p:txBody>
      </p:sp>
      <p:sp>
        <p:nvSpPr>
          <p:cNvPr id="7" name="Shape 5"/>
          <p:cNvSpPr/>
          <p:nvPr/>
        </p:nvSpPr>
        <p:spPr>
          <a:xfrm>
            <a:off x="274320" y="1645920"/>
            <a:ext cx="26974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274320" y="1645920"/>
            <a:ext cx="2697480" cy="640080"/>
          </a:xfrm>
          <a:prstGeom prst="rect">
            <a:avLst/>
          </a:prstGeom>
          <a:solidFill>
            <a:srgbClr val="10B981"/>
          </a:solidFill>
          <a:ln/>
        </p:spPr>
      </p:sp>
      <p:sp>
        <p:nvSpPr>
          <p:cNvPr id="9" name="Text 7"/>
          <p:cNvSpPr/>
          <p:nvPr/>
        </p:nvSpPr>
        <p:spPr>
          <a:xfrm>
            <a:off x="274320" y="1645920"/>
            <a:ext cx="2697480"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Quick Work</a:t>
            </a:r>
            <a:endParaRPr lang="en-US" sz="1500" dirty="0"/>
          </a:p>
        </p:txBody>
      </p:sp>
      <p:sp>
        <p:nvSpPr>
          <p:cNvPr id="10" name="Text 8"/>
          <p:cNvSpPr/>
          <p:nvPr/>
        </p:nvSpPr>
        <p:spPr>
          <a:xfrm>
            <a:off x="274320" y="2011680"/>
            <a:ext cx="2697480" cy="256032"/>
          </a:xfrm>
          <a:prstGeom prst="rect">
            <a:avLst/>
          </a:prstGeom>
          <a:noFill/>
          <a:ln/>
        </p:spPr>
        <p:txBody>
          <a:bodyPr wrap="square" rtlCol="0" anchor="ctr"/>
          <a:lstStyle/>
          <a:p>
            <a:pPr algn="ctr" indent="0" marL="0">
              <a:buNone/>
            </a:pPr>
            <a:r>
              <a:rPr lang="en-US" sz="850" dirty="0">
                <a:solidFill>
                  <a:srgbClr val="F8FAFC"/>
                </a:solidFill>
                <a:latin typeface="Calibri" pitchFamily="34" charset="0"/>
                <a:ea typeface="Calibri" pitchFamily="34" charset="-122"/>
                <a:cs typeface="Calibri" pitchFamily="34" charset="-120"/>
              </a:rPr>
              <a:t>Bug fix, small feature</a:t>
            </a:r>
            <a:endParaRPr lang="en-US" sz="850" dirty="0"/>
          </a:p>
          <a:p>
            <a:pPr algn="ctr" indent="0" marL="0">
              <a:buNone/>
            </a:pPr>
            <a:r>
              <a:rPr lang="en-US" sz="850" dirty="0">
                <a:solidFill>
                  <a:srgbClr val="F8FAFC"/>
                </a:solidFill>
                <a:latin typeface="Calibri" pitchFamily="34" charset="0"/>
                <a:ea typeface="Calibri" pitchFamily="34" charset="-122"/>
                <a:cs typeface="Calibri" pitchFamily="34" charset="-120"/>
              </a:rPr>
              <a:t>&lt; 1 sprint</a:t>
            </a:r>
            <a:endParaRPr lang="en-US" sz="850" dirty="0"/>
          </a:p>
        </p:txBody>
      </p:sp>
      <p:sp>
        <p:nvSpPr>
          <p:cNvPr id="11" name="Text 9"/>
          <p:cNvSpPr/>
          <p:nvPr/>
        </p:nvSpPr>
        <p:spPr>
          <a:xfrm>
            <a:off x="365760" y="2377440"/>
            <a:ext cx="54864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When:</a:t>
            </a:r>
            <a:endParaRPr lang="en-US" sz="900" dirty="0"/>
          </a:p>
        </p:txBody>
      </p:sp>
      <p:sp>
        <p:nvSpPr>
          <p:cNvPr id="12" name="Text 10"/>
          <p:cNvSpPr/>
          <p:nvPr/>
        </p:nvSpPr>
        <p:spPr>
          <a:xfrm>
            <a:off x="365760" y="2560320"/>
            <a:ext cx="2468880" cy="64008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You know exactly what to fix/add.</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No architecture decisions needed.</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Well-scoped, clear requirements.</a:t>
            </a:r>
            <a:endParaRPr lang="en-US" sz="850" dirty="0"/>
          </a:p>
        </p:txBody>
      </p:sp>
      <p:sp>
        <p:nvSpPr>
          <p:cNvPr id="13" name="Text 11"/>
          <p:cNvSpPr/>
          <p:nvPr/>
        </p:nvSpPr>
        <p:spPr>
          <a:xfrm>
            <a:off x="365760" y="3200400"/>
            <a:ext cx="82296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Commands:</a:t>
            </a:r>
            <a:endParaRPr lang="en-US" sz="900" dirty="0"/>
          </a:p>
        </p:txBody>
      </p:sp>
      <p:sp>
        <p:nvSpPr>
          <p:cNvPr id="14" name="Text 12"/>
          <p:cNvSpPr/>
          <p:nvPr/>
        </p:nvSpPr>
        <p:spPr>
          <a:xfrm>
            <a:off x="365760" y="3383280"/>
            <a:ext cx="2468880" cy="457200"/>
          </a:xfrm>
          <a:prstGeom prst="rect">
            <a:avLst/>
          </a:prstGeom>
          <a:noFill/>
          <a:ln/>
        </p:spPr>
        <p:txBody>
          <a:bodyPr wrap="square" lIns="0" tIns="0" rIns="0" bIns="0" rtlCol="0" anchor="t"/>
          <a:lstStyle/>
          <a:p>
            <a:pPr indent="0" marL="0">
              <a:buNone/>
            </a:pPr>
            <a:r>
              <a:rPr lang="en-US" sz="750" dirty="0">
                <a:solidFill>
                  <a:srgbClr val="0D9488"/>
                </a:solidFill>
                <a:latin typeface="Consolas" pitchFamily="34" charset="0"/>
                <a:ea typeface="Consolas" pitchFamily="34" charset="-122"/>
                <a:cs typeface="Consolas" pitchFamily="34" charset="-120"/>
              </a:rPr>
              <a:t>/quick-spec → /quick-dev</a:t>
            </a:r>
            <a:endParaRPr lang="en-US" sz="750" dirty="0"/>
          </a:p>
          <a:p>
            <a:pPr indent="0" marL="0">
              <a:buNone/>
            </a:pPr>
            <a:r>
              <a:rPr lang="en-US" sz="750" dirty="0">
                <a:solidFill>
                  <a:srgbClr val="0D9488"/>
                </a:solidFill>
                <a:latin typeface="Consolas" pitchFamily="34" charset="0"/>
                <a:ea typeface="Consolas" pitchFamily="34" charset="-122"/>
                <a:cs typeface="Consolas" pitchFamily="34" charset="-120"/>
              </a:rPr>
              <a:t>or *create-brownfield-story</a:t>
            </a:r>
            <a:endParaRPr lang="en-US" sz="750" dirty="0"/>
          </a:p>
        </p:txBody>
      </p:sp>
      <p:sp>
        <p:nvSpPr>
          <p:cNvPr id="15" name="Text 13"/>
          <p:cNvSpPr/>
          <p:nvPr/>
        </p:nvSpPr>
        <p:spPr>
          <a:xfrm>
            <a:off x="365760" y="3840480"/>
            <a:ext cx="54864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Result:</a:t>
            </a:r>
            <a:endParaRPr lang="en-US" sz="900" dirty="0"/>
          </a:p>
        </p:txBody>
      </p:sp>
      <p:sp>
        <p:nvSpPr>
          <p:cNvPr id="16" name="Text 14"/>
          <p:cNvSpPr/>
          <p:nvPr/>
        </p:nvSpPr>
        <p:spPr>
          <a:xfrm>
            <a:off x="365760" y="4023360"/>
            <a:ext cx="2468880" cy="36576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Working code in hours.</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No documentation overhead.</a:t>
            </a:r>
            <a:endParaRPr lang="en-US" sz="850" dirty="0"/>
          </a:p>
        </p:txBody>
      </p:sp>
      <p:sp>
        <p:nvSpPr>
          <p:cNvPr id="17" name="Shape 15"/>
          <p:cNvSpPr/>
          <p:nvPr/>
        </p:nvSpPr>
        <p:spPr>
          <a:xfrm>
            <a:off x="3154680" y="1645920"/>
            <a:ext cx="26974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3154680" y="1645920"/>
            <a:ext cx="2697480" cy="640080"/>
          </a:xfrm>
          <a:prstGeom prst="rect">
            <a:avLst/>
          </a:prstGeom>
          <a:solidFill>
            <a:srgbClr val="3B82F6"/>
          </a:solidFill>
          <a:ln/>
        </p:spPr>
      </p:sp>
      <p:sp>
        <p:nvSpPr>
          <p:cNvPr id="19" name="Text 17"/>
          <p:cNvSpPr/>
          <p:nvPr/>
        </p:nvSpPr>
        <p:spPr>
          <a:xfrm>
            <a:off x="3154680" y="1645920"/>
            <a:ext cx="2697480"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Document-First</a:t>
            </a:r>
            <a:endParaRPr lang="en-US" sz="1500" dirty="0"/>
          </a:p>
        </p:txBody>
      </p:sp>
      <p:sp>
        <p:nvSpPr>
          <p:cNvPr id="20" name="Text 18"/>
          <p:cNvSpPr/>
          <p:nvPr/>
        </p:nvSpPr>
        <p:spPr>
          <a:xfrm>
            <a:off x="3154680" y="2011680"/>
            <a:ext cx="2697480" cy="256032"/>
          </a:xfrm>
          <a:prstGeom prst="rect">
            <a:avLst/>
          </a:prstGeom>
          <a:noFill/>
          <a:ln/>
        </p:spPr>
        <p:txBody>
          <a:bodyPr wrap="square" rtlCol="0" anchor="ctr"/>
          <a:lstStyle/>
          <a:p>
            <a:pPr algn="ctr" indent="0" marL="0">
              <a:buNone/>
            </a:pPr>
            <a:r>
              <a:rPr lang="en-US" sz="850" dirty="0">
                <a:solidFill>
                  <a:srgbClr val="F8FAFC"/>
                </a:solidFill>
                <a:latin typeface="Calibri" pitchFamily="34" charset="0"/>
                <a:ea typeface="Calibri" pitchFamily="34" charset="-122"/>
                <a:cs typeface="Calibri" pitchFamily="34" charset="-120"/>
              </a:rPr>
              <a:t>Unknown / legacy system</a:t>
            </a:r>
            <a:endParaRPr lang="en-US" sz="850" dirty="0"/>
          </a:p>
          <a:p>
            <a:pPr algn="ctr" indent="0" marL="0">
              <a:buNone/>
            </a:pPr>
            <a:r>
              <a:rPr lang="en-US" sz="850" dirty="0">
                <a:solidFill>
                  <a:srgbClr val="F8FAFC"/>
                </a:solidFill>
                <a:latin typeface="Calibri" pitchFamily="34" charset="0"/>
                <a:ea typeface="Calibri" pitchFamily="34" charset="-122"/>
                <a:cs typeface="Calibri" pitchFamily="34" charset="-120"/>
              </a:rPr>
              <a:t>Full documentation</a:t>
            </a:r>
            <a:endParaRPr lang="en-US" sz="850" dirty="0"/>
          </a:p>
        </p:txBody>
      </p:sp>
      <p:sp>
        <p:nvSpPr>
          <p:cNvPr id="21" name="Text 19"/>
          <p:cNvSpPr/>
          <p:nvPr/>
        </p:nvSpPr>
        <p:spPr>
          <a:xfrm>
            <a:off x="3246120" y="2377440"/>
            <a:ext cx="548640" cy="182880"/>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When:</a:t>
            </a:r>
            <a:endParaRPr lang="en-US" sz="900" dirty="0"/>
          </a:p>
        </p:txBody>
      </p:sp>
      <p:sp>
        <p:nvSpPr>
          <p:cNvPr id="22" name="Text 20"/>
          <p:cNvSpPr/>
          <p:nvPr/>
        </p:nvSpPr>
        <p:spPr>
          <a:xfrm>
            <a:off x="3246120" y="2560320"/>
            <a:ext cx="2468880" cy="64008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Unfamiliar codebase.</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New team on existing project.</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System needs full visibility</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before planning new features.</a:t>
            </a:r>
            <a:endParaRPr lang="en-US" sz="850" dirty="0"/>
          </a:p>
        </p:txBody>
      </p:sp>
      <p:sp>
        <p:nvSpPr>
          <p:cNvPr id="23" name="Text 21"/>
          <p:cNvSpPr/>
          <p:nvPr/>
        </p:nvSpPr>
        <p:spPr>
          <a:xfrm>
            <a:off x="3246120" y="3200400"/>
            <a:ext cx="822960" cy="182880"/>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Commands:</a:t>
            </a:r>
            <a:endParaRPr lang="en-US" sz="900" dirty="0"/>
          </a:p>
        </p:txBody>
      </p:sp>
      <p:sp>
        <p:nvSpPr>
          <p:cNvPr id="24" name="Text 22"/>
          <p:cNvSpPr/>
          <p:nvPr/>
        </p:nvSpPr>
        <p:spPr>
          <a:xfrm>
            <a:off x="3246120" y="3383280"/>
            <a:ext cx="2468880" cy="457200"/>
          </a:xfrm>
          <a:prstGeom prst="rect">
            <a:avLst/>
          </a:prstGeom>
          <a:noFill/>
          <a:ln/>
        </p:spPr>
        <p:txBody>
          <a:bodyPr wrap="square" lIns="0" tIns="0" rIns="0" bIns="0" rtlCol="0" anchor="t"/>
          <a:lstStyle/>
          <a:p>
            <a:pPr indent="0" marL="0">
              <a:buNone/>
            </a:pPr>
            <a:r>
              <a:rPr lang="en-US" sz="750" dirty="0">
                <a:solidFill>
                  <a:srgbClr val="0D9488"/>
                </a:solidFill>
                <a:latin typeface="Consolas" pitchFamily="34" charset="0"/>
                <a:ea typeface="Consolas" pitchFamily="34" charset="-122"/>
                <a:cs typeface="Consolas" pitchFamily="34" charset="-120"/>
              </a:rPr>
              <a:t>npx bmad-method flatten</a:t>
            </a:r>
            <a:endParaRPr lang="en-US" sz="750" dirty="0"/>
          </a:p>
          <a:p>
            <a:pPr indent="0" marL="0">
              <a:buNone/>
            </a:pPr>
            <a:r>
              <a:rPr lang="en-US" sz="750" dirty="0">
                <a:solidFill>
                  <a:srgbClr val="0D9488"/>
                </a:solidFill>
                <a:latin typeface="Consolas" pitchFamily="34" charset="0"/>
                <a:ea typeface="Consolas" pitchFamily="34" charset="-122"/>
                <a:cs typeface="Consolas" pitchFamily="34" charset="-120"/>
              </a:rPr>
              <a:t>*document-project → /create-prd</a:t>
            </a:r>
            <a:endParaRPr lang="en-US" sz="750" dirty="0"/>
          </a:p>
          <a:p>
            <a:pPr indent="0" marL="0">
              <a:buNone/>
            </a:pPr>
            <a:r>
              <a:rPr lang="en-US" sz="750" dirty="0">
                <a:solidFill>
                  <a:srgbClr val="0D9488"/>
                </a:solidFill>
                <a:latin typeface="Consolas" pitchFamily="34" charset="0"/>
                <a:ea typeface="Consolas" pitchFamily="34" charset="-122"/>
                <a:cs typeface="Consolas" pitchFamily="34" charset="-120"/>
              </a:rPr>
              <a:t>→ /create-architecture</a:t>
            </a:r>
            <a:endParaRPr lang="en-US" sz="750" dirty="0"/>
          </a:p>
        </p:txBody>
      </p:sp>
      <p:sp>
        <p:nvSpPr>
          <p:cNvPr id="25" name="Text 23"/>
          <p:cNvSpPr/>
          <p:nvPr/>
        </p:nvSpPr>
        <p:spPr>
          <a:xfrm>
            <a:off x="3246120" y="3840480"/>
            <a:ext cx="548640" cy="182880"/>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Result:</a:t>
            </a:r>
            <a:endParaRPr lang="en-US" sz="900" dirty="0"/>
          </a:p>
        </p:txBody>
      </p:sp>
      <p:sp>
        <p:nvSpPr>
          <p:cNvPr id="26" name="Text 24"/>
          <p:cNvSpPr/>
          <p:nvPr/>
        </p:nvSpPr>
        <p:spPr>
          <a:xfrm>
            <a:off x="3246120" y="4023360"/>
            <a:ext cx="2468880" cy="36576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Full system documentation.</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Then standard BMAD flow.</a:t>
            </a:r>
            <a:endParaRPr lang="en-US" sz="850" dirty="0"/>
          </a:p>
        </p:txBody>
      </p:sp>
      <p:sp>
        <p:nvSpPr>
          <p:cNvPr id="27" name="Shape 25"/>
          <p:cNvSpPr/>
          <p:nvPr/>
        </p:nvSpPr>
        <p:spPr>
          <a:xfrm>
            <a:off x="6035040" y="1645920"/>
            <a:ext cx="2697480" cy="3200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8" name="Shape 26"/>
          <p:cNvSpPr/>
          <p:nvPr/>
        </p:nvSpPr>
        <p:spPr>
          <a:xfrm>
            <a:off x="6035040" y="1645920"/>
            <a:ext cx="2697480" cy="640080"/>
          </a:xfrm>
          <a:prstGeom prst="rect">
            <a:avLst/>
          </a:prstGeom>
          <a:solidFill>
            <a:srgbClr val="F59E0B"/>
          </a:solidFill>
          <a:ln/>
        </p:spPr>
      </p:sp>
      <p:sp>
        <p:nvSpPr>
          <p:cNvPr id="29" name="Text 27"/>
          <p:cNvSpPr/>
          <p:nvPr/>
        </p:nvSpPr>
        <p:spPr>
          <a:xfrm>
            <a:off x="6035040" y="1645920"/>
            <a:ext cx="2697480"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Incremental (PRD-First)</a:t>
            </a:r>
            <a:endParaRPr lang="en-US" sz="1500" dirty="0"/>
          </a:p>
        </p:txBody>
      </p:sp>
      <p:sp>
        <p:nvSpPr>
          <p:cNvPr id="30" name="Text 28"/>
          <p:cNvSpPr/>
          <p:nvPr/>
        </p:nvSpPr>
        <p:spPr>
          <a:xfrm>
            <a:off x="6035040" y="2011680"/>
            <a:ext cx="2697480" cy="256032"/>
          </a:xfrm>
          <a:prstGeom prst="rect">
            <a:avLst/>
          </a:prstGeom>
          <a:noFill/>
          <a:ln/>
        </p:spPr>
        <p:txBody>
          <a:bodyPr wrap="square" rtlCol="0" anchor="ctr"/>
          <a:lstStyle/>
          <a:p>
            <a:pPr algn="ctr" indent="0" marL="0">
              <a:buNone/>
            </a:pPr>
            <a:r>
              <a:rPr lang="en-US" sz="850" dirty="0">
                <a:solidFill>
                  <a:srgbClr val="F8FAFC"/>
                </a:solidFill>
                <a:latin typeface="Calibri" pitchFamily="34" charset="0"/>
                <a:ea typeface="Calibri" pitchFamily="34" charset="-122"/>
                <a:cs typeface="Calibri" pitchFamily="34" charset="-120"/>
              </a:rPr>
              <a:t>Large known codebase</a:t>
            </a:r>
            <a:endParaRPr lang="en-US" sz="850" dirty="0"/>
          </a:p>
          <a:p>
            <a:pPr algn="ctr" indent="0" marL="0">
              <a:buNone/>
            </a:pPr>
            <a:r>
              <a:rPr lang="en-US" sz="850" dirty="0">
                <a:solidFill>
                  <a:srgbClr val="F8FAFC"/>
                </a:solidFill>
                <a:latin typeface="Calibri" pitchFamily="34" charset="0"/>
                <a:ea typeface="Calibri" pitchFamily="34" charset="-122"/>
                <a:cs typeface="Calibri" pitchFamily="34" charset="-120"/>
              </a:rPr>
              <a:t>New features</a:t>
            </a:r>
            <a:endParaRPr lang="en-US" sz="850" dirty="0"/>
          </a:p>
        </p:txBody>
      </p:sp>
      <p:sp>
        <p:nvSpPr>
          <p:cNvPr id="31" name="Text 29"/>
          <p:cNvSpPr/>
          <p:nvPr/>
        </p:nvSpPr>
        <p:spPr>
          <a:xfrm>
            <a:off x="6126480" y="2377440"/>
            <a:ext cx="548640" cy="18288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When:</a:t>
            </a:r>
            <a:endParaRPr lang="en-US" sz="900" dirty="0"/>
          </a:p>
        </p:txBody>
      </p:sp>
      <p:sp>
        <p:nvSpPr>
          <p:cNvPr id="32" name="Text 30"/>
          <p:cNvSpPr/>
          <p:nvPr/>
        </p:nvSpPr>
        <p:spPr>
          <a:xfrm>
            <a:off x="6126480" y="2560320"/>
            <a:ext cx="2468880" cy="64008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You know the system well.</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You know what to build next.</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Large codebase — don’t</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document everything at once.</a:t>
            </a:r>
            <a:endParaRPr lang="en-US" sz="850" dirty="0"/>
          </a:p>
        </p:txBody>
      </p:sp>
      <p:sp>
        <p:nvSpPr>
          <p:cNvPr id="33" name="Text 31"/>
          <p:cNvSpPr/>
          <p:nvPr/>
        </p:nvSpPr>
        <p:spPr>
          <a:xfrm>
            <a:off x="6126480" y="3200400"/>
            <a:ext cx="822960" cy="18288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Commands:</a:t>
            </a:r>
            <a:endParaRPr lang="en-US" sz="900" dirty="0"/>
          </a:p>
        </p:txBody>
      </p:sp>
      <p:sp>
        <p:nvSpPr>
          <p:cNvPr id="34" name="Text 32"/>
          <p:cNvSpPr/>
          <p:nvPr/>
        </p:nvSpPr>
        <p:spPr>
          <a:xfrm>
            <a:off x="6126480" y="3383280"/>
            <a:ext cx="2468880" cy="457200"/>
          </a:xfrm>
          <a:prstGeom prst="rect">
            <a:avLst/>
          </a:prstGeom>
          <a:noFill/>
          <a:ln/>
        </p:spPr>
        <p:txBody>
          <a:bodyPr wrap="square" lIns="0" tIns="0" rIns="0" bIns="0" rtlCol="0" anchor="t"/>
          <a:lstStyle/>
          <a:p>
            <a:pPr indent="0" marL="0">
              <a:buNone/>
            </a:pPr>
            <a:r>
              <a:rPr lang="en-US" sz="750" dirty="0">
                <a:solidFill>
                  <a:srgbClr val="0D9488"/>
                </a:solidFill>
                <a:latin typeface="Consolas" pitchFamily="34" charset="0"/>
                <a:ea typeface="Consolas" pitchFamily="34" charset="-122"/>
                <a:cs typeface="Consolas" pitchFamily="34" charset="-120"/>
              </a:rPr>
              <a:t>/create-product-brief (scoped)</a:t>
            </a:r>
            <a:endParaRPr lang="en-US" sz="750" dirty="0"/>
          </a:p>
          <a:p>
            <a:pPr indent="0" marL="0">
              <a:buNone/>
            </a:pPr>
            <a:r>
              <a:rPr lang="en-US" sz="750" dirty="0">
                <a:solidFill>
                  <a:srgbClr val="0D9488"/>
                </a:solidFill>
                <a:latin typeface="Consolas" pitchFamily="34" charset="0"/>
                <a:ea typeface="Consolas" pitchFamily="34" charset="-122"/>
                <a:cs typeface="Consolas" pitchFamily="34" charset="-120"/>
              </a:rPr>
              <a:t>*create-brownfield-prd</a:t>
            </a:r>
            <a:endParaRPr lang="en-US" sz="750" dirty="0"/>
          </a:p>
          <a:p>
            <a:pPr indent="0" marL="0">
              <a:buNone/>
            </a:pPr>
            <a:r>
              <a:rPr lang="en-US" sz="750" dirty="0">
                <a:solidFill>
                  <a:srgbClr val="0D9488"/>
                </a:solidFill>
                <a:latin typeface="Consolas" pitchFamily="34" charset="0"/>
                <a:ea typeface="Consolas" pitchFamily="34" charset="-122"/>
                <a:cs typeface="Consolas" pitchFamily="34" charset="-120"/>
              </a:rPr>
              <a:t>*create-brownfield-architecture</a:t>
            </a:r>
            <a:endParaRPr lang="en-US" sz="750" dirty="0"/>
          </a:p>
        </p:txBody>
      </p:sp>
      <p:sp>
        <p:nvSpPr>
          <p:cNvPr id="35" name="Text 33"/>
          <p:cNvSpPr/>
          <p:nvPr/>
        </p:nvSpPr>
        <p:spPr>
          <a:xfrm>
            <a:off x="6126480" y="3840480"/>
            <a:ext cx="548640" cy="182880"/>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Result:</a:t>
            </a:r>
            <a:endParaRPr lang="en-US" sz="900" dirty="0"/>
          </a:p>
        </p:txBody>
      </p:sp>
      <p:sp>
        <p:nvSpPr>
          <p:cNvPr id="36" name="Text 34"/>
          <p:cNvSpPr/>
          <p:nvPr/>
        </p:nvSpPr>
        <p:spPr>
          <a:xfrm>
            <a:off x="6126480" y="4023360"/>
            <a:ext cx="2468880" cy="365760"/>
          </a:xfrm>
          <a:prstGeom prst="rect">
            <a:avLst/>
          </a:prstGeom>
          <a:noFill/>
          <a:ln/>
        </p:spPr>
        <p:txBody>
          <a:bodyPr wrap="square" lIns="0" tIns="0" rIns="0" bIns="0" rtlCol="0" anchor="t"/>
          <a:lstStyle/>
          <a:p>
            <a:pPr indent="0" marL="0">
              <a:buNone/>
            </a:pPr>
            <a:r>
              <a:rPr lang="en-US" sz="850" dirty="0">
                <a:solidFill>
                  <a:srgbClr val="475569"/>
                </a:solidFill>
                <a:latin typeface="Calibri" pitchFamily="34" charset="0"/>
                <a:ea typeface="Calibri" pitchFamily="34" charset="-122"/>
                <a:cs typeface="Calibri" pitchFamily="34" charset="-120"/>
              </a:rPr>
              <a:t>Docs grow incrementally.</a:t>
            </a:r>
            <a:endParaRPr lang="en-US" sz="850" dirty="0"/>
          </a:p>
          <a:p>
            <a:pPr indent="0" marL="0">
              <a:buNone/>
            </a:pPr>
            <a:r>
              <a:rPr lang="en-US" sz="850" dirty="0">
                <a:solidFill>
                  <a:srgbClr val="475569"/>
                </a:solidFill>
                <a:latin typeface="Calibri" pitchFamily="34" charset="0"/>
                <a:ea typeface="Calibri" pitchFamily="34" charset="-122"/>
                <a:cs typeface="Calibri" pitchFamily="34" charset="-120"/>
              </a:rPr>
              <a:t>Dev continues in parallel.</a:t>
            </a:r>
            <a:endParaRPr lang="en-US" sz="850" dirty="0"/>
          </a:p>
        </p:txBody>
      </p:sp>
      <p:sp>
        <p:nvSpPr>
          <p:cNvPr id="37" name="Text 35"/>
          <p:cNvSpPr/>
          <p:nvPr/>
        </p:nvSpPr>
        <p:spPr>
          <a:xfrm>
            <a:off x="274320" y="4709160"/>
            <a:ext cx="859536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All three approaches converge to the same development loop: /dev-story → /code-review → Done</a:t>
            </a:r>
            <a:endParaRPr lang="en-US" sz="1000" dirty="0"/>
          </a:p>
        </p:txBody>
      </p:sp>
      <p:sp>
        <p:nvSpPr>
          <p:cNvPr id="38" name="Text 3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49 / 93</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Approach 1: Quick Work</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For bug fixes, small features, and refactoring with clear scope</a:t>
            </a:r>
            <a:endParaRPr lang="en-US" sz="1200" dirty="0"/>
          </a:p>
        </p:txBody>
      </p:sp>
      <p:sp>
        <p:nvSpPr>
          <p:cNvPr id="5" name="Shape 3"/>
          <p:cNvSpPr/>
          <p:nvPr/>
        </p:nvSpPr>
        <p:spPr>
          <a:xfrm>
            <a:off x="457200" y="1280160"/>
            <a:ext cx="822960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594360" y="1463040"/>
            <a:ext cx="457200" cy="457200"/>
          </a:xfrm>
          <a:prstGeom prst="ellipse">
            <a:avLst/>
          </a:prstGeom>
          <a:solidFill>
            <a:srgbClr val="10B981"/>
          </a:solidFill>
          <a:ln/>
        </p:spPr>
      </p:sp>
      <p:sp>
        <p:nvSpPr>
          <p:cNvPr id="7" name="Text 5"/>
          <p:cNvSpPr/>
          <p:nvPr/>
        </p:nvSpPr>
        <p:spPr>
          <a:xfrm>
            <a:off x="594360" y="14630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234440" y="1325880"/>
            <a:ext cx="1828800" cy="274320"/>
          </a:xfrm>
          <a:prstGeom prst="rect">
            <a:avLst/>
          </a:prstGeom>
          <a:noFill/>
          <a:ln/>
        </p:spPr>
        <p:txBody>
          <a:bodyPr wrap="square" lIns="0" tIns="0" rIns="0" bIns="0"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/quick-spec</a:t>
            </a:r>
            <a:endParaRPr lang="en-US" sz="1300" dirty="0"/>
          </a:p>
        </p:txBody>
      </p:sp>
      <p:sp>
        <p:nvSpPr>
          <p:cNvPr id="9" name="Text 7"/>
          <p:cNvSpPr/>
          <p:nvPr/>
        </p:nvSpPr>
        <p:spPr>
          <a:xfrm>
            <a:off x="1234440" y="1600200"/>
            <a:ext cx="182880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Barry (Solo Dev)</a:t>
            </a:r>
            <a:endParaRPr lang="en-US" sz="900" dirty="0"/>
          </a:p>
        </p:txBody>
      </p:sp>
      <p:sp>
        <p:nvSpPr>
          <p:cNvPr id="10" name="Text 8"/>
          <p:cNvSpPr/>
          <p:nvPr/>
        </p:nvSpPr>
        <p:spPr>
          <a:xfrm>
            <a:off x="3200400" y="1325880"/>
            <a:ext cx="5303520" cy="7315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Scans codebase, asks clarifying questions, produces a tech-spec with tasks and acceptance criteria. No Brief or PRD needed.</a:t>
            </a:r>
            <a:endParaRPr lang="en-US" sz="1000" dirty="0"/>
          </a:p>
        </p:txBody>
      </p:sp>
      <p:sp>
        <p:nvSpPr>
          <p:cNvPr id="11" name="Shape 9"/>
          <p:cNvSpPr/>
          <p:nvPr/>
        </p:nvSpPr>
        <p:spPr>
          <a:xfrm>
            <a:off x="457200" y="2286000"/>
            <a:ext cx="822960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2" name="Shape 10"/>
          <p:cNvSpPr/>
          <p:nvPr/>
        </p:nvSpPr>
        <p:spPr>
          <a:xfrm>
            <a:off x="594360" y="2468880"/>
            <a:ext cx="457200" cy="457200"/>
          </a:xfrm>
          <a:prstGeom prst="ellipse">
            <a:avLst/>
          </a:prstGeom>
          <a:solidFill>
            <a:srgbClr val="0891B2"/>
          </a:solidFill>
          <a:ln/>
        </p:spPr>
      </p:sp>
      <p:sp>
        <p:nvSpPr>
          <p:cNvPr id="13" name="Text 11"/>
          <p:cNvSpPr/>
          <p:nvPr/>
        </p:nvSpPr>
        <p:spPr>
          <a:xfrm>
            <a:off x="594360" y="246888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234440" y="2331720"/>
            <a:ext cx="1828800" cy="274320"/>
          </a:xfrm>
          <a:prstGeom prst="rect">
            <a:avLst/>
          </a:prstGeom>
          <a:noFill/>
          <a:ln/>
        </p:spPr>
        <p:txBody>
          <a:bodyPr wrap="square" lIns="0" tIns="0" rIns="0" bIns="0"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/quick-dev</a:t>
            </a:r>
            <a:endParaRPr lang="en-US" sz="1300" dirty="0"/>
          </a:p>
        </p:txBody>
      </p:sp>
      <p:sp>
        <p:nvSpPr>
          <p:cNvPr id="15" name="Text 13"/>
          <p:cNvSpPr/>
          <p:nvPr/>
        </p:nvSpPr>
        <p:spPr>
          <a:xfrm>
            <a:off x="1234440" y="2606040"/>
            <a:ext cx="182880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Barry (Solo Dev)</a:t>
            </a:r>
            <a:endParaRPr lang="en-US" sz="900" dirty="0"/>
          </a:p>
        </p:txBody>
      </p:sp>
      <p:sp>
        <p:nvSpPr>
          <p:cNvPr id="16" name="Text 14"/>
          <p:cNvSpPr/>
          <p:nvPr/>
        </p:nvSpPr>
        <p:spPr>
          <a:xfrm>
            <a:off x="3200400" y="2331720"/>
            <a:ext cx="5303520" cy="7315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Implements all tasks from the tech-spec. Writes code, unit tests, runs self-audit against AC. Triggers adversarial code review automatically.</a:t>
            </a:r>
            <a:endParaRPr lang="en-US" sz="1000" dirty="0"/>
          </a:p>
        </p:txBody>
      </p:sp>
      <p:sp>
        <p:nvSpPr>
          <p:cNvPr id="17" name="Shape 15"/>
          <p:cNvSpPr/>
          <p:nvPr/>
        </p:nvSpPr>
        <p:spPr>
          <a:xfrm>
            <a:off x="457200" y="3291840"/>
            <a:ext cx="822960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6"/>
          <p:cNvSpPr/>
          <p:nvPr/>
        </p:nvSpPr>
        <p:spPr>
          <a:xfrm>
            <a:off x="594360" y="3474720"/>
            <a:ext cx="457200" cy="457200"/>
          </a:xfrm>
          <a:prstGeom prst="ellipse">
            <a:avLst/>
          </a:prstGeom>
          <a:solidFill>
            <a:srgbClr val="155E75"/>
          </a:solidFill>
          <a:ln/>
        </p:spPr>
      </p:sp>
      <p:sp>
        <p:nvSpPr>
          <p:cNvPr id="19" name="Text 17"/>
          <p:cNvSpPr/>
          <p:nvPr/>
        </p:nvSpPr>
        <p:spPr>
          <a:xfrm>
            <a:off x="594360" y="347472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1234440" y="3337560"/>
            <a:ext cx="1828800" cy="274320"/>
          </a:xfrm>
          <a:prstGeom prst="rect">
            <a:avLst/>
          </a:prstGeom>
          <a:noFill/>
          <a:ln/>
        </p:spPr>
        <p:txBody>
          <a:bodyPr wrap="square" lIns="0" tIns="0" rIns="0" bIns="0" rtlCol="0" anchor="ctr"/>
          <a:lstStyle/>
          <a:p>
            <a:pPr indent="0" marL="0">
              <a:buNone/>
            </a:pPr>
            <a:r>
              <a:rPr lang="en-US" sz="1300" b="1" dirty="0">
                <a:solidFill>
                  <a:srgbClr val="14B8A6"/>
                </a:solidFill>
                <a:latin typeface="Consolas" pitchFamily="34" charset="0"/>
                <a:ea typeface="Consolas" pitchFamily="34" charset="-122"/>
                <a:cs typeface="Consolas" pitchFamily="34" charset="-120"/>
              </a:rPr>
              <a:t>/code-review</a:t>
            </a:r>
            <a:endParaRPr lang="en-US" sz="1300" dirty="0"/>
          </a:p>
        </p:txBody>
      </p:sp>
      <p:sp>
        <p:nvSpPr>
          <p:cNvPr id="21" name="Text 19"/>
          <p:cNvSpPr/>
          <p:nvPr/>
        </p:nvSpPr>
        <p:spPr>
          <a:xfrm>
            <a:off x="1234440" y="3611880"/>
            <a:ext cx="182880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QA Agent (Quinn)</a:t>
            </a:r>
            <a:endParaRPr lang="en-US" sz="900" dirty="0"/>
          </a:p>
        </p:txBody>
      </p:sp>
      <p:sp>
        <p:nvSpPr>
          <p:cNvPr id="22" name="Text 20"/>
          <p:cNvSpPr/>
          <p:nvPr/>
        </p:nvSpPr>
        <p:spPr>
          <a:xfrm>
            <a:off x="3200400" y="3337560"/>
            <a:ext cx="5303520" cy="7315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Adversarial review of the diff. Checks quality, test coverage, adherence to existing patterns. Presents findings for resolution.</a:t>
            </a:r>
            <a:endParaRPr lang="en-US" sz="1000" dirty="0"/>
          </a:p>
        </p:txBody>
      </p:sp>
      <p:sp>
        <p:nvSpPr>
          <p:cNvPr id="23" name="Shape 21"/>
          <p:cNvSpPr/>
          <p:nvPr/>
        </p:nvSpPr>
        <p:spPr>
          <a:xfrm>
            <a:off x="457200" y="4343400"/>
            <a:ext cx="8229600" cy="457200"/>
          </a:xfrm>
          <a:prstGeom prst="rect">
            <a:avLst/>
          </a:prstGeom>
          <a:solidFill>
            <a:srgbClr val="1E293B"/>
          </a:solidFill>
          <a:ln/>
        </p:spPr>
      </p:sp>
      <p:sp>
        <p:nvSpPr>
          <p:cNvPr id="24" name="Text 22"/>
          <p:cNvSpPr/>
          <p:nvPr/>
        </p:nvSpPr>
        <p:spPr>
          <a:xfrm>
            <a:off x="640080" y="4343400"/>
            <a:ext cx="7863840" cy="45720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Also: *create-brownfield-story for a single story without a tech-spec  |  *create-brownfield-epic for 1–3 related stories</a:t>
            </a:r>
            <a:endParaRPr lang="en-US" sz="1000" dirty="0"/>
          </a:p>
        </p:txBody>
      </p:sp>
      <p:sp>
        <p:nvSpPr>
          <p:cNvPr id="25" name="Text 2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50 / 93</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Approach 2: Document-First</a:t>
            </a:r>
            <a:endParaRPr lang="en-US" sz="2600" dirty="0"/>
          </a:p>
        </p:txBody>
      </p:sp>
      <p:sp>
        <p:nvSpPr>
          <p:cNvPr id="5" name="Text 3"/>
          <p:cNvSpPr/>
          <p:nvPr/>
        </p:nvSpPr>
        <p:spPr>
          <a:xfrm>
            <a:off x="457200" y="914400"/>
            <a:ext cx="8229600" cy="2743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For unfamiliar, legacy, or undocumented systems — understand everything before building</a:t>
            </a:r>
            <a:endParaRPr lang="en-US" sz="1200" dirty="0"/>
          </a:p>
        </p:txBody>
      </p:sp>
      <p:sp>
        <p:nvSpPr>
          <p:cNvPr id="6" name="Shape 4"/>
          <p:cNvSpPr/>
          <p:nvPr/>
        </p:nvSpPr>
        <p:spPr>
          <a:xfrm>
            <a:off x="457200" y="1417320"/>
            <a:ext cx="411480" cy="411480"/>
          </a:xfrm>
          <a:prstGeom prst="ellipse">
            <a:avLst/>
          </a:prstGeom>
          <a:solidFill>
            <a:srgbClr val="6366F1"/>
          </a:solidFill>
          <a:ln/>
        </p:spPr>
      </p:sp>
      <p:sp>
        <p:nvSpPr>
          <p:cNvPr id="7" name="Text 5"/>
          <p:cNvSpPr/>
          <p:nvPr/>
        </p:nvSpPr>
        <p:spPr>
          <a:xfrm>
            <a:off x="457200" y="141732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8" name="Text 6"/>
          <p:cNvSpPr/>
          <p:nvPr/>
        </p:nvSpPr>
        <p:spPr>
          <a:xfrm>
            <a:off x="1005840" y="1325880"/>
            <a:ext cx="18288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Flatten Codebase</a:t>
            </a:r>
            <a:endParaRPr lang="en-US" sz="1200" dirty="0"/>
          </a:p>
        </p:txBody>
      </p:sp>
      <p:sp>
        <p:nvSpPr>
          <p:cNvPr id="9" name="Text 7"/>
          <p:cNvSpPr/>
          <p:nvPr/>
        </p:nvSpPr>
        <p:spPr>
          <a:xfrm>
            <a:off x="1005840" y="1600200"/>
            <a:ext cx="2286000" cy="18288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npx bmad-method flatten</a:t>
            </a:r>
            <a:endParaRPr lang="en-US" sz="800" dirty="0"/>
          </a:p>
        </p:txBody>
      </p:sp>
      <p:sp>
        <p:nvSpPr>
          <p:cNvPr id="10" name="Shape 8"/>
          <p:cNvSpPr/>
          <p:nvPr/>
        </p:nvSpPr>
        <p:spPr>
          <a:xfrm>
            <a:off x="3291840" y="1325880"/>
            <a:ext cx="5394960" cy="59436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11" name="Shape 9"/>
          <p:cNvSpPr/>
          <p:nvPr/>
        </p:nvSpPr>
        <p:spPr>
          <a:xfrm>
            <a:off x="3291840" y="1325880"/>
            <a:ext cx="36576" cy="594360"/>
          </a:xfrm>
          <a:prstGeom prst="rect">
            <a:avLst/>
          </a:prstGeom>
          <a:solidFill>
            <a:srgbClr val="6366F1"/>
          </a:solidFill>
          <a:ln/>
        </p:spPr>
      </p:sp>
      <p:sp>
        <p:nvSpPr>
          <p:cNvPr id="12" name="Text 10"/>
          <p:cNvSpPr/>
          <p:nvPr/>
        </p:nvSpPr>
        <p:spPr>
          <a:xfrm>
            <a:off x="3429000" y="1325880"/>
            <a:ext cx="51206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Generates an AI-consumable XML of the entire codebase. Respects .gitignore and .bmad-flattenignore. Large codebases? Use flattenignore to scope only relevant modules — the agent doesn’t need everything at once.</a:t>
            </a:r>
            <a:endParaRPr lang="en-US" sz="900" dirty="0"/>
          </a:p>
        </p:txBody>
      </p:sp>
      <p:sp>
        <p:nvSpPr>
          <p:cNvPr id="13" name="Text 11"/>
          <p:cNvSpPr/>
          <p:nvPr/>
        </p:nvSpPr>
        <p:spPr>
          <a:xfrm>
            <a:off x="548640" y="1874520"/>
            <a:ext cx="228600" cy="228600"/>
          </a:xfrm>
          <a:prstGeom prst="rect">
            <a:avLst/>
          </a:prstGeom>
          <a:noFill/>
          <a:ln/>
        </p:spPr>
        <p:txBody>
          <a:bodyPr wrap="square" rtlCol="0" anchor="ctr"/>
          <a:lstStyle/>
          <a:p>
            <a:pPr algn="ctr" indent="0" marL="0">
              <a:buNone/>
            </a:pPr>
            <a:r>
              <a:rPr lang="en-US" sz="1000" dirty="0">
                <a:solidFill>
                  <a:srgbClr val="6366F1"/>
                </a:solidFill>
              </a:rPr>
              <a:t>▼</a:t>
            </a:r>
            <a:endParaRPr lang="en-US" sz="1000" dirty="0"/>
          </a:p>
        </p:txBody>
      </p:sp>
      <p:sp>
        <p:nvSpPr>
          <p:cNvPr id="14" name="Shape 12"/>
          <p:cNvSpPr/>
          <p:nvPr/>
        </p:nvSpPr>
        <p:spPr>
          <a:xfrm>
            <a:off x="457200" y="2267712"/>
            <a:ext cx="411480" cy="411480"/>
          </a:xfrm>
          <a:prstGeom prst="ellipse">
            <a:avLst/>
          </a:prstGeom>
          <a:solidFill>
            <a:srgbClr val="3B82F6"/>
          </a:solidFill>
          <a:ln/>
        </p:spPr>
      </p:sp>
      <p:sp>
        <p:nvSpPr>
          <p:cNvPr id="15" name="Text 13"/>
          <p:cNvSpPr/>
          <p:nvPr/>
        </p:nvSpPr>
        <p:spPr>
          <a:xfrm>
            <a:off x="457200" y="2267712"/>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4"/>
          <p:cNvSpPr/>
          <p:nvPr/>
        </p:nvSpPr>
        <p:spPr>
          <a:xfrm>
            <a:off x="1005840" y="2176272"/>
            <a:ext cx="18288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Document Project</a:t>
            </a:r>
            <a:endParaRPr lang="en-US" sz="1200" dirty="0"/>
          </a:p>
        </p:txBody>
      </p:sp>
      <p:sp>
        <p:nvSpPr>
          <p:cNvPr id="17" name="Text 15"/>
          <p:cNvSpPr/>
          <p:nvPr/>
        </p:nvSpPr>
        <p:spPr>
          <a:xfrm>
            <a:off x="1005840" y="2450592"/>
            <a:ext cx="2286000" cy="18288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*document-project</a:t>
            </a:r>
            <a:endParaRPr lang="en-US" sz="800" dirty="0"/>
          </a:p>
        </p:txBody>
      </p:sp>
      <p:sp>
        <p:nvSpPr>
          <p:cNvPr id="18" name="Shape 16"/>
          <p:cNvSpPr/>
          <p:nvPr/>
        </p:nvSpPr>
        <p:spPr>
          <a:xfrm>
            <a:off x="3291840" y="2176272"/>
            <a:ext cx="5394960" cy="59436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19" name="Shape 17"/>
          <p:cNvSpPr/>
          <p:nvPr/>
        </p:nvSpPr>
        <p:spPr>
          <a:xfrm>
            <a:off x="3291840" y="2176272"/>
            <a:ext cx="36576" cy="594360"/>
          </a:xfrm>
          <a:prstGeom prst="rect">
            <a:avLst/>
          </a:prstGeom>
          <a:solidFill>
            <a:srgbClr val="3B82F6"/>
          </a:solidFill>
          <a:ln/>
        </p:spPr>
      </p:sp>
      <p:sp>
        <p:nvSpPr>
          <p:cNvPr id="20" name="Text 18"/>
          <p:cNvSpPr/>
          <p:nvPr/>
        </p:nvSpPr>
        <p:spPr>
          <a:xfrm>
            <a:off x="3429000" y="2176272"/>
            <a:ext cx="51206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Analyst agent scans the flattened output. Produces architecture.md, API docs, data models, and a master docs/index.md. This index becomes the agent’s entry point — agents reference the index, not the entire codebase.</a:t>
            </a:r>
            <a:endParaRPr lang="en-US" sz="900" dirty="0"/>
          </a:p>
        </p:txBody>
      </p:sp>
      <p:sp>
        <p:nvSpPr>
          <p:cNvPr id="21" name="Text 19"/>
          <p:cNvSpPr/>
          <p:nvPr/>
        </p:nvSpPr>
        <p:spPr>
          <a:xfrm>
            <a:off x="548640" y="2724912"/>
            <a:ext cx="228600" cy="228600"/>
          </a:xfrm>
          <a:prstGeom prst="rect">
            <a:avLst/>
          </a:prstGeom>
          <a:noFill/>
          <a:ln/>
        </p:spPr>
        <p:txBody>
          <a:bodyPr wrap="square" rtlCol="0" anchor="ctr"/>
          <a:lstStyle/>
          <a:p>
            <a:pPr algn="ctr" indent="0" marL="0">
              <a:buNone/>
            </a:pPr>
            <a:r>
              <a:rPr lang="en-US" sz="1000" dirty="0">
                <a:solidFill>
                  <a:srgbClr val="3B82F6"/>
                </a:solidFill>
              </a:rPr>
              <a:t>▼</a:t>
            </a:r>
            <a:endParaRPr lang="en-US" sz="1000" dirty="0"/>
          </a:p>
        </p:txBody>
      </p:sp>
      <p:sp>
        <p:nvSpPr>
          <p:cNvPr id="22" name="Shape 20"/>
          <p:cNvSpPr/>
          <p:nvPr/>
        </p:nvSpPr>
        <p:spPr>
          <a:xfrm>
            <a:off x="457200" y="3118104"/>
            <a:ext cx="411480" cy="411480"/>
          </a:xfrm>
          <a:prstGeom prst="ellipse">
            <a:avLst/>
          </a:prstGeom>
          <a:solidFill>
            <a:srgbClr val="8B5CF6"/>
          </a:solidFill>
          <a:ln/>
        </p:spPr>
      </p:sp>
      <p:sp>
        <p:nvSpPr>
          <p:cNvPr id="23" name="Text 21"/>
          <p:cNvSpPr/>
          <p:nvPr/>
        </p:nvSpPr>
        <p:spPr>
          <a:xfrm>
            <a:off x="457200" y="3118104"/>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Text 22"/>
          <p:cNvSpPr/>
          <p:nvPr/>
        </p:nvSpPr>
        <p:spPr>
          <a:xfrm>
            <a:off x="1005840" y="3026664"/>
            <a:ext cx="18288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Create Brief + PRD</a:t>
            </a:r>
            <a:endParaRPr lang="en-US" sz="1200" dirty="0"/>
          </a:p>
        </p:txBody>
      </p:sp>
      <p:sp>
        <p:nvSpPr>
          <p:cNvPr id="25" name="Text 23"/>
          <p:cNvSpPr/>
          <p:nvPr/>
        </p:nvSpPr>
        <p:spPr>
          <a:xfrm>
            <a:off x="1005840" y="3300984"/>
            <a:ext cx="2286000" cy="18288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/create-product-brief → /create-prd</a:t>
            </a:r>
            <a:endParaRPr lang="en-US" sz="800" dirty="0"/>
          </a:p>
        </p:txBody>
      </p:sp>
      <p:sp>
        <p:nvSpPr>
          <p:cNvPr id="26" name="Shape 24"/>
          <p:cNvSpPr/>
          <p:nvPr/>
        </p:nvSpPr>
        <p:spPr>
          <a:xfrm>
            <a:off x="3291840" y="3026664"/>
            <a:ext cx="5394960" cy="59436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27" name="Shape 25"/>
          <p:cNvSpPr/>
          <p:nvPr/>
        </p:nvSpPr>
        <p:spPr>
          <a:xfrm>
            <a:off x="3291840" y="3026664"/>
            <a:ext cx="36576" cy="594360"/>
          </a:xfrm>
          <a:prstGeom prst="rect">
            <a:avLst/>
          </a:prstGeom>
          <a:solidFill>
            <a:srgbClr val="8B5CF6"/>
          </a:solidFill>
          <a:ln/>
        </p:spPr>
      </p:sp>
      <p:sp>
        <p:nvSpPr>
          <p:cNvPr id="28" name="Text 26"/>
          <p:cNvSpPr/>
          <p:nvPr/>
        </p:nvSpPr>
        <p:spPr>
          <a:xfrm>
            <a:off x="3429000" y="3026664"/>
            <a:ext cx="51206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With full system knowledge, create a brief for the scope you’re tackling. PM agent builds a brownfield PRD that respects existing constraints. Mark as brownfield.</a:t>
            </a:r>
            <a:endParaRPr lang="en-US" sz="900" dirty="0"/>
          </a:p>
        </p:txBody>
      </p:sp>
      <p:sp>
        <p:nvSpPr>
          <p:cNvPr id="29" name="Text 27"/>
          <p:cNvSpPr/>
          <p:nvPr/>
        </p:nvSpPr>
        <p:spPr>
          <a:xfrm>
            <a:off x="548640" y="3575304"/>
            <a:ext cx="228600" cy="228600"/>
          </a:xfrm>
          <a:prstGeom prst="rect">
            <a:avLst/>
          </a:prstGeom>
          <a:noFill/>
          <a:ln/>
        </p:spPr>
        <p:txBody>
          <a:bodyPr wrap="square" rtlCol="0" anchor="ctr"/>
          <a:lstStyle/>
          <a:p>
            <a:pPr algn="ctr" indent="0" marL="0">
              <a:buNone/>
            </a:pPr>
            <a:r>
              <a:rPr lang="en-US" sz="1000" dirty="0">
                <a:solidFill>
                  <a:srgbClr val="8B5CF6"/>
                </a:solidFill>
              </a:rPr>
              <a:t>▼</a:t>
            </a:r>
            <a:endParaRPr lang="en-US" sz="1000" dirty="0"/>
          </a:p>
        </p:txBody>
      </p:sp>
      <p:sp>
        <p:nvSpPr>
          <p:cNvPr id="30" name="Shape 28"/>
          <p:cNvSpPr/>
          <p:nvPr/>
        </p:nvSpPr>
        <p:spPr>
          <a:xfrm>
            <a:off x="457200" y="3968496"/>
            <a:ext cx="411480" cy="411480"/>
          </a:xfrm>
          <a:prstGeom prst="ellipse">
            <a:avLst/>
          </a:prstGeom>
          <a:solidFill>
            <a:srgbClr val="10B981"/>
          </a:solidFill>
          <a:ln/>
        </p:spPr>
      </p:sp>
      <p:sp>
        <p:nvSpPr>
          <p:cNvPr id="31" name="Text 29"/>
          <p:cNvSpPr/>
          <p:nvPr/>
        </p:nvSpPr>
        <p:spPr>
          <a:xfrm>
            <a:off x="457200" y="3968496"/>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2" name="Text 30"/>
          <p:cNvSpPr/>
          <p:nvPr/>
        </p:nvSpPr>
        <p:spPr>
          <a:xfrm>
            <a:off x="1005840" y="3877056"/>
            <a:ext cx="18288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Architecture + Epics</a:t>
            </a:r>
            <a:endParaRPr lang="en-US" sz="1200" dirty="0"/>
          </a:p>
        </p:txBody>
      </p:sp>
      <p:sp>
        <p:nvSpPr>
          <p:cNvPr id="33" name="Text 31"/>
          <p:cNvSpPr/>
          <p:nvPr/>
        </p:nvSpPr>
        <p:spPr>
          <a:xfrm>
            <a:off x="1005840" y="4151376"/>
            <a:ext cx="2286000" cy="18288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/create-architecture → /create-epics</a:t>
            </a:r>
            <a:endParaRPr lang="en-US" sz="800" dirty="0"/>
          </a:p>
        </p:txBody>
      </p:sp>
      <p:sp>
        <p:nvSpPr>
          <p:cNvPr id="34" name="Shape 32"/>
          <p:cNvSpPr/>
          <p:nvPr/>
        </p:nvSpPr>
        <p:spPr>
          <a:xfrm>
            <a:off x="3291840" y="3877056"/>
            <a:ext cx="5394960" cy="59436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35" name="Shape 33"/>
          <p:cNvSpPr/>
          <p:nvPr/>
        </p:nvSpPr>
        <p:spPr>
          <a:xfrm>
            <a:off x="3291840" y="3877056"/>
            <a:ext cx="36576" cy="594360"/>
          </a:xfrm>
          <a:prstGeom prst="rect">
            <a:avLst/>
          </a:prstGeom>
          <a:solidFill>
            <a:srgbClr val="10B981"/>
          </a:solidFill>
          <a:ln/>
        </p:spPr>
      </p:sp>
      <p:sp>
        <p:nvSpPr>
          <p:cNvPr id="36" name="Text 34"/>
          <p:cNvSpPr/>
          <p:nvPr/>
        </p:nvSpPr>
        <p:spPr>
          <a:xfrm>
            <a:off x="3429000" y="3877056"/>
            <a:ext cx="5120640" cy="59436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Architect produces integration-focused architecture. PM creates epics and stories. Run /check-implementation-readiness. You’re now on the standard BMAD flow.</a:t>
            </a:r>
            <a:endParaRPr lang="en-US" sz="900" dirty="0"/>
          </a:p>
        </p:txBody>
      </p:sp>
      <p:sp>
        <p:nvSpPr>
          <p:cNvPr id="37" name="Text 35"/>
          <p:cNvSpPr/>
          <p:nvPr/>
        </p:nvSpPr>
        <p:spPr>
          <a:xfrm>
            <a:off x="274320" y="4709160"/>
            <a:ext cx="859536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Agents never load the entire codebase at once — flatten + document creates focused references that fit the context window</a:t>
            </a:r>
            <a:endParaRPr lang="en-US" sz="1000" dirty="0"/>
          </a:p>
        </p:txBody>
      </p:sp>
      <p:sp>
        <p:nvSpPr>
          <p:cNvPr id="38" name="Text 3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51 / 93</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Approach 3: Incremental (PRD-First)</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For large known codebases — document only what you’re building, grow artifacts with every sprint</a:t>
            </a:r>
            <a:endParaRPr lang="en-US" sz="1200" dirty="0"/>
          </a:p>
        </p:txBody>
      </p:sp>
      <p:sp>
        <p:nvSpPr>
          <p:cNvPr id="5" name="Shape 3"/>
          <p:cNvSpPr/>
          <p:nvPr/>
        </p:nvSpPr>
        <p:spPr>
          <a:xfrm>
            <a:off x="457200" y="1280160"/>
            <a:ext cx="777240" cy="320040"/>
          </a:xfrm>
          <a:prstGeom prst="roundRect">
            <a:avLst>
              <a:gd name="adj" fmla="val 14286"/>
            </a:avLst>
          </a:prstGeom>
          <a:solidFill>
            <a:srgbClr val="3B82F6"/>
          </a:solidFill>
          <a:ln/>
        </p:spPr>
      </p:sp>
      <p:sp>
        <p:nvSpPr>
          <p:cNvPr id="6" name="Text 4"/>
          <p:cNvSpPr/>
          <p:nvPr/>
        </p:nvSpPr>
        <p:spPr>
          <a:xfrm>
            <a:off x="457200" y="1280160"/>
            <a:ext cx="7772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Week 1</a:t>
            </a:r>
            <a:endParaRPr lang="en-US" sz="900" dirty="0"/>
          </a:p>
        </p:txBody>
      </p:sp>
      <p:sp>
        <p:nvSpPr>
          <p:cNvPr id="7" name="Text 5"/>
          <p:cNvSpPr/>
          <p:nvPr/>
        </p:nvSpPr>
        <p:spPr>
          <a:xfrm>
            <a:off x="1371600" y="1234440"/>
            <a:ext cx="18288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Create Scoped Brief</a:t>
            </a:r>
            <a:endParaRPr lang="en-US" sz="1200" dirty="0"/>
          </a:p>
        </p:txBody>
      </p:sp>
      <p:sp>
        <p:nvSpPr>
          <p:cNvPr id="8" name="Text 6"/>
          <p:cNvSpPr/>
          <p:nvPr/>
        </p:nvSpPr>
        <p:spPr>
          <a:xfrm>
            <a:off x="1371600" y="1463040"/>
            <a:ext cx="2286000" cy="182880"/>
          </a:xfrm>
          <a:prstGeom prst="rect">
            <a:avLst/>
          </a:prstGeom>
          <a:noFill/>
          <a:ln/>
        </p:spPr>
        <p:txBody>
          <a:bodyPr wrap="square" lIns="0" tIns="0" rIns="0" bIns="0" rtlCol="0" anchor="ctr"/>
          <a:lstStyle/>
          <a:p>
            <a:pPr indent="0" marL="0">
              <a:buNone/>
            </a:pPr>
            <a:r>
              <a:rPr lang="en-US" sz="800" dirty="0">
                <a:solidFill>
                  <a:srgbClr val="14B8A6"/>
                </a:solidFill>
                <a:latin typeface="Consolas" pitchFamily="34" charset="0"/>
                <a:ea typeface="Consolas" pitchFamily="34" charset="-122"/>
                <a:cs typeface="Consolas" pitchFamily="34" charset="-120"/>
              </a:rPr>
              <a:t>/create-product-brief</a:t>
            </a:r>
            <a:endParaRPr lang="en-US" sz="800" dirty="0"/>
          </a:p>
        </p:txBody>
      </p:sp>
      <p:sp>
        <p:nvSpPr>
          <p:cNvPr id="9" name="Shape 7"/>
          <p:cNvSpPr/>
          <p:nvPr/>
        </p:nvSpPr>
        <p:spPr>
          <a:xfrm>
            <a:off x="3474720" y="1234440"/>
            <a:ext cx="5212080" cy="5943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0" name="Shape 8"/>
          <p:cNvSpPr/>
          <p:nvPr/>
        </p:nvSpPr>
        <p:spPr>
          <a:xfrm>
            <a:off x="3474720" y="1234440"/>
            <a:ext cx="36576" cy="594360"/>
          </a:xfrm>
          <a:prstGeom prst="rect">
            <a:avLst/>
          </a:prstGeom>
          <a:solidFill>
            <a:srgbClr val="3B82F6"/>
          </a:solidFill>
          <a:ln/>
        </p:spPr>
      </p:sp>
      <p:sp>
        <p:nvSpPr>
          <p:cNvPr id="11" name="Text 9"/>
          <p:cNvSpPr/>
          <p:nvPr/>
        </p:nvSpPr>
        <p:spPr>
          <a:xfrm>
            <a:off x="3611880" y="1234440"/>
            <a:ext cx="4937760" cy="59436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Tell the Analyst about your system and what you’re building next. Don’t describe the whole system — just the scope for the upcoming release. Feed in existing SRS, wiki pages, or README.</a:t>
            </a:r>
            <a:endParaRPr lang="en-US" sz="850" dirty="0"/>
          </a:p>
        </p:txBody>
      </p:sp>
      <p:sp>
        <p:nvSpPr>
          <p:cNvPr id="12" name="Text 10"/>
          <p:cNvSpPr/>
          <p:nvPr/>
        </p:nvSpPr>
        <p:spPr>
          <a:xfrm>
            <a:off x="731520" y="1645920"/>
            <a:ext cx="228600" cy="274320"/>
          </a:xfrm>
          <a:prstGeom prst="rect">
            <a:avLst/>
          </a:prstGeom>
          <a:noFill/>
          <a:ln/>
        </p:spPr>
        <p:txBody>
          <a:bodyPr wrap="square" rtlCol="0" anchor="ctr"/>
          <a:lstStyle/>
          <a:p>
            <a:pPr algn="ctr" indent="0" marL="0">
              <a:buNone/>
            </a:pPr>
            <a:r>
              <a:rPr lang="en-US" sz="1000" dirty="0">
                <a:solidFill>
                  <a:srgbClr val="3B82F6"/>
                </a:solidFill>
              </a:rPr>
              <a:t>▼</a:t>
            </a:r>
            <a:endParaRPr lang="en-US" sz="1000" dirty="0"/>
          </a:p>
        </p:txBody>
      </p:sp>
      <p:sp>
        <p:nvSpPr>
          <p:cNvPr id="13" name="Shape 11"/>
          <p:cNvSpPr/>
          <p:nvPr/>
        </p:nvSpPr>
        <p:spPr>
          <a:xfrm>
            <a:off x="457200" y="2148840"/>
            <a:ext cx="777240" cy="320040"/>
          </a:xfrm>
          <a:prstGeom prst="roundRect">
            <a:avLst>
              <a:gd name="adj" fmla="val 14286"/>
            </a:avLst>
          </a:prstGeom>
          <a:solidFill>
            <a:srgbClr val="8B5CF6"/>
          </a:solidFill>
          <a:ln/>
        </p:spPr>
      </p:sp>
      <p:sp>
        <p:nvSpPr>
          <p:cNvPr id="14" name="Text 12"/>
          <p:cNvSpPr/>
          <p:nvPr/>
        </p:nvSpPr>
        <p:spPr>
          <a:xfrm>
            <a:off x="457200" y="2148840"/>
            <a:ext cx="7772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Week 2</a:t>
            </a:r>
            <a:endParaRPr lang="en-US" sz="900" dirty="0"/>
          </a:p>
        </p:txBody>
      </p:sp>
      <p:sp>
        <p:nvSpPr>
          <p:cNvPr id="15" name="Text 13"/>
          <p:cNvSpPr/>
          <p:nvPr/>
        </p:nvSpPr>
        <p:spPr>
          <a:xfrm>
            <a:off x="1371600" y="2103120"/>
            <a:ext cx="18288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Brownfield PRD</a:t>
            </a:r>
            <a:endParaRPr lang="en-US" sz="1200" dirty="0"/>
          </a:p>
        </p:txBody>
      </p:sp>
      <p:sp>
        <p:nvSpPr>
          <p:cNvPr id="16" name="Text 14"/>
          <p:cNvSpPr/>
          <p:nvPr/>
        </p:nvSpPr>
        <p:spPr>
          <a:xfrm>
            <a:off x="1371600" y="2331720"/>
            <a:ext cx="2286000" cy="182880"/>
          </a:xfrm>
          <a:prstGeom prst="rect">
            <a:avLst/>
          </a:prstGeom>
          <a:noFill/>
          <a:ln/>
        </p:spPr>
        <p:txBody>
          <a:bodyPr wrap="square" lIns="0" tIns="0" rIns="0" bIns="0" rtlCol="0" anchor="ctr"/>
          <a:lstStyle/>
          <a:p>
            <a:pPr indent="0" marL="0">
              <a:buNone/>
            </a:pPr>
            <a:r>
              <a:rPr lang="en-US" sz="800" dirty="0">
                <a:solidFill>
                  <a:srgbClr val="14B8A6"/>
                </a:solidFill>
                <a:latin typeface="Consolas" pitchFamily="34" charset="0"/>
                <a:ea typeface="Consolas" pitchFamily="34" charset="-122"/>
                <a:cs typeface="Consolas" pitchFamily="34" charset="-120"/>
              </a:rPr>
              <a:t>*create-brownfield-prd</a:t>
            </a:r>
            <a:endParaRPr lang="en-US" sz="800" dirty="0"/>
          </a:p>
        </p:txBody>
      </p:sp>
      <p:sp>
        <p:nvSpPr>
          <p:cNvPr id="17" name="Shape 15"/>
          <p:cNvSpPr/>
          <p:nvPr/>
        </p:nvSpPr>
        <p:spPr>
          <a:xfrm>
            <a:off x="3474720" y="2103120"/>
            <a:ext cx="5212080" cy="5943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6"/>
          <p:cNvSpPr/>
          <p:nvPr/>
        </p:nvSpPr>
        <p:spPr>
          <a:xfrm>
            <a:off x="3474720" y="2103120"/>
            <a:ext cx="36576" cy="594360"/>
          </a:xfrm>
          <a:prstGeom prst="rect">
            <a:avLst/>
          </a:prstGeom>
          <a:solidFill>
            <a:srgbClr val="8B5CF6"/>
          </a:solidFill>
          <a:ln/>
        </p:spPr>
      </p:sp>
      <p:sp>
        <p:nvSpPr>
          <p:cNvPr id="19" name="Text 17"/>
          <p:cNvSpPr/>
          <p:nvPr/>
        </p:nvSpPr>
        <p:spPr>
          <a:xfrm>
            <a:off x="3611880" y="2103120"/>
            <a:ext cx="4937760" cy="59436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PM agent takes the brief and asks focused questions about the next features. Produces a PRD scoped to the current release — not the entire system. Existing functionality is treated as context, not requirements.</a:t>
            </a:r>
            <a:endParaRPr lang="en-US" sz="850" dirty="0"/>
          </a:p>
        </p:txBody>
      </p:sp>
      <p:sp>
        <p:nvSpPr>
          <p:cNvPr id="20" name="Text 18"/>
          <p:cNvSpPr/>
          <p:nvPr/>
        </p:nvSpPr>
        <p:spPr>
          <a:xfrm>
            <a:off x="731520" y="2514600"/>
            <a:ext cx="228600" cy="274320"/>
          </a:xfrm>
          <a:prstGeom prst="rect">
            <a:avLst/>
          </a:prstGeom>
          <a:noFill/>
          <a:ln/>
        </p:spPr>
        <p:txBody>
          <a:bodyPr wrap="square" rtlCol="0" anchor="ctr"/>
          <a:lstStyle/>
          <a:p>
            <a:pPr algn="ctr" indent="0" marL="0">
              <a:buNone/>
            </a:pPr>
            <a:r>
              <a:rPr lang="en-US" sz="1000" dirty="0">
                <a:solidFill>
                  <a:srgbClr val="8B5CF6"/>
                </a:solidFill>
              </a:rPr>
              <a:t>▼</a:t>
            </a:r>
            <a:endParaRPr lang="en-US" sz="1000" dirty="0"/>
          </a:p>
        </p:txBody>
      </p:sp>
      <p:sp>
        <p:nvSpPr>
          <p:cNvPr id="21" name="Shape 19"/>
          <p:cNvSpPr/>
          <p:nvPr/>
        </p:nvSpPr>
        <p:spPr>
          <a:xfrm>
            <a:off x="457200" y="3017520"/>
            <a:ext cx="777240" cy="320040"/>
          </a:xfrm>
          <a:prstGeom prst="roundRect">
            <a:avLst>
              <a:gd name="adj" fmla="val 14286"/>
            </a:avLst>
          </a:prstGeom>
          <a:solidFill>
            <a:srgbClr val="10B981"/>
          </a:solidFill>
          <a:ln/>
        </p:spPr>
      </p:sp>
      <p:sp>
        <p:nvSpPr>
          <p:cNvPr id="22" name="Text 20"/>
          <p:cNvSpPr/>
          <p:nvPr/>
        </p:nvSpPr>
        <p:spPr>
          <a:xfrm>
            <a:off x="457200" y="3017520"/>
            <a:ext cx="7772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Week 3</a:t>
            </a:r>
            <a:endParaRPr lang="en-US" sz="900" dirty="0"/>
          </a:p>
        </p:txBody>
      </p:sp>
      <p:sp>
        <p:nvSpPr>
          <p:cNvPr id="23" name="Text 21"/>
          <p:cNvSpPr/>
          <p:nvPr/>
        </p:nvSpPr>
        <p:spPr>
          <a:xfrm>
            <a:off x="1371600" y="2971800"/>
            <a:ext cx="18288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Scoped Architecture</a:t>
            </a:r>
            <a:endParaRPr lang="en-US" sz="1200" dirty="0"/>
          </a:p>
        </p:txBody>
      </p:sp>
      <p:sp>
        <p:nvSpPr>
          <p:cNvPr id="24" name="Text 22"/>
          <p:cNvSpPr/>
          <p:nvPr/>
        </p:nvSpPr>
        <p:spPr>
          <a:xfrm>
            <a:off x="1371600" y="3200400"/>
            <a:ext cx="2286000" cy="182880"/>
          </a:xfrm>
          <a:prstGeom prst="rect">
            <a:avLst/>
          </a:prstGeom>
          <a:noFill/>
          <a:ln/>
        </p:spPr>
        <p:txBody>
          <a:bodyPr wrap="square" lIns="0" tIns="0" rIns="0" bIns="0" rtlCol="0" anchor="ctr"/>
          <a:lstStyle/>
          <a:p>
            <a:pPr indent="0" marL="0">
              <a:buNone/>
            </a:pPr>
            <a:r>
              <a:rPr lang="en-US" sz="800" dirty="0">
                <a:solidFill>
                  <a:srgbClr val="14B8A6"/>
                </a:solidFill>
                <a:latin typeface="Consolas" pitchFamily="34" charset="0"/>
                <a:ea typeface="Consolas" pitchFamily="34" charset="-122"/>
                <a:cs typeface="Consolas" pitchFamily="34" charset="-120"/>
              </a:rPr>
              <a:t>*create-brownfield-architecture</a:t>
            </a:r>
            <a:endParaRPr lang="en-US" sz="800" dirty="0"/>
          </a:p>
        </p:txBody>
      </p:sp>
      <p:sp>
        <p:nvSpPr>
          <p:cNvPr id="25" name="Shape 23"/>
          <p:cNvSpPr/>
          <p:nvPr/>
        </p:nvSpPr>
        <p:spPr>
          <a:xfrm>
            <a:off x="3474720" y="2971800"/>
            <a:ext cx="5212080" cy="5943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6" name="Shape 24"/>
          <p:cNvSpPr/>
          <p:nvPr/>
        </p:nvSpPr>
        <p:spPr>
          <a:xfrm>
            <a:off x="3474720" y="2971800"/>
            <a:ext cx="36576" cy="594360"/>
          </a:xfrm>
          <a:prstGeom prst="rect">
            <a:avLst/>
          </a:prstGeom>
          <a:solidFill>
            <a:srgbClr val="10B981"/>
          </a:solidFill>
          <a:ln/>
        </p:spPr>
      </p:sp>
      <p:sp>
        <p:nvSpPr>
          <p:cNvPr id="27" name="Text 25"/>
          <p:cNvSpPr/>
          <p:nvPr/>
        </p:nvSpPr>
        <p:spPr>
          <a:xfrm>
            <a:off x="3611880" y="2971800"/>
            <a:ext cx="4937760" cy="59436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Architect documents only the modules affected by the PRD. Captures current patterns and conventions. Run /generate-project-context to record tech stack rules.</a:t>
            </a:r>
            <a:endParaRPr lang="en-US" sz="850" dirty="0"/>
          </a:p>
        </p:txBody>
      </p:sp>
      <p:sp>
        <p:nvSpPr>
          <p:cNvPr id="28" name="Text 26"/>
          <p:cNvSpPr/>
          <p:nvPr/>
        </p:nvSpPr>
        <p:spPr>
          <a:xfrm>
            <a:off x="731520" y="3383280"/>
            <a:ext cx="228600" cy="274320"/>
          </a:xfrm>
          <a:prstGeom prst="rect">
            <a:avLst/>
          </a:prstGeom>
          <a:noFill/>
          <a:ln/>
        </p:spPr>
        <p:txBody>
          <a:bodyPr wrap="square" rtlCol="0" anchor="ctr"/>
          <a:lstStyle/>
          <a:p>
            <a:pPr algn="ctr" indent="0" marL="0">
              <a:buNone/>
            </a:pPr>
            <a:r>
              <a:rPr lang="en-US" sz="1000" dirty="0">
                <a:solidFill>
                  <a:srgbClr val="10B981"/>
                </a:solidFill>
              </a:rPr>
              <a:t>▼</a:t>
            </a:r>
            <a:endParaRPr lang="en-US" sz="1000" dirty="0"/>
          </a:p>
        </p:txBody>
      </p:sp>
      <p:sp>
        <p:nvSpPr>
          <p:cNvPr id="29" name="Shape 27"/>
          <p:cNvSpPr/>
          <p:nvPr/>
        </p:nvSpPr>
        <p:spPr>
          <a:xfrm>
            <a:off x="457200" y="3886200"/>
            <a:ext cx="777240" cy="320040"/>
          </a:xfrm>
          <a:prstGeom prst="roundRect">
            <a:avLst>
              <a:gd name="adj" fmla="val 14286"/>
            </a:avLst>
          </a:prstGeom>
          <a:solidFill>
            <a:srgbClr val="F59E0B"/>
          </a:solidFill>
          <a:ln/>
        </p:spPr>
      </p:sp>
      <p:sp>
        <p:nvSpPr>
          <p:cNvPr id="30" name="Text 28"/>
          <p:cNvSpPr/>
          <p:nvPr/>
        </p:nvSpPr>
        <p:spPr>
          <a:xfrm>
            <a:off x="457200" y="3886200"/>
            <a:ext cx="77724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Week 4+</a:t>
            </a:r>
            <a:endParaRPr lang="en-US" sz="900" dirty="0"/>
          </a:p>
        </p:txBody>
      </p:sp>
      <p:sp>
        <p:nvSpPr>
          <p:cNvPr id="31" name="Text 29"/>
          <p:cNvSpPr/>
          <p:nvPr/>
        </p:nvSpPr>
        <p:spPr>
          <a:xfrm>
            <a:off x="1371600" y="3840480"/>
            <a:ext cx="18288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Epics → Stories → Sprint</a:t>
            </a:r>
            <a:endParaRPr lang="en-US" sz="1200" dirty="0"/>
          </a:p>
        </p:txBody>
      </p:sp>
      <p:sp>
        <p:nvSpPr>
          <p:cNvPr id="32" name="Text 30"/>
          <p:cNvSpPr/>
          <p:nvPr/>
        </p:nvSpPr>
        <p:spPr>
          <a:xfrm>
            <a:off x="1371600" y="4069080"/>
            <a:ext cx="2286000" cy="182880"/>
          </a:xfrm>
          <a:prstGeom prst="rect">
            <a:avLst/>
          </a:prstGeom>
          <a:noFill/>
          <a:ln/>
        </p:spPr>
        <p:txBody>
          <a:bodyPr wrap="square" lIns="0" tIns="0" rIns="0" bIns="0" rtlCol="0" anchor="ctr"/>
          <a:lstStyle/>
          <a:p>
            <a:pPr indent="0" marL="0">
              <a:buNone/>
            </a:pPr>
            <a:r>
              <a:rPr lang="en-US" sz="800" dirty="0">
                <a:solidFill>
                  <a:srgbClr val="14B8A6"/>
                </a:solidFill>
                <a:latin typeface="Consolas" pitchFamily="34" charset="0"/>
                <a:ea typeface="Consolas" pitchFamily="34" charset="-122"/>
                <a:cs typeface="Consolas" pitchFamily="34" charset="-120"/>
              </a:rPr>
              <a:t>/create-epics-and-stories</a:t>
            </a:r>
            <a:endParaRPr lang="en-US" sz="800" dirty="0"/>
          </a:p>
        </p:txBody>
      </p:sp>
      <p:sp>
        <p:nvSpPr>
          <p:cNvPr id="33" name="Shape 31"/>
          <p:cNvSpPr/>
          <p:nvPr/>
        </p:nvSpPr>
        <p:spPr>
          <a:xfrm>
            <a:off x="3474720" y="3840480"/>
            <a:ext cx="5212080" cy="5943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4" name="Shape 32"/>
          <p:cNvSpPr/>
          <p:nvPr/>
        </p:nvSpPr>
        <p:spPr>
          <a:xfrm>
            <a:off x="3474720" y="3840480"/>
            <a:ext cx="36576" cy="594360"/>
          </a:xfrm>
          <a:prstGeom prst="rect">
            <a:avLst/>
          </a:prstGeom>
          <a:solidFill>
            <a:srgbClr val="F59E0B"/>
          </a:solidFill>
          <a:ln/>
        </p:spPr>
      </p:sp>
      <p:sp>
        <p:nvSpPr>
          <p:cNvPr id="35" name="Text 33"/>
          <p:cNvSpPr/>
          <p:nvPr/>
        </p:nvSpPr>
        <p:spPr>
          <a:xfrm>
            <a:off x="3611880" y="3840480"/>
            <a:ext cx="4937760" cy="59436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Create epics and stories from the scoped PRD. Run sprint planning. Start using /dev-story and /code-review. Every new release cycle repeats: expand the brief, extend the PRD, update architecture.</a:t>
            </a:r>
            <a:endParaRPr lang="en-US" sz="850" dirty="0"/>
          </a:p>
        </p:txBody>
      </p:sp>
      <p:sp>
        <p:nvSpPr>
          <p:cNvPr id="36" name="Text 34"/>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This ramp-up runs alongside normal development — no project freeze. Artifacts grow with every sprint.</a:t>
            </a:r>
            <a:endParaRPr lang="en-US" sz="1000" dirty="0"/>
          </a:p>
        </p:txBody>
      </p:sp>
      <p:sp>
        <p:nvSpPr>
          <p:cNvPr id="37" name="Text 3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52 / 93</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Brownfield Commands Reference</a:t>
            </a:r>
            <a:endParaRPr lang="en-US" sz="2600" dirty="0"/>
          </a:p>
        </p:txBody>
      </p:sp>
      <p:sp>
        <p:nvSpPr>
          <p:cNvPr id="5" name="Shape 3"/>
          <p:cNvSpPr/>
          <p:nvPr/>
        </p:nvSpPr>
        <p:spPr>
          <a:xfrm>
            <a:off x="274320" y="1005840"/>
            <a:ext cx="8595360" cy="274320"/>
          </a:xfrm>
          <a:prstGeom prst="rect">
            <a:avLst/>
          </a:prstGeom>
          <a:solidFill>
            <a:srgbClr val="0F1B2D"/>
          </a:solidFill>
          <a:ln/>
        </p:spPr>
      </p:sp>
      <p:sp>
        <p:nvSpPr>
          <p:cNvPr id="6" name="Text 4"/>
          <p:cNvSpPr/>
          <p:nvPr/>
        </p:nvSpPr>
        <p:spPr>
          <a:xfrm>
            <a:off x="274320" y="1005840"/>
            <a:ext cx="2743200" cy="274320"/>
          </a:xfrm>
          <a:prstGeom prst="rect">
            <a:avLst/>
          </a:prstGeom>
          <a:noFill/>
          <a:ln/>
        </p:spPr>
        <p:txBody>
          <a:bodyPr wrap="square" lIns="0" tIns="63500" rIns="6350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Command</a:t>
            </a:r>
            <a:endParaRPr lang="en-US" sz="900" dirty="0"/>
          </a:p>
        </p:txBody>
      </p:sp>
      <p:sp>
        <p:nvSpPr>
          <p:cNvPr id="7" name="Text 5"/>
          <p:cNvSpPr/>
          <p:nvPr/>
        </p:nvSpPr>
        <p:spPr>
          <a:xfrm>
            <a:off x="3017520" y="1005840"/>
            <a:ext cx="4114800" cy="274320"/>
          </a:xfrm>
          <a:prstGeom prst="rect">
            <a:avLst/>
          </a:prstGeom>
          <a:noFill/>
          <a:ln/>
        </p:spPr>
        <p:txBody>
          <a:bodyPr wrap="square" lIns="0" tIns="63500" rIns="6350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What It Does</a:t>
            </a:r>
            <a:endParaRPr lang="en-US" sz="900" dirty="0"/>
          </a:p>
        </p:txBody>
      </p:sp>
      <p:sp>
        <p:nvSpPr>
          <p:cNvPr id="8" name="Text 6"/>
          <p:cNvSpPr/>
          <p:nvPr/>
        </p:nvSpPr>
        <p:spPr>
          <a:xfrm>
            <a:off x="7132320" y="1005840"/>
            <a:ext cx="1737360" cy="274320"/>
          </a:xfrm>
          <a:prstGeom prst="rect">
            <a:avLst/>
          </a:prstGeom>
          <a:noFill/>
          <a:ln/>
        </p:spPr>
        <p:txBody>
          <a:bodyPr wrap="square" lIns="0" tIns="63500" rIns="6350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Approach</a:t>
            </a:r>
            <a:endParaRPr lang="en-US" sz="900" dirty="0"/>
          </a:p>
        </p:txBody>
      </p:sp>
      <p:sp>
        <p:nvSpPr>
          <p:cNvPr id="9" name="Shape 7"/>
          <p:cNvSpPr/>
          <p:nvPr/>
        </p:nvSpPr>
        <p:spPr>
          <a:xfrm>
            <a:off x="274320" y="1325880"/>
            <a:ext cx="8595360" cy="347472"/>
          </a:xfrm>
          <a:prstGeom prst="rect">
            <a:avLst/>
          </a:prstGeom>
          <a:solidFill>
            <a:srgbClr val="F8FAFC"/>
          </a:solidFill>
          <a:ln/>
        </p:spPr>
      </p:sp>
      <p:sp>
        <p:nvSpPr>
          <p:cNvPr id="10" name="Shape 8"/>
          <p:cNvSpPr/>
          <p:nvPr/>
        </p:nvSpPr>
        <p:spPr>
          <a:xfrm>
            <a:off x="274320" y="1325880"/>
            <a:ext cx="45720" cy="347472"/>
          </a:xfrm>
          <a:prstGeom prst="rect">
            <a:avLst/>
          </a:prstGeom>
          <a:solidFill>
            <a:srgbClr val="6366F1"/>
          </a:solidFill>
          <a:ln/>
        </p:spPr>
      </p:sp>
      <p:sp>
        <p:nvSpPr>
          <p:cNvPr id="11" name="Text 9"/>
          <p:cNvSpPr/>
          <p:nvPr/>
        </p:nvSpPr>
        <p:spPr>
          <a:xfrm>
            <a:off x="411480" y="1325880"/>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npx bmad-method flatten</a:t>
            </a:r>
            <a:endParaRPr lang="en-US" sz="800" dirty="0"/>
          </a:p>
        </p:txBody>
      </p:sp>
      <p:sp>
        <p:nvSpPr>
          <p:cNvPr id="12" name="Text 10"/>
          <p:cNvSpPr/>
          <p:nvPr/>
        </p:nvSpPr>
        <p:spPr>
          <a:xfrm>
            <a:off x="3017520" y="1325880"/>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Converts entire codebase into AI-consumable XML. Respects ignore patterns.</a:t>
            </a:r>
            <a:endParaRPr lang="en-US" sz="800" dirty="0"/>
          </a:p>
        </p:txBody>
      </p:sp>
      <p:sp>
        <p:nvSpPr>
          <p:cNvPr id="13" name="Text 11"/>
          <p:cNvSpPr/>
          <p:nvPr/>
        </p:nvSpPr>
        <p:spPr>
          <a:xfrm>
            <a:off x="7132320" y="1325880"/>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Document-First</a:t>
            </a:r>
            <a:endParaRPr lang="en-US" sz="750" dirty="0"/>
          </a:p>
        </p:txBody>
      </p:sp>
      <p:sp>
        <p:nvSpPr>
          <p:cNvPr id="14" name="Shape 12"/>
          <p:cNvSpPr/>
          <p:nvPr/>
        </p:nvSpPr>
        <p:spPr>
          <a:xfrm>
            <a:off x="274320" y="1700784"/>
            <a:ext cx="8595360" cy="347472"/>
          </a:xfrm>
          <a:prstGeom prst="rect">
            <a:avLst/>
          </a:prstGeom>
          <a:solidFill>
            <a:srgbClr val="FFFFFF"/>
          </a:solidFill>
          <a:ln/>
        </p:spPr>
      </p:sp>
      <p:sp>
        <p:nvSpPr>
          <p:cNvPr id="15" name="Shape 13"/>
          <p:cNvSpPr/>
          <p:nvPr/>
        </p:nvSpPr>
        <p:spPr>
          <a:xfrm>
            <a:off x="274320" y="1700784"/>
            <a:ext cx="45720" cy="347472"/>
          </a:xfrm>
          <a:prstGeom prst="rect">
            <a:avLst/>
          </a:prstGeom>
          <a:solidFill>
            <a:srgbClr val="3B82F6"/>
          </a:solidFill>
          <a:ln/>
        </p:spPr>
      </p:sp>
      <p:sp>
        <p:nvSpPr>
          <p:cNvPr id="16" name="Text 14"/>
          <p:cNvSpPr/>
          <p:nvPr/>
        </p:nvSpPr>
        <p:spPr>
          <a:xfrm>
            <a:off x="411480" y="1700784"/>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*document-project</a:t>
            </a:r>
            <a:endParaRPr lang="en-US" sz="800" dirty="0"/>
          </a:p>
        </p:txBody>
      </p:sp>
      <p:sp>
        <p:nvSpPr>
          <p:cNvPr id="17" name="Text 15"/>
          <p:cNvSpPr/>
          <p:nvPr/>
        </p:nvSpPr>
        <p:spPr>
          <a:xfrm>
            <a:off x="3017520" y="1700784"/>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Analyst scans codebase, generates architecture, APIs, data models, master index.</a:t>
            </a:r>
            <a:endParaRPr lang="en-US" sz="800" dirty="0"/>
          </a:p>
        </p:txBody>
      </p:sp>
      <p:sp>
        <p:nvSpPr>
          <p:cNvPr id="18" name="Text 16"/>
          <p:cNvSpPr/>
          <p:nvPr/>
        </p:nvSpPr>
        <p:spPr>
          <a:xfrm>
            <a:off x="7132320" y="1700784"/>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Document-First</a:t>
            </a:r>
            <a:endParaRPr lang="en-US" sz="750" dirty="0"/>
          </a:p>
        </p:txBody>
      </p:sp>
      <p:sp>
        <p:nvSpPr>
          <p:cNvPr id="19" name="Shape 17"/>
          <p:cNvSpPr/>
          <p:nvPr/>
        </p:nvSpPr>
        <p:spPr>
          <a:xfrm>
            <a:off x="274320" y="2075688"/>
            <a:ext cx="8595360" cy="347472"/>
          </a:xfrm>
          <a:prstGeom prst="rect">
            <a:avLst/>
          </a:prstGeom>
          <a:solidFill>
            <a:srgbClr val="F8FAFC"/>
          </a:solidFill>
          <a:ln/>
        </p:spPr>
      </p:sp>
      <p:sp>
        <p:nvSpPr>
          <p:cNvPr id="20" name="Shape 18"/>
          <p:cNvSpPr/>
          <p:nvPr/>
        </p:nvSpPr>
        <p:spPr>
          <a:xfrm>
            <a:off x="274320" y="2075688"/>
            <a:ext cx="45720" cy="347472"/>
          </a:xfrm>
          <a:prstGeom prst="rect">
            <a:avLst/>
          </a:prstGeom>
          <a:solidFill>
            <a:srgbClr val="8B5CF6"/>
          </a:solidFill>
          <a:ln/>
        </p:spPr>
      </p:sp>
      <p:sp>
        <p:nvSpPr>
          <p:cNvPr id="21" name="Text 19"/>
          <p:cNvSpPr/>
          <p:nvPr/>
        </p:nvSpPr>
        <p:spPr>
          <a:xfrm>
            <a:off x="411480" y="2075688"/>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/generate-project-context</a:t>
            </a:r>
            <a:endParaRPr lang="en-US" sz="800" dirty="0"/>
          </a:p>
        </p:txBody>
      </p:sp>
      <p:sp>
        <p:nvSpPr>
          <p:cNvPr id="22" name="Text 20"/>
          <p:cNvSpPr/>
          <p:nvPr/>
        </p:nvSpPr>
        <p:spPr>
          <a:xfrm>
            <a:off x="3017520" y="2075688"/>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Captures conventions and rules from existing code into project-context.md.</a:t>
            </a:r>
            <a:endParaRPr lang="en-US" sz="800" dirty="0"/>
          </a:p>
        </p:txBody>
      </p:sp>
      <p:sp>
        <p:nvSpPr>
          <p:cNvPr id="23" name="Text 21"/>
          <p:cNvSpPr/>
          <p:nvPr/>
        </p:nvSpPr>
        <p:spPr>
          <a:xfrm>
            <a:off x="7132320" y="2075688"/>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Both</a:t>
            </a:r>
            <a:endParaRPr lang="en-US" sz="750" dirty="0"/>
          </a:p>
        </p:txBody>
      </p:sp>
      <p:sp>
        <p:nvSpPr>
          <p:cNvPr id="24" name="Shape 22"/>
          <p:cNvSpPr/>
          <p:nvPr/>
        </p:nvSpPr>
        <p:spPr>
          <a:xfrm>
            <a:off x="274320" y="2450592"/>
            <a:ext cx="8595360" cy="347472"/>
          </a:xfrm>
          <a:prstGeom prst="rect">
            <a:avLst/>
          </a:prstGeom>
          <a:solidFill>
            <a:srgbClr val="FFFFFF"/>
          </a:solidFill>
          <a:ln/>
        </p:spPr>
      </p:sp>
      <p:sp>
        <p:nvSpPr>
          <p:cNvPr id="25" name="Shape 23"/>
          <p:cNvSpPr/>
          <p:nvPr/>
        </p:nvSpPr>
        <p:spPr>
          <a:xfrm>
            <a:off x="274320" y="2450592"/>
            <a:ext cx="45720" cy="347472"/>
          </a:xfrm>
          <a:prstGeom prst="rect">
            <a:avLst/>
          </a:prstGeom>
          <a:solidFill>
            <a:srgbClr val="10B981"/>
          </a:solidFill>
          <a:ln/>
        </p:spPr>
      </p:sp>
      <p:sp>
        <p:nvSpPr>
          <p:cNvPr id="26" name="Text 24"/>
          <p:cNvSpPr/>
          <p:nvPr/>
        </p:nvSpPr>
        <p:spPr>
          <a:xfrm>
            <a:off x="411480" y="2450592"/>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*create-brownfield-prd</a:t>
            </a:r>
            <a:endParaRPr lang="en-US" sz="800" dirty="0"/>
          </a:p>
        </p:txBody>
      </p:sp>
      <p:sp>
        <p:nvSpPr>
          <p:cNvPr id="27" name="Text 25"/>
          <p:cNvSpPr/>
          <p:nvPr/>
        </p:nvSpPr>
        <p:spPr>
          <a:xfrm>
            <a:off x="3017520" y="2450592"/>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PRD creation that respects existing system constraints and integration points.</a:t>
            </a:r>
            <a:endParaRPr lang="en-US" sz="800" dirty="0"/>
          </a:p>
        </p:txBody>
      </p:sp>
      <p:sp>
        <p:nvSpPr>
          <p:cNvPr id="28" name="Text 26"/>
          <p:cNvSpPr/>
          <p:nvPr/>
        </p:nvSpPr>
        <p:spPr>
          <a:xfrm>
            <a:off x="7132320" y="2450592"/>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Both</a:t>
            </a:r>
            <a:endParaRPr lang="en-US" sz="750" dirty="0"/>
          </a:p>
        </p:txBody>
      </p:sp>
      <p:sp>
        <p:nvSpPr>
          <p:cNvPr id="29" name="Shape 27"/>
          <p:cNvSpPr/>
          <p:nvPr/>
        </p:nvSpPr>
        <p:spPr>
          <a:xfrm>
            <a:off x="274320" y="2825496"/>
            <a:ext cx="8595360" cy="347472"/>
          </a:xfrm>
          <a:prstGeom prst="rect">
            <a:avLst/>
          </a:prstGeom>
          <a:solidFill>
            <a:srgbClr val="F8FAFC"/>
          </a:solidFill>
          <a:ln/>
        </p:spPr>
      </p:sp>
      <p:sp>
        <p:nvSpPr>
          <p:cNvPr id="30" name="Shape 28"/>
          <p:cNvSpPr/>
          <p:nvPr/>
        </p:nvSpPr>
        <p:spPr>
          <a:xfrm>
            <a:off x="274320" y="2825496"/>
            <a:ext cx="45720" cy="347472"/>
          </a:xfrm>
          <a:prstGeom prst="rect">
            <a:avLst/>
          </a:prstGeom>
          <a:solidFill>
            <a:srgbClr val="0D9488"/>
          </a:solidFill>
          <a:ln/>
        </p:spPr>
      </p:sp>
      <p:sp>
        <p:nvSpPr>
          <p:cNvPr id="31" name="Text 29"/>
          <p:cNvSpPr/>
          <p:nvPr/>
        </p:nvSpPr>
        <p:spPr>
          <a:xfrm>
            <a:off x="411480" y="2825496"/>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*create-brownfield-architecture</a:t>
            </a:r>
            <a:endParaRPr lang="en-US" sz="800" dirty="0"/>
          </a:p>
        </p:txBody>
      </p:sp>
      <p:sp>
        <p:nvSpPr>
          <p:cNvPr id="32" name="Text 30"/>
          <p:cNvSpPr/>
          <p:nvPr/>
        </p:nvSpPr>
        <p:spPr>
          <a:xfrm>
            <a:off x="3017520" y="2825496"/>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Architecture focused on integration with existing modules, not full redesign.</a:t>
            </a:r>
            <a:endParaRPr lang="en-US" sz="800" dirty="0"/>
          </a:p>
        </p:txBody>
      </p:sp>
      <p:sp>
        <p:nvSpPr>
          <p:cNvPr id="33" name="Text 31"/>
          <p:cNvSpPr/>
          <p:nvPr/>
        </p:nvSpPr>
        <p:spPr>
          <a:xfrm>
            <a:off x="7132320" y="2825496"/>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Both</a:t>
            </a:r>
            <a:endParaRPr lang="en-US" sz="750" dirty="0"/>
          </a:p>
        </p:txBody>
      </p:sp>
      <p:sp>
        <p:nvSpPr>
          <p:cNvPr id="34" name="Shape 32"/>
          <p:cNvSpPr/>
          <p:nvPr/>
        </p:nvSpPr>
        <p:spPr>
          <a:xfrm>
            <a:off x="274320" y="3200400"/>
            <a:ext cx="8595360" cy="347472"/>
          </a:xfrm>
          <a:prstGeom prst="rect">
            <a:avLst/>
          </a:prstGeom>
          <a:solidFill>
            <a:srgbClr val="FFFFFF"/>
          </a:solidFill>
          <a:ln/>
        </p:spPr>
      </p:sp>
      <p:sp>
        <p:nvSpPr>
          <p:cNvPr id="35" name="Shape 33"/>
          <p:cNvSpPr/>
          <p:nvPr/>
        </p:nvSpPr>
        <p:spPr>
          <a:xfrm>
            <a:off x="274320" y="3200400"/>
            <a:ext cx="45720" cy="347472"/>
          </a:xfrm>
          <a:prstGeom prst="rect">
            <a:avLst/>
          </a:prstGeom>
          <a:solidFill>
            <a:srgbClr val="F59E0B"/>
          </a:solidFill>
          <a:ln/>
        </p:spPr>
      </p:sp>
      <p:sp>
        <p:nvSpPr>
          <p:cNvPr id="36" name="Text 34"/>
          <p:cNvSpPr/>
          <p:nvPr/>
        </p:nvSpPr>
        <p:spPr>
          <a:xfrm>
            <a:off x="411480" y="3200400"/>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*create-brownfield-epic</a:t>
            </a:r>
            <a:endParaRPr lang="en-US" sz="800" dirty="0"/>
          </a:p>
        </p:txBody>
      </p:sp>
      <p:sp>
        <p:nvSpPr>
          <p:cNvPr id="37" name="Text 35"/>
          <p:cNvSpPr/>
          <p:nvPr/>
        </p:nvSpPr>
        <p:spPr>
          <a:xfrm>
            <a:off x="3017520" y="3200400"/>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Lightweight epic creation for 1–3 story enhancements. Includes integration context.</a:t>
            </a:r>
            <a:endParaRPr lang="en-US" sz="800" dirty="0"/>
          </a:p>
        </p:txBody>
      </p:sp>
      <p:sp>
        <p:nvSpPr>
          <p:cNvPr id="38" name="Text 36"/>
          <p:cNvSpPr/>
          <p:nvPr/>
        </p:nvSpPr>
        <p:spPr>
          <a:xfrm>
            <a:off x="7132320" y="3200400"/>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Quick / Incremental</a:t>
            </a:r>
            <a:endParaRPr lang="en-US" sz="750" dirty="0"/>
          </a:p>
        </p:txBody>
      </p:sp>
      <p:sp>
        <p:nvSpPr>
          <p:cNvPr id="39" name="Shape 37"/>
          <p:cNvSpPr/>
          <p:nvPr/>
        </p:nvSpPr>
        <p:spPr>
          <a:xfrm>
            <a:off x="274320" y="3575304"/>
            <a:ext cx="8595360" cy="347472"/>
          </a:xfrm>
          <a:prstGeom prst="rect">
            <a:avLst/>
          </a:prstGeom>
          <a:solidFill>
            <a:srgbClr val="F8FAFC"/>
          </a:solidFill>
          <a:ln/>
        </p:spPr>
      </p:sp>
      <p:sp>
        <p:nvSpPr>
          <p:cNvPr id="40" name="Shape 38"/>
          <p:cNvSpPr/>
          <p:nvPr/>
        </p:nvSpPr>
        <p:spPr>
          <a:xfrm>
            <a:off x="274320" y="3575304"/>
            <a:ext cx="45720" cy="347472"/>
          </a:xfrm>
          <a:prstGeom prst="rect">
            <a:avLst/>
          </a:prstGeom>
          <a:solidFill>
            <a:srgbClr val="EA580C"/>
          </a:solidFill>
          <a:ln/>
        </p:spPr>
      </p:sp>
      <p:sp>
        <p:nvSpPr>
          <p:cNvPr id="41" name="Text 39"/>
          <p:cNvSpPr/>
          <p:nvPr/>
        </p:nvSpPr>
        <p:spPr>
          <a:xfrm>
            <a:off x="411480" y="3575304"/>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*create-brownfield-story</a:t>
            </a:r>
            <a:endParaRPr lang="en-US" sz="800" dirty="0"/>
          </a:p>
        </p:txBody>
      </p:sp>
      <p:sp>
        <p:nvSpPr>
          <p:cNvPr id="42" name="Text 40"/>
          <p:cNvSpPr/>
          <p:nvPr/>
        </p:nvSpPr>
        <p:spPr>
          <a:xfrm>
            <a:off x="3017520" y="3575304"/>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Single story creation with existing code patterns and regression awareness.</a:t>
            </a:r>
            <a:endParaRPr lang="en-US" sz="800" dirty="0"/>
          </a:p>
        </p:txBody>
      </p:sp>
      <p:sp>
        <p:nvSpPr>
          <p:cNvPr id="43" name="Text 41"/>
          <p:cNvSpPr/>
          <p:nvPr/>
        </p:nvSpPr>
        <p:spPr>
          <a:xfrm>
            <a:off x="7132320" y="3575304"/>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Quick Work</a:t>
            </a:r>
            <a:endParaRPr lang="en-US" sz="750" dirty="0"/>
          </a:p>
        </p:txBody>
      </p:sp>
      <p:sp>
        <p:nvSpPr>
          <p:cNvPr id="44" name="Shape 42"/>
          <p:cNvSpPr/>
          <p:nvPr/>
        </p:nvSpPr>
        <p:spPr>
          <a:xfrm>
            <a:off x="274320" y="3950208"/>
            <a:ext cx="8595360" cy="347472"/>
          </a:xfrm>
          <a:prstGeom prst="rect">
            <a:avLst/>
          </a:prstGeom>
          <a:solidFill>
            <a:srgbClr val="FFFFFF"/>
          </a:solidFill>
          <a:ln/>
        </p:spPr>
      </p:sp>
      <p:sp>
        <p:nvSpPr>
          <p:cNvPr id="45" name="Shape 43"/>
          <p:cNvSpPr/>
          <p:nvPr/>
        </p:nvSpPr>
        <p:spPr>
          <a:xfrm>
            <a:off x="274320" y="3950208"/>
            <a:ext cx="45720" cy="347472"/>
          </a:xfrm>
          <a:prstGeom prst="rect">
            <a:avLst/>
          </a:prstGeom>
          <a:solidFill>
            <a:srgbClr val="EF4444"/>
          </a:solidFill>
          <a:ln/>
        </p:spPr>
      </p:sp>
      <p:sp>
        <p:nvSpPr>
          <p:cNvPr id="46" name="Text 44"/>
          <p:cNvSpPr/>
          <p:nvPr/>
        </p:nvSpPr>
        <p:spPr>
          <a:xfrm>
            <a:off x="411480" y="3950208"/>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/quick-spec → /quick-dev</a:t>
            </a:r>
            <a:endParaRPr lang="en-US" sz="800" dirty="0"/>
          </a:p>
        </p:txBody>
      </p:sp>
      <p:sp>
        <p:nvSpPr>
          <p:cNvPr id="47" name="Text 45"/>
          <p:cNvSpPr/>
          <p:nvPr/>
        </p:nvSpPr>
        <p:spPr>
          <a:xfrm>
            <a:off x="3017520" y="3950208"/>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Full Quick Flow: tech-spec + implementation + adversarial review. No planning docs.</a:t>
            </a:r>
            <a:endParaRPr lang="en-US" sz="800" dirty="0"/>
          </a:p>
        </p:txBody>
      </p:sp>
      <p:sp>
        <p:nvSpPr>
          <p:cNvPr id="48" name="Text 46"/>
          <p:cNvSpPr/>
          <p:nvPr/>
        </p:nvSpPr>
        <p:spPr>
          <a:xfrm>
            <a:off x="7132320" y="3950208"/>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Quick Work</a:t>
            </a:r>
            <a:endParaRPr lang="en-US" sz="750" dirty="0"/>
          </a:p>
        </p:txBody>
      </p:sp>
      <p:sp>
        <p:nvSpPr>
          <p:cNvPr id="49" name="Shape 47"/>
          <p:cNvSpPr/>
          <p:nvPr/>
        </p:nvSpPr>
        <p:spPr>
          <a:xfrm>
            <a:off x="274320" y="4325112"/>
            <a:ext cx="8595360" cy="347472"/>
          </a:xfrm>
          <a:prstGeom prst="rect">
            <a:avLst/>
          </a:prstGeom>
          <a:solidFill>
            <a:srgbClr val="F8FAFC"/>
          </a:solidFill>
          <a:ln/>
        </p:spPr>
      </p:sp>
      <p:sp>
        <p:nvSpPr>
          <p:cNvPr id="50" name="Shape 48"/>
          <p:cNvSpPr/>
          <p:nvPr/>
        </p:nvSpPr>
        <p:spPr>
          <a:xfrm>
            <a:off x="274320" y="4325112"/>
            <a:ext cx="45720" cy="347472"/>
          </a:xfrm>
          <a:prstGeom prst="rect">
            <a:avLst/>
          </a:prstGeom>
          <a:solidFill>
            <a:srgbClr val="EC4899"/>
          </a:solidFill>
          <a:ln/>
        </p:spPr>
      </p:sp>
      <p:sp>
        <p:nvSpPr>
          <p:cNvPr id="51" name="Text 49"/>
          <p:cNvSpPr/>
          <p:nvPr/>
        </p:nvSpPr>
        <p:spPr>
          <a:xfrm>
            <a:off x="411480" y="4325112"/>
            <a:ext cx="2560320" cy="347472"/>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*risk / *design / *review</a:t>
            </a:r>
            <a:endParaRPr lang="en-US" sz="800" dirty="0"/>
          </a:p>
        </p:txBody>
      </p:sp>
      <p:sp>
        <p:nvSpPr>
          <p:cNvPr id="52" name="Text 50"/>
          <p:cNvSpPr/>
          <p:nvPr/>
        </p:nvSpPr>
        <p:spPr>
          <a:xfrm>
            <a:off x="3017520" y="4325112"/>
            <a:ext cx="4114800" cy="347472"/>
          </a:xfrm>
          <a:prstGeom prst="rect">
            <a:avLst/>
          </a:prstGeom>
          <a:noFill/>
          <a:ln/>
        </p:spPr>
        <p:txBody>
          <a:bodyPr wrap="square" lIns="0" tIns="0" rIns="5080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Test Architect: risk assessment, test design, and review for brownfield changes.</a:t>
            </a:r>
            <a:endParaRPr lang="en-US" sz="800" dirty="0"/>
          </a:p>
        </p:txBody>
      </p:sp>
      <p:sp>
        <p:nvSpPr>
          <p:cNvPr id="53" name="Text 51"/>
          <p:cNvSpPr/>
          <p:nvPr/>
        </p:nvSpPr>
        <p:spPr>
          <a:xfrm>
            <a:off x="7132320" y="4325112"/>
            <a:ext cx="1737360" cy="34747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All (mandatory for legacy)</a:t>
            </a:r>
            <a:endParaRPr lang="en-US" sz="750" dirty="0"/>
          </a:p>
        </p:txBody>
      </p:sp>
      <p:sp>
        <p:nvSpPr>
          <p:cNvPr id="54" name="Text 52"/>
          <p:cNvSpPr/>
          <p:nvPr/>
        </p:nvSpPr>
        <p:spPr>
          <a:xfrm>
            <a:off x="274320" y="4709160"/>
            <a:ext cx="859536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The Test Architect (*risk) is mandatory for any brownfield change touching legacy or critical code paths</a:t>
            </a:r>
            <a:endParaRPr lang="en-US" sz="1000" dirty="0"/>
          </a:p>
        </p:txBody>
      </p:sp>
      <p:sp>
        <p:nvSpPr>
          <p:cNvPr id="55" name="Text 5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53 / 93</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9488"/>
        </a:solidFill>
      </p:bgPr>
    </p:bg>
    <p:spTree>
      <p:nvGrpSpPr>
        <p:cNvPr id="1" name=""/>
        <p:cNvGrpSpPr/>
        <p:nvPr/>
      </p:nvGrpSpPr>
      <p:grpSpPr>
        <a:xfrm>
          <a:off x="0" y="0"/>
          <a:ext cx="0" cy="0"/>
          <a:chOff x="0" y="0"/>
          <a:chExt cx="0" cy="0"/>
        </a:xfrm>
      </p:grpSpPr>
      <p:sp>
        <p:nvSpPr>
          <p:cNvPr id="2" name="Text 0"/>
          <p:cNvSpPr/>
          <p:nvPr/>
        </p:nvSpPr>
        <p:spPr>
          <a:xfrm>
            <a:off x="548640" y="1371600"/>
            <a:ext cx="7315200" cy="365760"/>
          </a:xfrm>
          <a:prstGeom prst="rect">
            <a:avLst/>
          </a:prstGeom>
          <a:noFill/>
          <a:ln/>
        </p:spPr>
        <p:txBody>
          <a:bodyPr wrap="square" lIns="0" tIns="0" rIns="0" bIns="0" rtlCol="0" anchor="ctr"/>
          <a:lstStyle/>
          <a:p>
            <a:pPr indent="0" marL="0">
              <a:buNone/>
            </a:pPr>
            <a:r>
              <a:rPr lang="en-US" sz="1400" spc="600" kern="0" dirty="0">
                <a:solidFill>
                  <a:srgbClr val="FFFFFF"/>
                </a:solidFill>
                <a:latin typeface="Calibri" pitchFamily="34" charset="0"/>
                <a:ea typeface="Calibri" pitchFamily="34" charset="-122"/>
                <a:cs typeface="Calibri" pitchFamily="34" charset="-120"/>
              </a:rPr>
              <a:t>SECTION</a:t>
            </a:r>
            <a:endParaRPr lang="en-US" sz="1400" dirty="0"/>
          </a:p>
        </p:txBody>
      </p:sp>
      <p:sp>
        <p:nvSpPr>
          <p:cNvPr id="3" name="Text 1"/>
          <p:cNvSpPr/>
          <p:nvPr/>
        </p:nvSpPr>
        <p:spPr>
          <a:xfrm>
            <a:off x="548640" y="182880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MA-Agents</a:t>
            </a:r>
            <a:endParaRPr lang="en-US" sz="4200" dirty="0"/>
          </a:p>
        </p:txBody>
      </p:sp>
      <p:sp>
        <p:nvSpPr>
          <p:cNvPr id="4" name="Text 2"/>
          <p:cNvSpPr/>
          <p:nvPr/>
        </p:nvSpPr>
        <p:spPr>
          <a:xfrm>
            <a:off x="548640" y="2743200"/>
            <a:ext cx="7315200" cy="457200"/>
          </a:xfrm>
          <a:prstGeom prst="rect">
            <a:avLst/>
          </a:prstGeom>
          <a:noFill/>
          <a:ln/>
        </p:spPr>
        <p:txBody>
          <a:bodyPr wrap="square" lIns="0" tIns="0" rIns="0" bIns="0" rtlCol="0" anchor="ctr"/>
          <a:lstStyle/>
          <a:p>
            <a:pPr indent="0" marL="0">
              <a:buNone/>
            </a:pPr>
            <a:r>
              <a:rPr lang="en-US" sz="1600" dirty="0">
                <a:solidFill>
                  <a:srgbClr val="0F1B2D"/>
                </a:solidFill>
                <a:latin typeface="Calibri" pitchFamily="34" charset="0"/>
                <a:ea typeface="Calibri" pitchFamily="34" charset="-122"/>
                <a:cs typeface="Calibri" pitchFamily="34" charset="-120"/>
              </a:rPr>
              <a:t>Our standards, tools, and quality gates</a:t>
            </a:r>
            <a:endParaRPr lang="en-US" sz="1600" dirty="0"/>
          </a:p>
        </p:txBody>
      </p:sp>
      <p:sp>
        <p:nvSpPr>
          <p:cNvPr id="5" name="Shape 3"/>
          <p:cNvSpPr/>
          <p:nvPr/>
        </p:nvSpPr>
        <p:spPr>
          <a:xfrm>
            <a:off x="548640" y="3383280"/>
            <a:ext cx="1828800" cy="36576"/>
          </a:xfrm>
          <a:prstGeom prst="rect">
            <a:avLst/>
          </a:prstGeom>
          <a:solidFill>
            <a:srgbClr val="FFFFFF"/>
          </a:solidFill>
          <a:ln/>
        </p:spPr>
      </p:sp>
      <p:sp>
        <p:nvSpPr>
          <p:cNvPr id="6" name="Text 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54 / 93</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Our Development Directives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Organizational standards embedded into AI agent behavior</a:t>
            </a:r>
            <a:endParaRPr lang="en-US" sz="1300" dirty="0"/>
          </a:p>
        </p:txBody>
      </p:sp>
      <p:sp>
        <p:nvSpPr>
          <p:cNvPr id="5" name="Shape 3"/>
          <p:cNvSpPr/>
          <p:nvPr/>
        </p:nvSpPr>
        <p:spPr>
          <a:xfrm>
            <a:off x="457200" y="1234440"/>
            <a:ext cx="4114800" cy="868680"/>
          </a:xfrm>
          <a:prstGeom prst="rect">
            <a:avLst/>
          </a:prstGeom>
          <a:solidFill>
            <a:srgbClr val="1A2744"/>
          </a:solidFill>
          <a:ln/>
        </p:spPr>
      </p:sp>
      <p:sp>
        <p:nvSpPr>
          <p:cNvPr id="6" name="Shape 4"/>
          <p:cNvSpPr/>
          <p:nvPr/>
        </p:nvSpPr>
        <p:spPr>
          <a:xfrm>
            <a:off x="594360" y="1371600"/>
            <a:ext cx="502920" cy="50292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685800" y="1463040"/>
            <a:ext cx="320040" cy="320040"/>
          </a:xfrm>
          <a:prstGeom prst="rect">
            <a:avLst/>
          </a:prstGeom>
        </p:spPr>
      </p:pic>
      <p:sp>
        <p:nvSpPr>
          <p:cNvPr id="8" name="Text 5"/>
          <p:cNvSpPr/>
          <p:nvPr/>
        </p:nvSpPr>
        <p:spPr>
          <a:xfrm>
            <a:off x="1234440" y="128016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 Workflow</a:t>
            </a:r>
            <a:endParaRPr lang="en-US" sz="1300" dirty="0"/>
          </a:p>
        </p:txBody>
      </p:sp>
      <p:sp>
        <p:nvSpPr>
          <p:cNvPr id="9" name="Text 6"/>
          <p:cNvSpPr/>
          <p:nvPr/>
        </p:nvSpPr>
        <p:spPr>
          <a:xfrm>
            <a:off x="1234440" y="160020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Feature branch strategy, conventional commits, PR-based merging. No direct pushes to main.</a:t>
            </a:r>
            <a:endParaRPr lang="en-US" sz="1000" dirty="0"/>
          </a:p>
        </p:txBody>
      </p:sp>
      <p:sp>
        <p:nvSpPr>
          <p:cNvPr id="10" name="Shape 7"/>
          <p:cNvSpPr/>
          <p:nvPr/>
        </p:nvSpPr>
        <p:spPr>
          <a:xfrm>
            <a:off x="4846320" y="1234440"/>
            <a:ext cx="4114800" cy="868680"/>
          </a:xfrm>
          <a:prstGeom prst="rect">
            <a:avLst/>
          </a:prstGeom>
          <a:solidFill>
            <a:srgbClr val="1A2744"/>
          </a:solidFill>
          <a:ln/>
        </p:spPr>
      </p:sp>
      <p:sp>
        <p:nvSpPr>
          <p:cNvPr id="11" name="Shape 8"/>
          <p:cNvSpPr/>
          <p:nvPr/>
        </p:nvSpPr>
        <p:spPr>
          <a:xfrm>
            <a:off x="4983480" y="1371600"/>
            <a:ext cx="502920" cy="50292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5074920" y="1463040"/>
            <a:ext cx="320040" cy="320040"/>
          </a:xfrm>
          <a:prstGeom prst="rect">
            <a:avLst/>
          </a:prstGeom>
        </p:spPr>
      </p:pic>
      <p:sp>
        <p:nvSpPr>
          <p:cNvPr id="13" name="Text 9"/>
          <p:cNvSpPr/>
          <p:nvPr/>
        </p:nvSpPr>
        <p:spPr>
          <a:xfrm>
            <a:off x="5623560" y="128016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Code Review</a:t>
            </a:r>
            <a:endParaRPr lang="en-US" sz="1300" dirty="0"/>
          </a:p>
        </p:txBody>
      </p:sp>
      <p:sp>
        <p:nvSpPr>
          <p:cNvPr id="14" name="Text 10"/>
          <p:cNvSpPr/>
          <p:nvPr/>
        </p:nvSpPr>
        <p:spPr>
          <a:xfrm>
            <a:off x="5623560" y="160020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Every PR reviewed by peers + AI agents. Architecture compliance checked before merge.</a:t>
            </a:r>
            <a:endParaRPr lang="en-US" sz="1000" dirty="0"/>
          </a:p>
        </p:txBody>
      </p:sp>
      <p:sp>
        <p:nvSpPr>
          <p:cNvPr id="15" name="Shape 11"/>
          <p:cNvSpPr/>
          <p:nvPr/>
        </p:nvSpPr>
        <p:spPr>
          <a:xfrm>
            <a:off x="457200" y="2286000"/>
            <a:ext cx="4114800" cy="868680"/>
          </a:xfrm>
          <a:prstGeom prst="rect">
            <a:avLst/>
          </a:prstGeom>
          <a:solidFill>
            <a:srgbClr val="1A2744"/>
          </a:solidFill>
          <a:ln/>
        </p:spPr>
      </p:sp>
      <p:sp>
        <p:nvSpPr>
          <p:cNvPr id="16" name="Shape 12"/>
          <p:cNvSpPr/>
          <p:nvPr/>
        </p:nvSpPr>
        <p:spPr>
          <a:xfrm>
            <a:off x="594360" y="2423160"/>
            <a:ext cx="502920" cy="50292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685800" y="2514600"/>
            <a:ext cx="320040" cy="320040"/>
          </a:xfrm>
          <a:prstGeom prst="rect">
            <a:avLst/>
          </a:prstGeom>
        </p:spPr>
      </p:pic>
      <p:sp>
        <p:nvSpPr>
          <p:cNvPr id="18" name="Text 13"/>
          <p:cNvSpPr/>
          <p:nvPr/>
        </p:nvSpPr>
        <p:spPr>
          <a:xfrm>
            <a:off x="1234440" y="233172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Security (SSDLC)</a:t>
            </a:r>
            <a:endParaRPr lang="en-US" sz="1300" dirty="0"/>
          </a:p>
        </p:txBody>
      </p:sp>
      <p:sp>
        <p:nvSpPr>
          <p:cNvPr id="19" name="Text 14"/>
          <p:cNvSpPr/>
          <p:nvPr/>
        </p:nvSpPr>
        <p:spPr>
          <a:xfrm>
            <a:off x="1234440" y="265176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Security scanning in CI/CD pipeline. Secrets management. Vulnerability assessment per story.</a:t>
            </a:r>
            <a:endParaRPr lang="en-US" sz="1000" dirty="0"/>
          </a:p>
        </p:txBody>
      </p:sp>
      <p:sp>
        <p:nvSpPr>
          <p:cNvPr id="20" name="Shape 15"/>
          <p:cNvSpPr/>
          <p:nvPr/>
        </p:nvSpPr>
        <p:spPr>
          <a:xfrm>
            <a:off x="4846320" y="2286000"/>
            <a:ext cx="4114800" cy="868680"/>
          </a:xfrm>
          <a:prstGeom prst="rect">
            <a:avLst/>
          </a:prstGeom>
          <a:solidFill>
            <a:srgbClr val="1A2744"/>
          </a:solidFill>
          <a:ln/>
        </p:spPr>
      </p:sp>
      <p:sp>
        <p:nvSpPr>
          <p:cNvPr id="21" name="Shape 16"/>
          <p:cNvSpPr/>
          <p:nvPr/>
        </p:nvSpPr>
        <p:spPr>
          <a:xfrm>
            <a:off x="4983480" y="2423160"/>
            <a:ext cx="502920" cy="50292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5074920" y="2514600"/>
            <a:ext cx="320040" cy="320040"/>
          </a:xfrm>
          <a:prstGeom prst="rect">
            <a:avLst/>
          </a:prstGeom>
        </p:spPr>
      </p:pic>
      <p:sp>
        <p:nvSpPr>
          <p:cNvPr id="23" name="Text 17"/>
          <p:cNvSpPr/>
          <p:nvPr/>
        </p:nvSpPr>
        <p:spPr>
          <a:xfrm>
            <a:off x="5623560" y="233172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Testing Standards</a:t>
            </a:r>
            <a:endParaRPr lang="en-US" sz="1300" dirty="0"/>
          </a:p>
        </p:txBody>
      </p:sp>
      <p:sp>
        <p:nvSpPr>
          <p:cNvPr id="24" name="Text 18"/>
          <p:cNvSpPr/>
          <p:nvPr/>
        </p:nvSpPr>
        <p:spPr>
          <a:xfrm>
            <a:off x="5623560" y="265176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Unit tests required per story. Integration tests for APIs. Coverage thresholds enforced.</a:t>
            </a:r>
            <a:endParaRPr lang="en-US" sz="1000" dirty="0"/>
          </a:p>
        </p:txBody>
      </p:sp>
      <p:sp>
        <p:nvSpPr>
          <p:cNvPr id="25" name="Shape 19"/>
          <p:cNvSpPr/>
          <p:nvPr/>
        </p:nvSpPr>
        <p:spPr>
          <a:xfrm>
            <a:off x="457200" y="3337560"/>
            <a:ext cx="4114800" cy="868680"/>
          </a:xfrm>
          <a:prstGeom prst="rect">
            <a:avLst/>
          </a:prstGeom>
          <a:solidFill>
            <a:srgbClr val="1A2744"/>
          </a:solidFill>
          <a:ln/>
        </p:spPr>
      </p:sp>
      <p:sp>
        <p:nvSpPr>
          <p:cNvPr id="26" name="Shape 20"/>
          <p:cNvSpPr/>
          <p:nvPr/>
        </p:nvSpPr>
        <p:spPr>
          <a:xfrm>
            <a:off x="594360" y="3474720"/>
            <a:ext cx="502920" cy="502920"/>
          </a:xfrm>
          <a:prstGeom prst="ellipse">
            <a:avLst/>
          </a:prstGeom>
          <a:solidFill>
            <a:srgbClr val="0D9488"/>
          </a:solidFill>
          <a:ln/>
        </p:spPr>
      </p:sp>
      <p:pic>
        <p:nvPicPr>
          <p:cNvPr id="27" name="Image 4" descr="preencoded.png">    </p:cNvPr>
          <p:cNvPicPr>
            <a:picLocks noChangeAspect="1"/>
          </p:cNvPicPr>
          <p:nvPr/>
        </p:nvPicPr>
        <p:blipFill>
          <a:blip r:embed="rId5"/>
          <a:stretch>
            <a:fillRect/>
          </a:stretch>
        </p:blipFill>
        <p:spPr>
          <a:xfrm>
            <a:off x="685800" y="3566160"/>
            <a:ext cx="320040" cy="320040"/>
          </a:xfrm>
          <a:prstGeom prst="rect">
            <a:avLst/>
          </a:prstGeom>
        </p:spPr>
      </p:pic>
      <p:sp>
        <p:nvSpPr>
          <p:cNvPr id="28" name="Text 21"/>
          <p:cNvSpPr/>
          <p:nvPr/>
        </p:nvSpPr>
        <p:spPr>
          <a:xfrm>
            <a:off x="1234440" y="338328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Coding Standards</a:t>
            </a:r>
            <a:endParaRPr lang="en-US" sz="1300" dirty="0"/>
          </a:p>
        </p:txBody>
      </p:sp>
      <p:sp>
        <p:nvSpPr>
          <p:cNvPr id="29" name="Text 22"/>
          <p:cNvSpPr/>
          <p:nvPr/>
        </p:nvSpPr>
        <p:spPr>
          <a:xfrm>
            <a:off x="1234440" y="370332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Language-specific style guides. Naming conventions. Documentation requirements for public APIs.</a:t>
            </a:r>
            <a:endParaRPr lang="en-US" sz="1000" dirty="0"/>
          </a:p>
        </p:txBody>
      </p:sp>
      <p:sp>
        <p:nvSpPr>
          <p:cNvPr id="30" name="Shape 23"/>
          <p:cNvSpPr/>
          <p:nvPr/>
        </p:nvSpPr>
        <p:spPr>
          <a:xfrm>
            <a:off x="4846320" y="3337560"/>
            <a:ext cx="4114800" cy="868680"/>
          </a:xfrm>
          <a:prstGeom prst="rect">
            <a:avLst/>
          </a:prstGeom>
          <a:solidFill>
            <a:srgbClr val="1A2744"/>
          </a:solidFill>
          <a:ln/>
        </p:spPr>
      </p:sp>
      <p:sp>
        <p:nvSpPr>
          <p:cNvPr id="31" name="Shape 24"/>
          <p:cNvSpPr/>
          <p:nvPr/>
        </p:nvSpPr>
        <p:spPr>
          <a:xfrm>
            <a:off x="4983480" y="3474720"/>
            <a:ext cx="502920" cy="502920"/>
          </a:xfrm>
          <a:prstGeom prst="ellipse">
            <a:avLst/>
          </a:prstGeom>
          <a:solidFill>
            <a:srgbClr val="0D9488"/>
          </a:solidFill>
          <a:ln/>
        </p:spPr>
      </p:sp>
      <p:pic>
        <p:nvPicPr>
          <p:cNvPr id="32" name="Image 5" descr="preencoded.png">    </p:cNvPr>
          <p:cNvPicPr>
            <a:picLocks noChangeAspect="1"/>
          </p:cNvPicPr>
          <p:nvPr/>
        </p:nvPicPr>
        <p:blipFill>
          <a:blip r:embed="rId6"/>
          <a:stretch>
            <a:fillRect/>
          </a:stretch>
        </p:blipFill>
        <p:spPr>
          <a:xfrm>
            <a:off x="5074920" y="3566160"/>
            <a:ext cx="320040" cy="320040"/>
          </a:xfrm>
          <a:prstGeom prst="rect">
            <a:avLst/>
          </a:prstGeom>
        </p:spPr>
      </p:pic>
      <p:sp>
        <p:nvSpPr>
          <p:cNvPr id="33" name="Text 25"/>
          <p:cNvSpPr/>
          <p:nvPr/>
        </p:nvSpPr>
        <p:spPr>
          <a:xfrm>
            <a:off x="5623560" y="3383280"/>
            <a:ext cx="31089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Gates</a:t>
            </a:r>
            <a:endParaRPr lang="en-US" sz="1300" dirty="0"/>
          </a:p>
        </p:txBody>
      </p:sp>
      <p:sp>
        <p:nvSpPr>
          <p:cNvPr id="34" name="Text 26"/>
          <p:cNvSpPr/>
          <p:nvPr/>
        </p:nvSpPr>
        <p:spPr>
          <a:xfrm>
            <a:off x="5623560" y="3703320"/>
            <a:ext cx="3108960" cy="41148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Staging validation required. Health checks. Rollback procedures. Air-gap deployment support.</a:t>
            </a:r>
            <a:endParaRPr lang="en-US" sz="1000" dirty="0"/>
          </a:p>
        </p:txBody>
      </p:sp>
      <p:sp>
        <p:nvSpPr>
          <p:cNvPr id="35" name="Text 27"/>
          <p:cNvSpPr/>
          <p:nvPr/>
        </p:nvSpPr>
        <p:spPr>
          <a:xfrm>
            <a:off x="457200" y="4434840"/>
            <a:ext cx="8229600" cy="365760"/>
          </a:xfrm>
          <a:prstGeom prst="rect">
            <a:avLst/>
          </a:prstGeom>
          <a:noFill/>
          <a:ln/>
        </p:spPr>
        <p:txBody>
          <a:bodyPr wrap="square" rtlCol="0" anchor="ctr"/>
          <a:lstStyle/>
          <a:p>
            <a:pPr algn="ctr" indent="0" marL="0">
              <a:buNone/>
            </a:pPr>
            <a:r>
              <a:rPr lang="en-US" sz="1100" i="1" dirty="0">
                <a:solidFill>
                  <a:srgbClr val="14B8A6"/>
                </a:solidFill>
                <a:latin typeface="Calibri" pitchFamily="34" charset="0"/>
                <a:ea typeface="Calibri" pitchFamily="34" charset="-122"/>
                <a:cs typeface="Calibri" pitchFamily="34" charset="-120"/>
              </a:rPr>
              <a:t>These directives are not just documentation — they are enforced by custom agent skills and tools</a:t>
            </a:r>
            <a:endParaRPr lang="en-US" sz="1100" dirty="0"/>
          </a:p>
        </p:txBody>
      </p:sp>
      <p:sp>
        <p:nvSpPr>
          <p:cNvPr id="36" name="Text 28"/>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55 / 93</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Custom Skills &amp; Tools</a:t>
            </a:r>
            <a:endParaRPr lang="en-US" sz="2600" dirty="0"/>
          </a:p>
        </p:txBody>
      </p:sp>
      <p:sp>
        <p:nvSpPr>
          <p:cNvPr id="5" name="Text 3"/>
          <p:cNvSpPr/>
          <p:nvPr/>
        </p:nvSpPr>
        <p:spPr>
          <a:xfrm>
            <a:off x="457200" y="1051560"/>
            <a:ext cx="8229600" cy="320040"/>
          </a:xfrm>
          <a:prstGeom prst="rect">
            <a:avLst/>
          </a:prstGeom>
          <a:noFill/>
          <a:ln/>
        </p:spPr>
        <p:txBody>
          <a:bodyPr wrap="square"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How organizational rules are embedded in BMAD agents</a:t>
            </a:r>
            <a:endParaRPr lang="en-US" sz="1300" dirty="0"/>
          </a:p>
        </p:txBody>
      </p:sp>
      <p:sp>
        <p:nvSpPr>
          <p:cNvPr id="6" name="Shape 4"/>
          <p:cNvSpPr/>
          <p:nvPr/>
        </p:nvSpPr>
        <p:spPr>
          <a:xfrm>
            <a:off x="457200" y="1554480"/>
            <a:ext cx="393192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554480"/>
            <a:ext cx="3931920" cy="411480"/>
          </a:xfrm>
          <a:prstGeom prst="rect">
            <a:avLst/>
          </a:prstGeom>
          <a:solidFill>
            <a:srgbClr val="0F1B2D"/>
          </a:solidFill>
          <a:ln/>
        </p:spPr>
      </p:sp>
      <p:sp>
        <p:nvSpPr>
          <p:cNvPr id="8" name="Text 6"/>
          <p:cNvSpPr/>
          <p:nvPr/>
        </p:nvSpPr>
        <p:spPr>
          <a:xfrm>
            <a:off x="640080" y="1572768"/>
            <a:ext cx="2743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Skills</a:t>
            </a:r>
            <a:endParaRPr lang="en-US" sz="1400" dirty="0"/>
          </a:p>
        </p:txBody>
      </p:sp>
      <p:pic>
        <p:nvPicPr>
          <p:cNvPr id="9" name="Image 0" descr="preencoded.png">    </p:cNvPr>
          <p:cNvPicPr>
            <a:picLocks noChangeAspect="1"/>
          </p:cNvPicPr>
          <p:nvPr/>
        </p:nvPicPr>
        <p:blipFill>
          <a:blip r:embed="rId1"/>
          <a:stretch>
            <a:fillRect/>
          </a:stretch>
        </p:blipFill>
        <p:spPr>
          <a:xfrm>
            <a:off x="640080" y="2148840"/>
            <a:ext cx="201168" cy="201168"/>
          </a:xfrm>
          <a:prstGeom prst="rect">
            <a:avLst/>
          </a:prstGeom>
        </p:spPr>
      </p:pic>
      <p:sp>
        <p:nvSpPr>
          <p:cNvPr id="10" name="Text 7"/>
          <p:cNvSpPr/>
          <p:nvPr/>
        </p:nvSpPr>
        <p:spPr>
          <a:xfrm>
            <a:off x="960120" y="21031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Reusable capabilities agents can invoke</a:t>
            </a:r>
            <a:endParaRPr lang="en-US" sz="1050" dirty="0"/>
          </a:p>
        </p:txBody>
      </p:sp>
      <p:pic>
        <p:nvPicPr>
          <p:cNvPr id="11" name="Image 1" descr="preencoded.png">    </p:cNvPr>
          <p:cNvPicPr>
            <a:picLocks noChangeAspect="1"/>
          </p:cNvPicPr>
          <p:nvPr/>
        </p:nvPicPr>
        <p:blipFill>
          <a:blip r:embed="rId2"/>
          <a:stretch>
            <a:fillRect/>
          </a:stretch>
        </p:blipFill>
        <p:spPr>
          <a:xfrm>
            <a:off x="640080" y="2606040"/>
            <a:ext cx="201168" cy="201168"/>
          </a:xfrm>
          <a:prstGeom prst="rect">
            <a:avLst/>
          </a:prstGeom>
        </p:spPr>
      </p:pic>
      <p:sp>
        <p:nvSpPr>
          <p:cNvPr id="12" name="Text 8"/>
          <p:cNvSpPr/>
          <p:nvPr/>
        </p:nvSpPr>
        <p:spPr>
          <a:xfrm>
            <a:off x="960120" y="25603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Enforce specific standards automatically</a:t>
            </a:r>
            <a:endParaRPr lang="en-US" sz="1050" dirty="0"/>
          </a:p>
        </p:txBody>
      </p:sp>
      <p:pic>
        <p:nvPicPr>
          <p:cNvPr id="13" name="Image 2" descr="preencoded.png">    </p:cNvPr>
          <p:cNvPicPr>
            <a:picLocks noChangeAspect="1"/>
          </p:cNvPicPr>
          <p:nvPr/>
        </p:nvPicPr>
        <p:blipFill>
          <a:blip r:embed="rId3"/>
          <a:stretch>
            <a:fillRect/>
          </a:stretch>
        </p:blipFill>
        <p:spPr>
          <a:xfrm>
            <a:off x="640080" y="3063240"/>
            <a:ext cx="201168" cy="201168"/>
          </a:xfrm>
          <a:prstGeom prst="rect">
            <a:avLst/>
          </a:prstGeom>
        </p:spPr>
      </p:pic>
      <p:sp>
        <p:nvSpPr>
          <p:cNvPr id="14" name="Text 9"/>
          <p:cNvSpPr/>
          <p:nvPr/>
        </p:nvSpPr>
        <p:spPr>
          <a:xfrm>
            <a:off x="960120" y="30175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Version-controlled alongside agents</a:t>
            </a:r>
            <a:endParaRPr lang="en-US" sz="1050" dirty="0"/>
          </a:p>
        </p:txBody>
      </p:sp>
      <p:pic>
        <p:nvPicPr>
          <p:cNvPr id="15" name="Image 3" descr="preencoded.png">    </p:cNvPr>
          <p:cNvPicPr>
            <a:picLocks noChangeAspect="1"/>
          </p:cNvPicPr>
          <p:nvPr/>
        </p:nvPicPr>
        <p:blipFill>
          <a:blip r:embed="rId4"/>
          <a:stretch>
            <a:fillRect/>
          </a:stretch>
        </p:blipFill>
        <p:spPr>
          <a:xfrm>
            <a:off x="640080" y="3520440"/>
            <a:ext cx="201168" cy="201168"/>
          </a:xfrm>
          <a:prstGeom prst="rect">
            <a:avLst/>
          </a:prstGeom>
        </p:spPr>
      </p:pic>
      <p:sp>
        <p:nvSpPr>
          <p:cNvPr id="16" name="Text 10"/>
          <p:cNvSpPr/>
          <p:nvPr/>
        </p:nvSpPr>
        <p:spPr>
          <a:xfrm>
            <a:off x="960120" y="34747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Examples: git-workflow, security-scan, code-lint, test-runner, deploy-check</a:t>
            </a:r>
            <a:endParaRPr lang="en-US" sz="1050" dirty="0"/>
          </a:p>
        </p:txBody>
      </p:sp>
      <p:sp>
        <p:nvSpPr>
          <p:cNvPr id="17" name="Shape 11"/>
          <p:cNvSpPr/>
          <p:nvPr/>
        </p:nvSpPr>
        <p:spPr>
          <a:xfrm>
            <a:off x="4754880" y="1554480"/>
            <a:ext cx="3931920" cy="2743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2"/>
          <p:cNvSpPr/>
          <p:nvPr/>
        </p:nvSpPr>
        <p:spPr>
          <a:xfrm>
            <a:off x="4754880" y="1554480"/>
            <a:ext cx="3931920" cy="411480"/>
          </a:xfrm>
          <a:prstGeom prst="rect">
            <a:avLst/>
          </a:prstGeom>
          <a:solidFill>
            <a:srgbClr val="0F1B2D"/>
          </a:solidFill>
          <a:ln/>
        </p:spPr>
      </p:sp>
      <p:sp>
        <p:nvSpPr>
          <p:cNvPr id="19" name="Text 13"/>
          <p:cNvSpPr/>
          <p:nvPr/>
        </p:nvSpPr>
        <p:spPr>
          <a:xfrm>
            <a:off x="4937760" y="1572768"/>
            <a:ext cx="2743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Workflows</a:t>
            </a:r>
            <a:endParaRPr lang="en-US" sz="1400" dirty="0"/>
          </a:p>
        </p:txBody>
      </p:sp>
      <p:pic>
        <p:nvPicPr>
          <p:cNvPr id="20" name="Image 4" descr="preencoded.png">    </p:cNvPr>
          <p:cNvPicPr>
            <a:picLocks noChangeAspect="1"/>
          </p:cNvPicPr>
          <p:nvPr/>
        </p:nvPicPr>
        <p:blipFill>
          <a:blip r:embed="rId5"/>
          <a:stretch>
            <a:fillRect/>
          </a:stretch>
        </p:blipFill>
        <p:spPr>
          <a:xfrm>
            <a:off x="4937760" y="2148840"/>
            <a:ext cx="201168" cy="201168"/>
          </a:xfrm>
          <a:prstGeom prst="rect">
            <a:avLst/>
          </a:prstGeom>
        </p:spPr>
      </p:pic>
      <p:sp>
        <p:nvSpPr>
          <p:cNvPr id="21" name="Text 14"/>
          <p:cNvSpPr/>
          <p:nvPr/>
        </p:nvSpPr>
        <p:spPr>
          <a:xfrm>
            <a:off x="5257800" y="21031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Orchestrate multi-step processes</a:t>
            </a:r>
            <a:endParaRPr lang="en-US" sz="1050" dirty="0"/>
          </a:p>
        </p:txBody>
      </p:sp>
      <p:pic>
        <p:nvPicPr>
          <p:cNvPr id="22" name="Image 5" descr="preencoded.png">    </p:cNvPr>
          <p:cNvPicPr>
            <a:picLocks noChangeAspect="1"/>
          </p:cNvPicPr>
          <p:nvPr/>
        </p:nvPicPr>
        <p:blipFill>
          <a:blip r:embed="rId6"/>
          <a:stretch>
            <a:fillRect/>
          </a:stretch>
        </p:blipFill>
        <p:spPr>
          <a:xfrm>
            <a:off x="4937760" y="2606040"/>
            <a:ext cx="201168" cy="201168"/>
          </a:xfrm>
          <a:prstGeom prst="rect">
            <a:avLst/>
          </a:prstGeom>
        </p:spPr>
      </p:pic>
      <p:sp>
        <p:nvSpPr>
          <p:cNvPr id="23" name="Text 15"/>
          <p:cNvSpPr/>
          <p:nvPr/>
        </p:nvSpPr>
        <p:spPr>
          <a:xfrm>
            <a:off x="5257800" y="25603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Define agent handoffs and dependencies</a:t>
            </a:r>
            <a:endParaRPr lang="en-US" sz="1050" dirty="0"/>
          </a:p>
        </p:txBody>
      </p:sp>
      <p:pic>
        <p:nvPicPr>
          <p:cNvPr id="24" name="Image 6" descr="preencoded.png">    </p:cNvPr>
          <p:cNvPicPr>
            <a:picLocks noChangeAspect="1"/>
          </p:cNvPicPr>
          <p:nvPr/>
        </p:nvPicPr>
        <p:blipFill>
          <a:blip r:embed="rId7"/>
          <a:stretch>
            <a:fillRect/>
          </a:stretch>
        </p:blipFill>
        <p:spPr>
          <a:xfrm>
            <a:off x="4937760" y="3063240"/>
            <a:ext cx="201168" cy="201168"/>
          </a:xfrm>
          <a:prstGeom prst="rect">
            <a:avLst/>
          </a:prstGeom>
        </p:spPr>
      </p:pic>
      <p:sp>
        <p:nvSpPr>
          <p:cNvPr id="25" name="Text 16"/>
          <p:cNvSpPr/>
          <p:nvPr/>
        </p:nvSpPr>
        <p:spPr>
          <a:xfrm>
            <a:off x="5257800" y="30175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Custom workflows for your domain</a:t>
            </a:r>
            <a:endParaRPr lang="en-US" sz="1050" dirty="0"/>
          </a:p>
        </p:txBody>
      </p:sp>
      <p:pic>
        <p:nvPicPr>
          <p:cNvPr id="26" name="Image 7" descr="preencoded.png">    </p:cNvPr>
          <p:cNvPicPr>
            <a:picLocks noChangeAspect="1"/>
          </p:cNvPicPr>
          <p:nvPr/>
        </p:nvPicPr>
        <p:blipFill>
          <a:blip r:embed="rId8"/>
          <a:stretch>
            <a:fillRect/>
          </a:stretch>
        </p:blipFill>
        <p:spPr>
          <a:xfrm>
            <a:off x="4937760" y="3520440"/>
            <a:ext cx="201168" cy="201168"/>
          </a:xfrm>
          <a:prstGeom prst="rect">
            <a:avLst/>
          </a:prstGeom>
        </p:spPr>
      </p:pic>
      <p:sp>
        <p:nvSpPr>
          <p:cNvPr id="27" name="Text 17"/>
          <p:cNvSpPr/>
          <p:nvPr/>
        </p:nvSpPr>
        <p:spPr>
          <a:xfrm>
            <a:off x="5257800" y="3474720"/>
            <a:ext cx="3200400" cy="41148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Examples: deploy-to-airgap, security-review, architecture-review, release-prep</a:t>
            </a:r>
            <a:endParaRPr lang="en-US" sz="1050" dirty="0"/>
          </a:p>
        </p:txBody>
      </p:sp>
      <p:sp>
        <p:nvSpPr>
          <p:cNvPr id="28" name="Text 18"/>
          <p:cNvSpPr/>
          <p:nvPr/>
        </p:nvSpPr>
        <p:spPr>
          <a:xfrm>
            <a:off x="457200" y="4526280"/>
            <a:ext cx="8229600" cy="320040"/>
          </a:xfrm>
          <a:prstGeom prst="rect">
            <a:avLst/>
          </a:prstGeom>
          <a:noFill/>
          <a:ln/>
        </p:spPr>
        <p:txBody>
          <a:bodyPr wrap="square" rtlCol="0" anchor="ctr"/>
          <a:lstStyle/>
          <a:p>
            <a:pPr algn="ctr" indent="0" marL="0">
              <a:buNone/>
            </a:pPr>
            <a:r>
              <a:rPr lang="en-US" sz="1100" i="1" dirty="0">
                <a:solidFill>
                  <a:srgbClr val="0D9488"/>
                </a:solidFill>
                <a:latin typeface="Calibri" pitchFamily="34" charset="0"/>
                <a:ea typeface="Calibri" pitchFamily="34" charset="-122"/>
                <a:cs typeface="Calibri" pitchFamily="34" charset="-120"/>
              </a:rPr>
              <a:t>Skills + Workflows = Your org's development DNA, enforced automatically by AI agents</a:t>
            </a:r>
            <a:endParaRPr lang="en-US" sz="1100" dirty="0"/>
          </a:p>
        </p:txBody>
      </p:sp>
      <p:sp>
        <p:nvSpPr>
          <p:cNvPr id="29" name="Text 19"/>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56 / 93</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ma-agents — Our Skills Package</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Write skills once, install across all AI coding agents</a:t>
            </a:r>
            <a:endParaRPr lang="en-US" sz="1300" dirty="0"/>
          </a:p>
        </p:txBody>
      </p:sp>
      <p:sp>
        <p:nvSpPr>
          <p:cNvPr id="5" name="Shape 3"/>
          <p:cNvSpPr/>
          <p:nvPr/>
        </p:nvSpPr>
        <p:spPr>
          <a:xfrm>
            <a:off x="457200" y="1234440"/>
            <a:ext cx="8229600" cy="502920"/>
          </a:xfrm>
          <a:prstGeom prst="rect">
            <a:avLst/>
          </a:prstGeom>
          <a:solidFill>
            <a:srgbClr val="1E293B"/>
          </a:solidFill>
          <a:ln/>
        </p:spPr>
      </p:sp>
      <p:sp>
        <p:nvSpPr>
          <p:cNvPr id="6" name="Text 4"/>
          <p:cNvSpPr/>
          <p:nvPr/>
        </p:nvSpPr>
        <p:spPr>
          <a:xfrm>
            <a:off x="640080" y="1234440"/>
            <a:ext cx="4572000" cy="502920"/>
          </a:xfrm>
          <a:prstGeom prst="rect">
            <a:avLst/>
          </a:prstGeom>
          <a:noFill/>
          <a:ln/>
        </p:spPr>
        <p:txBody>
          <a:bodyPr wrap="square" lIns="0" tIns="0" rIns="0" bIns="0" rtlCol="0" anchor="ctr"/>
          <a:lstStyle/>
          <a:p>
            <a:pPr indent="0" marL="0">
              <a:buNone/>
            </a:pPr>
            <a:r>
              <a:rPr lang="en-US" sz="1800" b="1" dirty="0">
                <a:solidFill>
                  <a:srgbClr val="F59E0B"/>
                </a:solidFill>
                <a:latin typeface="Consolas" pitchFamily="34" charset="0"/>
                <a:ea typeface="Consolas" pitchFamily="34" charset="-122"/>
                <a:cs typeface="Consolas" pitchFamily="34" charset="-120"/>
              </a:rPr>
              <a:t>$  npx ma-agents</a:t>
            </a:r>
            <a:endParaRPr lang="en-US" sz="1800" dirty="0"/>
          </a:p>
        </p:txBody>
      </p:sp>
      <p:sp>
        <p:nvSpPr>
          <p:cNvPr id="7" name="Text 5"/>
          <p:cNvSpPr/>
          <p:nvPr/>
        </p:nvSpPr>
        <p:spPr>
          <a:xfrm>
            <a:off x="4572000" y="1234440"/>
            <a:ext cx="3931920" cy="502920"/>
          </a:xfrm>
          <a:prstGeom prst="rect">
            <a:avLst/>
          </a:prstGeom>
          <a:noFill/>
          <a:ln/>
        </p:spPr>
        <p:txBody>
          <a:bodyPr wrap="square" lIns="0" tIns="0" rIns="12700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npm package  •  Interactive wizard  •  27 skills  •  11 agents</a:t>
            </a:r>
            <a:endParaRPr lang="en-US" sz="1000" dirty="0"/>
          </a:p>
        </p:txBody>
      </p:sp>
      <p:sp>
        <p:nvSpPr>
          <p:cNvPr id="8" name="Shape 6"/>
          <p:cNvSpPr/>
          <p:nvPr/>
        </p:nvSpPr>
        <p:spPr>
          <a:xfrm>
            <a:off x="457200" y="1965960"/>
            <a:ext cx="3931920" cy="1143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9" name="Shape 7"/>
          <p:cNvSpPr/>
          <p:nvPr/>
        </p:nvSpPr>
        <p:spPr>
          <a:xfrm>
            <a:off x="457200" y="1965960"/>
            <a:ext cx="54864" cy="1143000"/>
          </a:xfrm>
          <a:prstGeom prst="rect">
            <a:avLst/>
          </a:prstGeom>
          <a:solidFill>
            <a:srgbClr val="0D9488"/>
          </a:solidFill>
          <a:ln/>
        </p:spPr>
      </p:sp>
      <p:sp>
        <p:nvSpPr>
          <p:cNvPr id="10" name="Shape 8"/>
          <p:cNvSpPr/>
          <p:nvPr/>
        </p:nvSpPr>
        <p:spPr>
          <a:xfrm>
            <a:off x="640080" y="2148840"/>
            <a:ext cx="548640" cy="548640"/>
          </a:xfrm>
          <a:prstGeom prst="ellipse">
            <a:avLst/>
          </a:prstGeom>
          <a:solidFill>
            <a:srgbClr val="0D9488"/>
          </a:solidFill>
          <a:ln/>
        </p:spPr>
      </p:sp>
      <p:pic>
        <p:nvPicPr>
          <p:cNvPr id="11" name="Image 0" descr="preencoded.png">    </p:cNvPr>
          <p:cNvPicPr>
            <a:picLocks noChangeAspect="1"/>
          </p:cNvPicPr>
          <p:nvPr/>
        </p:nvPicPr>
        <p:blipFill>
          <a:blip r:embed="rId1"/>
          <a:stretch>
            <a:fillRect/>
          </a:stretch>
        </p:blipFill>
        <p:spPr>
          <a:xfrm>
            <a:off x="749808" y="2258568"/>
            <a:ext cx="329184" cy="329184"/>
          </a:xfrm>
          <a:prstGeom prst="rect">
            <a:avLst/>
          </a:prstGeom>
        </p:spPr>
      </p:pic>
      <p:sp>
        <p:nvSpPr>
          <p:cNvPr id="12" name="Text 9"/>
          <p:cNvSpPr/>
          <p:nvPr/>
        </p:nvSpPr>
        <p:spPr>
          <a:xfrm>
            <a:off x="1371600" y="205740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Universal Installer</a:t>
            </a:r>
            <a:endParaRPr lang="en-US" sz="1400" dirty="0"/>
          </a:p>
        </p:txBody>
      </p:sp>
      <p:sp>
        <p:nvSpPr>
          <p:cNvPr id="13" name="Text 10"/>
          <p:cNvSpPr/>
          <p:nvPr/>
        </p:nvSpPr>
        <p:spPr>
          <a:xfrm>
            <a:off x="1371600" y="2404872"/>
            <a:ext cx="283464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One command installs skills to Claude Code, Gemini, Copilot, Cline, Cursor, and Kilocode. Handles directory structure, naming, and config per agent.</a:t>
            </a:r>
            <a:endParaRPr lang="en-US" sz="1000" dirty="0"/>
          </a:p>
        </p:txBody>
      </p:sp>
      <p:sp>
        <p:nvSpPr>
          <p:cNvPr id="14" name="Shape 11"/>
          <p:cNvSpPr/>
          <p:nvPr/>
        </p:nvSpPr>
        <p:spPr>
          <a:xfrm>
            <a:off x="4754880" y="1965960"/>
            <a:ext cx="3931920" cy="1143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5" name="Shape 12"/>
          <p:cNvSpPr/>
          <p:nvPr/>
        </p:nvSpPr>
        <p:spPr>
          <a:xfrm>
            <a:off x="4754880" y="1965960"/>
            <a:ext cx="54864" cy="1143000"/>
          </a:xfrm>
          <a:prstGeom prst="rect">
            <a:avLst/>
          </a:prstGeom>
          <a:solidFill>
            <a:srgbClr val="0D9488"/>
          </a:solidFill>
          <a:ln/>
        </p:spPr>
      </p:sp>
      <p:sp>
        <p:nvSpPr>
          <p:cNvPr id="16" name="Shape 13"/>
          <p:cNvSpPr/>
          <p:nvPr/>
        </p:nvSpPr>
        <p:spPr>
          <a:xfrm>
            <a:off x="4937760" y="2148840"/>
            <a:ext cx="548640" cy="548640"/>
          </a:xfrm>
          <a:prstGeom prst="ellipse">
            <a:avLst/>
          </a:prstGeom>
          <a:solidFill>
            <a:srgbClr val="0D9488"/>
          </a:solidFill>
          <a:ln/>
        </p:spPr>
      </p:sp>
      <p:pic>
        <p:nvPicPr>
          <p:cNvPr id="17" name="Image 1" descr="preencoded.png">    </p:cNvPr>
          <p:cNvPicPr>
            <a:picLocks noChangeAspect="1"/>
          </p:cNvPicPr>
          <p:nvPr/>
        </p:nvPicPr>
        <p:blipFill>
          <a:blip r:embed="rId2"/>
          <a:stretch>
            <a:fillRect/>
          </a:stretch>
        </p:blipFill>
        <p:spPr>
          <a:xfrm>
            <a:off x="5047488" y="2258568"/>
            <a:ext cx="329184" cy="329184"/>
          </a:xfrm>
          <a:prstGeom prst="rect">
            <a:avLst/>
          </a:prstGeom>
        </p:spPr>
      </p:pic>
      <p:sp>
        <p:nvSpPr>
          <p:cNvPr id="18" name="Text 14"/>
          <p:cNvSpPr/>
          <p:nvPr/>
        </p:nvSpPr>
        <p:spPr>
          <a:xfrm>
            <a:off x="5669280" y="205740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Automated Discovery</a:t>
            </a:r>
            <a:endParaRPr lang="en-US" sz="1400" dirty="0"/>
          </a:p>
        </p:txBody>
      </p:sp>
      <p:sp>
        <p:nvSpPr>
          <p:cNvPr id="19" name="Text 15"/>
          <p:cNvSpPr/>
          <p:nvPr/>
        </p:nvSpPr>
        <p:spPr>
          <a:xfrm>
            <a:off x="5669280" y="2404872"/>
            <a:ext cx="283464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Generates MANIFEST.yaml so agents know what skills exist. Injects planning hints into CLAUDE.md and .clinerules automatically.</a:t>
            </a:r>
            <a:endParaRPr lang="en-US" sz="1000" dirty="0"/>
          </a:p>
        </p:txBody>
      </p:sp>
      <p:sp>
        <p:nvSpPr>
          <p:cNvPr id="20" name="Shape 16"/>
          <p:cNvSpPr/>
          <p:nvPr/>
        </p:nvSpPr>
        <p:spPr>
          <a:xfrm>
            <a:off x="457200" y="3337560"/>
            <a:ext cx="3931920" cy="1143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1" name="Shape 17"/>
          <p:cNvSpPr/>
          <p:nvPr/>
        </p:nvSpPr>
        <p:spPr>
          <a:xfrm>
            <a:off x="457200" y="3337560"/>
            <a:ext cx="54864" cy="1143000"/>
          </a:xfrm>
          <a:prstGeom prst="rect">
            <a:avLst/>
          </a:prstGeom>
          <a:solidFill>
            <a:srgbClr val="0D9488"/>
          </a:solidFill>
          <a:ln/>
        </p:spPr>
      </p:sp>
      <p:sp>
        <p:nvSpPr>
          <p:cNvPr id="22" name="Shape 18"/>
          <p:cNvSpPr/>
          <p:nvPr/>
        </p:nvSpPr>
        <p:spPr>
          <a:xfrm>
            <a:off x="640080" y="3520440"/>
            <a:ext cx="548640" cy="548640"/>
          </a:xfrm>
          <a:prstGeom prst="ellipse">
            <a:avLst/>
          </a:prstGeom>
          <a:solidFill>
            <a:srgbClr val="0D9488"/>
          </a:solidFill>
          <a:ln/>
        </p:spPr>
      </p:sp>
      <p:pic>
        <p:nvPicPr>
          <p:cNvPr id="23" name="Image 2" descr="preencoded.png">    </p:cNvPr>
          <p:cNvPicPr>
            <a:picLocks noChangeAspect="1"/>
          </p:cNvPicPr>
          <p:nvPr/>
        </p:nvPicPr>
        <p:blipFill>
          <a:blip r:embed="rId3"/>
          <a:stretch>
            <a:fillRect/>
          </a:stretch>
        </p:blipFill>
        <p:spPr>
          <a:xfrm>
            <a:off x="749808" y="3630168"/>
            <a:ext cx="329184" cy="329184"/>
          </a:xfrm>
          <a:prstGeom prst="rect">
            <a:avLst/>
          </a:prstGeom>
        </p:spPr>
      </p:pic>
      <p:sp>
        <p:nvSpPr>
          <p:cNvPr id="24" name="Text 19"/>
          <p:cNvSpPr/>
          <p:nvPr/>
        </p:nvSpPr>
        <p:spPr>
          <a:xfrm>
            <a:off x="1371600" y="342900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Unified Skill Format</a:t>
            </a:r>
            <a:endParaRPr lang="en-US" sz="1400" dirty="0"/>
          </a:p>
        </p:txBody>
      </p:sp>
      <p:sp>
        <p:nvSpPr>
          <p:cNvPr id="25" name="Text 20"/>
          <p:cNvSpPr/>
          <p:nvPr/>
        </p:nvSpPr>
        <p:spPr>
          <a:xfrm>
            <a:off x="1371600" y="3776472"/>
            <a:ext cx="283464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Write one SKILL.md with optional agent-specific templates. Metadata lives in skill.json — single source of truth. No duplication.</a:t>
            </a:r>
            <a:endParaRPr lang="en-US" sz="1000" dirty="0"/>
          </a:p>
        </p:txBody>
      </p:sp>
      <p:sp>
        <p:nvSpPr>
          <p:cNvPr id="26" name="Shape 21"/>
          <p:cNvSpPr/>
          <p:nvPr/>
        </p:nvSpPr>
        <p:spPr>
          <a:xfrm>
            <a:off x="4754880" y="3337560"/>
            <a:ext cx="3931920" cy="1143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7" name="Shape 22"/>
          <p:cNvSpPr/>
          <p:nvPr/>
        </p:nvSpPr>
        <p:spPr>
          <a:xfrm>
            <a:off x="4754880" y="3337560"/>
            <a:ext cx="54864" cy="1143000"/>
          </a:xfrm>
          <a:prstGeom prst="rect">
            <a:avLst/>
          </a:prstGeom>
          <a:solidFill>
            <a:srgbClr val="0D9488"/>
          </a:solidFill>
          <a:ln/>
        </p:spPr>
      </p:sp>
      <p:sp>
        <p:nvSpPr>
          <p:cNvPr id="28" name="Shape 23"/>
          <p:cNvSpPr/>
          <p:nvPr/>
        </p:nvSpPr>
        <p:spPr>
          <a:xfrm>
            <a:off x="4937760" y="3520440"/>
            <a:ext cx="548640" cy="548640"/>
          </a:xfrm>
          <a:prstGeom prst="ellipse">
            <a:avLst/>
          </a:prstGeom>
          <a:solidFill>
            <a:srgbClr val="0D9488"/>
          </a:solidFill>
          <a:ln/>
        </p:spPr>
      </p:sp>
      <p:pic>
        <p:nvPicPr>
          <p:cNvPr id="29" name="Image 3" descr="preencoded.png">    </p:cNvPr>
          <p:cNvPicPr>
            <a:picLocks noChangeAspect="1"/>
          </p:cNvPicPr>
          <p:nvPr/>
        </p:nvPicPr>
        <p:blipFill>
          <a:blip r:embed="rId4"/>
          <a:stretch>
            <a:fillRect/>
          </a:stretch>
        </p:blipFill>
        <p:spPr>
          <a:xfrm>
            <a:off x="5047488" y="3630168"/>
            <a:ext cx="329184" cy="329184"/>
          </a:xfrm>
          <a:prstGeom prst="rect">
            <a:avLst/>
          </a:prstGeom>
        </p:spPr>
      </p:pic>
      <p:sp>
        <p:nvSpPr>
          <p:cNvPr id="30" name="Text 24"/>
          <p:cNvSpPr/>
          <p:nvPr/>
        </p:nvSpPr>
        <p:spPr>
          <a:xfrm>
            <a:off x="5669280" y="3429000"/>
            <a:ext cx="2834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27 Production Skills</a:t>
            </a:r>
            <a:endParaRPr lang="en-US" sz="1400" dirty="0"/>
          </a:p>
        </p:txBody>
      </p:sp>
      <p:sp>
        <p:nvSpPr>
          <p:cNvPr id="31" name="Text 25"/>
          <p:cNvSpPr/>
          <p:nvPr/>
        </p:nvSpPr>
        <p:spPr>
          <a:xfrm>
            <a:off x="5669280" y="3776472"/>
            <a:ext cx="283464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Code review, security (OWASP), Docker hardening, testing, C++ safety, logging, OpenTelemetry, React best practices, and more.</a:t>
            </a:r>
            <a:endParaRPr lang="en-US" sz="1000" dirty="0"/>
          </a:p>
        </p:txBody>
      </p:sp>
      <p:sp>
        <p:nvSpPr>
          <p:cNvPr id="32" name="Text 26"/>
          <p:cNvSpPr/>
          <p:nvPr/>
        </p:nvSpPr>
        <p:spPr>
          <a:xfrm>
            <a:off x="457200" y="4617720"/>
            <a:ext cx="8229600" cy="32004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Developed in-house  •  Open source (MIT)  •  npmjs.com/package/ma-agents</a:t>
            </a:r>
            <a:endParaRPr lang="en-US" sz="1000" dirty="0"/>
          </a:p>
        </p:txBody>
      </p:sp>
      <p:sp>
        <p:nvSpPr>
          <p:cNvPr id="33" name="Text 2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57 / 93</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ma-agents — 27 Skills Across 5 Domains</a:t>
            </a:r>
            <a:endParaRPr lang="en-US" sz="2600" dirty="0"/>
          </a:p>
        </p:txBody>
      </p:sp>
      <p:sp>
        <p:nvSpPr>
          <p:cNvPr id="5" name="Shape 3"/>
          <p:cNvSpPr/>
          <p:nvPr/>
        </p:nvSpPr>
        <p:spPr>
          <a:xfrm>
            <a:off x="320040" y="1051560"/>
            <a:ext cx="416052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4160520" cy="347472"/>
          </a:xfrm>
          <a:prstGeom prst="rect">
            <a:avLst/>
          </a:prstGeom>
          <a:solidFill>
            <a:srgbClr val="0D9488"/>
          </a:solidFill>
          <a:ln/>
        </p:spPr>
      </p:sp>
      <p:sp>
        <p:nvSpPr>
          <p:cNvPr id="7" name="Text 5"/>
          <p:cNvSpPr/>
          <p:nvPr/>
        </p:nvSpPr>
        <p:spPr>
          <a:xfrm>
            <a:off x="457200" y="1060704"/>
            <a:ext cx="38862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General  (8)</a:t>
            </a:r>
            <a:endParaRPr lang="en-US" sz="1100" dirty="0"/>
          </a:p>
        </p:txBody>
      </p:sp>
      <p:sp>
        <p:nvSpPr>
          <p:cNvPr id="8" name="Text 6"/>
          <p:cNvSpPr/>
          <p:nvPr/>
        </p:nvSpPr>
        <p:spPr>
          <a:xfrm>
            <a:off x="457200" y="1453896"/>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code-review</a:t>
            </a:r>
            <a:endParaRPr lang="en-US" sz="850" dirty="0"/>
          </a:p>
        </p:txBody>
      </p:sp>
      <p:sp>
        <p:nvSpPr>
          <p:cNvPr id="9" name="Text 7"/>
          <p:cNvSpPr/>
          <p:nvPr/>
        </p:nvSpPr>
        <p:spPr>
          <a:xfrm>
            <a:off x="457200" y="1627632"/>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commit-message</a:t>
            </a:r>
            <a:endParaRPr lang="en-US" sz="850" dirty="0"/>
          </a:p>
        </p:txBody>
      </p:sp>
      <p:sp>
        <p:nvSpPr>
          <p:cNvPr id="10" name="Text 8"/>
          <p:cNvSpPr/>
          <p:nvPr/>
        </p:nvSpPr>
        <p:spPr>
          <a:xfrm>
            <a:off x="457200" y="1801368"/>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test-generator</a:t>
            </a:r>
            <a:endParaRPr lang="en-US" sz="850" dirty="0"/>
          </a:p>
        </p:txBody>
      </p:sp>
      <p:sp>
        <p:nvSpPr>
          <p:cNvPr id="11" name="Text 9"/>
          <p:cNvSpPr/>
          <p:nvPr/>
        </p:nvSpPr>
        <p:spPr>
          <a:xfrm>
            <a:off x="457200" y="1975104"/>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test-accompanied-dev</a:t>
            </a:r>
            <a:endParaRPr lang="en-US" sz="850" dirty="0"/>
          </a:p>
        </p:txBody>
      </p:sp>
      <p:sp>
        <p:nvSpPr>
          <p:cNvPr id="12" name="Text 10"/>
          <p:cNvSpPr/>
          <p:nvPr/>
        </p:nvSpPr>
        <p:spPr>
          <a:xfrm>
            <a:off x="457200" y="2148840"/>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code-documentation</a:t>
            </a:r>
            <a:endParaRPr lang="en-US" sz="850" dirty="0"/>
          </a:p>
        </p:txBody>
      </p:sp>
      <p:sp>
        <p:nvSpPr>
          <p:cNvPr id="13" name="Text 11"/>
          <p:cNvSpPr/>
          <p:nvPr/>
        </p:nvSpPr>
        <p:spPr>
          <a:xfrm>
            <a:off x="457200" y="2322576"/>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skill-creator</a:t>
            </a:r>
            <a:endParaRPr lang="en-US" sz="850" dirty="0"/>
          </a:p>
        </p:txBody>
      </p:sp>
      <p:sp>
        <p:nvSpPr>
          <p:cNvPr id="14" name="Text 12"/>
          <p:cNvSpPr/>
          <p:nvPr/>
        </p:nvSpPr>
        <p:spPr>
          <a:xfrm>
            <a:off x="457200" y="2496312"/>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document-revision-history</a:t>
            </a:r>
            <a:endParaRPr lang="en-US" sz="850" dirty="0"/>
          </a:p>
        </p:txBody>
      </p:sp>
      <p:sp>
        <p:nvSpPr>
          <p:cNvPr id="15" name="Text 13"/>
          <p:cNvSpPr/>
          <p:nvPr/>
        </p:nvSpPr>
        <p:spPr>
          <a:xfrm>
            <a:off x="457200" y="2670048"/>
            <a:ext cx="38862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ai-audit-trail</a:t>
            </a:r>
            <a:endParaRPr lang="en-US" sz="850" dirty="0"/>
          </a:p>
        </p:txBody>
      </p:sp>
      <p:sp>
        <p:nvSpPr>
          <p:cNvPr id="16" name="Shape 14"/>
          <p:cNvSpPr/>
          <p:nvPr/>
        </p:nvSpPr>
        <p:spPr>
          <a:xfrm>
            <a:off x="4663440" y="1051560"/>
            <a:ext cx="429768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663440" y="1051560"/>
            <a:ext cx="4297680" cy="347472"/>
          </a:xfrm>
          <a:prstGeom prst="rect">
            <a:avLst/>
          </a:prstGeom>
          <a:solidFill>
            <a:srgbClr val="DC2626"/>
          </a:solidFill>
          <a:ln/>
        </p:spPr>
      </p:sp>
      <p:sp>
        <p:nvSpPr>
          <p:cNvPr id="18" name="Text 16"/>
          <p:cNvSpPr/>
          <p:nvPr/>
        </p:nvSpPr>
        <p:spPr>
          <a:xfrm>
            <a:off x="4800600" y="1060704"/>
            <a:ext cx="402336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Security  (7)</a:t>
            </a:r>
            <a:endParaRPr lang="en-US" sz="1100" dirty="0"/>
          </a:p>
        </p:txBody>
      </p:sp>
      <p:sp>
        <p:nvSpPr>
          <p:cNvPr id="19" name="Text 17"/>
          <p:cNvSpPr/>
          <p:nvPr/>
        </p:nvSpPr>
        <p:spPr>
          <a:xfrm>
            <a:off x="4800600" y="1453896"/>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python-security (OWASP)</a:t>
            </a:r>
            <a:endParaRPr lang="en-US" sz="850" dirty="0"/>
          </a:p>
        </p:txBody>
      </p:sp>
      <p:sp>
        <p:nvSpPr>
          <p:cNvPr id="20" name="Text 18"/>
          <p:cNvSpPr/>
          <p:nvPr/>
        </p:nvSpPr>
        <p:spPr>
          <a:xfrm>
            <a:off x="4800600" y="1627632"/>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js-ts-security (OWASP)</a:t>
            </a:r>
            <a:endParaRPr lang="en-US" sz="850" dirty="0"/>
          </a:p>
        </p:txBody>
      </p:sp>
      <p:sp>
        <p:nvSpPr>
          <p:cNvPr id="21" name="Text 19"/>
          <p:cNvSpPr/>
          <p:nvPr/>
        </p:nvSpPr>
        <p:spPr>
          <a:xfrm>
            <a:off x="4800600" y="1801368"/>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hardened-docker (CIS/NIST)</a:t>
            </a:r>
            <a:endParaRPr lang="en-US" sz="850" dirty="0"/>
          </a:p>
        </p:txBody>
      </p:sp>
      <p:sp>
        <p:nvSpPr>
          <p:cNvPr id="22" name="Text 20"/>
          <p:cNvSpPr/>
          <p:nvPr/>
        </p:nvSpPr>
        <p:spPr>
          <a:xfrm>
            <a:off x="4800600" y="1975104"/>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verify-docker-security</a:t>
            </a:r>
            <a:endParaRPr lang="en-US" sz="850" dirty="0"/>
          </a:p>
        </p:txBody>
      </p:sp>
      <p:sp>
        <p:nvSpPr>
          <p:cNvPr id="23" name="Text 21"/>
          <p:cNvSpPr/>
          <p:nvPr/>
        </p:nvSpPr>
        <p:spPr>
          <a:xfrm>
            <a:off x="4800600" y="2148840"/>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self-signed-cert &amp; PKI</a:t>
            </a:r>
            <a:endParaRPr lang="en-US" sz="850" dirty="0"/>
          </a:p>
        </p:txBody>
      </p:sp>
      <p:sp>
        <p:nvSpPr>
          <p:cNvPr id="24" name="Text 22"/>
          <p:cNvSpPr/>
          <p:nvPr/>
        </p:nvSpPr>
        <p:spPr>
          <a:xfrm>
            <a:off x="4800600" y="2322576"/>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docker-image-signing</a:t>
            </a:r>
            <a:endParaRPr lang="en-US" sz="850" dirty="0"/>
          </a:p>
        </p:txBody>
      </p:sp>
      <p:sp>
        <p:nvSpPr>
          <p:cNvPr id="25" name="Text 23"/>
          <p:cNvSpPr/>
          <p:nvPr/>
        </p:nvSpPr>
        <p:spPr>
          <a:xfrm>
            <a:off x="4800600" y="2496312"/>
            <a:ext cx="402336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docker-hardening-verification</a:t>
            </a:r>
            <a:endParaRPr lang="en-US" sz="850" dirty="0"/>
          </a:p>
        </p:txBody>
      </p:sp>
      <p:sp>
        <p:nvSpPr>
          <p:cNvPr id="26" name="Shape 24"/>
          <p:cNvSpPr/>
          <p:nvPr/>
        </p:nvSpPr>
        <p:spPr>
          <a:xfrm>
            <a:off x="320040" y="3063240"/>
            <a:ext cx="210312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320040" y="3063240"/>
            <a:ext cx="2103120" cy="347472"/>
          </a:xfrm>
          <a:prstGeom prst="rect">
            <a:avLst/>
          </a:prstGeom>
          <a:solidFill>
            <a:srgbClr val="2563EB"/>
          </a:solidFill>
          <a:ln/>
        </p:spPr>
      </p:sp>
      <p:sp>
        <p:nvSpPr>
          <p:cNvPr id="28" name="Text 26"/>
          <p:cNvSpPr/>
          <p:nvPr/>
        </p:nvSpPr>
        <p:spPr>
          <a:xfrm>
            <a:off x="457200" y="3072384"/>
            <a:ext cx="182880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Dependencies  (2)</a:t>
            </a:r>
            <a:endParaRPr lang="en-US" sz="1100" dirty="0"/>
          </a:p>
        </p:txBody>
      </p:sp>
      <p:sp>
        <p:nvSpPr>
          <p:cNvPr id="29" name="Text 27"/>
          <p:cNvSpPr/>
          <p:nvPr/>
        </p:nvSpPr>
        <p:spPr>
          <a:xfrm>
            <a:off x="457200" y="3465576"/>
            <a:ext cx="18288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python-dependency-mgmt</a:t>
            </a:r>
            <a:endParaRPr lang="en-US" sz="850" dirty="0"/>
          </a:p>
        </p:txBody>
      </p:sp>
      <p:sp>
        <p:nvSpPr>
          <p:cNvPr id="30" name="Text 28"/>
          <p:cNvSpPr/>
          <p:nvPr/>
        </p:nvSpPr>
        <p:spPr>
          <a:xfrm>
            <a:off x="457200" y="3639312"/>
            <a:ext cx="182880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js-ts-dependency-mgmt</a:t>
            </a:r>
            <a:endParaRPr lang="en-US" sz="850" dirty="0"/>
          </a:p>
        </p:txBody>
      </p:sp>
      <p:sp>
        <p:nvSpPr>
          <p:cNvPr id="31" name="Shape 29"/>
          <p:cNvSpPr/>
          <p:nvPr/>
        </p:nvSpPr>
        <p:spPr>
          <a:xfrm>
            <a:off x="2606040" y="3063240"/>
            <a:ext cx="32004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2" name="Shape 30"/>
          <p:cNvSpPr/>
          <p:nvPr/>
        </p:nvSpPr>
        <p:spPr>
          <a:xfrm>
            <a:off x="2606040" y="3063240"/>
            <a:ext cx="3200400" cy="347472"/>
          </a:xfrm>
          <a:prstGeom prst="rect">
            <a:avLst/>
          </a:prstGeom>
          <a:solidFill>
            <a:srgbClr val="7C3AED"/>
          </a:solidFill>
          <a:ln/>
        </p:spPr>
      </p:sp>
      <p:sp>
        <p:nvSpPr>
          <p:cNvPr id="33" name="Text 31"/>
          <p:cNvSpPr/>
          <p:nvPr/>
        </p:nvSpPr>
        <p:spPr>
          <a:xfrm>
            <a:off x="2743200" y="3072384"/>
            <a:ext cx="29260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Modern C++  (6)</a:t>
            </a:r>
            <a:endParaRPr lang="en-US" sz="1100" dirty="0"/>
          </a:p>
        </p:txBody>
      </p:sp>
      <p:sp>
        <p:nvSpPr>
          <p:cNvPr id="34" name="Text 32"/>
          <p:cNvSpPr/>
          <p:nvPr/>
        </p:nvSpPr>
        <p:spPr>
          <a:xfrm>
            <a:off x="2743200" y="3465576"/>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cpp-memory-handling</a:t>
            </a:r>
            <a:endParaRPr lang="en-US" sz="850" dirty="0"/>
          </a:p>
        </p:txBody>
      </p:sp>
      <p:sp>
        <p:nvSpPr>
          <p:cNvPr id="35" name="Text 33"/>
          <p:cNvSpPr/>
          <p:nvPr/>
        </p:nvSpPr>
        <p:spPr>
          <a:xfrm>
            <a:off x="2743200" y="3639312"/>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cpp-robust-interfaces</a:t>
            </a:r>
            <a:endParaRPr lang="en-US" sz="850" dirty="0"/>
          </a:p>
        </p:txBody>
      </p:sp>
      <p:sp>
        <p:nvSpPr>
          <p:cNvPr id="36" name="Text 34"/>
          <p:cNvSpPr/>
          <p:nvPr/>
        </p:nvSpPr>
        <p:spPr>
          <a:xfrm>
            <a:off x="2743200" y="3813048"/>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cpp-modern-composition</a:t>
            </a:r>
            <a:endParaRPr lang="en-US" sz="850" dirty="0"/>
          </a:p>
        </p:txBody>
      </p:sp>
      <p:sp>
        <p:nvSpPr>
          <p:cNvPr id="37" name="Text 35"/>
          <p:cNvSpPr/>
          <p:nvPr/>
        </p:nvSpPr>
        <p:spPr>
          <a:xfrm>
            <a:off x="2743200" y="3986784"/>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cpp-const-correctness</a:t>
            </a:r>
            <a:endParaRPr lang="en-US" sz="850" dirty="0"/>
          </a:p>
        </p:txBody>
      </p:sp>
      <p:sp>
        <p:nvSpPr>
          <p:cNvPr id="38" name="Text 36"/>
          <p:cNvSpPr/>
          <p:nvPr/>
        </p:nvSpPr>
        <p:spPr>
          <a:xfrm>
            <a:off x="2743200" y="4160520"/>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cpp-concurrency-safety</a:t>
            </a:r>
            <a:endParaRPr lang="en-US" sz="850" dirty="0"/>
          </a:p>
        </p:txBody>
      </p:sp>
      <p:sp>
        <p:nvSpPr>
          <p:cNvPr id="39" name="Text 37"/>
          <p:cNvSpPr/>
          <p:nvPr/>
        </p:nvSpPr>
        <p:spPr>
          <a:xfrm>
            <a:off x="2743200" y="4334256"/>
            <a:ext cx="29260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cmake-best-practices</a:t>
            </a:r>
            <a:endParaRPr lang="en-US" sz="850" dirty="0"/>
          </a:p>
        </p:txBody>
      </p:sp>
      <p:sp>
        <p:nvSpPr>
          <p:cNvPr id="40" name="Shape 38"/>
          <p:cNvSpPr/>
          <p:nvPr/>
        </p:nvSpPr>
        <p:spPr>
          <a:xfrm>
            <a:off x="5989320" y="3063240"/>
            <a:ext cx="2971800" cy="1554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1" name="Shape 39"/>
          <p:cNvSpPr/>
          <p:nvPr/>
        </p:nvSpPr>
        <p:spPr>
          <a:xfrm>
            <a:off x="5989320" y="3063240"/>
            <a:ext cx="2971800" cy="347472"/>
          </a:xfrm>
          <a:prstGeom prst="rect">
            <a:avLst/>
          </a:prstGeom>
          <a:solidFill>
            <a:srgbClr val="059669"/>
          </a:solidFill>
          <a:ln/>
        </p:spPr>
      </p:sp>
      <p:sp>
        <p:nvSpPr>
          <p:cNvPr id="42" name="Text 40"/>
          <p:cNvSpPr/>
          <p:nvPr/>
        </p:nvSpPr>
        <p:spPr>
          <a:xfrm>
            <a:off x="6126480" y="3072384"/>
            <a:ext cx="26974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Architecture  (4)</a:t>
            </a:r>
            <a:endParaRPr lang="en-US" sz="1100" dirty="0"/>
          </a:p>
        </p:txBody>
      </p:sp>
      <p:sp>
        <p:nvSpPr>
          <p:cNvPr id="43" name="Text 41"/>
          <p:cNvSpPr/>
          <p:nvPr/>
        </p:nvSpPr>
        <p:spPr>
          <a:xfrm>
            <a:off x="6126480" y="3465576"/>
            <a:ext cx="26974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logging-best-practices</a:t>
            </a:r>
            <a:endParaRPr lang="en-US" sz="850" dirty="0"/>
          </a:p>
        </p:txBody>
      </p:sp>
      <p:sp>
        <p:nvSpPr>
          <p:cNvPr id="44" name="Text 42"/>
          <p:cNvSpPr/>
          <p:nvPr/>
        </p:nvSpPr>
        <p:spPr>
          <a:xfrm>
            <a:off x="6126480" y="3639312"/>
            <a:ext cx="26974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opentelemetry-best-practices</a:t>
            </a:r>
            <a:endParaRPr lang="en-US" sz="850" dirty="0"/>
          </a:p>
        </p:txBody>
      </p:sp>
      <p:sp>
        <p:nvSpPr>
          <p:cNvPr id="45" name="Text 43"/>
          <p:cNvSpPr/>
          <p:nvPr/>
        </p:nvSpPr>
        <p:spPr>
          <a:xfrm>
            <a:off x="6126480" y="3813048"/>
            <a:ext cx="26974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vercel-react (57 rules)</a:t>
            </a:r>
            <a:endParaRPr lang="en-US" sz="850" dirty="0"/>
          </a:p>
        </p:txBody>
      </p:sp>
      <p:sp>
        <p:nvSpPr>
          <p:cNvPr id="46" name="Text 44"/>
          <p:cNvSpPr/>
          <p:nvPr/>
        </p:nvSpPr>
        <p:spPr>
          <a:xfrm>
            <a:off x="6126480" y="3986784"/>
            <a:ext cx="2697480" cy="173736"/>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  git-workflow-skill</a:t>
            </a:r>
            <a:endParaRPr lang="en-US" sz="850" dirty="0"/>
          </a:p>
        </p:txBody>
      </p:sp>
      <p:sp>
        <p:nvSpPr>
          <p:cNvPr id="47" name="Text 45"/>
          <p:cNvSpPr/>
          <p:nvPr/>
        </p:nvSpPr>
        <p:spPr>
          <a:xfrm>
            <a:off x="365760" y="4709160"/>
            <a:ext cx="841248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Each skill includes: SKILL.md instructions  •  Scripts  •  References  •  Agent-specific templates</a:t>
            </a:r>
            <a:endParaRPr lang="en-US" sz="1000" dirty="0"/>
          </a:p>
        </p:txBody>
      </p:sp>
      <p:sp>
        <p:nvSpPr>
          <p:cNvPr id="48" name="Text 4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58 / 93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How ma-agents Installation Works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From generic skill to agent-ready installation in one command</a:t>
            </a:r>
            <a:endParaRPr lang="en-US" sz="1300" dirty="0"/>
          </a:p>
        </p:txBody>
      </p:sp>
      <p:sp>
        <p:nvSpPr>
          <p:cNvPr id="5" name="Shape 3"/>
          <p:cNvSpPr/>
          <p:nvPr/>
        </p:nvSpPr>
        <p:spPr>
          <a:xfrm>
            <a:off x="228600" y="1234440"/>
            <a:ext cx="1508760" cy="1005840"/>
          </a:xfrm>
          <a:prstGeom prst="rect">
            <a:avLst/>
          </a:prstGeom>
          <a:solidFill>
            <a:srgbClr val="1A2744"/>
          </a:solidFill>
          <a:ln/>
        </p:spPr>
      </p:sp>
      <p:sp>
        <p:nvSpPr>
          <p:cNvPr id="6" name="Shape 4"/>
          <p:cNvSpPr/>
          <p:nvPr/>
        </p:nvSpPr>
        <p:spPr>
          <a:xfrm>
            <a:off x="228600" y="1234440"/>
            <a:ext cx="1508760" cy="45720"/>
          </a:xfrm>
          <a:prstGeom prst="rect">
            <a:avLst/>
          </a:prstGeom>
          <a:solidFill>
            <a:srgbClr val="0D9488"/>
          </a:solidFill>
          <a:ln/>
        </p:spPr>
      </p:sp>
      <p:sp>
        <p:nvSpPr>
          <p:cNvPr id="7" name="Shape 5"/>
          <p:cNvSpPr/>
          <p:nvPr/>
        </p:nvSpPr>
        <p:spPr>
          <a:xfrm>
            <a:off x="777240" y="1371600"/>
            <a:ext cx="365760" cy="365760"/>
          </a:xfrm>
          <a:prstGeom prst="ellipse">
            <a:avLst/>
          </a:prstGeom>
          <a:solidFill>
            <a:srgbClr val="0D9488"/>
          </a:solidFill>
          <a:ln/>
        </p:spPr>
      </p:sp>
      <p:sp>
        <p:nvSpPr>
          <p:cNvPr id="8" name="Text 6"/>
          <p:cNvSpPr/>
          <p:nvPr/>
        </p:nvSpPr>
        <p:spPr>
          <a:xfrm>
            <a:off x="77724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274320" y="1783080"/>
            <a:ext cx="1417320" cy="2011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SKILL.md</a:t>
            </a:r>
            <a:endParaRPr lang="en-US" sz="1000" dirty="0"/>
          </a:p>
        </p:txBody>
      </p:sp>
      <p:sp>
        <p:nvSpPr>
          <p:cNvPr id="10" name="Text 8"/>
          <p:cNvSpPr/>
          <p:nvPr/>
        </p:nvSpPr>
        <p:spPr>
          <a:xfrm>
            <a:off x="274320" y="1965960"/>
            <a:ext cx="1417320" cy="18288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Generic instructions</a:t>
            </a:r>
            <a:endParaRPr lang="en-US" sz="850" dirty="0"/>
          </a:p>
        </p:txBody>
      </p:sp>
      <p:sp>
        <p:nvSpPr>
          <p:cNvPr id="11" name="Text 9"/>
          <p:cNvSpPr/>
          <p:nvPr/>
        </p:nvSpPr>
        <p:spPr>
          <a:xfrm>
            <a:off x="1737360" y="1508760"/>
            <a:ext cx="27432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12" name="Shape 10"/>
          <p:cNvSpPr/>
          <p:nvPr/>
        </p:nvSpPr>
        <p:spPr>
          <a:xfrm>
            <a:off x="2011680" y="1234440"/>
            <a:ext cx="1508760" cy="1005840"/>
          </a:xfrm>
          <a:prstGeom prst="rect">
            <a:avLst/>
          </a:prstGeom>
          <a:solidFill>
            <a:srgbClr val="1A2744"/>
          </a:solidFill>
          <a:ln/>
        </p:spPr>
      </p:sp>
      <p:sp>
        <p:nvSpPr>
          <p:cNvPr id="13" name="Shape 11"/>
          <p:cNvSpPr/>
          <p:nvPr/>
        </p:nvSpPr>
        <p:spPr>
          <a:xfrm>
            <a:off x="2011680" y="1234440"/>
            <a:ext cx="1508760" cy="45720"/>
          </a:xfrm>
          <a:prstGeom prst="rect">
            <a:avLst/>
          </a:prstGeom>
          <a:solidFill>
            <a:srgbClr val="0D9488"/>
          </a:solidFill>
          <a:ln/>
        </p:spPr>
      </p:sp>
      <p:sp>
        <p:nvSpPr>
          <p:cNvPr id="14" name="Shape 12"/>
          <p:cNvSpPr/>
          <p:nvPr/>
        </p:nvSpPr>
        <p:spPr>
          <a:xfrm>
            <a:off x="2560320" y="1371600"/>
            <a:ext cx="365760" cy="365760"/>
          </a:xfrm>
          <a:prstGeom prst="ellipse">
            <a:avLst/>
          </a:prstGeom>
          <a:solidFill>
            <a:srgbClr val="0D9488"/>
          </a:solidFill>
          <a:ln/>
        </p:spPr>
      </p:sp>
      <p:sp>
        <p:nvSpPr>
          <p:cNvPr id="15" name="Text 13"/>
          <p:cNvSpPr/>
          <p:nvPr/>
        </p:nvSpPr>
        <p:spPr>
          <a:xfrm>
            <a:off x="256032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2057400" y="1783080"/>
            <a:ext cx="1417320" cy="2011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Inject Metadata</a:t>
            </a:r>
            <a:endParaRPr lang="en-US" sz="1000" dirty="0"/>
          </a:p>
        </p:txBody>
      </p:sp>
      <p:sp>
        <p:nvSpPr>
          <p:cNvPr id="17" name="Text 15"/>
          <p:cNvSpPr/>
          <p:nvPr/>
        </p:nvSpPr>
        <p:spPr>
          <a:xfrm>
            <a:off x="2057400" y="1965960"/>
            <a:ext cx="1417320" cy="18288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YAML from skill.json</a:t>
            </a:r>
            <a:endParaRPr lang="en-US" sz="850" dirty="0"/>
          </a:p>
        </p:txBody>
      </p:sp>
      <p:sp>
        <p:nvSpPr>
          <p:cNvPr id="18" name="Text 16"/>
          <p:cNvSpPr/>
          <p:nvPr/>
        </p:nvSpPr>
        <p:spPr>
          <a:xfrm>
            <a:off x="3520440" y="1508760"/>
            <a:ext cx="27432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19" name="Shape 17"/>
          <p:cNvSpPr/>
          <p:nvPr/>
        </p:nvSpPr>
        <p:spPr>
          <a:xfrm>
            <a:off x="3794760" y="1234440"/>
            <a:ext cx="1508760" cy="1005840"/>
          </a:xfrm>
          <a:prstGeom prst="rect">
            <a:avLst/>
          </a:prstGeom>
          <a:solidFill>
            <a:srgbClr val="1A2744"/>
          </a:solidFill>
          <a:ln/>
        </p:spPr>
      </p:sp>
      <p:sp>
        <p:nvSpPr>
          <p:cNvPr id="20" name="Shape 18"/>
          <p:cNvSpPr/>
          <p:nvPr/>
        </p:nvSpPr>
        <p:spPr>
          <a:xfrm>
            <a:off x="3794760" y="1234440"/>
            <a:ext cx="1508760" cy="45720"/>
          </a:xfrm>
          <a:prstGeom prst="rect">
            <a:avLst/>
          </a:prstGeom>
          <a:solidFill>
            <a:srgbClr val="0D9488"/>
          </a:solidFill>
          <a:ln/>
        </p:spPr>
      </p:sp>
      <p:sp>
        <p:nvSpPr>
          <p:cNvPr id="21" name="Shape 19"/>
          <p:cNvSpPr/>
          <p:nvPr/>
        </p:nvSpPr>
        <p:spPr>
          <a:xfrm>
            <a:off x="4343400" y="1371600"/>
            <a:ext cx="365760" cy="365760"/>
          </a:xfrm>
          <a:prstGeom prst="ellipse">
            <a:avLst/>
          </a:prstGeom>
          <a:solidFill>
            <a:srgbClr val="0D9488"/>
          </a:solidFill>
          <a:ln/>
        </p:spPr>
      </p:sp>
      <p:sp>
        <p:nvSpPr>
          <p:cNvPr id="22" name="Text 20"/>
          <p:cNvSpPr/>
          <p:nvPr/>
        </p:nvSpPr>
        <p:spPr>
          <a:xfrm>
            <a:off x="434340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3840480" y="1783080"/>
            <a:ext cx="1417320" cy="2011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Map Structure</a:t>
            </a:r>
            <a:endParaRPr lang="en-US" sz="1000" dirty="0"/>
          </a:p>
        </p:txBody>
      </p:sp>
      <p:sp>
        <p:nvSpPr>
          <p:cNvPr id="24" name="Text 22"/>
          <p:cNvSpPr/>
          <p:nvPr/>
        </p:nvSpPr>
        <p:spPr>
          <a:xfrm>
            <a:off x="3840480" y="1965960"/>
            <a:ext cx="1417320" cy="18288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Agent-specific dirs</a:t>
            </a:r>
            <a:endParaRPr lang="en-US" sz="850" dirty="0"/>
          </a:p>
        </p:txBody>
      </p:sp>
      <p:sp>
        <p:nvSpPr>
          <p:cNvPr id="25" name="Text 23"/>
          <p:cNvSpPr/>
          <p:nvPr/>
        </p:nvSpPr>
        <p:spPr>
          <a:xfrm>
            <a:off x="5303520" y="1508760"/>
            <a:ext cx="27432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26" name="Shape 24"/>
          <p:cNvSpPr/>
          <p:nvPr/>
        </p:nvSpPr>
        <p:spPr>
          <a:xfrm>
            <a:off x="5577840" y="1234440"/>
            <a:ext cx="1508760" cy="1005840"/>
          </a:xfrm>
          <a:prstGeom prst="rect">
            <a:avLst/>
          </a:prstGeom>
          <a:solidFill>
            <a:srgbClr val="1A2744"/>
          </a:solidFill>
          <a:ln/>
        </p:spPr>
      </p:sp>
      <p:sp>
        <p:nvSpPr>
          <p:cNvPr id="27" name="Shape 25"/>
          <p:cNvSpPr/>
          <p:nvPr/>
        </p:nvSpPr>
        <p:spPr>
          <a:xfrm>
            <a:off x="5577840" y="1234440"/>
            <a:ext cx="1508760" cy="45720"/>
          </a:xfrm>
          <a:prstGeom prst="rect">
            <a:avLst/>
          </a:prstGeom>
          <a:solidFill>
            <a:srgbClr val="0D9488"/>
          </a:solidFill>
          <a:ln/>
        </p:spPr>
      </p:sp>
      <p:sp>
        <p:nvSpPr>
          <p:cNvPr id="28" name="Shape 26"/>
          <p:cNvSpPr/>
          <p:nvPr/>
        </p:nvSpPr>
        <p:spPr>
          <a:xfrm>
            <a:off x="6126480" y="1371600"/>
            <a:ext cx="365760" cy="365760"/>
          </a:xfrm>
          <a:prstGeom prst="ellipse">
            <a:avLst/>
          </a:prstGeom>
          <a:solidFill>
            <a:srgbClr val="0D9488"/>
          </a:solidFill>
          <a:ln/>
        </p:spPr>
      </p:sp>
      <p:sp>
        <p:nvSpPr>
          <p:cNvPr id="29" name="Text 27"/>
          <p:cNvSpPr/>
          <p:nvPr/>
        </p:nvSpPr>
        <p:spPr>
          <a:xfrm>
            <a:off x="612648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5623560" y="1783080"/>
            <a:ext cx="1417320" cy="2011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Generate Manifest</a:t>
            </a:r>
            <a:endParaRPr lang="en-US" sz="1000" dirty="0"/>
          </a:p>
        </p:txBody>
      </p:sp>
      <p:sp>
        <p:nvSpPr>
          <p:cNvPr id="31" name="Text 29"/>
          <p:cNvSpPr/>
          <p:nvPr/>
        </p:nvSpPr>
        <p:spPr>
          <a:xfrm>
            <a:off x="5623560" y="1965960"/>
            <a:ext cx="1417320" cy="18288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MANIFEST.yaml</a:t>
            </a:r>
            <a:endParaRPr lang="en-US" sz="850" dirty="0"/>
          </a:p>
        </p:txBody>
      </p:sp>
      <p:sp>
        <p:nvSpPr>
          <p:cNvPr id="32" name="Text 30"/>
          <p:cNvSpPr/>
          <p:nvPr/>
        </p:nvSpPr>
        <p:spPr>
          <a:xfrm>
            <a:off x="7086600" y="1508760"/>
            <a:ext cx="274320" cy="36576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33" name="Shape 31"/>
          <p:cNvSpPr/>
          <p:nvPr/>
        </p:nvSpPr>
        <p:spPr>
          <a:xfrm>
            <a:off x="7360920" y="1234440"/>
            <a:ext cx="1508760" cy="1005840"/>
          </a:xfrm>
          <a:prstGeom prst="rect">
            <a:avLst/>
          </a:prstGeom>
          <a:solidFill>
            <a:srgbClr val="1A2744"/>
          </a:solidFill>
          <a:ln/>
        </p:spPr>
      </p:sp>
      <p:sp>
        <p:nvSpPr>
          <p:cNvPr id="34" name="Shape 32"/>
          <p:cNvSpPr/>
          <p:nvPr/>
        </p:nvSpPr>
        <p:spPr>
          <a:xfrm>
            <a:off x="7360920" y="1234440"/>
            <a:ext cx="1508760" cy="45720"/>
          </a:xfrm>
          <a:prstGeom prst="rect">
            <a:avLst/>
          </a:prstGeom>
          <a:solidFill>
            <a:srgbClr val="0D9488"/>
          </a:solidFill>
          <a:ln/>
        </p:spPr>
      </p:sp>
      <p:sp>
        <p:nvSpPr>
          <p:cNvPr id="35" name="Shape 33"/>
          <p:cNvSpPr/>
          <p:nvPr/>
        </p:nvSpPr>
        <p:spPr>
          <a:xfrm>
            <a:off x="7909560" y="1371600"/>
            <a:ext cx="365760" cy="365760"/>
          </a:xfrm>
          <a:prstGeom prst="ellipse">
            <a:avLst/>
          </a:prstGeom>
          <a:solidFill>
            <a:srgbClr val="0D9488"/>
          </a:solidFill>
          <a:ln/>
        </p:spPr>
      </p:sp>
      <p:sp>
        <p:nvSpPr>
          <p:cNvPr id="36" name="Text 34"/>
          <p:cNvSpPr/>
          <p:nvPr/>
        </p:nvSpPr>
        <p:spPr>
          <a:xfrm>
            <a:off x="7909560" y="13716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7" name="Text 35"/>
          <p:cNvSpPr/>
          <p:nvPr/>
        </p:nvSpPr>
        <p:spPr>
          <a:xfrm>
            <a:off x="7406640" y="1783080"/>
            <a:ext cx="1417320" cy="20116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Update Instructions</a:t>
            </a:r>
            <a:endParaRPr lang="en-US" sz="1000" dirty="0"/>
          </a:p>
        </p:txBody>
      </p:sp>
      <p:sp>
        <p:nvSpPr>
          <p:cNvPr id="38" name="Text 36"/>
          <p:cNvSpPr/>
          <p:nvPr/>
        </p:nvSpPr>
        <p:spPr>
          <a:xfrm>
            <a:off x="7406640" y="1965960"/>
            <a:ext cx="1417320" cy="182880"/>
          </a:xfrm>
          <a:prstGeom prst="rect">
            <a:avLst/>
          </a:prstGeom>
          <a:noFill/>
          <a:ln/>
        </p:spPr>
        <p:txBody>
          <a:bodyPr wrap="square"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CLAUDE.md / .clinerules</a:t>
            </a:r>
            <a:endParaRPr lang="en-US" sz="850" dirty="0"/>
          </a:p>
        </p:txBody>
      </p:sp>
      <p:sp>
        <p:nvSpPr>
          <p:cNvPr id="39" name="Shape 37"/>
          <p:cNvSpPr/>
          <p:nvPr/>
        </p:nvSpPr>
        <p:spPr>
          <a:xfrm>
            <a:off x="457200" y="2514600"/>
            <a:ext cx="3931920" cy="2103120"/>
          </a:xfrm>
          <a:prstGeom prst="rect">
            <a:avLst/>
          </a:prstGeom>
          <a:solidFill>
            <a:srgbClr val="1E293B"/>
          </a:solidFill>
          <a:ln/>
          <a:effectLst>
            <a:outerShdw sx="100000" sy="100000" kx="0" ky="0" algn="bl" rotWithShape="0" blurRad="101600" dist="38100" dir="8100000">
              <a:srgbClr val="000000">
                <a:alpha val="15000"/>
              </a:srgbClr>
            </a:outerShdw>
          </a:effectLst>
        </p:spPr>
      </p:sp>
      <p:sp>
        <p:nvSpPr>
          <p:cNvPr id="40" name="Shape 38"/>
          <p:cNvSpPr/>
          <p:nvPr/>
        </p:nvSpPr>
        <p:spPr>
          <a:xfrm>
            <a:off x="457200" y="2514600"/>
            <a:ext cx="3931920" cy="292608"/>
          </a:xfrm>
          <a:prstGeom prst="rect">
            <a:avLst/>
          </a:prstGeom>
          <a:solidFill>
            <a:srgbClr val="334155"/>
          </a:solidFill>
          <a:ln/>
        </p:spPr>
      </p:sp>
      <p:sp>
        <p:nvSpPr>
          <p:cNvPr id="41" name="Text 39"/>
          <p:cNvSpPr/>
          <p:nvPr/>
        </p:nvSpPr>
        <p:spPr>
          <a:xfrm>
            <a:off x="640080" y="2514600"/>
            <a:ext cx="2743200" cy="29260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Source (Generic)</a:t>
            </a:r>
            <a:endParaRPr lang="en-US" sz="1000" dirty="0"/>
          </a:p>
        </p:txBody>
      </p:sp>
      <p:sp>
        <p:nvSpPr>
          <p:cNvPr id="42" name="Text 40"/>
          <p:cNvSpPr/>
          <p:nvPr/>
        </p:nvSpPr>
        <p:spPr>
          <a:xfrm>
            <a:off x="640080" y="2852928"/>
            <a:ext cx="3566160" cy="182880"/>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skills/code-review/</a:t>
            </a:r>
            <a:endParaRPr lang="en-US" sz="850" dirty="0"/>
          </a:p>
        </p:txBody>
      </p:sp>
      <p:sp>
        <p:nvSpPr>
          <p:cNvPr id="43" name="Text 41"/>
          <p:cNvSpPr/>
          <p:nvPr/>
        </p:nvSpPr>
        <p:spPr>
          <a:xfrm>
            <a:off x="640080" y="3035808"/>
            <a:ext cx="3566160" cy="182880"/>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skill.json         # metadata</a:t>
            </a:r>
            <a:endParaRPr lang="en-US" sz="850" dirty="0"/>
          </a:p>
        </p:txBody>
      </p:sp>
      <p:sp>
        <p:nvSpPr>
          <p:cNvPr id="44" name="Text 42"/>
          <p:cNvSpPr/>
          <p:nvPr/>
        </p:nvSpPr>
        <p:spPr>
          <a:xfrm>
            <a:off x="640080" y="3218688"/>
            <a:ext cx="3566160" cy="182880"/>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SKILL.md           # instructions</a:t>
            </a:r>
            <a:endParaRPr lang="en-US" sz="850" dirty="0"/>
          </a:p>
        </p:txBody>
      </p:sp>
      <p:sp>
        <p:nvSpPr>
          <p:cNvPr id="45" name="Text 43"/>
          <p:cNvSpPr/>
          <p:nvPr/>
        </p:nvSpPr>
        <p:spPr>
          <a:xfrm>
            <a:off x="640080" y="3401568"/>
            <a:ext cx="3566160" cy="182880"/>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claude-code.md     # agent template</a:t>
            </a:r>
            <a:endParaRPr lang="en-US" sz="850" dirty="0"/>
          </a:p>
        </p:txBody>
      </p:sp>
      <p:sp>
        <p:nvSpPr>
          <p:cNvPr id="46" name="Text 44"/>
          <p:cNvSpPr/>
          <p:nvPr/>
        </p:nvSpPr>
        <p:spPr>
          <a:xfrm>
            <a:off x="640080" y="3584448"/>
            <a:ext cx="3566160" cy="182880"/>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scripts/           # executables</a:t>
            </a:r>
            <a:endParaRPr lang="en-US" sz="850" dirty="0"/>
          </a:p>
        </p:txBody>
      </p:sp>
      <p:sp>
        <p:nvSpPr>
          <p:cNvPr id="47" name="Text 45"/>
          <p:cNvSpPr/>
          <p:nvPr/>
        </p:nvSpPr>
        <p:spPr>
          <a:xfrm>
            <a:off x="640080" y="3767328"/>
            <a:ext cx="3566160" cy="182880"/>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 references/        # docs</a:t>
            </a:r>
            <a:endParaRPr lang="en-US" sz="850" dirty="0"/>
          </a:p>
        </p:txBody>
      </p:sp>
      <p:sp>
        <p:nvSpPr>
          <p:cNvPr id="48" name="Text 46"/>
          <p:cNvSpPr/>
          <p:nvPr/>
        </p:nvSpPr>
        <p:spPr>
          <a:xfrm>
            <a:off x="4343400" y="3246120"/>
            <a:ext cx="457200" cy="457200"/>
          </a:xfrm>
          <a:prstGeom prst="rect">
            <a:avLst/>
          </a:prstGeom>
          <a:noFill/>
          <a:ln/>
        </p:spPr>
        <p:txBody>
          <a:bodyPr wrap="square" rtlCol="0" anchor="ctr"/>
          <a:lstStyle/>
          <a:p>
            <a:pPr algn="ctr" indent="0" marL="0">
              <a:buNone/>
            </a:pPr>
            <a:r>
              <a:rPr lang="en-US" sz="2000" dirty="0">
                <a:solidFill>
                  <a:srgbClr val="0D9488"/>
                </a:solidFill>
              </a:rPr>
              <a:t>▶</a:t>
            </a:r>
            <a:endParaRPr lang="en-US" sz="2000" dirty="0"/>
          </a:p>
        </p:txBody>
      </p:sp>
      <p:sp>
        <p:nvSpPr>
          <p:cNvPr id="49" name="Shape 47"/>
          <p:cNvSpPr/>
          <p:nvPr/>
        </p:nvSpPr>
        <p:spPr>
          <a:xfrm>
            <a:off x="4754880" y="2514600"/>
            <a:ext cx="3931920" cy="2103120"/>
          </a:xfrm>
          <a:prstGeom prst="rect">
            <a:avLst/>
          </a:prstGeom>
          <a:solidFill>
            <a:srgbClr val="1E293B"/>
          </a:solidFill>
          <a:ln/>
          <a:effectLst>
            <a:outerShdw sx="100000" sy="100000" kx="0" ky="0" algn="bl" rotWithShape="0" blurRad="101600" dist="38100" dir="8100000">
              <a:srgbClr val="000000">
                <a:alpha val="15000"/>
              </a:srgbClr>
            </a:outerShdw>
          </a:effectLst>
        </p:spPr>
      </p:sp>
      <p:sp>
        <p:nvSpPr>
          <p:cNvPr id="50" name="Shape 48"/>
          <p:cNvSpPr/>
          <p:nvPr/>
        </p:nvSpPr>
        <p:spPr>
          <a:xfrm>
            <a:off x="4754880" y="2514600"/>
            <a:ext cx="3931920" cy="292608"/>
          </a:xfrm>
          <a:prstGeom prst="rect">
            <a:avLst/>
          </a:prstGeom>
          <a:solidFill>
            <a:srgbClr val="334155"/>
          </a:solidFill>
          <a:ln/>
        </p:spPr>
      </p:sp>
      <p:sp>
        <p:nvSpPr>
          <p:cNvPr id="51" name="Text 49"/>
          <p:cNvSpPr/>
          <p:nvPr/>
        </p:nvSpPr>
        <p:spPr>
          <a:xfrm>
            <a:off x="4937760" y="2514600"/>
            <a:ext cx="2743200" cy="292608"/>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Installed (Claude Code)</a:t>
            </a:r>
            <a:endParaRPr lang="en-US" sz="1000" dirty="0"/>
          </a:p>
        </p:txBody>
      </p:sp>
      <p:sp>
        <p:nvSpPr>
          <p:cNvPr id="52" name="Text 50"/>
          <p:cNvSpPr/>
          <p:nvPr/>
        </p:nvSpPr>
        <p:spPr>
          <a:xfrm>
            <a:off x="4937760" y="2852928"/>
            <a:ext cx="3566160" cy="182880"/>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.claude/skills/code-review/</a:t>
            </a:r>
            <a:endParaRPr lang="en-US" sz="850" dirty="0"/>
          </a:p>
        </p:txBody>
      </p:sp>
      <p:sp>
        <p:nvSpPr>
          <p:cNvPr id="53" name="Text 51"/>
          <p:cNvSpPr/>
          <p:nvPr/>
        </p:nvSpPr>
        <p:spPr>
          <a:xfrm>
            <a:off x="4937760" y="3035808"/>
            <a:ext cx="3566160" cy="182880"/>
          </a:xfrm>
          <a:prstGeom prst="rect">
            <a:avLst/>
          </a:prstGeom>
          <a:noFill/>
          <a:ln/>
        </p:spPr>
        <p:txBody>
          <a:bodyPr wrap="square" lIns="0" tIns="0" rIns="0" bIns="0" rtlCol="0" anchor="ctr"/>
          <a:lstStyle/>
          <a:p>
            <a:pPr indent="0" marL="0">
              <a:buNone/>
            </a:pPr>
            <a:r>
              <a:rPr lang="en-US" sz="850" dirty="0">
                <a:solidFill>
                  <a:srgbClr val="14B8A6"/>
                </a:solidFill>
                <a:latin typeface="Consolas" pitchFamily="34" charset="0"/>
                <a:ea typeface="Consolas" pitchFamily="34" charset="-122"/>
                <a:cs typeface="Consolas" pitchFamily="34" charset="-120"/>
              </a:rPr>
              <a:t>  ├─ SKILL.md           # + YAML injected</a:t>
            </a:r>
            <a:endParaRPr lang="en-US" sz="850" dirty="0"/>
          </a:p>
        </p:txBody>
      </p:sp>
      <p:sp>
        <p:nvSpPr>
          <p:cNvPr id="54" name="Text 52"/>
          <p:cNvSpPr/>
          <p:nvPr/>
        </p:nvSpPr>
        <p:spPr>
          <a:xfrm>
            <a:off x="4937760" y="3218688"/>
            <a:ext cx="3566160" cy="182880"/>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 scripts/</a:t>
            </a:r>
            <a:endParaRPr lang="en-US" sz="850" dirty="0"/>
          </a:p>
        </p:txBody>
      </p:sp>
      <p:sp>
        <p:nvSpPr>
          <p:cNvPr id="55" name="Text 53"/>
          <p:cNvSpPr/>
          <p:nvPr/>
        </p:nvSpPr>
        <p:spPr>
          <a:xfrm>
            <a:off x="4937760" y="3401568"/>
            <a:ext cx="3566160" cy="182880"/>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 references/</a:t>
            </a:r>
            <a:endParaRPr lang="en-US" sz="850" dirty="0"/>
          </a:p>
        </p:txBody>
      </p:sp>
      <p:sp>
        <p:nvSpPr>
          <p:cNvPr id="56" name="Text 54"/>
          <p:cNvSpPr/>
          <p:nvPr/>
        </p:nvSpPr>
        <p:spPr>
          <a:xfrm>
            <a:off x="4937760" y="3584448"/>
            <a:ext cx="3566160" cy="182880"/>
          </a:xfrm>
          <a:prstGeom prst="rect">
            <a:avLst/>
          </a:prstGeom>
          <a:noFill/>
          <a:ln/>
        </p:spPr>
        <p:txBody>
          <a:bodyPr wrap="square" lIns="0" tIns="0" rIns="0" bIns="0" rtlCol="0" anchor="ctr"/>
          <a:lstStyle/>
          <a:p>
            <a:pPr indent="0" marL="0">
              <a:buNone/>
            </a:pPr>
            <a:r>
              <a:rPr lang="en-US" sz="850" dirty="0">
                <a:solidFill>
                  <a:srgbClr val="14B8A6"/>
                </a:solidFill>
                <a:latin typeface="Consolas" pitchFamily="34" charset="0"/>
                <a:ea typeface="Consolas" pitchFamily="34" charset="-122"/>
                <a:cs typeface="Consolas" pitchFamily="34" charset="-120"/>
              </a:rPr>
              <a:t>.claude/skills/MANIFEST.yaml</a:t>
            </a:r>
            <a:endParaRPr lang="en-US" sz="850" dirty="0"/>
          </a:p>
        </p:txBody>
      </p:sp>
      <p:sp>
        <p:nvSpPr>
          <p:cNvPr id="57" name="Text 55"/>
          <p:cNvSpPr/>
          <p:nvPr/>
        </p:nvSpPr>
        <p:spPr>
          <a:xfrm>
            <a:off x="4937760" y="3767328"/>
            <a:ext cx="3566160" cy="182880"/>
          </a:xfrm>
          <a:prstGeom prst="rect">
            <a:avLst/>
          </a:prstGeom>
          <a:noFill/>
          <a:ln/>
        </p:spPr>
        <p:txBody>
          <a:bodyPr wrap="square" lIns="0" tIns="0" rIns="0" bIns="0" rtlCol="0" anchor="ctr"/>
          <a:lstStyle/>
          <a:p>
            <a:pPr indent="0" marL="0">
              <a:buNone/>
            </a:pPr>
            <a:r>
              <a:rPr lang="en-US" sz="850" dirty="0">
                <a:solidFill>
                  <a:srgbClr val="14B8A6"/>
                </a:solidFill>
                <a:latin typeface="Consolas" pitchFamily="34" charset="0"/>
                <a:ea typeface="Consolas" pitchFamily="34" charset="-122"/>
                <a:cs typeface="Consolas" pitchFamily="34" charset="-120"/>
              </a:rPr>
              <a:t>CLAUDE.md                  # updated</a:t>
            </a:r>
            <a:endParaRPr lang="en-US" sz="850" dirty="0"/>
          </a:p>
        </p:txBody>
      </p:sp>
      <p:sp>
        <p:nvSpPr>
          <p:cNvPr id="58" name="Text 56"/>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One generic skill definition → 6 different agent installations, each with native directory structure</a:t>
            </a:r>
            <a:endParaRPr lang="en-US" sz="1000" dirty="0"/>
          </a:p>
        </p:txBody>
      </p:sp>
      <p:sp>
        <p:nvSpPr>
          <p:cNvPr id="59" name="Text 5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59 / 93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ma-agents — 11 Supported Coding AI Assistants</a:t>
            </a:r>
            <a:endParaRPr lang="en-US" sz="2600" dirty="0"/>
          </a:p>
        </p:txBody>
      </p:sp>
      <p:sp>
        <p:nvSpPr>
          <p:cNvPr id="5" name="Text 3"/>
          <p:cNvSpPr/>
          <p:nvPr/>
        </p:nvSpPr>
        <p:spPr>
          <a:xfrm>
            <a:off x="320040" y="1005840"/>
            <a:ext cx="82296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IDE Agents — Skills install to standard paths</a:t>
            </a:r>
            <a:endParaRPr lang="en-US" sz="1100" dirty="0"/>
          </a:p>
        </p:txBody>
      </p:sp>
      <p:sp>
        <p:nvSpPr>
          <p:cNvPr id="6" name="Shape 4"/>
          <p:cNvSpPr/>
          <p:nvPr/>
        </p:nvSpPr>
        <p:spPr>
          <a:xfrm>
            <a:off x="182880"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82880" y="1298448"/>
            <a:ext cx="1143000" cy="45720"/>
          </a:xfrm>
          <a:prstGeom prst="rect">
            <a:avLst/>
          </a:prstGeom>
          <a:solidFill>
            <a:srgbClr val="0D9488"/>
          </a:solidFill>
          <a:ln/>
        </p:spPr>
      </p:sp>
      <p:sp>
        <p:nvSpPr>
          <p:cNvPr id="8" name="Text 6"/>
          <p:cNvSpPr/>
          <p:nvPr/>
        </p:nvSpPr>
        <p:spPr>
          <a:xfrm>
            <a:off x="228600"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Claude Code</a:t>
            </a:r>
            <a:endParaRPr lang="en-US" sz="900" dirty="0"/>
          </a:p>
        </p:txBody>
      </p:sp>
      <p:sp>
        <p:nvSpPr>
          <p:cNvPr id="9" name="Text 7"/>
          <p:cNvSpPr/>
          <p:nvPr/>
        </p:nvSpPr>
        <p:spPr>
          <a:xfrm>
            <a:off x="228600"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.claude/skills/</a:t>
            </a:r>
            <a:endParaRPr lang="en-US" sz="650" dirty="0"/>
          </a:p>
        </p:txBody>
      </p:sp>
      <p:sp>
        <p:nvSpPr>
          <p:cNvPr id="10" name="Shape 8"/>
          <p:cNvSpPr/>
          <p:nvPr/>
        </p:nvSpPr>
        <p:spPr>
          <a:xfrm>
            <a:off x="1444752"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1444752" y="1298448"/>
            <a:ext cx="1143000" cy="45720"/>
          </a:xfrm>
          <a:prstGeom prst="rect">
            <a:avLst/>
          </a:prstGeom>
          <a:solidFill>
            <a:srgbClr val="2563EB"/>
          </a:solidFill>
          <a:ln/>
        </p:spPr>
      </p:sp>
      <p:sp>
        <p:nvSpPr>
          <p:cNvPr id="12" name="Text 10"/>
          <p:cNvSpPr/>
          <p:nvPr/>
        </p:nvSpPr>
        <p:spPr>
          <a:xfrm>
            <a:off x="1490472"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Gemini</a:t>
            </a:r>
            <a:endParaRPr lang="en-US" sz="900" dirty="0"/>
          </a:p>
        </p:txBody>
      </p:sp>
      <p:sp>
        <p:nvSpPr>
          <p:cNvPr id="13" name="Text 11"/>
          <p:cNvSpPr/>
          <p:nvPr/>
        </p:nvSpPr>
        <p:spPr>
          <a:xfrm>
            <a:off x="1490472"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.gemini/skills/</a:t>
            </a:r>
            <a:endParaRPr lang="en-US" sz="650" dirty="0"/>
          </a:p>
        </p:txBody>
      </p:sp>
      <p:sp>
        <p:nvSpPr>
          <p:cNvPr id="14" name="Shape 12"/>
          <p:cNvSpPr/>
          <p:nvPr/>
        </p:nvSpPr>
        <p:spPr>
          <a:xfrm>
            <a:off x="2706624"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2706624" y="1298448"/>
            <a:ext cx="1143000" cy="45720"/>
          </a:xfrm>
          <a:prstGeom prst="rect">
            <a:avLst/>
          </a:prstGeom>
          <a:solidFill>
            <a:srgbClr val="0F1B2D"/>
          </a:solidFill>
          <a:ln/>
        </p:spPr>
      </p:sp>
      <p:sp>
        <p:nvSpPr>
          <p:cNvPr id="16" name="Text 14"/>
          <p:cNvSpPr/>
          <p:nvPr/>
        </p:nvSpPr>
        <p:spPr>
          <a:xfrm>
            <a:off x="2752344"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Copilot</a:t>
            </a:r>
            <a:endParaRPr lang="en-US" sz="900" dirty="0"/>
          </a:p>
        </p:txBody>
      </p:sp>
      <p:sp>
        <p:nvSpPr>
          <p:cNvPr id="17" name="Text 15"/>
          <p:cNvSpPr/>
          <p:nvPr/>
        </p:nvSpPr>
        <p:spPr>
          <a:xfrm>
            <a:off x="2752344"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.github/copilot/skills/</a:t>
            </a:r>
            <a:endParaRPr lang="en-US" sz="650" dirty="0"/>
          </a:p>
        </p:txBody>
      </p:sp>
      <p:sp>
        <p:nvSpPr>
          <p:cNvPr id="18" name="Shape 16"/>
          <p:cNvSpPr/>
          <p:nvPr/>
        </p:nvSpPr>
        <p:spPr>
          <a:xfrm>
            <a:off x="3968496"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3968496" y="1298448"/>
            <a:ext cx="1143000" cy="45720"/>
          </a:xfrm>
          <a:prstGeom prst="rect">
            <a:avLst/>
          </a:prstGeom>
          <a:solidFill>
            <a:srgbClr val="EA580C"/>
          </a:solidFill>
          <a:ln/>
        </p:spPr>
      </p:sp>
      <p:sp>
        <p:nvSpPr>
          <p:cNvPr id="20" name="Text 18"/>
          <p:cNvSpPr/>
          <p:nvPr/>
        </p:nvSpPr>
        <p:spPr>
          <a:xfrm>
            <a:off x="4014216"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Antigravity</a:t>
            </a:r>
            <a:endParaRPr lang="en-US" sz="900" dirty="0"/>
          </a:p>
        </p:txBody>
      </p:sp>
      <p:sp>
        <p:nvSpPr>
          <p:cNvPr id="21" name="Text 19"/>
          <p:cNvSpPr/>
          <p:nvPr/>
        </p:nvSpPr>
        <p:spPr>
          <a:xfrm>
            <a:off x="4014216"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_bmad/skills/</a:t>
            </a:r>
            <a:endParaRPr lang="en-US" sz="650" dirty="0"/>
          </a:p>
        </p:txBody>
      </p:sp>
      <p:sp>
        <p:nvSpPr>
          <p:cNvPr id="22" name="Shape 20"/>
          <p:cNvSpPr/>
          <p:nvPr/>
        </p:nvSpPr>
        <p:spPr>
          <a:xfrm>
            <a:off x="5230368"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3" name="Shape 21"/>
          <p:cNvSpPr/>
          <p:nvPr/>
        </p:nvSpPr>
        <p:spPr>
          <a:xfrm>
            <a:off x="5230368" y="1298448"/>
            <a:ext cx="1143000" cy="45720"/>
          </a:xfrm>
          <a:prstGeom prst="rect">
            <a:avLst/>
          </a:prstGeom>
          <a:solidFill>
            <a:srgbClr val="7C3AED"/>
          </a:solidFill>
          <a:ln/>
        </p:spPr>
      </p:sp>
      <p:sp>
        <p:nvSpPr>
          <p:cNvPr id="24" name="Text 22"/>
          <p:cNvSpPr/>
          <p:nvPr/>
        </p:nvSpPr>
        <p:spPr>
          <a:xfrm>
            <a:off x="5276088"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Cursor</a:t>
            </a:r>
            <a:endParaRPr lang="en-US" sz="900" dirty="0"/>
          </a:p>
        </p:txBody>
      </p:sp>
      <p:sp>
        <p:nvSpPr>
          <p:cNvPr id="25" name="Text 23"/>
          <p:cNvSpPr/>
          <p:nvPr/>
        </p:nvSpPr>
        <p:spPr>
          <a:xfrm>
            <a:off x="5276088"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.cursor/skills/</a:t>
            </a:r>
            <a:endParaRPr lang="en-US" sz="650" dirty="0"/>
          </a:p>
        </p:txBody>
      </p:sp>
      <p:sp>
        <p:nvSpPr>
          <p:cNvPr id="26" name="Shape 24"/>
          <p:cNvSpPr/>
          <p:nvPr/>
        </p:nvSpPr>
        <p:spPr>
          <a:xfrm>
            <a:off x="6492240"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7" name="Shape 25"/>
          <p:cNvSpPr/>
          <p:nvPr/>
        </p:nvSpPr>
        <p:spPr>
          <a:xfrm>
            <a:off x="6492240" y="1298448"/>
            <a:ext cx="1143000" cy="45720"/>
          </a:xfrm>
          <a:prstGeom prst="rect">
            <a:avLst/>
          </a:prstGeom>
          <a:solidFill>
            <a:srgbClr val="059669"/>
          </a:solidFill>
          <a:ln/>
        </p:spPr>
      </p:sp>
      <p:sp>
        <p:nvSpPr>
          <p:cNvPr id="28" name="Text 26"/>
          <p:cNvSpPr/>
          <p:nvPr/>
        </p:nvSpPr>
        <p:spPr>
          <a:xfrm>
            <a:off x="6537960"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Cline</a:t>
            </a:r>
            <a:endParaRPr lang="en-US" sz="900" dirty="0"/>
          </a:p>
        </p:txBody>
      </p:sp>
      <p:sp>
        <p:nvSpPr>
          <p:cNvPr id="29" name="Text 27"/>
          <p:cNvSpPr/>
          <p:nvPr/>
        </p:nvSpPr>
        <p:spPr>
          <a:xfrm>
            <a:off x="6537960"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.cline/skills/</a:t>
            </a:r>
            <a:endParaRPr lang="en-US" sz="650" dirty="0"/>
          </a:p>
        </p:txBody>
      </p:sp>
      <p:sp>
        <p:nvSpPr>
          <p:cNvPr id="30" name="Shape 28"/>
          <p:cNvSpPr/>
          <p:nvPr/>
        </p:nvSpPr>
        <p:spPr>
          <a:xfrm>
            <a:off x="7754112" y="1298448"/>
            <a:ext cx="114300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9"/>
          <p:cNvSpPr/>
          <p:nvPr/>
        </p:nvSpPr>
        <p:spPr>
          <a:xfrm>
            <a:off x="7754112" y="1298448"/>
            <a:ext cx="1143000" cy="45720"/>
          </a:xfrm>
          <a:prstGeom prst="rect">
            <a:avLst/>
          </a:prstGeom>
          <a:solidFill>
            <a:srgbClr val="6B7280"/>
          </a:solidFill>
          <a:ln/>
        </p:spPr>
      </p:sp>
      <p:sp>
        <p:nvSpPr>
          <p:cNvPr id="32" name="Text 30"/>
          <p:cNvSpPr/>
          <p:nvPr/>
        </p:nvSpPr>
        <p:spPr>
          <a:xfrm>
            <a:off x="7799832" y="1371600"/>
            <a:ext cx="1051560" cy="256032"/>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Kilocode</a:t>
            </a:r>
            <a:endParaRPr lang="en-US" sz="900" dirty="0"/>
          </a:p>
        </p:txBody>
      </p:sp>
      <p:sp>
        <p:nvSpPr>
          <p:cNvPr id="33" name="Text 31"/>
          <p:cNvSpPr/>
          <p:nvPr/>
        </p:nvSpPr>
        <p:spPr>
          <a:xfrm>
            <a:off x="7799832" y="1627632"/>
            <a:ext cx="1051560" cy="228600"/>
          </a:xfrm>
          <a:prstGeom prst="rect">
            <a:avLst/>
          </a:prstGeom>
          <a:noFill/>
          <a:ln/>
        </p:spPr>
        <p:txBody>
          <a:bodyPr wrap="square" lIns="0" tIns="0" rIns="0" bIns="0"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.kilocode/skills/</a:t>
            </a:r>
            <a:endParaRPr lang="en-US" sz="650" dirty="0"/>
          </a:p>
        </p:txBody>
      </p:sp>
      <p:sp>
        <p:nvSpPr>
          <p:cNvPr id="34" name="Shape 32"/>
          <p:cNvSpPr/>
          <p:nvPr/>
        </p:nvSpPr>
        <p:spPr>
          <a:xfrm>
            <a:off x="320040" y="2240280"/>
            <a:ext cx="8503920" cy="320040"/>
          </a:xfrm>
          <a:prstGeom prst="rect">
            <a:avLst/>
          </a:prstGeom>
          <a:solidFill>
            <a:srgbClr val="0D9488"/>
          </a:solidFill>
          <a:ln/>
        </p:spPr>
      </p:sp>
      <p:sp>
        <p:nvSpPr>
          <p:cNvPr id="35" name="Text 33"/>
          <p:cNvSpPr/>
          <p:nvPr/>
        </p:nvSpPr>
        <p:spPr>
          <a:xfrm>
            <a:off x="457200" y="2240280"/>
            <a:ext cx="8229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BMAD Specialized Agents — Deploy into _bmad/bmm/agents/</a:t>
            </a:r>
            <a:endParaRPr lang="en-US" sz="1100" dirty="0"/>
          </a:p>
        </p:txBody>
      </p:sp>
      <p:sp>
        <p:nvSpPr>
          <p:cNvPr id="36" name="Shape 34"/>
          <p:cNvSpPr/>
          <p:nvPr/>
        </p:nvSpPr>
        <p:spPr>
          <a:xfrm>
            <a:off x="320040" y="2697480"/>
            <a:ext cx="196596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7" name="Shape 35"/>
          <p:cNvSpPr/>
          <p:nvPr/>
        </p:nvSpPr>
        <p:spPr>
          <a:xfrm>
            <a:off x="320040" y="2697480"/>
            <a:ext cx="1965960" cy="54864"/>
          </a:xfrm>
          <a:prstGeom prst="rect">
            <a:avLst/>
          </a:prstGeom>
          <a:solidFill>
            <a:srgbClr val="2563EB"/>
          </a:solidFill>
          <a:ln/>
        </p:spPr>
      </p:sp>
      <p:sp>
        <p:nvSpPr>
          <p:cNvPr id="38" name="Shape 36"/>
          <p:cNvSpPr/>
          <p:nvPr/>
        </p:nvSpPr>
        <p:spPr>
          <a:xfrm>
            <a:off x="1005840" y="2816352"/>
            <a:ext cx="502920" cy="502920"/>
          </a:xfrm>
          <a:prstGeom prst="ellipse">
            <a:avLst/>
          </a:prstGeom>
          <a:solidFill>
            <a:srgbClr val="2563EB"/>
          </a:solidFill>
          <a:ln/>
        </p:spPr>
      </p:sp>
      <p:sp>
        <p:nvSpPr>
          <p:cNvPr id="39" name="Text 37"/>
          <p:cNvSpPr/>
          <p:nvPr/>
        </p:nvSpPr>
        <p:spPr>
          <a:xfrm>
            <a:off x="1005840" y="281635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40" name="Text 38"/>
          <p:cNvSpPr/>
          <p:nvPr/>
        </p:nvSpPr>
        <p:spPr>
          <a:xfrm>
            <a:off x="393192" y="3364992"/>
            <a:ext cx="1828800" cy="2286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SRE Agent</a:t>
            </a:r>
            <a:endParaRPr lang="en-US" sz="1100" dirty="0"/>
          </a:p>
        </p:txBody>
      </p:sp>
      <p:sp>
        <p:nvSpPr>
          <p:cNvPr id="41" name="Text 39"/>
          <p:cNvSpPr/>
          <p:nvPr/>
        </p:nvSpPr>
        <p:spPr>
          <a:xfrm>
            <a:off x="393192" y="3593592"/>
            <a:ext cx="1828800" cy="457200"/>
          </a:xfrm>
          <a:prstGeom prst="rect">
            <a:avLst/>
          </a:prstGeom>
          <a:noFill/>
          <a:ln/>
        </p:spPr>
        <p:txBody>
          <a:bodyPr wrap="square" lIns="0" tIns="0" rIns="0" bIns="0" rtlCol="0" anchor="t"/>
          <a:lstStyle/>
          <a:p>
            <a:pPr algn="ctr" indent="0" marL="0">
              <a:buNone/>
            </a:pPr>
            <a:r>
              <a:rPr lang="en-US" sz="850" dirty="0">
                <a:solidFill>
                  <a:srgbClr val="475569"/>
                </a:solidFill>
                <a:latin typeface="Calibri" pitchFamily="34" charset="0"/>
                <a:ea typeface="Calibri" pitchFamily="34" charset="-122"/>
                <a:cs typeface="Calibri" pitchFamily="34" charset="-120"/>
              </a:rPr>
              <a:t>High availability, K8s,</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Docker/Podman, GitOps</a:t>
            </a:r>
            <a:endParaRPr lang="en-US" sz="850" dirty="0"/>
          </a:p>
        </p:txBody>
      </p:sp>
      <p:sp>
        <p:nvSpPr>
          <p:cNvPr id="42" name="Text 40"/>
          <p:cNvSpPr/>
          <p:nvPr/>
        </p:nvSpPr>
        <p:spPr>
          <a:xfrm>
            <a:off x="393192" y="4050792"/>
            <a:ext cx="1828800" cy="182880"/>
          </a:xfrm>
          <a:prstGeom prst="rect">
            <a:avLst/>
          </a:prstGeom>
          <a:noFill/>
          <a:ln/>
        </p:spPr>
        <p:txBody>
          <a:bodyPr wrap="square" lIns="0" tIns="0" rIns="0" bIns="0" rtlCol="0" anchor="ctr"/>
          <a:lstStyle/>
          <a:p>
            <a:pPr algn="ctr" indent="0" marL="0">
              <a:buNone/>
            </a:pPr>
            <a:r>
              <a:rPr lang="en-US" sz="750" dirty="0">
                <a:solidFill>
                  <a:srgbClr val="0D9488"/>
                </a:solidFill>
                <a:latin typeface="Consolas" pitchFamily="34" charset="0"/>
                <a:ea typeface="Consolas" pitchFamily="34" charset="-122"/>
                <a:cs typeface="Consolas" pitchFamily="34" charset="-120"/>
              </a:rPr>
              <a:t>sre.md</a:t>
            </a:r>
            <a:endParaRPr lang="en-US" sz="750" dirty="0"/>
          </a:p>
        </p:txBody>
      </p:sp>
      <p:sp>
        <p:nvSpPr>
          <p:cNvPr id="43" name="Shape 41"/>
          <p:cNvSpPr/>
          <p:nvPr/>
        </p:nvSpPr>
        <p:spPr>
          <a:xfrm>
            <a:off x="2468880" y="2697480"/>
            <a:ext cx="196596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4" name="Shape 42"/>
          <p:cNvSpPr/>
          <p:nvPr/>
        </p:nvSpPr>
        <p:spPr>
          <a:xfrm>
            <a:off x="2468880" y="2697480"/>
            <a:ext cx="1965960" cy="54864"/>
          </a:xfrm>
          <a:prstGeom prst="rect">
            <a:avLst/>
          </a:prstGeom>
          <a:solidFill>
            <a:srgbClr val="059669"/>
          </a:solidFill>
          <a:ln/>
        </p:spPr>
      </p:sp>
      <p:sp>
        <p:nvSpPr>
          <p:cNvPr id="45" name="Shape 43"/>
          <p:cNvSpPr/>
          <p:nvPr/>
        </p:nvSpPr>
        <p:spPr>
          <a:xfrm>
            <a:off x="3154680" y="2816352"/>
            <a:ext cx="502920" cy="502920"/>
          </a:xfrm>
          <a:prstGeom prst="ellipse">
            <a:avLst/>
          </a:prstGeom>
          <a:solidFill>
            <a:srgbClr val="059669"/>
          </a:solidFill>
          <a:ln/>
        </p:spPr>
      </p:sp>
      <p:sp>
        <p:nvSpPr>
          <p:cNvPr id="46" name="Text 44"/>
          <p:cNvSpPr/>
          <p:nvPr/>
        </p:nvSpPr>
        <p:spPr>
          <a:xfrm>
            <a:off x="3154680" y="281635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47" name="Text 45"/>
          <p:cNvSpPr/>
          <p:nvPr/>
        </p:nvSpPr>
        <p:spPr>
          <a:xfrm>
            <a:off x="2542032" y="3364992"/>
            <a:ext cx="1828800" cy="2286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DevOps Agent</a:t>
            </a:r>
            <a:endParaRPr lang="en-US" sz="1100" dirty="0"/>
          </a:p>
        </p:txBody>
      </p:sp>
      <p:sp>
        <p:nvSpPr>
          <p:cNvPr id="48" name="Text 46"/>
          <p:cNvSpPr/>
          <p:nvPr/>
        </p:nvSpPr>
        <p:spPr>
          <a:xfrm>
            <a:off x="2542032" y="3593592"/>
            <a:ext cx="1828800" cy="457200"/>
          </a:xfrm>
          <a:prstGeom prst="rect">
            <a:avLst/>
          </a:prstGeom>
          <a:noFill/>
          <a:ln/>
        </p:spPr>
        <p:txBody>
          <a:bodyPr wrap="square" lIns="0" tIns="0" rIns="0" bIns="0" rtlCol="0" anchor="t"/>
          <a:lstStyle/>
          <a:p>
            <a:pPr algn="ctr" indent="0" marL="0">
              <a:buNone/>
            </a:pPr>
            <a:r>
              <a:rPr lang="en-US" sz="850" dirty="0">
                <a:solidFill>
                  <a:srgbClr val="475569"/>
                </a:solidFill>
                <a:latin typeface="Calibri" pitchFamily="34" charset="0"/>
                <a:ea typeface="Calibri" pitchFamily="34" charset="-122"/>
                <a:cs typeface="Calibri" pitchFamily="34" charset="-120"/>
              </a:rPr>
              <a:t>Build automation, Helm,</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infra provisioning, air-gap</a:t>
            </a:r>
            <a:endParaRPr lang="en-US" sz="850" dirty="0"/>
          </a:p>
        </p:txBody>
      </p:sp>
      <p:sp>
        <p:nvSpPr>
          <p:cNvPr id="49" name="Text 47"/>
          <p:cNvSpPr/>
          <p:nvPr/>
        </p:nvSpPr>
        <p:spPr>
          <a:xfrm>
            <a:off x="2542032" y="4050792"/>
            <a:ext cx="1828800" cy="182880"/>
          </a:xfrm>
          <a:prstGeom prst="rect">
            <a:avLst/>
          </a:prstGeom>
          <a:noFill/>
          <a:ln/>
        </p:spPr>
        <p:txBody>
          <a:bodyPr wrap="square" lIns="0" tIns="0" rIns="0" bIns="0" rtlCol="0" anchor="ctr"/>
          <a:lstStyle/>
          <a:p>
            <a:pPr algn="ctr" indent="0" marL="0">
              <a:buNone/>
            </a:pPr>
            <a:r>
              <a:rPr lang="en-US" sz="750" dirty="0">
                <a:solidFill>
                  <a:srgbClr val="0D9488"/>
                </a:solidFill>
                <a:latin typeface="Consolas" pitchFamily="34" charset="0"/>
                <a:ea typeface="Consolas" pitchFamily="34" charset="-122"/>
                <a:cs typeface="Consolas" pitchFamily="34" charset="-120"/>
              </a:rPr>
              <a:t>devops.md</a:t>
            </a:r>
            <a:endParaRPr lang="en-US" sz="750" dirty="0"/>
          </a:p>
        </p:txBody>
      </p:sp>
      <p:sp>
        <p:nvSpPr>
          <p:cNvPr id="50" name="Shape 48"/>
          <p:cNvSpPr/>
          <p:nvPr/>
        </p:nvSpPr>
        <p:spPr>
          <a:xfrm>
            <a:off x="4617720" y="2697480"/>
            <a:ext cx="196596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1" name="Shape 49"/>
          <p:cNvSpPr/>
          <p:nvPr/>
        </p:nvSpPr>
        <p:spPr>
          <a:xfrm>
            <a:off x="4617720" y="2697480"/>
            <a:ext cx="1965960" cy="54864"/>
          </a:xfrm>
          <a:prstGeom prst="rect">
            <a:avLst/>
          </a:prstGeom>
          <a:solidFill>
            <a:srgbClr val="DC2626"/>
          </a:solidFill>
          <a:ln/>
        </p:spPr>
      </p:sp>
      <p:sp>
        <p:nvSpPr>
          <p:cNvPr id="52" name="Shape 50"/>
          <p:cNvSpPr/>
          <p:nvPr/>
        </p:nvSpPr>
        <p:spPr>
          <a:xfrm>
            <a:off x="5303520" y="2816352"/>
            <a:ext cx="502920" cy="502920"/>
          </a:xfrm>
          <a:prstGeom prst="ellipse">
            <a:avLst/>
          </a:prstGeom>
          <a:solidFill>
            <a:srgbClr val="DC2626"/>
          </a:solidFill>
          <a:ln/>
        </p:spPr>
      </p:sp>
      <p:sp>
        <p:nvSpPr>
          <p:cNvPr id="53" name="Text 51"/>
          <p:cNvSpPr/>
          <p:nvPr/>
        </p:nvSpPr>
        <p:spPr>
          <a:xfrm>
            <a:off x="5303520" y="281635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p>
        </p:txBody>
      </p:sp>
      <p:sp>
        <p:nvSpPr>
          <p:cNvPr id="54" name="Text 52"/>
          <p:cNvSpPr/>
          <p:nvPr/>
        </p:nvSpPr>
        <p:spPr>
          <a:xfrm>
            <a:off x="4690872" y="3364992"/>
            <a:ext cx="1828800" cy="2286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Cyber Analyst</a:t>
            </a:r>
            <a:endParaRPr lang="en-US" sz="1100" dirty="0"/>
          </a:p>
        </p:txBody>
      </p:sp>
      <p:sp>
        <p:nvSpPr>
          <p:cNvPr id="55" name="Text 53"/>
          <p:cNvSpPr/>
          <p:nvPr/>
        </p:nvSpPr>
        <p:spPr>
          <a:xfrm>
            <a:off x="4690872" y="3593592"/>
            <a:ext cx="1828800" cy="457200"/>
          </a:xfrm>
          <a:prstGeom prst="rect">
            <a:avLst/>
          </a:prstGeom>
          <a:noFill/>
          <a:ln/>
        </p:spPr>
        <p:txBody>
          <a:bodyPr wrap="square" lIns="0" tIns="0" rIns="0" bIns="0" rtlCol="0" anchor="t"/>
          <a:lstStyle/>
          <a:p>
            <a:pPr algn="ctr" indent="0" marL="0">
              <a:buNone/>
            </a:pPr>
            <a:r>
              <a:rPr lang="en-US" sz="850" dirty="0">
                <a:solidFill>
                  <a:srgbClr val="475569"/>
                </a:solidFill>
                <a:latin typeface="Calibri" pitchFamily="34" charset="0"/>
                <a:ea typeface="Calibri" pitchFamily="34" charset="-122"/>
                <a:cs typeface="Calibri" pitchFamily="34" charset="-120"/>
              </a:rPr>
              <a:t>Immunity scoring, Vault,</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PKI, vulnerability mgmt</a:t>
            </a:r>
            <a:endParaRPr lang="en-US" sz="850" dirty="0"/>
          </a:p>
        </p:txBody>
      </p:sp>
      <p:sp>
        <p:nvSpPr>
          <p:cNvPr id="56" name="Text 54"/>
          <p:cNvSpPr/>
          <p:nvPr/>
        </p:nvSpPr>
        <p:spPr>
          <a:xfrm>
            <a:off x="4690872" y="4050792"/>
            <a:ext cx="1828800" cy="182880"/>
          </a:xfrm>
          <a:prstGeom prst="rect">
            <a:avLst/>
          </a:prstGeom>
          <a:noFill/>
          <a:ln/>
        </p:spPr>
        <p:txBody>
          <a:bodyPr wrap="square" lIns="0" tIns="0" rIns="0" bIns="0" rtlCol="0" anchor="ctr"/>
          <a:lstStyle/>
          <a:p>
            <a:pPr algn="ctr" indent="0" marL="0">
              <a:buNone/>
            </a:pPr>
            <a:r>
              <a:rPr lang="en-US" sz="750" dirty="0">
                <a:solidFill>
                  <a:srgbClr val="0D9488"/>
                </a:solidFill>
                <a:latin typeface="Consolas" pitchFamily="34" charset="0"/>
                <a:ea typeface="Consolas" pitchFamily="34" charset="-122"/>
                <a:cs typeface="Consolas" pitchFamily="34" charset="-120"/>
              </a:rPr>
              <a:t>cyber.md</a:t>
            </a:r>
            <a:endParaRPr lang="en-US" sz="750" dirty="0"/>
          </a:p>
        </p:txBody>
      </p:sp>
      <p:sp>
        <p:nvSpPr>
          <p:cNvPr id="57" name="Shape 55"/>
          <p:cNvSpPr/>
          <p:nvPr/>
        </p:nvSpPr>
        <p:spPr>
          <a:xfrm>
            <a:off x="6766560" y="2697480"/>
            <a:ext cx="196596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8" name="Shape 56"/>
          <p:cNvSpPr/>
          <p:nvPr/>
        </p:nvSpPr>
        <p:spPr>
          <a:xfrm>
            <a:off x="6766560" y="2697480"/>
            <a:ext cx="1965960" cy="54864"/>
          </a:xfrm>
          <a:prstGeom prst="rect">
            <a:avLst/>
          </a:prstGeom>
          <a:solidFill>
            <a:srgbClr val="F59E0B"/>
          </a:solidFill>
          <a:ln/>
        </p:spPr>
      </p:sp>
      <p:sp>
        <p:nvSpPr>
          <p:cNvPr id="59" name="Shape 57"/>
          <p:cNvSpPr/>
          <p:nvPr/>
        </p:nvSpPr>
        <p:spPr>
          <a:xfrm>
            <a:off x="7452360" y="2816352"/>
            <a:ext cx="502920" cy="502920"/>
          </a:xfrm>
          <a:prstGeom prst="ellipse">
            <a:avLst/>
          </a:prstGeom>
          <a:solidFill>
            <a:srgbClr val="F59E0B"/>
          </a:solidFill>
          <a:ln/>
        </p:spPr>
      </p:sp>
      <p:sp>
        <p:nvSpPr>
          <p:cNvPr id="60" name="Text 58"/>
          <p:cNvSpPr/>
          <p:nvPr/>
        </p:nvSpPr>
        <p:spPr>
          <a:xfrm>
            <a:off x="7452360" y="2816352"/>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J</a:t>
            </a:r>
            <a:endParaRPr lang="en-US" sz="1800" dirty="0"/>
          </a:p>
        </p:txBody>
      </p:sp>
      <p:sp>
        <p:nvSpPr>
          <p:cNvPr id="61" name="Text 59"/>
          <p:cNvSpPr/>
          <p:nvPr/>
        </p:nvSpPr>
        <p:spPr>
          <a:xfrm>
            <a:off x="6839712" y="3364992"/>
            <a:ext cx="1828800" cy="22860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MIL-STD-498</a:t>
            </a:r>
            <a:endParaRPr lang="en-US" sz="1100" dirty="0"/>
          </a:p>
        </p:txBody>
      </p:sp>
      <p:sp>
        <p:nvSpPr>
          <p:cNvPr id="62" name="Text 60"/>
          <p:cNvSpPr/>
          <p:nvPr/>
        </p:nvSpPr>
        <p:spPr>
          <a:xfrm>
            <a:off x="6839712" y="3593592"/>
            <a:ext cx="1828800" cy="457200"/>
          </a:xfrm>
          <a:prstGeom prst="rect">
            <a:avLst/>
          </a:prstGeom>
          <a:noFill/>
          <a:ln/>
        </p:spPr>
        <p:txBody>
          <a:bodyPr wrap="square" lIns="0" tIns="0" rIns="0" bIns="0" rtlCol="0" anchor="t"/>
          <a:lstStyle/>
          <a:p>
            <a:pPr algn="ctr" indent="0" marL="0">
              <a:buNone/>
            </a:pPr>
            <a:r>
              <a:rPr lang="en-US" sz="850" dirty="0">
                <a:solidFill>
                  <a:srgbClr val="475569"/>
                </a:solidFill>
                <a:latin typeface="Calibri" pitchFamily="34" charset="0"/>
                <a:ea typeface="Calibri" pitchFamily="34" charset="-122"/>
                <a:cs typeface="Calibri" pitchFamily="34" charset="-120"/>
              </a:rPr>
              <a:t>DID generation, SRS/SSS/</a:t>
            </a:r>
            <a:endParaRPr lang="en-US" sz="850" dirty="0"/>
          </a:p>
          <a:p>
            <a:pPr algn="ctr" indent="0" marL="0">
              <a:buNone/>
            </a:pPr>
            <a:r>
              <a:rPr lang="en-US" sz="850" dirty="0">
                <a:solidFill>
                  <a:srgbClr val="475569"/>
                </a:solidFill>
                <a:latin typeface="Calibri" pitchFamily="34" charset="0"/>
                <a:ea typeface="Calibri" pitchFamily="34" charset="-122"/>
                <a:cs typeface="Calibri" pitchFamily="34" charset="-120"/>
              </a:rPr>
              <a:t>SSDD, traceability</a:t>
            </a:r>
            <a:endParaRPr lang="en-US" sz="850" dirty="0"/>
          </a:p>
        </p:txBody>
      </p:sp>
      <p:sp>
        <p:nvSpPr>
          <p:cNvPr id="63" name="Text 61"/>
          <p:cNvSpPr/>
          <p:nvPr/>
        </p:nvSpPr>
        <p:spPr>
          <a:xfrm>
            <a:off x="6839712" y="4050792"/>
            <a:ext cx="1828800" cy="182880"/>
          </a:xfrm>
          <a:prstGeom prst="rect">
            <a:avLst/>
          </a:prstGeom>
          <a:noFill/>
          <a:ln/>
        </p:spPr>
        <p:txBody>
          <a:bodyPr wrap="square" lIns="0" tIns="0" rIns="0" bIns="0" rtlCol="0" anchor="ctr"/>
          <a:lstStyle/>
          <a:p>
            <a:pPr algn="ctr" indent="0" marL="0">
              <a:buNone/>
            </a:pPr>
            <a:r>
              <a:rPr lang="en-US" sz="750" dirty="0">
                <a:solidFill>
                  <a:srgbClr val="0D9488"/>
                </a:solidFill>
                <a:latin typeface="Consolas" pitchFamily="34" charset="0"/>
                <a:ea typeface="Consolas" pitchFamily="34" charset="-122"/>
                <a:cs typeface="Consolas" pitchFamily="34" charset="-120"/>
              </a:rPr>
              <a:t>mil498.md</a:t>
            </a:r>
            <a:endParaRPr lang="en-US" sz="750" dirty="0"/>
          </a:p>
        </p:txBody>
      </p:sp>
      <p:sp>
        <p:nvSpPr>
          <p:cNvPr id="64" name="Text 62"/>
          <p:cNvSpPr/>
          <p:nvPr/>
        </p:nvSpPr>
        <p:spPr>
          <a:xfrm>
            <a:off x="320040" y="4709160"/>
            <a:ext cx="850392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BMAD agents are full XML-structured personas with specialized workflows, playbooks, and skill orchestration</a:t>
            </a:r>
            <a:endParaRPr lang="en-US" sz="1000" dirty="0"/>
          </a:p>
        </p:txBody>
      </p:sp>
      <p:sp>
        <p:nvSpPr>
          <p:cNvPr id="65" name="Text 6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60 / 93</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0D9488"/>
          </a:solidFill>
          <a:ln/>
        </p:spPr>
      </p:sp>
      <p:sp>
        <p:nvSpPr>
          <p:cNvPr id="4" name="Shape 2"/>
          <p:cNvSpPr/>
          <p:nvPr/>
        </p:nvSpPr>
        <p:spPr>
          <a:xfrm>
            <a:off x="457200" y="1645920"/>
            <a:ext cx="8229600" cy="36576"/>
          </a:xfrm>
          <a:prstGeom prst="rect">
            <a:avLst/>
          </a:prstGeom>
          <a:solidFill>
            <a:srgbClr val="0D9488"/>
          </a:solidFill>
          <a:ln/>
        </p:spPr>
      </p:sp>
      <p:sp>
        <p:nvSpPr>
          <p:cNvPr id="5" name="Text 3"/>
          <p:cNvSpPr/>
          <p:nvPr/>
        </p:nvSpPr>
        <p:spPr>
          <a:xfrm>
            <a:off x="457200" y="1828800"/>
            <a:ext cx="8229600" cy="731520"/>
          </a:xfrm>
          <a:prstGeom prst="rect">
            <a:avLst/>
          </a:prstGeom>
          <a:noFill/>
          <a:ln/>
        </p:spPr>
        <p:txBody>
          <a:bodyPr wrap="square" rtlCol="0" anchor="ctr"/>
          <a:lstStyle/>
          <a:p>
            <a:pPr algn="ctr" indent="0" marL="0">
              <a:buNone/>
            </a:pPr>
            <a:r>
              <a:rPr lang="en-US" sz="4200" b="1" dirty="0">
                <a:solidFill>
                  <a:srgbClr val="FFFFFF"/>
                </a:solidFill>
              </a:rPr>
              <a:t>MA-Agent</a:t>
            </a:r>
            <a:endParaRPr lang="en-US" sz="42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400" dirty="0">
                <a:solidFill>
                  <a:srgbClr val="14B8A6"/>
                </a:solidFill>
              </a:rPr>
              <a:t>Custom BMAD Agents</a:t>
            </a:r>
            <a:endParaRPr lang="en-US" sz="2400" dirty="0"/>
          </a:p>
        </p:txBody>
      </p:sp>
      <p:sp>
        <p:nvSpPr>
          <p:cNvPr id="7" name="Shape 5"/>
          <p:cNvSpPr/>
          <p:nvPr/>
        </p:nvSpPr>
        <p:spPr>
          <a:xfrm>
            <a:off x="457200" y="3200400"/>
            <a:ext cx="8229600" cy="36576"/>
          </a:xfrm>
          <a:prstGeom prst="rect">
            <a:avLst/>
          </a:prstGeom>
          <a:solidFill>
            <a:srgbClr val="0D9488"/>
          </a:solidFill>
          <a:ln/>
        </p:spPr>
      </p:sp>
      <p:sp>
        <p:nvSpPr>
          <p:cNvPr id="8" name="Text 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61 / 93</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BMAD Specialized Agents — Deep Dive</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Domain experts deployed directly into the BMAD agent system</a:t>
            </a:r>
            <a:endParaRPr lang="en-US" sz="1300" dirty="0"/>
          </a:p>
        </p:txBody>
      </p:sp>
      <p:sp>
        <p:nvSpPr>
          <p:cNvPr id="5" name="Shape 3"/>
          <p:cNvSpPr/>
          <p:nvPr/>
        </p:nvSpPr>
        <p:spPr>
          <a:xfrm>
            <a:off x="365760" y="1234440"/>
            <a:ext cx="416052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365760" y="1234440"/>
            <a:ext cx="4160520" cy="36576"/>
          </a:xfrm>
          <a:prstGeom prst="rect">
            <a:avLst/>
          </a:prstGeom>
          <a:solidFill>
            <a:srgbClr val="2563EB"/>
          </a:solidFill>
          <a:ln/>
        </p:spPr>
      </p:sp>
      <p:sp>
        <p:nvSpPr>
          <p:cNvPr id="7" name="Text 5"/>
          <p:cNvSpPr/>
          <p:nvPr/>
        </p:nvSpPr>
        <p:spPr>
          <a:xfrm>
            <a:off x="502920" y="1307592"/>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Alex — SRE Agent</a:t>
            </a:r>
            <a:endParaRPr lang="en-US" sz="1300" dirty="0"/>
          </a:p>
        </p:txBody>
      </p:sp>
      <p:sp>
        <p:nvSpPr>
          <p:cNvPr id="8" name="Text 6"/>
          <p:cNvSpPr/>
          <p:nvPr/>
        </p:nvSpPr>
        <p:spPr>
          <a:xfrm>
            <a:off x="502920" y="1600200"/>
            <a:ext cx="192024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Capabilities</a:t>
            </a:r>
            <a:endParaRPr lang="en-US" sz="850" dirty="0"/>
          </a:p>
        </p:txBody>
      </p:sp>
      <p:sp>
        <p:nvSpPr>
          <p:cNvPr id="9" name="Text 7"/>
          <p:cNvSpPr/>
          <p:nvPr/>
        </p:nvSpPr>
        <p:spPr>
          <a:xfrm>
            <a:off x="502920" y="1783080"/>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Day 1 &amp; Day 2 Kubernetes operations</a:t>
            </a:r>
            <a:endParaRPr lang="en-US" sz="800" dirty="0"/>
          </a:p>
        </p:txBody>
      </p:sp>
      <p:sp>
        <p:nvSpPr>
          <p:cNvPr id="10" name="Text 8"/>
          <p:cNvSpPr/>
          <p:nvPr/>
        </p:nvSpPr>
        <p:spPr>
          <a:xfrm>
            <a:off x="502920" y="1984248"/>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GitOps with ArgoCD / Flux</a:t>
            </a:r>
            <a:endParaRPr lang="en-US" sz="800" dirty="0"/>
          </a:p>
        </p:txBody>
      </p:sp>
      <p:sp>
        <p:nvSpPr>
          <p:cNvPr id="11" name="Text 9"/>
          <p:cNvSpPr/>
          <p:nvPr/>
        </p:nvSpPr>
        <p:spPr>
          <a:xfrm>
            <a:off x="502920" y="2185416"/>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Canary &amp; Blue-Green deployments</a:t>
            </a:r>
            <a:endParaRPr lang="en-US" sz="800" dirty="0"/>
          </a:p>
        </p:txBody>
      </p:sp>
      <p:sp>
        <p:nvSpPr>
          <p:cNvPr id="12" name="Text 10"/>
          <p:cNvSpPr/>
          <p:nvPr/>
        </p:nvSpPr>
        <p:spPr>
          <a:xfrm>
            <a:off x="502920" y="2386584"/>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Docker + Podman management</a:t>
            </a:r>
            <a:endParaRPr lang="en-US" sz="800" dirty="0"/>
          </a:p>
        </p:txBody>
      </p:sp>
      <p:sp>
        <p:nvSpPr>
          <p:cNvPr id="13" name="Text 11"/>
          <p:cNvSpPr/>
          <p:nvPr/>
        </p:nvSpPr>
        <p:spPr>
          <a:xfrm>
            <a:off x="2834640" y="1600200"/>
            <a:ext cx="164592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Workflows</a:t>
            </a:r>
            <a:endParaRPr lang="en-US" sz="850" dirty="0"/>
          </a:p>
        </p:txBody>
      </p:sp>
      <p:sp>
        <p:nvSpPr>
          <p:cNvPr id="14" name="Text 12"/>
          <p:cNvSpPr/>
          <p:nvPr/>
        </p:nvSpPr>
        <p:spPr>
          <a:xfrm>
            <a:off x="2834640" y="1783080"/>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System status &amp; health checks</a:t>
            </a:r>
            <a:endParaRPr lang="en-US" sz="800" dirty="0"/>
          </a:p>
        </p:txBody>
      </p:sp>
      <p:sp>
        <p:nvSpPr>
          <p:cNvPr id="15" name="Text 13"/>
          <p:cNvSpPr/>
          <p:nvPr/>
        </p:nvSpPr>
        <p:spPr>
          <a:xfrm>
            <a:off x="2834640" y="1984248"/>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Drift detection &amp; remediation</a:t>
            </a:r>
            <a:endParaRPr lang="en-US" sz="800" dirty="0"/>
          </a:p>
        </p:txBody>
      </p:sp>
      <p:sp>
        <p:nvSpPr>
          <p:cNvPr id="16" name="Text 14"/>
          <p:cNvSpPr/>
          <p:nvPr/>
        </p:nvSpPr>
        <p:spPr>
          <a:xfrm>
            <a:off x="2834640" y="2185416"/>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Automated troubleshooting</a:t>
            </a:r>
            <a:endParaRPr lang="en-US" sz="800" dirty="0"/>
          </a:p>
        </p:txBody>
      </p:sp>
      <p:sp>
        <p:nvSpPr>
          <p:cNvPr id="17" name="Shape 15"/>
          <p:cNvSpPr/>
          <p:nvPr/>
        </p:nvSpPr>
        <p:spPr>
          <a:xfrm>
            <a:off x="4754880" y="1234440"/>
            <a:ext cx="416052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8" name="Shape 16"/>
          <p:cNvSpPr/>
          <p:nvPr/>
        </p:nvSpPr>
        <p:spPr>
          <a:xfrm>
            <a:off x="4754880" y="1234440"/>
            <a:ext cx="4160520" cy="36576"/>
          </a:xfrm>
          <a:prstGeom prst="rect">
            <a:avLst/>
          </a:prstGeom>
          <a:solidFill>
            <a:srgbClr val="059669"/>
          </a:solidFill>
          <a:ln/>
        </p:spPr>
      </p:sp>
      <p:sp>
        <p:nvSpPr>
          <p:cNvPr id="19" name="Text 17"/>
          <p:cNvSpPr/>
          <p:nvPr/>
        </p:nvSpPr>
        <p:spPr>
          <a:xfrm>
            <a:off x="4892040" y="1307592"/>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Amit — DevOps Agent</a:t>
            </a:r>
            <a:endParaRPr lang="en-US" sz="1300" dirty="0"/>
          </a:p>
        </p:txBody>
      </p:sp>
      <p:sp>
        <p:nvSpPr>
          <p:cNvPr id="20" name="Text 18"/>
          <p:cNvSpPr/>
          <p:nvPr/>
        </p:nvSpPr>
        <p:spPr>
          <a:xfrm>
            <a:off x="4892040" y="1600200"/>
            <a:ext cx="192024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Capabilities</a:t>
            </a:r>
            <a:endParaRPr lang="en-US" sz="850" dirty="0"/>
          </a:p>
        </p:txBody>
      </p:sp>
      <p:sp>
        <p:nvSpPr>
          <p:cNvPr id="21" name="Text 19"/>
          <p:cNvSpPr/>
          <p:nvPr/>
        </p:nvSpPr>
        <p:spPr>
          <a:xfrm>
            <a:off x="4892040" y="1783080"/>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Build automation &amp; CI/CD pipelines</a:t>
            </a:r>
            <a:endParaRPr lang="en-US" sz="800" dirty="0"/>
          </a:p>
        </p:txBody>
      </p:sp>
      <p:sp>
        <p:nvSpPr>
          <p:cNvPr id="22" name="Text 20"/>
          <p:cNvSpPr/>
          <p:nvPr/>
        </p:nvSpPr>
        <p:spPr>
          <a:xfrm>
            <a:off x="4892040" y="1984248"/>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Helm charts &amp; umbrella charts</a:t>
            </a:r>
            <a:endParaRPr lang="en-US" sz="800" dirty="0"/>
          </a:p>
        </p:txBody>
      </p:sp>
      <p:sp>
        <p:nvSpPr>
          <p:cNvPr id="23" name="Text 21"/>
          <p:cNvSpPr/>
          <p:nvPr/>
        </p:nvSpPr>
        <p:spPr>
          <a:xfrm>
            <a:off x="4892040" y="2185416"/>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Docker Compose orchestration</a:t>
            </a:r>
            <a:endParaRPr lang="en-US" sz="800" dirty="0"/>
          </a:p>
        </p:txBody>
      </p:sp>
      <p:sp>
        <p:nvSpPr>
          <p:cNvPr id="24" name="Text 22"/>
          <p:cNvSpPr/>
          <p:nvPr/>
        </p:nvSpPr>
        <p:spPr>
          <a:xfrm>
            <a:off x="4892040" y="2386584"/>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PV/PVC &amp; Load Balancer provisioning</a:t>
            </a:r>
            <a:endParaRPr lang="en-US" sz="800" dirty="0"/>
          </a:p>
        </p:txBody>
      </p:sp>
      <p:sp>
        <p:nvSpPr>
          <p:cNvPr id="25" name="Text 23"/>
          <p:cNvSpPr/>
          <p:nvPr/>
        </p:nvSpPr>
        <p:spPr>
          <a:xfrm>
            <a:off x="7223760" y="1600200"/>
            <a:ext cx="164592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Workflows</a:t>
            </a:r>
            <a:endParaRPr lang="en-US" sz="850" dirty="0"/>
          </a:p>
        </p:txBody>
      </p:sp>
      <p:sp>
        <p:nvSpPr>
          <p:cNvPr id="26" name="Text 24"/>
          <p:cNvSpPr/>
          <p:nvPr/>
        </p:nvSpPr>
        <p:spPr>
          <a:xfrm>
            <a:off x="7223760" y="1783080"/>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Multi-environment deployment</a:t>
            </a:r>
            <a:endParaRPr lang="en-US" sz="800" dirty="0"/>
          </a:p>
        </p:txBody>
      </p:sp>
      <p:sp>
        <p:nvSpPr>
          <p:cNvPr id="27" name="Text 25"/>
          <p:cNvSpPr/>
          <p:nvPr/>
        </p:nvSpPr>
        <p:spPr>
          <a:xfrm>
            <a:off x="7223760" y="1984248"/>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Air-gapped / disconnected setup</a:t>
            </a:r>
            <a:endParaRPr lang="en-US" sz="800" dirty="0"/>
          </a:p>
        </p:txBody>
      </p:sp>
      <p:sp>
        <p:nvSpPr>
          <p:cNvPr id="28" name="Text 26"/>
          <p:cNvSpPr/>
          <p:nvPr/>
        </p:nvSpPr>
        <p:spPr>
          <a:xfrm>
            <a:off x="7223760" y="2185416"/>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Infrastructure provisioning</a:t>
            </a:r>
            <a:endParaRPr lang="en-US" sz="800" dirty="0"/>
          </a:p>
        </p:txBody>
      </p:sp>
      <p:sp>
        <p:nvSpPr>
          <p:cNvPr id="29" name="Shape 27"/>
          <p:cNvSpPr/>
          <p:nvPr/>
        </p:nvSpPr>
        <p:spPr>
          <a:xfrm>
            <a:off x="365760" y="3063240"/>
            <a:ext cx="416052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0" name="Shape 28"/>
          <p:cNvSpPr/>
          <p:nvPr/>
        </p:nvSpPr>
        <p:spPr>
          <a:xfrm>
            <a:off x="365760" y="3063240"/>
            <a:ext cx="4160520" cy="36576"/>
          </a:xfrm>
          <a:prstGeom prst="rect">
            <a:avLst/>
          </a:prstGeom>
          <a:solidFill>
            <a:srgbClr val="DC2626"/>
          </a:solidFill>
          <a:ln/>
        </p:spPr>
      </p:sp>
      <p:sp>
        <p:nvSpPr>
          <p:cNvPr id="31" name="Text 29"/>
          <p:cNvSpPr/>
          <p:nvPr/>
        </p:nvSpPr>
        <p:spPr>
          <a:xfrm>
            <a:off x="502920" y="3136392"/>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Yael — Cyber Analyst</a:t>
            </a:r>
            <a:endParaRPr lang="en-US" sz="1300" dirty="0"/>
          </a:p>
        </p:txBody>
      </p:sp>
      <p:sp>
        <p:nvSpPr>
          <p:cNvPr id="32" name="Text 30"/>
          <p:cNvSpPr/>
          <p:nvPr/>
        </p:nvSpPr>
        <p:spPr>
          <a:xfrm>
            <a:off x="502920" y="3429000"/>
            <a:ext cx="192024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Capabilities</a:t>
            </a:r>
            <a:endParaRPr lang="en-US" sz="850" dirty="0"/>
          </a:p>
        </p:txBody>
      </p:sp>
      <p:sp>
        <p:nvSpPr>
          <p:cNvPr id="33" name="Text 31"/>
          <p:cNvSpPr/>
          <p:nvPr/>
        </p:nvSpPr>
        <p:spPr>
          <a:xfrm>
            <a:off x="502920" y="3611880"/>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Cyber immunity estimation (scoring)</a:t>
            </a:r>
            <a:endParaRPr lang="en-US" sz="800" dirty="0"/>
          </a:p>
        </p:txBody>
      </p:sp>
      <p:sp>
        <p:nvSpPr>
          <p:cNvPr id="34" name="Text 32"/>
          <p:cNvSpPr/>
          <p:nvPr/>
        </p:nvSpPr>
        <p:spPr>
          <a:xfrm>
            <a:off x="502920" y="3813048"/>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Vault secret management</a:t>
            </a:r>
            <a:endParaRPr lang="en-US" sz="800" dirty="0"/>
          </a:p>
        </p:txBody>
      </p:sp>
      <p:sp>
        <p:nvSpPr>
          <p:cNvPr id="35" name="Text 33"/>
          <p:cNvSpPr/>
          <p:nvPr/>
        </p:nvSpPr>
        <p:spPr>
          <a:xfrm>
            <a:off x="502920" y="4014216"/>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PKI automation &amp; cert lifecycle</a:t>
            </a:r>
            <a:endParaRPr lang="en-US" sz="800" dirty="0"/>
          </a:p>
        </p:txBody>
      </p:sp>
      <p:sp>
        <p:nvSpPr>
          <p:cNvPr id="36" name="Text 34"/>
          <p:cNvSpPr/>
          <p:nvPr/>
        </p:nvSpPr>
        <p:spPr>
          <a:xfrm>
            <a:off x="502920" y="4215384"/>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Orchestrates ma-agents security skills</a:t>
            </a:r>
            <a:endParaRPr lang="en-US" sz="800" dirty="0"/>
          </a:p>
        </p:txBody>
      </p:sp>
      <p:sp>
        <p:nvSpPr>
          <p:cNvPr id="37" name="Text 35"/>
          <p:cNvSpPr/>
          <p:nvPr/>
        </p:nvSpPr>
        <p:spPr>
          <a:xfrm>
            <a:off x="2834640" y="3429000"/>
            <a:ext cx="164592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Workflows</a:t>
            </a:r>
            <a:endParaRPr lang="en-US" sz="850" dirty="0"/>
          </a:p>
        </p:txBody>
      </p:sp>
      <p:sp>
        <p:nvSpPr>
          <p:cNvPr id="38" name="Text 36"/>
          <p:cNvSpPr/>
          <p:nvPr/>
        </p:nvSpPr>
        <p:spPr>
          <a:xfrm>
            <a:off x="2834640" y="3611880"/>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Vulnerability scanning &amp; audit</a:t>
            </a:r>
            <a:endParaRPr lang="en-US" sz="800" dirty="0"/>
          </a:p>
        </p:txBody>
      </p:sp>
      <p:sp>
        <p:nvSpPr>
          <p:cNvPr id="39" name="Text 37"/>
          <p:cNvSpPr/>
          <p:nvPr/>
        </p:nvSpPr>
        <p:spPr>
          <a:xfrm>
            <a:off x="2834640" y="3813048"/>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Certificate generation</a:t>
            </a:r>
            <a:endParaRPr lang="en-US" sz="800" dirty="0"/>
          </a:p>
        </p:txBody>
      </p:sp>
      <p:sp>
        <p:nvSpPr>
          <p:cNvPr id="40" name="Text 38"/>
          <p:cNvSpPr/>
          <p:nvPr/>
        </p:nvSpPr>
        <p:spPr>
          <a:xfrm>
            <a:off x="2834640" y="4014216"/>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Security posture assessment</a:t>
            </a:r>
            <a:endParaRPr lang="en-US" sz="800" dirty="0"/>
          </a:p>
        </p:txBody>
      </p:sp>
      <p:sp>
        <p:nvSpPr>
          <p:cNvPr id="41" name="Shape 39"/>
          <p:cNvSpPr/>
          <p:nvPr/>
        </p:nvSpPr>
        <p:spPr>
          <a:xfrm>
            <a:off x="4754880" y="3063240"/>
            <a:ext cx="416052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2" name="Shape 40"/>
          <p:cNvSpPr/>
          <p:nvPr/>
        </p:nvSpPr>
        <p:spPr>
          <a:xfrm>
            <a:off x="4754880" y="3063240"/>
            <a:ext cx="4160520" cy="36576"/>
          </a:xfrm>
          <a:prstGeom prst="rect">
            <a:avLst/>
          </a:prstGeom>
          <a:solidFill>
            <a:srgbClr val="F59E0B"/>
          </a:solidFill>
          <a:ln/>
        </p:spPr>
      </p:sp>
      <p:sp>
        <p:nvSpPr>
          <p:cNvPr id="43" name="Text 41"/>
          <p:cNvSpPr/>
          <p:nvPr/>
        </p:nvSpPr>
        <p:spPr>
          <a:xfrm>
            <a:off x="4892040" y="3136392"/>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Joseph — MIL-STD-498</a:t>
            </a:r>
            <a:endParaRPr lang="en-US" sz="1300" dirty="0"/>
          </a:p>
        </p:txBody>
      </p:sp>
      <p:sp>
        <p:nvSpPr>
          <p:cNvPr id="44" name="Text 42"/>
          <p:cNvSpPr/>
          <p:nvPr/>
        </p:nvSpPr>
        <p:spPr>
          <a:xfrm>
            <a:off x="4892040" y="3429000"/>
            <a:ext cx="192024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Capabilities</a:t>
            </a:r>
            <a:endParaRPr lang="en-US" sz="850" dirty="0"/>
          </a:p>
        </p:txBody>
      </p:sp>
      <p:sp>
        <p:nvSpPr>
          <p:cNvPr id="45" name="Text 43"/>
          <p:cNvSpPr/>
          <p:nvPr/>
        </p:nvSpPr>
        <p:spPr>
          <a:xfrm>
            <a:off x="4892040" y="3611880"/>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DID (Data Item Description) generation</a:t>
            </a:r>
            <a:endParaRPr lang="en-US" sz="800" dirty="0"/>
          </a:p>
        </p:txBody>
      </p:sp>
      <p:sp>
        <p:nvSpPr>
          <p:cNvPr id="46" name="Text 44"/>
          <p:cNvSpPr/>
          <p:nvPr/>
        </p:nvSpPr>
        <p:spPr>
          <a:xfrm>
            <a:off x="4892040" y="3813048"/>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Requirements traceability matrices</a:t>
            </a:r>
            <a:endParaRPr lang="en-US" sz="800" dirty="0"/>
          </a:p>
        </p:txBody>
      </p:sp>
      <p:sp>
        <p:nvSpPr>
          <p:cNvPr id="47" name="Text 45"/>
          <p:cNvSpPr/>
          <p:nvPr/>
        </p:nvSpPr>
        <p:spPr>
          <a:xfrm>
            <a:off x="4892040" y="4014216"/>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Complex specification writing</a:t>
            </a:r>
            <a:endParaRPr lang="en-US" sz="800" dirty="0"/>
          </a:p>
        </p:txBody>
      </p:sp>
      <p:sp>
        <p:nvSpPr>
          <p:cNvPr id="48" name="Text 46"/>
          <p:cNvSpPr/>
          <p:nvPr/>
        </p:nvSpPr>
        <p:spPr>
          <a:xfrm>
            <a:off x="4892040" y="4215384"/>
            <a:ext cx="22860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Strict structural validation</a:t>
            </a:r>
            <a:endParaRPr lang="en-US" sz="800" dirty="0"/>
          </a:p>
        </p:txBody>
      </p:sp>
      <p:sp>
        <p:nvSpPr>
          <p:cNvPr id="49" name="Text 47"/>
          <p:cNvSpPr/>
          <p:nvPr/>
        </p:nvSpPr>
        <p:spPr>
          <a:xfrm>
            <a:off x="7223760" y="3429000"/>
            <a:ext cx="1645920" cy="182880"/>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Workflows</a:t>
            </a:r>
            <a:endParaRPr lang="en-US" sz="850" dirty="0"/>
          </a:p>
        </p:txBody>
      </p:sp>
      <p:sp>
        <p:nvSpPr>
          <p:cNvPr id="50" name="Text 48"/>
          <p:cNvSpPr/>
          <p:nvPr/>
        </p:nvSpPr>
        <p:spPr>
          <a:xfrm>
            <a:off x="7223760" y="3611880"/>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SRS generation from PRD</a:t>
            </a:r>
            <a:endParaRPr lang="en-US" sz="800" dirty="0"/>
          </a:p>
        </p:txBody>
      </p:sp>
      <p:sp>
        <p:nvSpPr>
          <p:cNvPr id="51" name="Text 49"/>
          <p:cNvSpPr/>
          <p:nvPr/>
        </p:nvSpPr>
        <p:spPr>
          <a:xfrm>
            <a:off x="7223760" y="3813048"/>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SSS generation from brief</a:t>
            </a:r>
            <a:endParaRPr lang="en-US" sz="800" dirty="0"/>
          </a:p>
        </p:txBody>
      </p:sp>
      <p:sp>
        <p:nvSpPr>
          <p:cNvPr id="52" name="Text 50"/>
          <p:cNvSpPr/>
          <p:nvPr/>
        </p:nvSpPr>
        <p:spPr>
          <a:xfrm>
            <a:off x="7223760" y="4014216"/>
            <a:ext cx="1600200" cy="20116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SSDD from architecture doc</a:t>
            </a:r>
            <a:endParaRPr lang="en-US" sz="800" dirty="0"/>
          </a:p>
        </p:txBody>
      </p:sp>
      <p:sp>
        <p:nvSpPr>
          <p:cNvPr id="53" name="Text 51"/>
          <p:cNvSpPr/>
          <p:nvPr/>
        </p:nvSpPr>
        <p:spPr>
          <a:xfrm>
            <a:off x="365760" y="4709160"/>
            <a:ext cx="841248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All agents include specialized playbooks: GitOps, Infrastructure, Security &amp; Trust, Diagnostics</a:t>
            </a:r>
            <a:endParaRPr lang="en-US" sz="1000" dirty="0"/>
          </a:p>
        </p:txBody>
      </p:sp>
      <p:sp>
        <p:nvSpPr>
          <p:cNvPr id="54" name="Text 52"/>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62 / 93</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Joseph — MIL-STD-498 Document Generation</a:t>
            </a:r>
            <a:endParaRPr lang="en-US" sz="2600" dirty="0"/>
          </a:p>
        </p:txBody>
      </p:sp>
      <p:sp>
        <p:nvSpPr>
          <p:cNvPr id="5" name="Shape 3"/>
          <p:cNvSpPr/>
          <p:nvPr/>
        </p:nvSpPr>
        <p:spPr>
          <a:xfrm>
            <a:off x="320040" y="1051560"/>
            <a:ext cx="41148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54864" cy="1828800"/>
          </a:xfrm>
          <a:prstGeom prst="rect">
            <a:avLst/>
          </a:prstGeom>
          <a:solidFill>
            <a:srgbClr val="F59E0B"/>
          </a:solidFill>
          <a:ln/>
        </p:spPr>
      </p:sp>
      <p:sp>
        <p:nvSpPr>
          <p:cNvPr id="7" name="Text 5"/>
          <p:cNvSpPr/>
          <p:nvPr/>
        </p:nvSpPr>
        <p:spPr>
          <a:xfrm>
            <a:off x="502920" y="1097280"/>
            <a:ext cx="374904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Built-in DID Template Library</a:t>
            </a:r>
            <a:endParaRPr lang="en-US" sz="1400" dirty="0"/>
          </a:p>
        </p:txBody>
      </p:sp>
      <p:sp>
        <p:nvSpPr>
          <p:cNvPr id="8" name="Text 6"/>
          <p:cNvSpPr/>
          <p:nvPr/>
        </p:nvSpPr>
        <p:spPr>
          <a:xfrm>
            <a:off x="502920" y="1371600"/>
            <a:ext cx="374904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Stored in lib/mil498-templates/ — ready to generate</a:t>
            </a:r>
            <a:endParaRPr lang="en-US" sz="900" dirty="0"/>
          </a:p>
        </p:txBody>
      </p:sp>
      <p:sp>
        <p:nvSpPr>
          <p:cNvPr id="9" name="Text 7"/>
          <p:cNvSpPr/>
          <p:nvPr/>
        </p:nvSpPr>
        <p:spPr>
          <a:xfrm>
            <a:off x="548640" y="169164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SRS</a:t>
            </a:r>
            <a:endParaRPr lang="en-US" sz="900" dirty="0"/>
          </a:p>
        </p:txBody>
      </p:sp>
      <p:sp>
        <p:nvSpPr>
          <p:cNvPr id="10" name="Text 8"/>
          <p:cNvSpPr/>
          <p:nvPr/>
        </p:nvSpPr>
        <p:spPr>
          <a:xfrm>
            <a:off x="1097280" y="169164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Software Requirements Specification</a:t>
            </a:r>
            <a:endParaRPr lang="en-US" sz="900" dirty="0"/>
          </a:p>
        </p:txBody>
      </p:sp>
      <p:sp>
        <p:nvSpPr>
          <p:cNvPr id="11" name="Text 9"/>
          <p:cNvSpPr/>
          <p:nvPr/>
        </p:nvSpPr>
        <p:spPr>
          <a:xfrm>
            <a:off x="548640" y="187452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SSS</a:t>
            </a:r>
            <a:endParaRPr lang="en-US" sz="900" dirty="0"/>
          </a:p>
        </p:txBody>
      </p:sp>
      <p:sp>
        <p:nvSpPr>
          <p:cNvPr id="12" name="Text 10"/>
          <p:cNvSpPr/>
          <p:nvPr/>
        </p:nvSpPr>
        <p:spPr>
          <a:xfrm>
            <a:off x="1097280" y="187452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System/Subsystem Specification</a:t>
            </a:r>
            <a:endParaRPr lang="en-US" sz="900" dirty="0"/>
          </a:p>
        </p:txBody>
      </p:sp>
      <p:sp>
        <p:nvSpPr>
          <p:cNvPr id="13" name="Text 11"/>
          <p:cNvSpPr/>
          <p:nvPr/>
        </p:nvSpPr>
        <p:spPr>
          <a:xfrm>
            <a:off x="548640" y="205740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SSDD</a:t>
            </a:r>
            <a:endParaRPr lang="en-US" sz="900" dirty="0"/>
          </a:p>
        </p:txBody>
      </p:sp>
      <p:sp>
        <p:nvSpPr>
          <p:cNvPr id="14" name="Text 12"/>
          <p:cNvSpPr/>
          <p:nvPr/>
        </p:nvSpPr>
        <p:spPr>
          <a:xfrm>
            <a:off x="1097280" y="205740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System/Subsystem Design Description</a:t>
            </a:r>
            <a:endParaRPr lang="en-US" sz="900" dirty="0"/>
          </a:p>
        </p:txBody>
      </p:sp>
      <p:sp>
        <p:nvSpPr>
          <p:cNvPr id="15" name="Text 13"/>
          <p:cNvSpPr/>
          <p:nvPr/>
        </p:nvSpPr>
        <p:spPr>
          <a:xfrm>
            <a:off x="548640" y="224028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SDD</a:t>
            </a:r>
            <a:endParaRPr lang="en-US" sz="900" dirty="0"/>
          </a:p>
        </p:txBody>
      </p:sp>
      <p:sp>
        <p:nvSpPr>
          <p:cNvPr id="16" name="Text 14"/>
          <p:cNvSpPr/>
          <p:nvPr/>
        </p:nvSpPr>
        <p:spPr>
          <a:xfrm>
            <a:off x="1097280" y="224028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Software Design Description</a:t>
            </a:r>
            <a:endParaRPr lang="en-US" sz="900" dirty="0"/>
          </a:p>
        </p:txBody>
      </p:sp>
      <p:sp>
        <p:nvSpPr>
          <p:cNvPr id="17" name="Text 15"/>
          <p:cNvSpPr/>
          <p:nvPr/>
        </p:nvSpPr>
        <p:spPr>
          <a:xfrm>
            <a:off x="548640" y="242316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STP</a:t>
            </a:r>
            <a:endParaRPr lang="en-US" sz="900" dirty="0"/>
          </a:p>
        </p:txBody>
      </p:sp>
      <p:sp>
        <p:nvSpPr>
          <p:cNvPr id="18" name="Text 16"/>
          <p:cNvSpPr/>
          <p:nvPr/>
        </p:nvSpPr>
        <p:spPr>
          <a:xfrm>
            <a:off x="1097280" y="242316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Software Test Plan</a:t>
            </a:r>
            <a:endParaRPr lang="en-US" sz="900" dirty="0"/>
          </a:p>
        </p:txBody>
      </p:sp>
      <p:sp>
        <p:nvSpPr>
          <p:cNvPr id="19" name="Text 17"/>
          <p:cNvSpPr/>
          <p:nvPr/>
        </p:nvSpPr>
        <p:spPr>
          <a:xfrm>
            <a:off x="548640" y="2606040"/>
            <a:ext cx="502920" cy="18288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STD</a:t>
            </a:r>
            <a:endParaRPr lang="en-US" sz="900" dirty="0"/>
          </a:p>
        </p:txBody>
      </p:sp>
      <p:sp>
        <p:nvSpPr>
          <p:cNvPr id="20" name="Text 18"/>
          <p:cNvSpPr/>
          <p:nvPr/>
        </p:nvSpPr>
        <p:spPr>
          <a:xfrm>
            <a:off x="1097280" y="2606040"/>
            <a:ext cx="3200400" cy="18288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Software Test Description</a:t>
            </a:r>
            <a:endParaRPr lang="en-US" sz="900" dirty="0"/>
          </a:p>
        </p:txBody>
      </p:sp>
      <p:sp>
        <p:nvSpPr>
          <p:cNvPr id="21" name="Shape 19"/>
          <p:cNvSpPr/>
          <p:nvPr/>
        </p:nvSpPr>
        <p:spPr>
          <a:xfrm>
            <a:off x="4709160" y="1051560"/>
            <a:ext cx="425196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20"/>
          <p:cNvSpPr/>
          <p:nvPr/>
        </p:nvSpPr>
        <p:spPr>
          <a:xfrm>
            <a:off x="4709160" y="1051560"/>
            <a:ext cx="54864" cy="1828800"/>
          </a:xfrm>
          <a:prstGeom prst="rect">
            <a:avLst/>
          </a:prstGeom>
          <a:solidFill>
            <a:srgbClr val="DC2626"/>
          </a:solidFill>
          <a:ln/>
        </p:spPr>
      </p:sp>
      <p:sp>
        <p:nvSpPr>
          <p:cNvPr id="23" name="Text 21"/>
          <p:cNvSpPr/>
          <p:nvPr/>
        </p:nvSpPr>
        <p:spPr>
          <a:xfrm>
            <a:off x="4892040" y="1097280"/>
            <a:ext cx="39319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How Joseph Generates Documents</a:t>
            </a:r>
            <a:endParaRPr lang="en-US" sz="1400" dirty="0"/>
          </a:p>
        </p:txBody>
      </p:sp>
      <p:sp>
        <p:nvSpPr>
          <p:cNvPr id="24" name="Text 22"/>
          <p:cNvSpPr/>
          <p:nvPr/>
        </p:nvSpPr>
        <p:spPr>
          <a:xfrm>
            <a:off x="4892040" y="1463040"/>
            <a:ext cx="393192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  Reads BMAD artifacts (PRD, Architecture, Stories)</a:t>
            </a:r>
            <a:endParaRPr lang="en-US" sz="900" dirty="0"/>
          </a:p>
        </p:txBody>
      </p:sp>
      <p:sp>
        <p:nvSpPr>
          <p:cNvPr id="25" name="Text 23"/>
          <p:cNvSpPr/>
          <p:nvPr/>
        </p:nvSpPr>
        <p:spPr>
          <a:xfrm>
            <a:off x="4892040" y="1664208"/>
            <a:ext cx="393192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2.  Selects the matching DID template (e.g. SRS)</a:t>
            </a:r>
            <a:endParaRPr lang="en-US" sz="900" dirty="0"/>
          </a:p>
        </p:txBody>
      </p:sp>
      <p:sp>
        <p:nvSpPr>
          <p:cNvPr id="26" name="Text 24"/>
          <p:cNvSpPr/>
          <p:nvPr/>
        </p:nvSpPr>
        <p:spPr>
          <a:xfrm>
            <a:off x="4892040" y="1865376"/>
            <a:ext cx="393192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3.  Maps requirements to DID sections</a:t>
            </a:r>
            <a:endParaRPr lang="en-US" sz="900" dirty="0"/>
          </a:p>
        </p:txBody>
      </p:sp>
      <p:sp>
        <p:nvSpPr>
          <p:cNvPr id="27" name="Text 25"/>
          <p:cNvSpPr/>
          <p:nvPr/>
        </p:nvSpPr>
        <p:spPr>
          <a:xfrm>
            <a:off x="4892040" y="2066544"/>
            <a:ext cx="393192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4.  Generates the document with strict structure</a:t>
            </a:r>
            <a:endParaRPr lang="en-US" sz="900" dirty="0"/>
          </a:p>
        </p:txBody>
      </p:sp>
      <p:sp>
        <p:nvSpPr>
          <p:cNvPr id="28" name="Text 26"/>
          <p:cNvSpPr/>
          <p:nvPr/>
        </p:nvSpPr>
        <p:spPr>
          <a:xfrm>
            <a:off x="4892040" y="2267712"/>
            <a:ext cx="3931920" cy="201168"/>
          </a:xfrm>
          <a:prstGeom prst="rect">
            <a:avLst/>
          </a:prstGeom>
          <a:noFill/>
          <a:ln/>
        </p:spPr>
        <p:txBody>
          <a:bodyPr wrap="square" lIns="0" tIns="0" rIns="0" bIns="0" rtlCol="0" anchor="ctr"/>
          <a:lstStyle/>
          <a:p>
            <a:pPr indent="0" marL="0">
              <a:buNone/>
            </a:pPr>
            <a:r>
              <a:rPr lang="en-US" sz="900" dirty="0">
                <a:solidFill>
                  <a:srgbClr val="059669"/>
                </a:solidFill>
                <a:latin typeface="Calibri" pitchFamily="34" charset="0"/>
                <a:ea typeface="Calibri" pitchFamily="34" charset="-122"/>
                <a:cs typeface="Calibri" pitchFamily="34" charset="-120"/>
              </a:rPr>
              <a:t>5.  Validates section completeness &amp; traceability</a:t>
            </a:r>
            <a:endParaRPr lang="en-US" sz="900" dirty="0"/>
          </a:p>
        </p:txBody>
      </p:sp>
      <p:sp>
        <p:nvSpPr>
          <p:cNvPr id="29" name="Text 27"/>
          <p:cNvSpPr/>
          <p:nvPr/>
        </p:nvSpPr>
        <p:spPr>
          <a:xfrm>
            <a:off x="4892040" y="2468880"/>
            <a:ext cx="3931920" cy="201168"/>
          </a:xfrm>
          <a:prstGeom prst="rect">
            <a:avLst/>
          </a:prstGeom>
          <a:noFill/>
          <a:ln/>
        </p:spPr>
        <p:txBody>
          <a:bodyPr wrap="square" lIns="0" tIns="0" rIns="0" bIns="0" rtlCol="0" anchor="ctr"/>
          <a:lstStyle/>
          <a:p>
            <a:pPr indent="0" marL="0">
              <a:buNone/>
            </a:pPr>
            <a:r>
              <a:rPr lang="en-US" sz="900" dirty="0">
                <a:solidFill>
                  <a:srgbClr val="059669"/>
                </a:solidFill>
                <a:latin typeface="Calibri" pitchFamily="34" charset="0"/>
                <a:ea typeface="Calibri" pitchFamily="34" charset="-122"/>
                <a:cs typeface="Calibri" pitchFamily="34" charset="-120"/>
              </a:rPr>
              <a:t>6.  Produces requirements traceability matrix</a:t>
            </a:r>
            <a:endParaRPr lang="en-US" sz="900" dirty="0"/>
          </a:p>
        </p:txBody>
      </p:sp>
      <p:sp>
        <p:nvSpPr>
          <p:cNvPr id="30" name="Shape 28"/>
          <p:cNvSpPr/>
          <p:nvPr/>
        </p:nvSpPr>
        <p:spPr>
          <a:xfrm>
            <a:off x="320040" y="3108960"/>
            <a:ext cx="8641080" cy="1600200"/>
          </a:xfrm>
          <a:prstGeom prst="rect">
            <a:avLst/>
          </a:prstGeom>
          <a:solidFill>
            <a:srgbClr val="0F1B2D"/>
          </a:solidFill>
          <a:ln/>
        </p:spPr>
      </p:sp>
      <p:sp>
        <p:nvSpPr>
          <p:cNvPr id="31" name="Text 29"/>
          <p:cNvSpPr/>
          <p:nvPr/>
        </p:nvSpPr>
        <p:spPr>
          <a:xfrm>
            <a:off x="457200" y="3182112"/>
            <a:ext cx="822960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From BMAD Artifacts to MIL-STD-498 Compliant Documents</a:t>
            </a:r>
            <a:endParaRPr lang="en-US" sz="1200" dirty="0"/>
          </a:p>
        </p:txBody>
      </p:sp>
      <p:sp>
        <p:nvSpPr>
          <p:cNvPr id="32" name="Shape 30"/>
          <p:cNvSpPr/>
          <p:nvPr/>
        </p:nvSpPr>
        <p:spPr>
          <a:xfrm>
            <a:off x="502920" y="3566160"/>
            <a:ext cx="1691640" cy="960120"/>
          </a:xfrm>
          <a:prstGeom prst="rect">
            <a:avLst/>
          </a:prstGeom>
          <a:solidFill>
            <a:srgbClr val="1A2744"/>
          </a:solidFill>
          <a:ln/>
        </p:spPr>
      </p:sp>
      <p:sp>
        <p:nvSpPr>
          <p:cNvPr id="33" name="Shape 31"/>
          <p:cNvSpPr/>
          <p:nvPr/>
        </p:nvSpPr>
        <p:spPr>
          <a:xfrm>
            <a:off x="502920" y="3566160"/>
            <a:ext cx="1691640" cy="36576"/>
          </a:xfrm>
          <a:prstGeom prst="rect">
            <a:avLst/>
          </a:prstGeom>
          <a:solidFill>
            <a:srgbClr val="0D9488"/>
          </a:solidFill>
          <a:ln/>
        </p:spPr>
      </p:sp>
      <p:sp>
        <p:nvSpPr>
          <p:cNvPr id="34" name="Text 32"/>
          <p:cNvSpPr/>
          <p:nvPr/>
        </p:nvSpPr>
        <p:spPr>
          <a:xfrm>
            <a:off x="502920" y="3630168"/>
            <a:ext cx="16916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BMAD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Artifacts</a:t>
            </a:r>
            <a:endParaRPr lang="en-US" sz="1100" dirty="0"/>
          </a:p>
        </p:txBody>
      </p:sp>
      <p:sp>
        <p:nvSpPr>
          <p:cNvPr id="35" name="Text 33"/>
          <p:cNvSpPr/>
          <p:nvPr/>
        </p:nvSpPr>
        <p:spPr>
          <a:xfrm>
            <a:off x="502920" y="4069080"/>
            <a:ext cx="1691640" cy="384048"/>
          </a:xfrm>
          <a:prstGeom prst="rect">
            <a:avLst/>
          </a:prstGeom>
          <a:noFill/>
          <a:ln/>
        </p:spPr>
        <p:txBody>
          <a:bodyPr wrap="square" rtlCol="0" anchor="ctr"/>
          <a:lstStyle/>
          <a:p>
            <a:pPr algn="ctr" indent="0" marL="0">
              <a:buNone/>
            </a:pPr>
            <a:r>
              <a:rPr lang="en-US" sz="800" dirty="0">
                <a:solidFill>
                  <a:srgbClr val="94A3B8"/>
                </a:solidFill>
                <a:latin typeface="Consolas" pitchFamily="34" charset="0"/>
                <a:ea typeface="Consolas" pitchFamily="34" charset="-122"/>
                <a:cs typeface="Consolas" pitchFamily="34" charset="-120"/>
              </a:rPr>
              <a:t>PRD + Architecture</a:t>
            </a:r>
            <a:endParaRPr lang="en-US" sz="800" dirty="0"/>
          </a:p>
          <a:p>
            <a:pPr algn="ctr" indent="0" marL="0">
              <a:buNone/>
            </a:pPr>
            <a:r>
              <a:rPr lang="en-US" sz="800" dirty="0">
                <a:solidFill>
                  <a:srgbClr val="94A3B8"/>
                </a:solidFill>
                <a:latin typeface="Consolas" pitchFamily="34" charset="0"/>
                <a:ea typeface="Consolas" pitchFamily="34" charset="-122"/>
                <a:cs typeface="Consolas" pitchFamily="34" charset="-120"/>
              </a:rPr>
              <a:t>+ Stories</a:t>
            </a:r>
            <a:endParaRPr lang="en-US" sz="800" dirty="0"/>
          </a:p>
        </p:txBody>
      </p:sp>
      <p:sp>
        <p:nvSpPr>
          <p:cNvPr id="36" name="Text 34"/>
          <p:cNvSpPr/>
          <p:nvPr/>
        </p:nvSpPr>
        <p:spPr>
          <a:xfrm>
            <a:off x="2194560" y="3749040"/>
            <a:ext cx="731520" cy="45720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37" name="Shape 35"/>
          <p:cNvSpPr/>
          <p:nvPr/>
        </p:nvSpPr>
        <p:spPr>
          <a:xfrm>
            <a:off x="2423160" y="3566160"/>
            <a:ext cx="1691640" cy="960120"/>
          </a:xfrm>
          <a:prstGeom prst="rect">
            <a:avLst/>
          </a:prstGeom>
          <a:solidFill>
            <a:srgbClr val="1A2744"/>
          </a:solidFill>
          <a:ln/>
        </p:spPr>
      </p:sp>
      <p:sp>
        <p:nvSpPr>
          <p:cNvPr id="38" name="Shape 36"/>
          <p:cNvSpPr/>
          <p:nvPr/>
        </p:nvSpPr>
        <p:spPr>
          <a:xfrm>
            <a:off x="2423160" y="3566160"/>
            <a:ext cx="1691640" cy="36576"/>
          </a:xfrm>
          <a:prstGeom prst="rect">
            <a:avLst/>
          </a:prstGeom>
          <a:solidFill>
            <a:srgbClr val="F59E0B"/>
          </a:solidFill>
          <a:ln/>
        </p:spPr>
      </p:sp>
      <p:sp>
        <p:nvSpPr>
          <p:cNvPr id="39" name="Text 37"/>
          <p:cNvSpPr/>
          <p:nvPr/>
        </p:nvSpPr>
        <p:spPr>
          <a:xfrm>
            <a:off x="2423160" y="3630168"/>
            <a:ext cx="16916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Joseph</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40" name="Text 38"/>
          <p:cNvSpPr/>
          <p:nvPr/>
        </p:nvSpPr>
        <p:spPr>
          <a:xfrm>
            <a:off x="2423160" y="4069080"/>
            <a:ext cx="1691640" cy="384048"/>
          </a:xfrm>
          <a:prstGeom prst="rect">
            <a:avLst/>
          </a:prstGeom>
          <a:noFill/>
          <a:ln/>
        </p:spPr>
        <p:txBody>
          <a:bodyPr wrap="square" rtlCol="0" anchor="ctr"/>
          <a:lstStyle/>
          <a:p>
            <a:pPr algn="ctr" indent="0" marL="0">
              <a:buNone/>
            </a:pPr>
            <a:r>
              <a:rPr lang="en-US" sz="800" dirty="0">
                <a:solidFill>
                  <a:srgbClr val="94A3B8"/>
                </a:solidFill>
                <a:latin typeface="Consolas" pitchFamily="34" charset="0"/>
                <a:ea typeface="Consolas" pitchFamily="34" charset="-122"/>
                <a:cs typeface="Consolas" pitchFamily="34" charset="-120"/>
              </a:rPr>
              <a:t>mil498.md</a:t>
            </a:r>
            <a:endParaRPr lang="en-US" sz="800" dirty="0"/>
          </a:p>
          <a:p>
            <a:pPr algn="ctr" indent="0" marL="0">
              <a:buNone/>
            </a:pPr>
            <a:r>
              <a:rPr lang="en-US" sz="800" dirty="0">
                <a:solidFill>
                  <a:srgbClr val="94A3B8"/>
                </a:solidFill>
                <a:latin typeface="Consolas" pitchFamily="34" charset="0"/>
                <a:ea typeface="Consolas" pitchFamily="34" charset="-122"/>
                <a:cs typeface="Consolas" pitchFamily="34" charset="-120"/>
              </a:rPr>
              <a:t>persona</a:t>
            </a:r>
            <a:endParaRPr lang="en-US" sz="800" dirty="0"/>
          </a:p>
        </p:txBody>
      </p:sp>
      <p:sp>
        <p:nvSpPr>
          <p:cNvPr id="41" name="Text 39"/>
          <p:cNvSpPr/>
          <p:nvPr/>
        </p:nvSpPr>
        <p:spPr>
          <a:xfrm>
            <a:off x="4114800" y="3749040"/>
            <a:ext cx="731520" cy="45720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42" name="Shape 40"/>
          <p:cNvSpPr/>
          <p:nvPr/>
        </p:nvSpPr>
        <p:spPr>
          <a:xfrm>
            <a:off x="4343400" y="3566160"/>
            <a:ext cx="1691640" cy="960120"/>
          </a:xfrm>
          <a:prstGeom prst="rect">
            <a:avLst/>
          </a:prstGeom>
          <a:solidFill>
            <a:srgbClr val="1A2744"/>
          </a:solidFill>
          <a:ln/>
        </p:spPr>
      </p:sp>
      <p:sp>
        <p:nvSpPr>
          <p:cNvPr id="43" name="Shape 41"/>
          <p:cNvSpPr/>
          <p:nvPr/>
        </p:nvSpPr>
        <p:spPr>
          <a:xfrm>
            <a:off x="4343400" y="3566160"/>
            <a:ext cx="1691640" cy="36576"/>
          </a:xfrm>
          <a:prstGeom prst="rect">
            <a:avLst/>
          </a:prstGeom>
          <a:solidFill>
            <a:srgbClr val="7C3AED"/>
          </a:solidFill>
          <a:ln/>
        </p:spPr>
      </p:sp>
      <p:sp>
        <p:nvSpPr>
          <p:cNvPr id="44" name="Text 42"/>
          <p:cNvSpPr/>
          <p:nvPr/>
        </p:nvSpPr>
        <p:spPr>
          <a:xfrm>
            <a:off x="4343400" y="3630168"/>
            <a:ext cx="16916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Templates</a:t>
            </a:r>
            <a:endParaRPr lang="en-US" sz="1100" dirty="0"/>
          </a:p>
        </p:txBody>
      </p:sp>
      <p:sp>
        <p:nvSpPr>
          <p:cNvPr id="45" name="Text 43"/>
          <p:cNvSpPr/>
          <p:nvPr/>
        </p:nvSpPr>
        <p:spPr>
          <a:xfrm>
            <a:off x="4343400" y="4069080"/>
            <a:ext cx="1691640" cy="384048"/>
          </a:xfrm>
          <a:prstGeom prst="rect">
            <a:avLst/>
          </a:prstGeom>
          <a:noFill/>
          <a:ln/>
        </p:spPr>
        <p:txBody>
          <a:bodyPr wrap="square" rtlCol="0" anchor="ctr"/>
          <a:lstStyle/>
          <a:p>
            <a:pPr algn="ctr" indent="0" marL="0">
              <a:buNone/>
            </a:pPr>
            <a:r>
              <a:rPr lang="en-US" sz="800" dirty="0">
                <a:solidFill>
                  <a:srgbClr val="94A3B8"/>
                </a:solidFill>
                <a:latin typeface="Consolas" pitchFamily="34" charset="0"/>
                <a:ea typeface="Consolas" pitchFamily="34" charset="-122"/>
                <a:cs typeface="Consolas" pitchFamily="34" charset="-120"/>
              </a:rPr>
              <a:t>lib/mil498-</a:t>
            </a:r>
            <a:endParaRPr lang="en-US" sz="800" dirty="0"/>
          </a:p>
          <a:p>
            <a:pPr algn="ctr" indent="0" marL="0">
              <a:buNone/>
            </a:pPr>
            <a:r>
              <a:rPr lang="en-US" sz="800" dirty="0">
                <a:solidFill>
                  <a:srgbClr val="94A3B8"/>
                </a:solidFill>
                <a:latin typeface="Consolas" pitchFamily="34" charset="0"/>
                <a:ea typeface="Consolas" pitchFamily="34" charset="-122"/>
                <a:cs typeface="Consolas" pitchFamily="34" charset="-120"/>
              </a:rPr>
              <a:t>templates/</a:t>
            </a:r>
            <a:endParaRPr lang="en-US" sz="800" dirty="0"/>
          </a:p>
        </p:txBody>
      </p:sp>
      <p:sp>
        <p:nvSpPr>
          <p:cNvPr id="46" name="Text 44"/>
          <p:cNvSpPr/>
          <p:nvPr/>
        </p:nvSpPr>
        <p:spPr>
          <a:xfrm>
            <a:off x="6035040" y="3749040"/>
            <a:ext cx="731520" cy="45720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47" name="Shape 45"/>
          <p:cNvSpPr/>
          <p:nvPr/>
        </p:nvSpPr>
        <p:spPr>
          <a:xfrm>
            <a:off x="6263640" y="3566160"/>
            <a:ext cx="1691640" cy="960120"/>
          </a:xfrm>
          <a:prstGeom prst="rect">
            <a:avLst/>
          </a:prstGeom>
          <a:solidFill>
            <a:srgbClr val="1A2744"/>
          </a:solidFill>
          <a:ln/>
        </p:spPr>
      </p:sp>
      <p:sp>
        <p:nvSpPr>
          <p:cNvPr id="48" name="Shape 46"/>
          <p:cNvSpPr/>
          <p:nvPr/>
        </p:nvSpPr>
        <p:spPr>
          <a:xfrm>
            <a:off x="6263640" y="3566160"/>
            <a:ext cx="1691640" cy="36576"/>
          </a:xfrm>
          <a:prstGeom prst="rect">
            <a:avLst/>
          </a:prstGeom>
          <a:solidFill>
            <a:srgbClr val="059669"/>
          </a:solidFill>
          <a:ln/>
        </p:spPr>
      </p:sp>
      <p:sp>
        <p:nvSpPr>
          <p:cNvPr id="49" name="Text 47"/>
          <p:cNvSpPr/>
          <p:nvPr/>
        </p:nvSpPr>
        <p:spPr>
          <a:xfrm>
            <a:off x="6263640" y="3630168"/>
            <a:ext cx="169164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498</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Documents</a:t>
            </a:r>
            <a:endParaRPr lang="en-US" sz="1100" dirty="0"/>
          </a:p>
        </p:txBody>
      </p:sp>
      <p:sp>
        <p:nvSpPr>
          <p:cNvPr id="50" name="Text 48"/>
          <p:cNvSpPr/>
          <p:nvPr/>
        </p:nvSpPr>
        <p:spPr>
          <a:xfrm>
            <a:off x="6263640" y="4069080"/>
            <a:ext cx="1691640" cy="384048"/>
          </a:xfrm>
          <a:prstGeom prst="rect">
            <a:avLst/>
          </a:prstGeom>
          <a:noFill/>
          <a:ln/>
        </p:spPr>
        <p:txBody>
          <a:bodyPr wrap="square" rtlCol="0" anchor="ctr"/>
          <a:lstStyle/>
          <a:p>
            <a:pPr algn="ctr" indent="0" marL="0">
              <a:buNone/>
            </a:pPr>
            <a:r>
              <a:rPr lang="en-US" sz="800" dirty="0">
                <a:solidFill>
                  <a:srgbClr val="94A3B8"/>
                </a:solidFill>
                <a:latin typeface="Consolas" pitchFamily="34" charset="0"/>
                <a:ea typeface="Consolas" pitchFamily="34" charset="-122"/>
                <a:cs typeface="Consolas" pitchFamily="34" charset="-120"/>
              </a:rPr>
              <a:t>SRS, SSS, SSDD</a:t>
            </a:r>
            <a:endParaRPr lang="en-US" sz="800" dirty="0"/>
          </a:p>
          <a:p>
            <a:pPr algn="ctr" indent="0" marL="0">
              <a:buNone/>
            </a:pPr>
            <a:r>
              <a:rPr lang="en-US" sz="800" dirty="0">
                <a:solidFill>
                  <a:srgbClr val="94A3B8"/>
                </a:solidFill>
                <a:latin typeface="Consolas" pitchFamily="34" charset="0"/>
                <a:ea typeface="Consolas" pitchFamily="34" charset="-122"/>
                <a:cs typeface="Consolas" pitchFamily="34" charset="-120"/>
              </a:rPr>
              <a:t>SDD, STP, STD</a:t>
            </a:r>
            <a:endParaRPr lang="en-US" sz="800" dirty="0"/>
          </a:p>
        </p:txBody>
      </p:sp>
      <p:sp>
        <p:nvSpPr>
          <p:cNvPr id="51" name="Text 49"/>
          <p:cNvSpPr/>
          <p:nvPr/>
        </p:nvSpPr>
        <p:spPr>
          <a:xfrm>
            <a:off x="320040" y="4754880"/>
            <a:ext cx="8503920" cy="256032"/>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Same rigor, same traceability, same audit readiness — produced in hours instead of weeks</a:t>
            </a:r>
            <a:endParaRPr lang="en-US" sz="1000" dirty="0"/>
          </a:p>
        </p:txBody>
      </p:sp>
      <p:sp>
        <p:nvSpPr>
          <p:cNvPr id="52" name="Text 5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63 / 93</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Operational Workflows &amp; Playbooks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Built-in playbooks for the SRE, DevOps, and Cyber agents</a:t>
            </a:r>
            <a:endParaRPr lang="en-US" sz="1300" dirty="0"/>
          </a:p>
        </p:txBody>
      </p:sp>
      <p:sp>
        <p:nvSpPr>
          <p:cNvPr id="5" name="Shape 3"/>
          <p:cNvSpPr/>
          <p:nvPr/>
        </p:nvSpPr>
        <p:spPr>
          <a:xfrm>
            <a:off x="365760" y="1234440"/>
            <a:ext cx="4160520" cy="16002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365760" y="1234440"/>
            <a:ext cx="4160520" cy="365760"/>
          </a:xfrm>
          <a:prstGeom prst="rect">
            <a:avLst/>
          </a:prstGeom>
          <a:solidFill>
            <a:srgbClr val="2563EB"/>
          </a:solidFill>
          <a:ln/>
        </p:spPr>
      </p:sp>
      <p:sp>
        <p:nvSpPr>
          <p:cNvPr id="7" name="Text 5"/>
          <p:cNvSpPr/>
          <p:nvPr/>
        </p:nvSpPr>
        <p:spPr>
          <a:xfrm>
            <a:off x="502920" y="1234440"/>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GitOps &amp; Deployment</a:t>
            </a:r>
            <a:endParaRPr lang="en-US" sz="1300" dirty="0"/>
          </a:p>
        </p:txBody>
      </p:sp>
      <p:sp>
        <p:nvSpPr>
          <p:cNvPr id="8" name="Text 6"/>
          <p:cNvSpPr/>
          <p:nvPr/>
        </p:nvSpPr>
        <p:spPr>
          <a:xfrm>
            <a:off x="548640" y="1691640"/>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Canary releases with progressive rollout</a:t>
            </a:r>
            <a:endParaRPr lang="en-US" sz="1000" dirty="0"/>
          </a:p>
        </p:txBody>
      </p:sp>
      <p:sp>
        <p:nvSpPr>
          <p:cNvPr id="9" name="Text 7"/>
          <p:cNvSpPr/>
          <p:nvPr/>
        </p:nvSpPr>
        <p:spPr>
          <a:xfrm>
            <a:off x="548640" y="1947672"/>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Blue-Green deployment switching</a:t>
            </a:r>
            <a:endParaRPr lang="en-US" sz="1000" dirty="0"/>
          </a:p>
        </p:txBody>
      </p:sp>
      <p:sp>
        <p:nvSpPr>
          <p:cNvPr id="10" name="Text 8"/>
          <p:cNvSpPr/>
          <p:nvPr/>
        </p:nvSpPr>
        <p:spPr>
          <a:xfrm>
            <a:off x="548640" y="2203704"/>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Rolling updates with health validation</a:t>
            </a:r>
            <a:endParaRPr lang="en-US" sz="1000" dirty="0"/>
          </a:p>
        </p:txBody>
      </p:sp>
      <p:sp>
        <p:nvSpPr>
          <p:cNvPr id="11" name="Text 9"/>
          <p:cNvSpPr/>
          <p:nvPr/>
        </p:nvSpPr>
        <p:spPr>
          <a:xfrm>
            <a:off x="548640" y="2459736"/>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ArgoCD / Flux sync monitoring</a:t>
            </a:r>
            <a:endParaRPr lang="en-US" sz="1000" dirty="0"/>
          </a:p>
        </p:txBody>
      </p:sp>
      <p:sp>
        <p:nvSpPr>
          <p:cNvPr id="12" name="Shape 10"/>
          <p:cNvSpPr/>
          <p:nvPr/>
        </p:nvSpPr>
        <p:spPr>
          <a:xfrm>
            <a:off x="4754880" y="1234440"/>
            <a:ext cx="4160520" cy="16002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3" name="Shape 11"/>
          <p:cNvSpPr/>
          <p:nvPr/>
        </p:nvSpPr>
        <p:spPr>
          <a:xfrm>
            <a:off x="4754880" y="1234440"/>
            <a:ext cx="4160520" cy="365760"/>
          </a:xfrm>
          <a:prstGeom prst="rect">
            <a:avLst/>
          </a:prstGeom>
          <a:solidFill>
            <a:srgbClr val="7C3AED"/>
          </a:solidFill>
          <a:ln/>
        </p:spPr>
      </p:sp>
      <p:sp>
        <p:nvSpPr>
          <p:cNvPr id="14" name="Text 12"/>
          <p:cNvSpPr/>
          <p:nvPr/>
        </p:nvSpPr>
        <p:spPr>
          <a:xfrm>
            <a:off x="4892040" y="1234440"/>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Infrastructure</a:t>
            </a:r>
            <a:endParaRPr lang="en-US" sz="1300" dirty="0"/>
          </a:p>
        </p:txBody>
      </p:sp>
      <p:sp>
        <p:nvSpPr>
          <p:cNvPr id="15" name="Text 13"/>
          <p:cNvSpPr/>
          <p:nvPr/>
        </p:nvSpPr>
        <p:spPr>
          <a:xfrm>
            <a:off x="4937760" y="1691640"/>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PV/PVC storage management</a:t>
            </a:r>
            <a:endParaRPr lang="en-US" sz="1000" dirty="0"/>
          </a:p>
        </p:txBody>
      </p:sp>
      <p:sp>
        <p:nvSpPr>
          <p:cNvPr id="16" name="Text 14"/>
          <p:cNvSpPr/>
          <p:nvPr/>
        </p:nvSpPr>
        <p:spPr>
          <a:xfrm>
            <a:off x="4937760" y="1947672"/>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Load Balancer configuration</a:t>
            </a:r>
            <a:endParaRPr lang="en-US" sz="1000" dirty="0"/>
          </a:p>
        </p:txBody>
      </p:sp>
      <p:sp>
        <p:nvSpPr>
          <p:cNvPr id="17" name="Text 15"/>
          <p:cNvSpPr/>
          <p:nvPr/>
        </p:nvSpPr>
        <p:spPr>
          <a:xfrm>
            <a:off x="4937760" y="2203704"/>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Helm chart &amp; umbrella generation</a:t>
            </a:r>
            <a:endParaRPr lang="en-US" sz="1000" dirty="0"/>
          </a:p>
        </p:txBody>
      </p:sp>
      <p:sp>
        <p:nvSpPr>
          <p:cNvPr id="18" name="Text 16"/>
          <p:cNvSpPr/>
          <p:nvPr/>
        </p:nvSpPr>
        <p:spPr>
          <a:xfrm>
            <a:off x="4937760" y="2459736"/>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Docker Compose orchestration</a:t>
            </a:r>
            <a:endParaRPr lang="en-US" sz="1000" dirty="0"/>
          </a:p>
        </p:txBody>
      </p:sp>
      <p:sp>
        <p:nvSpPr>
          <p:cNvPr id="19" name="Shape 17"/>
          <p:cNvSpPr/>
          <p:nvPr/>
        </p:nvSpPr>
        <p:spPr>
          <a:xfrm>
            <a:off x="365760" y="3017520"/>
            <a:ext cx="4160520" cy="16002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0" name="Shape 18"/>
          <p:cNvSpPr/>
          <p:nvPr/>
        </p:nvSpPr>
        <p:spPr>
          <a:xfrm>
            <a:off x="365760" y="3017520"/>
            <a:ext cx="4160520" cy="365760"/>
          </a:xfrm>
          <a:prstGeom prst="rect">
            <a:avLst/>
          </a:prstGeom>
          <a:solidFill>
            <a:srgbClr val="DC2626"/>
          </a:solidFill>
          <a:ln/>
        </p:spPr>
      </p:sp>
      <p:sp>
        <p:nvSpPr>
          <p:cNvPr id="21" name="Text 19"/>
          <p:cNvSpPr/>
          <p:nvPr/>
        </p:nvSpPr>
        <p:spPr>
          <a:xfrm>
            <a:off x="502920" y="3017520"/>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Security &amp; Trust</a:t>
            </a:r>
            <a:endParaRPr lang="en-US" sz="1300" dirty="0"/>
          </a:p>
        </p:txBody>
      </p:sp>
      <p:sp>
        <p:nvSpPr>
          <p:cNvPr id="22" name="Text 20"/>
          <p:cNvSpPr/>
          <p:nvPr/>
        </p:nvSpPr>
        <p:spPr>
          <a:xfrm>
            <a:off x="548640" y="3474720"/>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Vault secrets management</a:t>
            </a:r>
            <a:endParaRPr lang="en-US" sz="1000" dirty="0"/>
          </a:p>
        </p:txBody>
      </p:sp>
      <p:sp>
        <p:nvSpPr>
          <p:cNvPr id="23" name="Text 21"/>
          <p:cNvSpPr/>
          <p:nvPr/>
        </p:nvSpPr>
        <p:spPr>
          <a:xfrm>
            <a:off x="548640" y="3730752"/>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Certificate generation &amp; PKI</a:t>
            </a:r>
            <a:endParaRPr lang="en-US" sz="1000" dirty="0"/>
          </a:p>
        </p:txBody>
      </p:sp>
      <p:sp>
        <p:nvSpPr>
          <p:cNvPr id="24" name="Text 22"/>
          <p:cNvSpPr/>
          <p:nvPr/>
        </p:nvSpPr>
        <p:spPr>
          <a:xfrm>
            <a:off x="548640" y="3986784"/>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Vulnerability scanning workflows</a:t>
            </a:r>
            <a:endParaRPr lang="en-US" sz="1000" dirty="0"/>
          </a:p>
        </p:txBody>
      </p:sp>
      <p:sp>
        <p:nvSpPr>
          <p:cNvPr id="25" name="Text 23"/>
          <p:cNvSpPr/>
          <p:nvPr/>
        </p:nvSpPr>
        <p:spPr>
          <a:xfrm>
            <a:off x="548640" y="4242816"/>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Docker image signing &amp; verification</a:t>
            </a:r>
            <a:endParaRPr lang="en-US" sz="1000" dirty="0"/>
          </a:p>
        </p:txBody>
      </p:sp>
      <p:sp>
        <p:nvSpPr>
          <p:cNvPr id="26" name="Shape 24"/>
          <p:cNvSpPr/>
          <p:nvPr/>
        </p:nvSpPr>
        <p:spPr>
          <a:xfrm>
            <a:off x="4754880" y="3017520"/>
            <a:ext cx="4160520" cy="16002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7" name="Shape 25"/>
          <p:cNvSpPr/>
          <p:nvPr/>
        </p:nvSpPr>
        <p:spPr>
          <a:xfrm>
            <a:off x="4754880" y="3017520"/>
            <a:ext cx="4160520" cy="365760"/>
          </a:xfrm>
          <a:prstGeom prst="rect">
            <a:avLst/>
          </a:prstGeom>
          <a:solidFill>
            <a:srgbClr val="059669"/>
          </a:solidFill>
          <a:ln/>
        </p:spPr>
      </p:sp>
      <p:sp>
        <p:nvSpPr>
          <p:cNvPr id="28" name="Text 26"/>
          <p:cNvSpPr/>
          <p:nvPr/>
        </p:nvSpPr>
        <p:spPr>
          <a:xfrm>
            <a:off x="4892040" y="3017520"/>
            <a:ext cx="38404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Diagnostics</a:t>
            </a:r>
            <a:endParaRPr lang="en-US" sz="1300" dirty="0"/>
          </a:p>
        </p:txBody>
      </p:sp>
      <p:sp>
        <p:nvSpPr>
          <p:cNvPr id="29" name="Text 27"/>
          <p:cNvSpPr/>
          <p:nvPr/>
        </p:nvSpPr>
        <p:spPr>
          <a:xfrm>
            <a:off x="4937760" y="3474720"/>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K8s cluster health checks</a:t>
            </a:r>
            <a:endParaRPr lang="en-US" sz="1000" dirty="0"/>
          </a:p>
        </p:txBody>
      </p:sp>
      <p:sp>
        <p:nvSpPr>
          <p:cNvPr id="30" name="Text 28"/>
          <p:cNvSpPr/>
          <p:nvPr/>
        </p:nvSpPr>
        <p:spPr>
          <a:xfrm>
            <a:off x="4937760" y="3730752"/>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Docker / Podman diagnostics</a:t>
            </a:r>
            <a:endParaRPr lang="en-US" sz="1000" dirty="0"/>
          </a:p>
        </p:txBody>
      </p:sp>
      <p:sp>
        <p:nvSpPr>
          <p:cNvPr id="31" name="Text 29"/>
          <p:cNvSpPr/>
          <p:nvPr/>
        </p:nvSpPr>
        <p:spPr>
          <a:xfrm>
            <a:off x="4937760" y="3986784"/>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Drift detection &amp; remediation</a:t>
            </a:r>
            <a:endParaRPr lang="en-US" sz="1000" dirty="0"/>
          </a:p>
        </p:txBody>
      </p:sp>
      <p:sp>
        <p:nvSpPr>
          <p:cNvPr id="32" name="Text 30"/>
          <p:cNvSpPr/>
          <p:nvPr/>
        </p:nvSpPr>
        <p:spPr>
          <a:xfrm>
            <a:off x="4937760" y="4242816"/>
            <a:ext cx="3749040" cy="256032"/>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Automated troubleshooting runbooks</a:t>
            </a:r>
            <a:endParaRPr lang="en-US" sz="1000" dirty="0"/>
          </a:p>
        </p:txBody>
      </p:sp>
      <p:sp>
        <p:nvSpPr>
          <p:cNvPr id="33" name="Text 31"/>
          <p:cNvSpPr/>
          <p:nvPr/>
        </p:nvSpPr>
        <p:spPr>
          <a:xfrm>
            <a:off x="365760" y="4709160"/>
            <a:ext cx="841248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Playbooks stored in lib/bmad-workflows/ — automatically deployed with agent installation</a:t>
            </a:r>
            <a:endParaRPr lang="en-US" sz="1000" dirty="0"/>
          </a:p>
        </p:txBody>
      </p:sp>
      <p:sp>
        <p:nvSpPr>
          <p:cNvPr id="34" name="Text 32"/>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64 / 93</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F59E0B"/>
          </a:solidFill>
          <a:ln/>
        </p:spPr>
      </p:sp>
      <p:sp>
        <p:nvSpPr>
          <p:cNvPr id="4" name="Shape 2"/>
          <p:cNvSpPr/>
          <p:nvPr/>
        </p:nvSpPr>
        <p:spPr>
          <a:xfrm>
            <a:off x="457200" y="1645920"/>
            <a:ext cx="8229600" cy="36576"/>
          </a:xfrm>
          <a:prstGeom prst="rect">
            <a:avLst/>
          </a:prstGeom>
          <a:solidFill>
            <a:srgbClr val="F59E0B"/>
          </a:solidFill>
          <a:ln/>
        </p:spPr>
      </p:sp>
      <p:sp>
        <p:nvSpPr>
          <p:cNvPr id="5" name="Text 3"/>
          <p:cNvSpPr/>
          <p:nvPr/>
        </p:nvSpPr>
        <p:spPr>
          <a:xfrm>
            <a:off x="457200" y="1828800"/>
            <a:ext cx="8229600" cy="731520"/>
          </a:xfrm>
          <a:prstGeom prst="rect">
            <a:avLst/>
          </a:prstGeom>
          <a:noFill/>
          <a:ln/>
        </p:spPr>
        <p:txBody>
          <a:bodyPr wrap="square" rtlCol="0" anchor="ctr"/>
          <a:lstStyle/>
          <a:p>
            <a:pPr algn="ctr" indent="0" marL="0">
              <a:buNone/>
            </a:pPr>
            <a:r>
              <a:rPr lang="en-US" sz="4200" b="1" dirty="0">
                <a:solidFill>
                  <a:srgbClr val="FFFFFF"/>
                </a:solidFill>
              </a:rPr>
              <a:t>Best Practices</a:t>
            </a:r>
            <a:endParaRPr lang="en-US" sz="42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400" dirty="0">
                <a:solidFill>
                  <a:srgbClr val="FCD34D"/>
                </a:solidFill>
              </a:rPr>
              <a:t>Working Effectively with AI Agents</a:t>
            </a:r>
            <a:endParaRPr lang="en-US" sz="2400" dirty="0"/>
          </a:p>
        </p:txBody>
      </p:sp>
      <p:sp>
        <p:nvSpPr>
          <p:cNvPr id="7" name="Shape 5"/>
          <p:cNvSpPr/>
          <p:nvPr/>
        </p:nvSpPr>
        <p:spPr>
          <a:xfrm>
            <a:off x="457200" y="3200400"/>
            <a:ext cx="8229600" cy="36576"/>
          </a:xfrm>
          <a:prstGeom prst="rect">
            <a:avLst/>
          </a:prstGeom>
          <a:solidFill>
            <a:srgbClr val="F59E0B"/>
          </a:solidFill>
          <a:ln/>
        </p:spPr>
      </p:sp>
      <p:sp>
        <p:nvSpPr>
          <p:cNvPr id="8" name="Text 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65 / 93</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Fresh Context is Everything</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The single most important habit for quality output from AI agents</a:t>
            </a:r>
            <a:endParaRPr lang="en-US" sz="1200" dirty="0"/>
          </a:p>
        </p:txBody>
      </p:sp>
      <p:sp>
        <p:nvSpPr>
          <p:cNvPr id="5" name="Shape 3"/>
          <p:cNvSpPr/>
          <p:nvPr/>
        </p:nvSpPr>
        <p:spPr>
          <a:xfrm>
            <a:off x="457200" y="1234440"/>
            <a:ext cx="8229600" cy="777240"/>
          </a:xfrm>
          <a:prstGeom prst="rect">
            <a:avLst/>
          </a:prstGeom>
          <a:solidFill>
            <a:srgbClr val="7F1D1D"/>
          </a:solidFill>
          <a:ln/>
        </p:spPr>
      </p:sp>
      <p:sp>
        <p:nvSpPr>
          <p:cNvPr id="6" name="Shape 4"/>
          <p:cNvSpPr/>
          <p:nvPr/>
        </p:nvSpPr>
        <p:spPr>
          <a:xfrm>
            <a:off x="457200" y="1234440"/>
            <a:ext cx="54864" cy="777240"/>
          </a:xfrm>
          <a:prstGeom prst="rect">
            <a:avLst/>
          </a:prstGeom>
          <a:solidFill>
            <a:srgbClr val="DC2626"/>
          </a:solidFill>
          <a:ln/>
        </p:spPr>
      </p:sp>
      <p:sp>
        <p:nvSpPr>
          <p:cNvPr id="7" name="Text 5"/>
          <p:cNvSpPr/>
          <p:nvPr/>
        </p:nvSpPr>
        <p:spPr>
          <a:xfrm>
            <a:off x="685800" y="1280160"/>
            <a:ext cx="7772400" cy="228600"/>
          </a:xfrm>
          <a:prstGeom prst="rect">
            <a:avLst/>
          </a:prstGeom>
          <a:noFill/>
          <a:ln/>
        </p:spPr>
        <p:txBody>
          <a:bodyPr wrap="square" lIns="0" tIns="0" rIns="0" bIns="0" rtlCol="0" anchor="ctr"/>
          <a:lstStyle/>
          <a:p>
            <a:pPr indent="0" marL="0">
              <a:buNone/>
            </a:pPr>
            <a:r>
              <a:rPr lang="en-US" sz="1200" b="1" dirty="0">
                <a:solidFill>
                  <a:srgbClr val="FCA5A5"/>
                </a:solidFill>
                <a:latin typeface="Calibri" pitchFamily="34" charset="0"/>
                <a:ea typeface="Calibri" pitchFamily="34" charset="-122"/>
                <a:cs typeface="Calibri" pitchFamily="34" charset="-120"/>
              </a:rPr>
              <a:t>The Problem: Context Pollution</a:t>
            </a:r>
            <a:endParaRPr lang="en-US" sz="1200" dirty="0"/>
          </a:p>
        </p:txBody>
      </p:sp>
      <p:sp>
        <p:nvSpPr>
          <p:cNvPr id="8" name="Text 6"/>
          <p:cNvSpPr/>
          <p:nvPr/>
        </p:nvSpPr>
        <p:spPr>
          <a:xfrm>
            <a:off x="685800" y="1554480"/>
            <a:ext cx="7772400" cy="411480"/>
          </a:xfrm>
          <a:prstGeom prst="rect">
            <a:avLst/>
          </a:prstGeom>
          <a:noFill/>
          <a:ln/>
        </p:spPr>
        <p:txBody>
          <a:bodyPr wrap="square" lIns="0" tIns="0" rIns="0" bIns="0" rtlCol="0" anchor="t"/>
          <a:lstStyle/>
          <a:p>
            <a:pPr indent="0" marL="0">
              <a:buNone/>
            </a:pPr>
            <a:r>
              <a:rPr lang="en-US" sz="1000" dirty="0">
                <a:solidFill>
                  <a:srgbClr val="FECACA"/>
                </a:solidFill>
                <a:latin typeface="Calibri" pitchFamily="34" charset="0"/>
                <a:ea typeface="Calibri" pitchFamily="34" charset="-122"/>
                <a:cs typeface="Calibri" pitchFamily="34" charset="-120"/>
              </a:rPr>
              <a:t>As a conversation grows, the agent forgets early instructions (“lost in the middle”). Decisions from Story 1 leak into Story 2. Debugging context from one session corrupts the next implementation. The agent starts making assumptions based on stale context instead of reading the docs.</a:t>
            </a:r>
            <a:endParaRPr lang="en-US" sz="1000" dirty="0"/>
          </a:p>
        </p:txBody>
      </p:sp>
      <p:sp>
        <p:nvSpPr>
          <p:cNvPr id="9" name="Text 7"/>
          <p:cNvSpPr/>
          <p:nvPr/>
        </p:nvSpPr>
        <p:spPr>
          <a:xfrm>
            <a:off x="457200" y="2194560"/>
            <a:ext cx="82296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Rules</a:t>
            </a:r>
            <a:endParaRPr lang="en-US" sz="1400" dirty="0"/>
          </a:p>
        </p:txBody>
      </p:sp>
      <p:sp>
        <p:nvSpPr>
          <p:cNvPr id="10" name="Shape 8"/>
          <p:cNvSpPr/>
          <p:nvPr/>
        </p:nvSpPr>
        <p:spPr>
          <a:xfrm>
            <a:off x="502920" y="2606040"/>
            <a:ext cx="365760" cy="365760"/>
          </a:xfrm>
          <a:prstGeom prst="ellipse">
            <a:avLst/>
          </a:prstGeom>
          <a:solidFill>
            <a:srgbClr val="3B82F6"/>
          </a:solidFill>
          <a:ln/>
        </p:spPr>
      </p:sp>
      <p:sp>
        <p:nvSpPr>
          <p:cNvPr id="11" name="Text 9"/>
          <p:cNvSpPr/>
          <p:nvPr/>
        </p:nvSpPr>
        <p:spPr>
          <a:xfrm>
            <a:off x="502920" y="26060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005840" y="2560320"/>
            <a:ext cx="274320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One workflow per chat session</a:t>
            </a:r>
            <a:endParaRPr lang="en-US" sz="1050" dirty="0"/>
          </a:p>
        </p:txBody>
      </p:sp>
      <p:sp>
        <p:nvSpPr>
          <p:cNvPr id="13" name="Text 11"/>
          <p:cNvSpPr/>
          <p:nvPr/>
        </p:nvSpPr>
        <p:spPr>
          <a:xfrm>
            <a:off x="3749040" y="2560320"/>
            <a:ext cx="4937760" cy="43891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Start /create-prd in a new chat. When done, close it. Start /create-architecture in a new chat.</a:t>
            </a:r>
            <a:endParaRPr lang="en-US" sz="950" dirty="0"/>
          </a:p>
        </p:txBody>
      </p:sp>
      <p:sp>
        <p:nvSpPr>
          <p:cNvPr id="14" name="Shape 12"/>
          <p:cNvSpPr/>
          <p:nvPr/>
        </p:nvSpPr>
        <p:spPr>
          <a:xfrm>
            <a:off x="502920" y="3136392"/>
            <a:ext cx="365760" cy="365760"/>
          </a:xfrm>
          <a:prstGeom prst="ellipse">
            <a:avLst/>
          </a:prstGeom>
          <a:solidFill>
            <a:srgbClr val="3B82F6"/>
          </a:solidFill>
          <a:ln/>
        </p:spPr>
      </p:sp>
      <p:sp>
        <p:nvSpPr>
          <p:cNvPr id="15" name="Text 13"/>
          <p:cNvSpPr/>
          <p:nvPr/>
        </p:nvSpPr>
        <p:spPr>
          <a:xfrm>
            <a:off x="502920" y="313639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005840" y="3090672"/>
            <a:ext cx="274320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One story per dev session</a:t>
            </a:r>
            <a:endParaRPr lang="en-US" sz="1050" dirty="0"/>
          </a:p>
        </p:txBody>
      </p:sp>
      <p:sp>
        <p:nvSpPr>
          <p:cNvPr id="17" name="Text 15"/>
          <p:cNvSpPr/>
          <p:nvPr/>
        </p:nvSpPr>
        <p:spPr>
          <a:xfrm>
            <a:off x="3749040" y="3090672"/>
            <a:ext cx="4937760" cy="43891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Run /dev-story MOT-1234 in a fresh chat. When the story is done and reviewed, close the chat. Start the next story fresh.</a:t>
            </a:r>
            <a:endParaRPr lang="en-US" sz="950" dirty="0"/>
          </a:p>
        </p:txBody>
      </p:sp>
      <p:sp>
        <p:nvSpPr>
          <p:cNvPr id="18" name="Shape 16"/>
          <p:cNvSpPr/>
          <p:nvPr/>
        </p:nvSpPr>
        <p:spPr>
          <a:xfrm>
            <a:off x="502920" y="3666744"/>
            <a:ext cx="365760" cy="365760"/>
          </a:xfrm>
          <a:prstGeom prst="ellipse">
            <a:avLst/>
          </a:prstGeom>
          <a:solidFill>
            <a:srgbClr val="3B82F6"/>
          </a:solidFill>
          <a:ln/>
        </p:spPr>
      </p:sp>
      <p:sp>
        <p:nvSpPr>
          <p:cNvPr id="19" name="Text 17"/>
          <p:cNvSpPr/>
          <p:nvPr/>
        </p:nvSpPr>
        <p:spPr>
          <a:xfrm>
            <a:off x="502920" y="3666744"/>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005840" y="3621024"/>
            <a:ext cx="274320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Never continue development after a code review</a:t>
            </a:r>
            <a:endParaRPr lang="en-US" sz="1050" dirty="0"/>
          </a:p>
        </p:txBody>
      </p:sp>
      <p:sp>
        <p:nvSpPr>
          <p:cNvPr id="21" name="Text 19"/>
          <p:cNvSpPr/>
          <p:nvPr/>
        </p:nvSpPr>
        <p:spPr>
          <a:xfrm>
            <a:off x="3749040" y="3621024"/>
            <a:ext cx="4937760" cy="43891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After /code-review, close the session. Fix issues in a new session with fresh context loading.</a:t>
            </a:r>
            <a:endParaRPr lang="en-US" sz="950" dirty="0"/>
          </a:p>
        </p:txBody>
      </p:sp>
      <p:sp>
        <p:nvSpPr>
          <p:cNvPr id="22" name="Shape 20"/>
          <p:cNvSpPr/>
          <p:nvPr/>
        </p:nvSpPr>
        <p:spPr>
          <a:xfrm>
            <a:off x="502920" y="4197096"/>
            <a:ext cx="365760" cy="365760"/>
          </a:xfrm>
          <a:prstGeom prst="ellipse">
            <a:avLst/>
          </a:prstGeom>
          <a:solidFill>
            <a:srgbClr val="3B82F6"/>
          </a:solidFill>
          <a:ln/>
        </p:spPr>
      </p:sp>
      <p:sp>
        <p:nvSpPr>
          <p:cNvPr id="23" name="Text 21"/>
          <p:cNvSpPr/>
          <p:nvPr/>
        </p:nvSpPr>
        <p:spPr>
          <a:xfrm>
            <a:off x="502920" y="419709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005840" y="4151376"/>
            <a:ext cx="274320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Never mix planning and implementation</a:t>
            </a:r>
            <a:endParaRPr lang="en-US" sz="1050" dirty="0"/>
          </a:p>
        </p:txBody>
      </p:sp>
      <p:sp>
        <p:nvSpPr>
          <p:cNvPr id="25" name="Text 23"/>
          <p:cNvSpPr/>
          <p:nvPr/>
        </p:nvSpPr>
        <p:spPr>
          <a:xfrm>
            <a:off x="3749040" y="4151376"/>
            <a:ext cx="4937760" cy="43891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Don’t create a story and implement it in the same chat. Create the story, close, then implement in a new session.</a:t>
            </a:r>
            <a:endParaRPr lang="en-US" sz="950" dirty="0"/>
          </a:p>
        </p:txBody>
      </p:sp>
      <p:sp>
        <p:nvSpPr>
          <p:cNvPr id="26" name="Text 24"/>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BMAD’s step-file architecture was designed for this — each step loads fresh instructions so the agent doesn’t rely on memory</a:t>
            </a:r>
            <a:endParaRPr lang="en-US" sz="1000" dirty="0"/>
          </a:p>
        </p:txBody>
      </p:sp>
      <p:sp>
        <p:nvSpPr>
          <p:cNvPr id="27" name="Text 2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66 / 93</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You Are the Team Lead, Not a Passenger</a:t>
            </a:r>
            <a:endParaRPr lang="en-US" sz="2600" dirty="0"/>
          </a:p>
        </p:txBody>
      </p:sp>
      <p:sp>
        <p:nvSpPr>
          <p:cNvPr id="5" name="Shape 3"/>
          <p:cNvSpPr/>
          <p:nvPr/>
        </p:nvSpPr>
        <p:spPr>
          <a:xfrm>
            <a:off x="457200" y="1005840"/>
            <a:ext cx="8229600" cy="457200"/>
          </a:xfrm>
          <a:prstGeom prst="rect">
            <a:avLst/>
          </a:prstGeom>
          <a:solidFill>
            <a:srgbClr val="0F1B2D"/>
          </a:solidFill>
          <a:ln/>
        </p:spPr>
      </p:sp>
      <p:sp>
        <p:nvSpPr>
          <p:cNvPr id="6" name="Text 4"/>
          <p:cNvSpPr/>
          <p:nvPr/>
        </p:nvSpPr>
        <p:spPr>
          <a:xfrm>
            <a:off x="640080" y="1005840"/>
            <a:ext cx="7863840" cy="45720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The agent is fast and capable — but it’s not infallible. Your job is to direct, review, and correct.</a:t>
            </a:r>
            <a:endParaRPr lang="en-US" sz="1200" dirty="0"/>
          </a:p>
        </p:txBody>
      </p:sp>
      <p:sp>
        <p:nvSpPr>
          <p:cNvPr id="7" name="Shape 5"/>
          <p:cNvSpPr/>
          <p:nvPr/>
        </p:nvSpPr>
        <p:spPr>
          <a:xfrm>
            <a:off x="457200" y="1645920"/>
            <a:ext cx="8229600" cy="50292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8" name="Text 6"/>
          <p:cNvSpPr/>
          <p:nvPr/>
        </p:nvSpPr>
        <p:spPr>
          <a:xfrm>
            <a:off x="548640" y="1645920"/>
            <a:ext cx="2560320" cy="502920"/>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  Talk to the agent before missions</a:t>
            </a:r>
            <a:endParaRPr lang="en-US" sz="1000" dirty="0"/>
          </a:p>
        </p:txBody>
      </p:sp>
      <p:sp>
        <p:nvSpPr>
          <p:cNvPr id="9" name="Text 7"/>
          <p:cNvSpPr/>
          <p:nvPr/>
        </p:nvSpPr>
        <p:spPr>
          <a:xfrm>
            <a:off x="3108960" y="1645920"/>
            <a:ext cx="5486400" cy="5029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Ask: “Before we start, what’s your understanding of this story?” — verify the agent loaded the right context.</a:t>
            </a:r>
            <a:endParaRPr lang="en-US" sz="900" dirty="0"/>
          </a:p>
        </p:txBody>
      </p:sp>
      <p:sp>
        <p:nvSpPr>
          <p:cNvPr id="10" name="Shape 8"/>
          <p:cNvSpPr/>
          <p:nvPr/>
        </p:nvSpPr>
        <p:spPr>
          <a:xfrm>
            <a:off x="457200" y="2212848"/>
            <a:ext cx="8229600" cy="502920"/>
          </a:xfrm>
          <a:prstGeom prst="rect">
            <a:avLst/>
          </a:prstGeom>
          <a:solidFill>
            <a:srgbClr val="FFFFFF"/>
          </a:solidFill>
          <a:ln/>
        </p:spPr>
      </p:sp>
      <p:sp>
        <p:nvSpPr>
          <p:cNvPr id="11" name="Text 9"/>
          <p:cNvSpPr/>
          <p:nvPr/>
        </p:nvSpPr>
        <p:spPr>
          <a:xfrm>
            <a:off x="548640" y="2212848"/>
            <a:ext cx="2560320" cy="502920"/>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  Review every output before moving on</a:t>
            </a:r>
            <a:endParaRPr lang="en-US" sz="1000" dirty="0"/>
          </a:p>
        </p:txBody>
      </p:sp>
      <p:sp>
        <p:nvSpPr>
          <p:cNvPr id="12" name="Text 10"/>
          <p:cNvSpPr/>
          <p:nvPr/>
        </p:nvSpPr>
        <p:spPr>
          <a:xfrm>
            <a:off x="3108960" y="2212848"/>
            <a:ext cx="5486400" cy="5029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Read the PRD, architecture, or story file. Challenge vague acceptance criteria. Ask: “Is this testable? Is this complete?”</a:t>
            </a:r>
            <a:endParaRPr lang="en-US" sz="900" dirty="0"/>
          </a:p>
        </p:txBody>
      </p:sp>
      <p:sp>
        <p:nvSpPr>
          <p:cNvPr id="13" name="Shape 11"/>
          <p:cNvSpPr/>
          <p:nvPr/>
        </p:nvSpPr>
        <p:spPr>
          <a:xfrm>
            <a:off x="457200" y="2779776"/>
            <a:ext cx="8229600" cy="50292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14" name="Text 12"/>
          <p:cNvSpPr/>
          <p:nvPr/>
        </p:nvSpPr>
        <p:spPr>
          <a:xfrm>
            <a:off x="548640" y="2779776"/>
            <a:ext cx="2560320" cy="502920"/>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  Correct the agent when it drifts</a:t>
            </a:r>
            <a:endParaRPr lang="en-US" sz="1000" dirty="0"/>
          </a:p>
        </p:txBody>
      </p:sp>
      <p:sp>
        <p:nvSpPr>
          <p:cNvPr id="15" name="Text 13"/>
          <p:cNvSpPr/>
          <p:nvPr/>
        </p:nvSpPr>
        <p:spPr>
          <a:xfrm>
            <a:off x="3108960" y="2779776"/>
            <a:ext cx="5486400" cy="5029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If the agent makes a wrong assumption, stop and correct immediately. Say: “That’s not what the architecture says. Re-read architecture.md section X.”</a:t>
            </a:r>
            <a:endParaRPr lang="en-US" sz="900" dirty="0"/>
          </a:p>
        </p:txBody>
      </p:sp>
      <p:sp>
        <p:nvSpPr>
          <p:cNvPr id="16" name="Shape 14"/>
          <p:cNvSpPr/>
          <p:nvPr/>
        </p:nvSpPr>
        <p:spPr>
          <a:xfrm>
            <a:off x="457200" y="3346704"/>
            <a:ext cx="8229600" cy="502920"/>
          </a:xfrm>
          <a:prstGeom prst="rect">
            <a:avLst/>
          </a:prstGeom>
          <a:solidFill>
            <a:srgbClr val="FFFFFF"/>
          </a:solidFill>
          <a:ln/>
        </p:spPr>
      </p:sp>
      <p:sp>
        <p:nvSpPr>
          <p:cNvPr id="17" name="Text 15"/>
          <p:cNvSpPr/>
          <p:nvPr/>
        </p:nvSpPr>
        <p:spPr>
          <a:xfrm>
            <a:off x="548640" y="3346704"/>
            <a:ext cx="2560320" cy="502920"/>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  Let the agent do the heavy lifting</a:t>
            </a:r>
            <a:endParaRPr lang="en-US" sz="1000" dirty="0"/>
          </a:p>
        </p:txBody>
      </p:sp>
      <p:sp>
        <p:nvSpPr>
          <p:cNvPr id="18" name="Text 16"/>
          <p:cNvSpPr/>
          <p:nvPr/>
        </p:nvSpPr>
        <p:spPr>
          <a:xfrm>
            <a:off x="3108960" y="3346704"/>
            <a:ext cx="5486400" cy="5029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Give clear instructions, let the agent work, then review the result. You’re a reviewer, not a typist.</a:t>
            </a:r>
            <a:endParaRPr lang="en-US" sz="900" dirty="0"/>
          </a:p>
        </p:txBody>
      </p:sp>
      <p:sp>
        <p:nvSpPr>
          <p:cNvPr id="19" name="Shape 17"/>
          <p:cNvSpPr/>
          <p:nvPr/>
        </p:nvSpPr>
        <p:spPr>
          <a:xfrm>
            <a:off x="457200" y="3913632"/>
            <a:ext cx="8229600" cy="502920"/>
          </a:xfrm>
          <a:prstGeom prst="rect">
            <a:avLst/>
          </a:prstGeom>
          <a:solidFill>
            <a:srgbClr val="F8FAFC"/>
          </a:solidFill>
          <a:ln/>
          <a:effectLst>
            <a:outerShdw sx="100000" sy="100000" kx="0" ky="0" algn="bl" rotWithShape="0" blurRad="76200" dist="25400" dir="8100000">
              <a:srgbClr val="000000">
                <a:alpha val="12000"/>
              </a:srgbClr>
            </a:outerShdw>
          </a:effectLst>
        </p:spPr>
      </p:sp>
      <p:sp>
        <p:nvSpPr>
          <p:cNvPr id="20" name="Text 18"/>
          <p:cNvSpPr/>
          <p:nvPr/>
        </p:nvSpPr>
        <p:spPr>
          <a:xfrm>
            <a:off x="548640" y="3913632"/>
            <a:ext cx="2560320" cy="502920"/>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  Use /bmad-help when unsure</a:t>
            </a:r>
            <a:endParaRPr lang="en-US" sz="1000" dirty="0"/>
          </a:p>
        </p:txBody>
      </p:sp>
      <p:sp>
        <p:nvSpPr>
          <p:cNvPr id="21" name="Text 19"/>
          <p:cNvSpPr/>
          <p:nvPr/>
        </p:nvSpPr>
        <p:spPr>
          <a:xfrm>
            <a:off x="3108960" y="3913632"/>
            <a:ext cx="5486400" cy="50292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The help system knows your project state and will recommend the correct next workflow.</a:t>
            </a:r>
            <a:endParaRPr lang="en-US" sz="900" dirty="0"/>
          </a:p>
        </p:txBody>
      </p:sp>
      <p:sp>
        <p:nvSpPr>
          <p:cNvPr id="22" name="Text 20"/>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Think of it like managing a junior developer who works at 10x speed — fast output, but needs your guidance and review</a:t>
            </a:r>
            <a:endParaRPr lang="en-US" sz="1000" dirty="0"/>
          </a:p>
        </p:txBody>
      </p:sp>
      <p:sp>
        <p:nvSpPr>
          <p:cNvPr id="23" name="Text 2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67 / 93</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Verify After Every Action</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Which verification command to run after each type of action</a:t>
            </a:r>
            <a:endParaRPr lang="en-US" sz="1200" dirty="0"/>
          </a:p>
        </p:txBody>
      </p:sp>
      <p:sp>
        <p:nvSpPr>
          <p:cNvPr id="5" name="Shape 3"/>
          <p:cNvSpPr/>
          <p:nvPr/>
        </p:nvSpPr>
        <p:spPr>
          <a:xfrm>
            <a:off x="457200" y="1234440"/>
            <a:ext cx="8229600" cy="384048"/>
          </a:xfrm>
          <a:prstGeom prst="rect">
            <a:avLst/>
          </a:prstGeom>
          <a:solidFill>
            <a:srgbClr val="1A2744"/>
          </a:solidFill>
          <a:ln/>
        </p:spPr>
      </p:sp>
      <p:sp>
        <p:nvSpPr>
          <p:cNvPr id="6" name="Shape 4"/>
          <p:cNvSpPr/>
          <p:nvPr/>
        </p:nvSpPr>
        <p:spPr>
          <a:xfrm>
            <a:off x="457200" y="1234440"/>
            <a:ext cx="45720" cy="384048"/>
          </a:xfrm>
          <a:prstGeom prst="rect">
            <a:avLst/>
          </a:prstGeom>
          <a:solidFill>
            <a:srgbClr val="3B82F6"/>
          </a:solidFill>
          <a:ln/>
        </p:spPr>
      </p:sp>
      <p:sp>
        <p:nvSpPr>
          <p:cNvPr id="7" name="Text 5"/>
          <p:cNvSpPr/>
          <p:nvPr/>
        </p:nvSpPr>
        <p:spPr>
          <a:xfrm>
            <a:off x="594360" y="1234440"/>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Created a Brief</a:t>
            </a:r>
            <a:endParaRPr lang="en-US" sz="900" dirty="0"/>
          </a:p>
        </p:txBody>
      </p:sp>
      <p:sp>
        <p:nvSpPr>
          <p:cNvPr id="8" name="Text 6"/>
          <p:cNvSpPr/>
          <p:nvPr/>
        </p:nvSpPr>
        <p:spPr>
          <a:xfrm>
            <a:off x="2286000" y="1234440"/>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/bmad-bmm-validate-brief</a:t>
            </a:r>
            <a:endParaRPr lang="en-US" sz="750" dirty="0"/>
          </a:p>
        </p:txBody>
      </p:sp>
      <p:sp>
        <p:nvSpPr>
          <p:cNvPr id="9" name="Text 7"/>
          <p:cNvSpPr/>
          <p:nvPr/>
        </p:nvSpPr>
        <p:spPr>
          <a:xfrm>
            <a:off x="5486400" y="1234440"/>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Check completeness, scope clarity, stakeholder alignment</a:t>
            </a:r>
            <a:endParaRPr lang="en-US" sz="850" dirty="0"/>
          </a:p>
        </p:txBody>
      </p:sp>
      <p:sp>
        <p:nvSpPr>
          <p:cNvPr id="10" name="Shape 8"/>
          <p:cNvSpPr/>
          <p:nvPr/>
        </p:nvSpPr>
        <p:spPr>
          <a:xfrm>
            <a:off x="457200" y="1664208"/>
            <a:ext cx="8229600" cy="384048"/>
          </a:xfrm>
          <a:prstGeom prst="rect">
            <a:avLst/>
          </a:prstGeom>
          <a:solidFill>
            <a:srgbClr val="1E293B"/>
          </a:solidFill>
          <a:ln/>
        </p:spPr>
      </p:sp>
      <p:sp>
        <p:nvSpPr>
          <p:cNvPr id="11" name="Shape 9"/>
          <p:cNvSpPr/>
          <p:nvPr/>
        </p:nvSpPr>
        <p:spPr>
          <a:xfrm>
            <a:off x="457200" y="1664208"/>
            <a:ext cx="45720" cy="384048"/>
          </a:xfrm>
          <a:prstGeom prst="rect">
            <a:avLst/>
          </a:prstGeom>
          <a:solidFill>
            <a:srgbClr val="8B5CF6"/>
          </a:solidFill>
          <a:ln/>
        </p:spPr>
      </p:sp>
      <p:sp>
        <p:nvSpPr>
          <p:cNvPr id="12" name="Text 10"/>
          <p:cNvSpPr/>
          <p:nvPr/>
        </p:nvSpPr>
        <p:spPr>
          <a:xfrm>
            <a:off x="594360" y="1664208"/>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Created a PRD</a:t>
            </a:r>
            <a:endParaRPr lang="en-US" sz="900" dirty="0"/>
          </a:p>
        </p:txBody>
      </p:sp>
      <p:sp>
        <p:nvSpPr>
          <p:cNvPr id="13" name="Text 11"/>
          <p:cNvSpPr/>
          <p:nvPr/>
        </p:nvSpPr>
        <p:spPr>
          <a:xfrm>
            <a:off x="2286000" y="1664208"/>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/bmad-bmm-validate-prd</a:t>
            </a:r>
            <a:endParaRPr lang="en-US" sz="750" dirty="0"/>
          </a:p>
        </p:txBody>
      </p:sp>
      <p:sp>
        <p:nvSpPr>
          <p:cNvPr id="14" name="Text 12"/>
          <p:cNvSpPr/>
          <p:nvPr/>
        </p:nvSpPr>
        <p:spPr>
          <a:xfrm>
            <a:off x="5486400" y="1664208"/>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Check FR/NFR completeness, consistency with brief</a:t>
            </a:r>
            <a:endParaRPr lang="en-US" sz="850" dirty="0"/>
          </a:p>
        </p:txBody>
      </p:sp>
      <p:sp>
        <p:nvSpPr>
          <p:cNvPr id="15" name="Shape 13"/>
          <p:cNvSpPr/>
          <p:nvPr/>
        </p:nvSpPr>
        <p:spPr>
          <a:xfrm>
            <a:off x="457200" y="2093976"/>
            <a:ext cx="8229600" cy="384048"/>
          </a:xfrm>
          <a:prstGeom prst="rect">
            <a:avLst/>
          </a:prstGeom>
          <a:solidFill>
            <a:srgbClr val="1A2744"/>
          </a:solidFill>
          <a:ln/>
        </p:spPr>
      </p:sp>
      <p:sp>
        <p:nvSpPr>
          <p:cNvPr id="16" name="Shape 14"/>
          <p:cNvSpPr/>
          <p:nvPr/>
        </p:nvSpPr>
        <p:spPr>
          <a:xfrm>
            <a:off x="457200" y="2093976"/>
            <a:ext cx="45720" cy="384048"/>
          </a:xfrm>
          <a:prstGeom prst="rect">
            <a:avLst/>
          </a:prstGeom>
          <a:solidFill>
            <a:srgbClr val="10B981"/>
          </a:solidFill>
          <a:ln/>
        </p:spPr>
      </p:sp>
      <p:sp>
        <p:nvSpPr>
          <p:cNvPr id="17" name="Text 15"/>
          <p:cNvSpPr/>
          <p:nvPr/>
        </p:nvSpPr>
        <p:spPr>
          <a:xfrm>
            <a:off x="594360" y="2093976"/>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Created Architecture</a:t>
            </a:r>
            <a:endParaRPr lang="en-US" sz="900" dirty="0"/>
          </a:p>
        </p:txBody>
      </p:sp>
      <p:sp>
        <p:nvSpPr>
          <p:cNvPr id="18" name="Text 16"/>
          <p:cNvSpPr/>
          <p:nvPr/>
        </p:nvSpPr>
        <p:spPr>
          <a:xfrm>
            <a:off x="2286000" y="2093976"/>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/bmad-bmm-validate-architecture</a:t>
            </a:r>
            <a:endParaRPr lang="en-US" sz="750" dirty="0"/>
          </a:p>
        </p:txBody>
      </p:sp>
      <p:sp>
        <p:nvSpPr>
          <p:cNvPr id="19" name="Text 17"/>
          <p:cNvSpPr/>
          <p:nvPr/>
        </p:nvSpPr>
        <p:spPr>
          <a:xfrm>
            <a:off x="5486400" y="2093976"/>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Check alignment with PRD, tech stack justified</a:t>
            </a:r>
            <a:endParaRPr lang="en-US" sz="850" dirty="0"/>
          </a:p>
        </p:txBody>
      </p:sp>
      <p:sp>
        <p:nvSpPr>
          <p:cNvPr id="20" name="Shape 18"/>
          <p:cNvSpPr/>
          <p:nvPr/>
        </p:nvSpPr>
        <p:spPr>
          <a:xfrm>
            <a:off x="457200" y="2523744"/>
            <a:ext cx="8229600" cy="384048"/>
          </a:xfrm>
          <a:prstGeom prst="rect">
            <a:avLst/>
          </a:prstGeom>
          <a:solidFill>
            <a:srgbClr val="1E293B"/>
          </a:solidFill>
          <a:ln/>
        </p:spPr>
      </p:sp>
      <p:sp>
        <p:nvSpPr>
          <p:cNvPr id="21" name="Shape 19"/>
          <p:cNvSpPr/>
          <p:nvPr/>
        </p:nvSpPr>
        <p:spPr>
          <a:xfrm>
            <a:off x="457200" y="2523744"/>
            <a:ext cx="45720" cy="384048"/>
          </a:xfrm>
          <a:prstGeom prst="rect">
            <a:avLst/>
          </a:prstGeom>
          <a:solidFill>
            <a:srgbClr val="F59E0B"/>
          </a:solidFill>
          <a:ln/>
        </p:spPr>
      </p:sp>
      <p:sp>
        <p:nvSpPr>
          <p:cNvPr id="22" name="Text 20"/>
          <p:cNvSpPr/>
          <p:nvPr/>
        </p:nvSpPr>
        <p:spPr>
          <a:xfrm>
            <a:off x="594360" y="2523744"/>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Created Epics/Stories</a:t>
            </a:r>
            <a:endParaRPr lang="en-US" sz="900" dirty="0"/>
          </a:p>
        </p:txBody>
      </p:sp>
      <p:sp>
        <p:nvSpPr>
          <p:cNvPr id="23" name="Text 21"/>
          <p:cNvSpPr/>
          <p:nvPr/>
        </p:nvSpPr>
        <p:spPr>
          <a:xfrm>
            <a:off x="2286000" y="2523744"/>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/bmad-bmm-validate-epics-and-stories</a:t>
            </a:r>
            <a:endParaRPr lang="en-US" sz="750" dirty="0"/>
          </a:p>
        </p:txBody>
      </p:sp>
      <p:sp>
        <p:nvSpPr>
          <p:cNvPr id="24" name="Text 22"/>
          <p:cNvSpPr/>
          <p:nvPr/>
        </p:nvSpPr>
        <p:spPr>
          <a:xfrm>
            <a:off x="5486400" y="2523744"/>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Check requirements coverage, INVEST, no orphans</a:t>
            </a:r>
            <a:endParaRPr lang="en-US" sz="850" dirty="0"/>
          </a:p>
        </p:txBody>
      </p:sp>
      <p:sp>
        <p:nvSpPr>
          <p:cNvPr id="25" name="Shape 23"/>
          <p:cNvSpPr/>
          <p:nvPr/>
        </p:nvSpPr>
        <p:spPr>
          <a:xfrm>
            <a:off x="457200" y="2953512"/>
            <a:ext cx="8229600" cy="384048"/>
          </a:xfrm>
          <a:prstGeom prst="rect">
            <a:avLst/>
          </a:prstGeom>
          <a:solidFill>
            <a:srgbClr val="1A2744"/>
          </a:solidFill>
          <a:ln/>
        </p:spPr>
      </p:sp>
      <p:sp>
        <p:nvSpPr>
          <p:cNvPr id="26" name="Shape 24"/>
          <p:cNvSpPr/>
          <p:nvPr/>
        </p:nvSpPr>
        <p:spPr>
          <a:xfrm>
            <a:off x="457200" y="2953512"/>
            <a:ext cx="45720" cy="384048"/>
          </a:xfrm>
          <a:prstGeom prst="rect">
            <a:avLst/>
          </a:prstGeom>
          <a:solidFill>
            <a:srgbClr val="EF4444"/>
          </a:solidFill>
          <a:ln/>
        </p:spPr>
      </p:sp>
      <p:sp>
        <p:nvSpPr>
          <p:cNvPr id="27" name="Text 25"/>
          <p:cNvSpPr/>
          <p:nvPr/>
        </p:nvSpPr>
        <p:spPr>
          <a:xfrm>
            <a:off x="594360" y="2953512"/>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About to start dev</a:t>
            </a:r>
            <a:endParaRPr lang="en-US" sz="900" dirty="0"/>
          </a:p>
        </p:txBody>
      </p:sp>
      <p:sp>
        <p:nvSpPr>
          <p:cNvPr id="28" name="Text 26"/>
          <p:cNvSpPr/>
          <p:nvPr/>
        </p:nvSpPr>
        <p:spPr>
          <a:xfrm>
            <a:off x="2286000" y="2953512"/>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/bmad-bmm-check-impl-readiness</a:t>
            </a:r>
            <a:endParaRPr lang="en-US" sz="750" dirty="0"/>
          </a:p>
        </p:txBody>
      </p:sp>
      <p:sp>
        <p:nvSpPr>
          <p:cNvPr id="29" name="Text 27"/>
          <p:cNvSpPr/>
          <p:nvPr/>
        </p:nvSpPr>
        <p:spPr>
          <a:xfrm>
            <a:off x="5486400" y="2953512"/>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Full alignment gate: PASS / CONCERNS / FAIL</a:t>
            </a:r>
            <a:endParaRPr lang="en-US" sz="850" dirty="0"/>
          </a:p>
        </p:txBody>
      </p:sp>
      <p:sp>
        <p:nvSpPr>
          <p:cNvPr id="30" name="Shape 28"/>
          <p:cNvSpPr/>
          <p:nvPr/>
        </p:nvSpPr>
        <p:spPr>
          <a:xfrm>
            <a:off x="457200" y="3383280"/>
            <a:ext cx="8229600" cy="384048"/>
          </a:xfrm>
          <a:prstGeom prst="rect">
            <a:avLst/>
          </a:prstGeom>
          <a:solidFill>
            <a:srgbClr val="1E293B"/>
          </a:solidFill>
          <a:ln/>
        </p:spPr>
      </p:sp>
      <p:sp>
        <p:nvSpPr>
          <p:cNvPr id="31" name="Shape 29"/>
          <p:cNvSpPr/>
          <p:nvPr/>
        </p:nvSpPr>
        <p:spPr>
          <a:xfrm>
            <a:off x="457200" y="3383280"/>
            <a:ext cx="45720" cy="384048"/>
          </a:xfrm>
          <a:prstGeom prst="rect">
            <a:avLst/>
          </a:prstGeom>
          <a:solidFill>
            <a:srgbClr val="EC4899"/>
          </a:solidFill>
          <a:ln/>
        </p:spPr>
      </p:sp>
      <p:sp>
        <p:nvSpPr>
          <p:cNvPr id="32" name="Text 30"/>
          <p:cNvSpPr/>
          <p:nvPr/>
        </p:nvSpPr>
        <p:spPr>
          <a:xfrm>
            <a:off x="594360" y="3383280"/>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Implemented a story</a:t>
            </a:r>
            <a:endParaRPr lang="en-US" sz="900" dirty="0"/>
          </a:p>
        </p:txBody>
      </p:sp>
      <p:sp>
        <p:nvSpPr>
          <p:cNvPr id="33" name="Text 31"/>
          <p:cNvSpPr/>
          <p:nvPr/>
        </p:nvSpPr>
        <p:spPr>
          <a:xfrm>
            <a:off x="2286000" y="3383280"/>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/bmad-bmm-code-review</a:t>
            </a:r>
            <a:endParaRPr lang="en-US" sz="750" dirty="0"/>
          </a:p>
        </p:txBody>
      </p:sp>
      <p:sp>
        <p:nvSpPr>
          <p:cNvPr id="34" name="Text 32"/>
          <p:cNvSpPr/>
          <p:nvPr/>
        </p:nvSpPr>
        <p:spPr>
          <a:xfrm>
            <a:off x="5486400" y="3383280"/>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Code matches AC, arch followed, tests pass</a:t>
            </a:r>
            <a:endParaRPr lang="en-US" sz="850" dirty="0"/>
          </a:p>
        </p:txBody>
      </p:sp>
      <p:sp>
        <p:nvSpPr>
          <p:cNvPr id="35" name="Shape 33"/>
          <p:cNvSpPr/>
          <p:nvPr/>
        </p:nvSpPr>
        <p:spPr>
          <a:xfrm>
            <a:off x="457200" y="3813048"/>
            <a:ext cx="8229600" cy="384048"/>
          </a:xfrm>
          <a:prstGeom prst="rect">
            <a:avLst/>
          </a:prstGeom>
          <a:solidFill>
            <a:srgbClr val="1A2744"/>
          </a:solidFill>
          <a:ln/>
        </p:spPr>
      </p:sp>
      <p:sp>
        <p:nvSpPr>
          <p:cNvPr id="36" name="Shape 34"/>
          <p:cNvSpPr/>
          <p:nvPr/>
        </p:nvSpPr>
        <p:spPr>
          <a:xfrm>
            <a:off x="457200" y="3813048"/>
            <a:ext cx="45720" cy="384048"/>
          </a:xfrm>
          <a:prstGeom prst="rect">
            <a:avLst/>
          </a:prstGeom>
          <a:solidFill>
            <a:srgbClr val="6366F1"/>
          </a:solidFill>
          <a:ln/>
        </p:spPr>
      </p:sp>
      <p:sp>
        <p:nvSpPr>
          <p:cNvPr id="37" name="Text 35"/>
          <p:cNvSpPr/>
          <p:nvPr/>
        </p:nvSpPr>
        <p:spPr>
          <a:xfrm>
            <a:off x="594360" y="3813048"/>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Any artifact, any time</a:t>
            </a:r>
            <a:endParaRPr lang="en-US" sz="900" dirty="0"/>
          </a:p>
        </p:txBody>
      </p:sp>
      <p:sp>
        <p:nvSpPr>
          <p:cNvPr id="38" name="Text 36"/>
          <p:cNvSpPr/>
          <p:nvPr/>
        </p:nvSpPr>
        <p:spPr>
          <a:xfrm>
            <a:off x="2286000" y="3813048"/>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/bmad-review-adversarial-general</a:t>
            </a:r>
            <a:endParaRPr lang="en-US" sz="750" dirty="0"/>
          </a:p>
        </p:txBody>
      </p:sp>
      <p:sp>
        <p:nvSpPr>
          <p:cNvPr id="39" name="Text 37"/>
          <p:cNvSpPr/>
          <p:nvPr/>
        </p:nvSpPr>
        <p:spPr>
          <a:xfrm>
            <a:off x="5486400" y="3813048"/>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Challenge assumptions, find contradictions</a:t>
            </a:r>
            <a:endParaRPr lang="en-US" sz="850" dirty="0"/>
          </a:p>
        </p:txBody>
      </p:sp>
      <p:sp>
        <p:nvSpPr>
          <p:cNvPr id="40" name="Shape 38"/>
          <p:cNvSpPr/>
          <p:nvPr/>
        </p:nvSpPr>
        <p:spPr>
          <a:xfrm>
            <a:off x="457200" y="4242816"/>
            <a:ext cx="8229600" cy="384048"/>
          </a:xfrm>
          <a:prstGeom prst="rect">
            <a:avLst/>
          </a:prstGeom>
          <a:solidFill>
            <a:srgbClr val="1E293B"/>
          </a:solidFill>
          <a:ln/>
        </p:spPr>
      </p:sp>
      <p:sp>
        <p:nvSpPr>
          <p:cNvPr id="41" name="Shape 39"/>
          <p:cNvSpPr/>
          <p:nvPr/>
        </p:nvSpPr>
        <p:spPr>
          <a:xfrm>
            <a:off x="457200" y="4242816"/>
            <a:ext cx="45720" cy="384048"/>
          </a:xfrm>
          <a:prstGeom prst="rect">
            <a:avLst/>
          </a:prstGeom>
          <a:solidFill>
            <a:srgbClr val="0EA5E9"/>
          </a:solidFill>
          <a:ln/>
        </p:spPr>
      </p:sp>
      <p:sp>
        <p:nvSpPr>
          <p:cNvPr id="42" name="Text 40"/>
          <p:cNvSpPr/>
          <p:nvPr/>
        </p:nvSpPr>
        <p:spPr>
          <a:xfrm>
            <a:off x="594360" y="4242816"/>
            <a:ext cx="1645920" cy="3840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Story or feature complete</a:t>
            </a:r>
            <a:endParaRPr lang="en-US" sz="900" dirty="0"/>
          </a:p>
        </p:txBody>
      </p:sp>
      <p:sp>
        <p:nvSpPr>
          <p:cNvPr id="43" name="Text 41"/>
          <p:cNvSpPr/>
          <p:nvPr/>
        </p:nvSpPr>
        <p:spPr>
          <a:xfrm>
            <a:off x="2286000" y="4242816"/>
            <a:ext cx="3200400" cy="384048"/>
          </a:xfrm>
          <a:prstGeom prst="rect">
            <a:avLst/>
          </a:prstGeom>
          <a:noFill/>
          <a:ln/>
        </p:spPr>
        <p:txBody>
          <a:bodyPr wrap="square" lIns="0" tIns="0" rIns="0" bIns="0" rtlCol="0" anchor="ctr"/>
          <a:lstStyle/>
          <a:p>
            <a:pPr indent="0" marL="0">
              <a:buNone/>
            </a:pPr>
            <a:r>
              <a:rPr lang="en-US" sz="750" dirty="0">
                <a:solidFill>
                  <a:srgbClr val="14B8A6"/>
                </a:solidFill>
                <a:latin typeface="Consolas" pitchFamily="34" charset="0"/>
                <a:ea typeface="Consolas" pitchFamily="34" charset="-122"/>
                <a:cs typeface="Consolas" pitchFamily="34" charset="-120"/>
              </a:rPr>
              <a:t>/bmad-review-edge-case-hunter</a:t>
            </a:r>
            <a:endParaRPr lang="en-US" sz="750" dirty="0"/>
          </a:p>
        </p:txBody>
      </p:sp>
      <p:sp>
        <p:nvSpPr>
          <p:cNvPr id="44" name="Text 42"/>
          <p:cNvSpPr/>
          <p:nvPr/>
        </p:nvSpPr>
        <p:spPr>
          <a:xfrm>
            <a:off x="5486400" y="4242816"/>
            <a:ext cx="3017520"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Find boundary conditions and failure scenarios</a:t>
            </a:r>
            <a:endParaRPr lang="en-US" sz="850" dirty="0"/>
          </a:p>
        </p:txBody>
      </p:sp>
      <p:sp>
        <p:nvSpPr>
          <p:cNvPr id="45" name="Text 43"/>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Rule of thumb: if you created something, verify it before moving to the next step. Never batch reviews.</a:t>
            </a:r>
            <a:endParaRPr lang="en-US" sz="1000" dirty="0"/>
          </a:p>
        </p:txBody>
      </p:sp>
      <p:sp>
        <p:nvSpPr>
          <p:cNvPr id="46" name="Text 4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68 / 93</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Keep Stories Small — Break Them Down</a:t>
            </a:r>
            <a:endParaRPr lang="en-US" sz="2600" dirty="0"/>
          </a:p>
        </p:txBody>
      </p:sp>
      <p:sp>
        <p:nvSpPr>
          <p:cNvPr id="5" name="Shape 3"/>
          <p:cNvSpPr/>
          <p:nvPr/>
        </p:nvSpPr>
        <p:spPr>
          <a:xfrm>
            <a:off x="457200" y="1005840"/>
            <a:ext cx="8229600" cy="457200"/>
          </a:xfrm>
          <a:prstGeom prst="rect">
            <a:avLst/>
          </a:prstGeom>
          <a:solidFill>
            <a:srgbClr val="0F1B2D"/>
          </a:solidFill>
          <a:ln/>
        </p:spPr>
      </p:sp>
      <p:sp>
        <p:nvSpPr>
          <p:cNvPr id="6" name="Text 4"/>
          <p:cNvSpPr/>
          <p:nvPr/>
        </p:nvSpPr>
        <p:spPr>
          <a:xfrm>
            <a:off x="640080" y="1005840"/>
            <a:ext cx="7863840" cy="457200"/>
          </a:xfrm>
          <a:prstGeom prst="rect">
            <a:avLst/>
          </a:prstGeom>
          <a:noFill/>
          <a:ln/>
        </p:spPr>
        <p:txBody>
          <a:bodyPr wrap="square" lIns="0" tIns="0" rIns="0" bIns="0" rtlCol="0" anchor="ctr"/>
          <a:lstStyle/>
          <a:p>
            <a:pPr indent="0" marL="0">
              <a:buNone/>
            </a:pPr>
            <a:r>
              <a:rPr lang="en-US" sz="1200" dirty="0">
                <a:solidFill>
                  <a:srgbClr val="FCA5A5"/>
                </a:solidFill>
                <a:latin typeface="Calibri" pitchFamily="34" charset="0"/>
                <a:ea typeface="Calibri" pitchFamily="34" charset="-122"/>
                <a:cs typeface="Calibri" pitchFamily="34" charset="-120"/>
              </a:rPr>
              <a:t>Large stories are the #1 cause of agent drift, incomplete implementation, and context overflow.</a:t>
            </a:r>
            <a:endParaRPr lang="en-US" sz="1200" dirty="0"/>
          </a:p>
        </p:txBody>
      </p:sp>
      <p:sp>
        <p:nvSpPr>
          <p:cNvPr id="7" name="Shape 5"/>
          <p:cNvSpPr/>
          <p:nvPr/>
        </p:nvSpPr>
        <p:spPr>
          <a:xfrm>
            <a:off x="457200" y="1645920"/>
            <a:ext cx="3931920" cy="2194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645920"/>
            <a:ext cx="3931920" cy="54864"/>
          </a:xfrm>
          <a:prstGeom prst="rect">
            <a:avLst/>
          </a:prstGeom>
          <a:solidFill>
            <a:srgbClr val="EF4444"/>
          </a:solidFill>
          <a:ln/>
        </p:spPr>
      </p:sp>
      <p:sp>
        <p:nvSpPr>
          <p:cNvPr id="9" name="Text 7"/>
          <p:cNvSpPr/>
          <p:nvPr/>
        </p:nvSpPr>
        <p:spPr>
          <a:xfrm>
            <a:off x="640080" y="1737360"/>
            <a:ext cx="356616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  Signs a Story is Too Big</a:t>
            </a:r>
            <a:endParaRPr lang="en-US" sz="1200" dirty="0"/>
          </a:p>
        </p:txBody>
      </p:sp>
      <p:sp>
        <p:nvSpPr>
          <p:cNvPr id="10" name="Text 8"/>
          <p:cNvSpPr/>
          <p:nvPr/>
        </p:nvSpPr>
        <p:spPr>
          <a:xfrm>
            <a:off x="640080" y="2103120"/>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More than 8–10 acceptance criteria</a:t>
            </a:r>
            <a:endParaRPr lang="en-US" sz="950" dirty="0"/>
          </a:p>
        </p:txBody>
      </p:sp>
      <p:sp>
        <p:nvSpPr>
          <p:cNvPr id="11" name="Text 9"/>
          <p:cNvSpPr/>
          <p:nvPr/>
        </p:nvSpPr>
        <p:spPr>
          <a:xfrm>
            <a:off x="640080" y="2359152"/>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Touches more than 3–4 files/modules</a:t>
            </a:r>
            <a:endParaRPr lang="en-US" sz="950" dirty="0"/>
          </a:p>
        </p:txBody>
      </p:sp>
      <p:sp>
        <p:nvSpPr>
          <p:cNvPr id="12" name="Text 10"/>
          <p:cNvSpPr/>
          <p:nvPr/>
        </p:nvSpPr>
        <p:spPr>
          <a:xfrm>
            <a:off x="640080" y="2615184"/>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Story .md file exceeds ~200 lines</a:t>
            </a:r>
            <a:endParaRPr lang="en-US" sz="950" dirty="0"/>
          </a:p>
        </p:txBody>
      </p:sp>
      <p:sp>
        <p:nvSpPr>
          <p:cNvPr id="13" name="Text 11"/>
          <p:cNvSpPr/>
          <p:nvPr/>
        </p:nvSpPr>
        <p:spPr>
          <a:xfrm>
            <a:off x="640080" y="2871216"/>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Agent loses track of tasks mid-implementation</a:t>
            </a:r>
            <a:endParaRPr lang="en-US" sz="950" dirty="0"/>
          </a:p>
        </p:txBody>
      </p:sp>
      <p:sp>
        <p:nvSpPr>
          <p:cNvPr id="14" name="Text 12"/>
          <p:cNvSpPr/>
          <p:nvPr/>
        </p:nvSpPr>
        <p:spPr>
          <a:xfrm>
            <a:off x="640080" y="3127248"/>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You can’t explain it in 2 sentences</a:t>
            </a:r>
            <a:endParaRPr lang="en-US" sz="950" dirty="0"/>
          </a:p>
        </p:txBody>
      </p:sp>
      <p:sp>
        <p:nvSpPr>
          <p:cNvPr id="15" name="Text 13"/>
          <p:cNvSpPr/>
          <p:nvPr/>
        </p:nvSpPr>
        <p:spPr>
          <a:xfrm>
            <a:off x="640080" y="3383280"/>
            <a:ext cx="3566160" cy="256032"/>
          </a:xfrm>
          <a:prstGeom prst="rect">
            <a:avLst/>
          </a:prstGeom>
          <a:noFill/>
          <a:ln/>
        </p:spPr>
        <p:txBody>
          <a:bodyPr wrap="square" lIns="0" tIns="0" rIns="0" bIns="0" rtlCol="0" anchor="ctr"/>
          <a:lstStyle/>
          <a:p>
            <a:pPr indent="0" marL="0">
              <a:buNone/>
            </a:pPr>
            <a:r>
              <a:rPr lang="en-US" sz="950" dirty="0">
                <a:solidFill>
                  <a:srgbClr val="DC2626"/>
                </a:solidFill>
                <a:latin typeface="Calibri" pitchFamily="34" charset="0"/>
                <a:ea typeface="Calibri" pitchFamily="34" charset="-122"/>
                <a:cs typeface="Calibri" pitchFamily="34" charset="-120"/>
              </a:rPr>
              <a:t>•  Estimated effort &gt; 1 day with AI agents</a:t>
            </a:r>
            <a:endParaRPr lang="en-US" sz="950" dirty="0"/>
          </a:p>
        </p:txBody>
      </p:sp>
      <p:sp>
        <p:nvSpPr>
          <p:cNvPr id="16" name="Shape 14"/>
          <p:cNvSpPr/>
          <p:nvPr/>
        </p:nvSpPr>
        <p:spPr>
          <a:xfrm>
            <a:off x="4754880" y="1645920"/>
            <a:ext cx="3931920" cy="2194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754880" y="1645920"/>
            <a:ext cx="3931920" cy="54864"/>
          </a:xfrm>
          <a:prstGeom prst="rect">
            <a:avLst/>
          </a:prstGeom>
          <a:solidFill>
            <a:srgbClr val="10B981"/>
          </a:solidFill>
          <a:ln/>
        </p:spPr>
      </p:sp>
      <p:sp>
        <p:nvSpPr>
          <p:cNvPr id="18" name="Text 16"/>
          <p:cNvSpPr/>
          <p:nvPr/>
        </p:nvSpPr>
        <p:spPr>
          <a:xfrm>
            <a:off x="4937760" y="1737360"/>
            <a:ext cx="35661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How to Break It Down</a:t>
            </a:r>
            <a:endParaRPr lang="en-US" sz="1200" dirty="0"/>
          </a:p>
        </p:txBody>
      </p:sp>
      <p:sp>
        <p:nvSpPr>
          <p:cNvPr id="19" name="Text 17"/>
          <p:cNvSpPr/>
          <p:nvPr/>
        </p:nvSpPr>
        <p:spPr>
          <a:xfrm>
            <a:off x="4937760" y="2103120"/>
            <a:ext cx="1463040" cy="29260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Ask the SM agent:</a:t>
            </a:r>
            <a:endParaRPr lang="en-US" sz="900" dirty="0"/>
          </a:p>
        </p:txBody>
      </p:sp>
      <p:sp>
        <p:nvSpPr>
          <p:cNvPr id="20" name="Text 18"/>
          <p:cNvSpPr/>
          <p:nvPr/>
        </p:nvSpPr>
        <p:spPr>
          <a:xfrm>
            <a:off x="6400800" y="2103120"/>
            <a:ext cx="2103120" cy="29260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“This story is too large. Break it into smaller stories that each fit the INVEST criteria.”</a:t>
            </a:r>
            <a:endParaRPr lang="en-US" sz="850" dirty="0"/>
          </a:p>
        </p:txBody>
      </p:sp>
      <p:sp>
        <p:nvSpPr>
          <p:cNvPr id="21" name="Text 19"/>
          <p:cNvSpPr/>
          <p:nvPr/>
        </p:nvSpPr>
        <p:spPr>
          <a:xfrm>
            <a:off x="4937760" y="2432304"/>
            <a:ext cx="1463040" cy="29260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Split by layer:</a:t>
            </a:r>
            <a:endParaRPr lang="en-US" sz="900" dirty="0"/>
          </a:p>
        </p:txBody>
      </p:sp>
      <p:sp>
        <p:nvSpPr>
          <p:cNvPr id="22" name="Text 20"/>
          <p:cNvSpPr/>
          <p:nvPr/>
        </p:nvSpPr>
        <p:spPr>
          <a:xfrm>
            <a:off x="6400800" y="2432304"/>
            <a:ext cx="2103120" cy="29260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Backend API story + Frontend UI story + Integration story</a:t>
            </a:r>
            <a:endParaRPr lang="en-US" sz="850" dirty="0"/>
          </a:p>
        </p:txBody>
      </p:sp>
      <p:sp>
        <p:nvSpPr>
          <p:cNvPr id="23" name="Text 21"/>
          <p:cNvSpPr/>
          <p:nvPr/>
        </p:nvSpPr>
        <p:spPr>
          <a:xfrm>
            <a:off x="4937760" y="2761488"/>
            <a:ext cx="1463040" cy="29260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Split by AC:</a:t>
            </a:r>
            <a:endParaRPr lang="en-US" sz="900" dirty="0"/>
          </a:p>
        </p:txBody>
      </p:sp>
      <p:sp>
        <p:nvSpPr>
          <p:cNvPr id="24" name="Text 22"/>
          <p:cNvSpPr/>
          <p:nvPr/>
        </p:nvSpPr>
        <p:spPr>
          <a:xfrm>
            <a:off x="6400800" y="2761488"/>
            <a:ext cx="2103120" cy="29260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Each group of related AC becomes its own story</a:t>
            </a:r>
            <a:endParaRPr lang="en-US" sz="850" dirty="0"/>
          </a:p>
        </p:txBody>
      </p:sp>
      <p:sp>
        <p:nvSpPr>
          <p:cNvPr id="25" name="Text 23"/>
          <p:cNvSpPr/>
          <p:nvPr/>
        </p:nvSpPr>
        <p:spPr>
          <a:xfrm>
            <a:off x="4937760" y="3090672"/>
            <a:ext cx="1463040" cy="29260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Split by dependency:</a:t>
            </a:r>
            <a:endParaRPr lang="en-US" sz="900" dirty="0"/>
          </a:p>
        </p:txBody>
      </p:sp>
      <p:sp>
        <p:nvSpPr>
          <p:cNvPr id="26" name="Text 24"/>
          <p:cNvSpPr/>
          <p:nvPr/>
        </p:nvSpPr>
        <p:spPr>
          <a:xfrm>
            <a:off x="6400800" y="3090672"/>
            <a:ext cx="2103120" cy="29260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Story A (no deps) ships first, Story B depends on A</a:t>
            </a:r>
            <a:endParaRPr lang="en-US" sz="850" dirty="0"/>
          </a:p>
        </p:txBody>
      </p:sp>
      <p:sp>
        <p:nvSpPr>
          <p:cNvPr id="27" name="Text 25"/>
          <p:cNvSpPr/>
          <p:nvPr/>
        </p:nvSpPr>
        <p:spPr>
          <a:xfrm>
            <a:off x="4937760" y="3419856"/>
            <a:ext cx="1463040" cy="292608"/>
          </a:xfrm>
          <a:prstGeom prst="rect">
            <a:avLst/>
          </a:prstGeom>
          <a:noFill/>
          <a:ln/>
        </p:spPr>
        <p:txBody>
          <a:bodyPr wrap="square" lIns="0" tIns="0" rIns="0" bIns="0" rtlCol="0" anchor="ctr"/>
          <a:lstStyle/>
          <a:p>
            <a:pPr indent="0" marL="0">
              <a:buNone/>
            </a:pPr>
            <a:r>
              <a:rPr lang="en-US" sz="900" b="1" dirty="0">
                <a:solidFill>
                  <a:srgbClr val="1E293B"/>
                </a:solidFill>
                <a:latin typeface="Calibri" pitchFamily="34" charset="0"/>
                <a:ea typeface="Calibri" pitchFamily="34" charset="-122"/>
                <a:cs typeface="Calibri" pitchFamily="34" charset="-120"/>
              </a:rPr>
              <a:t>Validate after split:</a:t>
            </a:r>
            <a:endParaRPr lang="en-US" sz="900" dirty="0"/>
          </a:p>
        </p:txBody>
      </p:sp>
      <p:sp>
        <p:nvSpPr>
          <p:cNvPr id="28" name="Text 26"/>
          <p:cNvSpPr/>
          <p:nvPr/>
        </p:nvSpPr>
        <p:spPr>
          <a:xfrm>
            <a:off x="6400800" y="3419856"/>
            <a:ext cx="2103120" cy="292608"/>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Run /validate-epics-and-stories to check nothing was lost</a:t>
            </a:r>
            <a:endParaRPr lang="en-US" sz="850" dirty="0"/>
          </a:p>
        </p:txBody>
      </p:sp>
      <p:sp>
        <p:nvSpPr>
          <p:cNvPr id="29" name="Shape 27"/>
          <p:cNvSpPr/>
          <p:nvPr/>
        </p:nvSpPr>
        <p:spPr>
          <a:xfrm>
            <a:off x="457200" y="4023360"/>
            <a:ext cx="8229600" cy="594360"/>
          </a:xfrm>
          <a:prstGeom prst="rect">
            <a:avLst/>
          </a:prstGeom>
          <a:solidFill>
            <a:srgbClr val="0F1B2D"/>
          </a:solidFill>
          <a:ln/>
        </p:spPr>
      </p:sp>
      <p:sp>
        <p:nvSpPr>
          <p:cNvPr id="30" name="Text 28"/>
          <p:cNvSpPr/>
          <p:nvPr/>
        </p:nvSpPr>
        <p:spPr>
          <a:xfrm>
            <a:off x="640080" y="4050792"/>
            <a:ext cx="777240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The INVEST “S” (Small) Guideline for AI-Driven Dev</a:t>
            </a:r>
            <a:endParaRPr lang="en-US" sz="1100" dirty="0"/>
          </a:p>
        </p:txBody>
      </p:sp>
      <p:sp>
        <p:nvSpPr>
          <p:cNvPr id="31" name="Text 29"/>
          <p:cNvSpPr/>
          <p:nvPr/>
        </p:nvSpPr>
        <p:spPr>
          <a:xfrm>
            <a:off x="640080" y="4297680"/>
            <a:ext cx="7772400" cy="27432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 good story for an AI agent should be completable in a single focused session (1–4 hours of agent work). If the agent needs to “remember” what it did earlier in the same session, the story is too big. When in doubt, split.</a:t>
            </a:r>
            <a:endParaRPr lang="en-US" sz="1000" dirty="0"/>
          </a:p>
        </p:txBody>
      </p:sp>
      <p:sp>
        <p:nvSpPr>
          <p:cNvPr id="32" name="Text 3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69 / 93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project-context.md — Your Project’s Constitution</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A single file that tells every agent how your project works</a:t>
            </a:r>
            <a:endParaRPr lang="en-US" sz="1200" dirty="0"/>
          </a:p>
        </p:txBody>
      </p:sp>
      <p:sp>
        <p:nvSpPr>
          <p:cNvPr id="5" name="Shape 3"/>
          <p:cNvSpPr/>
          <p:nvPr/>
        </p:nvSpPr>
        <p:spPr>
          <a:xfrm>
            <a:off x="457200" y="1234440"/>
            <a:ext cx="393192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54864" cy="1097280"/>
          </a:xfrm>
          <a:prstGeom prst="rect">
            <a:avLst/>
          </a:prstGeom>
          <a:solidFill>
            <a:srgbClr val="10B981"/>
          </a:solidFill>
          <a:ln/>
        </p:spPr>
      </p:sp>
      <p:sp>
        <p:nvSpPr>
          <p:cNvPr id="7" name="Text 5"/>
          <p:cNvSpPr/>
          <p:nvPr/>
        </p:nvSpPr>
        <p:spPr>
          <a:xfrm>
            <a:off x="685800" y="1280160"/>
            <a:ext cx="347472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p>
        </p:txBody>
      </p:sp>
      <p:sp>
        <p:nvSpPr>
          <p:cNvPr id="8" name="Text 6"/>
          <p:cNvSpPr/>
          <p:nvPr/>
        </p:nvSpPr>
        <p:spPr>
          <a:xfrm>
            <a:off x="685800" y="1554480"/>
            <a:ext cx="3474720" cy="6858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 markdown file that captures your tech stack, coding conventions, architectural patterns, and implementation rules. Every BMAD agent reads this file. It’s your way to enforce consistency without repeating yourself in every chat.</a:t>
            </a:r>
            <a:endParaRPr lang="en-US" sz="1000" dirty="0"/>
          </a:p>
        </p:txBody>
      </p:sp>
      <p:sp>
        <p:nvSpPr>
          <p:cNvPr id="9" name="Shape 7"/>
          <p:cNvSpPr/>
          <p:nvPr/>
        </p:nvSpPr>
        <p:spPr>
          <a:xfrm>
            <a:off x="4754880" y="1234440"/>
            <a:ext cx="3931920" cy="109728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0" name="Shape 8"/>
          <p:cNvSpPr/>
          <p:nvPr/>
        </p:nvSpPr>
        <p:spPr>
          <a:xfrm>
            <a:off x="4754880" y="1234440"/>
            <a:ext cx="54864" cy="1097280"/>
          </a:xfrm>
          <a:prstGeom prst="rect">
            <a:avLst/>
          </a:prstGeom>
          <a:solidFill>
            <a:srgbClr val="3B82F6"/>
          </a:solidFill>
          <a:ln/>
        </p:spPr>
      </p:sp>
      <p:sp>
        <p:nvSpPr>
          <p:cNvPr id="11" name="Text 9"/>
          <p:cNvSpPr/>
          <p:nvPr/>
        </p:nvSpPr>
        <p:spPr>
          <a:xfrm>
            <a:off x="4983480" y="1280160"/>
            <a:ext cx="347472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How to Create It</a:t>
            </a:r>
            <a:endParaRPr lang="en-US" sz="1200" dirty="0"/>
          </a:p>
        </p:txBody>
      </p:sp>
      <p:sp>
        <p:nvSpPr>
          <p:cNvPr id="12" name="Text 10"/>
          <p:cNvSpPr/>
          <p:nvPr/>
        </p:nvSpPr>
        <p:spPr>
          <a:xfrm>
            <a:off x="4983480" y="1554480"/>
            <a:ext cx="3474720" cy="6858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Option A: Run /generate-project-context after architecture creation — the agent scans your codebase and generates it.</a:t>
            </a:r>
            <a:endParaRPr lang="en-US" sz="1000" dirty="0"/>
          </a:p>
          <a:p>
            <a:pPr indent="0" marL="0">
              <a:buNone/>
            </a:pP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Option B: Create manually at _bmad-output/project-context.md with your rules.</a:t>
            </a:r>
            <a:endParaRPr lang="en-US" sz="1000" dirty="0"/>
          </a:p>
        </p:txBody>
      </p:sp>
      <p:sp>
        <p:nvSpPr>
          <p:cNvPr id="13" name="Shape 11"/>
          <p:cNvSpPr/>
          <p:nvPr/>
        </p:nvSpPr>
        <p:spPr>
          <a:xfrm>
            <a:off x="457200" y="2514600"/>
            <a:ext cx="8229600" cy="2194560"/>
          </a:xfrm>
          <a:prstGeom prst="rect">
            <a:avLst/>
          </a:prstGeom>
          <a:solidFill>
            <a:srgbClr val="0F172A"/>
          </a:solidFill>
          <a:ln/>
        </p:spPr>
      </p:sp>
      <p:sp>
        <p:nvSpPr>
          <p:cNvPr id="14" name="Text 12"/>
          <p:cNvSpPr/>
          <p:nvPr/>
        </p:nvSpPr>
        <p:spPr>
          <a:xfrm>
            <a:off x="640080" y="2560320"/>
            <a:ext cx="777240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Example: project-context.md</a:t>
            </a:r>
            <a:endParaRPr lang="en-US" sz="1100" dirty="0"/>
          </a:p>
        </p:txBody>
      </p:sp>
      <p:sp>
        <p:nvSpPr>
          <p:cNvPr id="15" name="Text 13"/>
          <p:cNvSpPr/>
          <p:nvPr/>
        </p:nvSpPr>
        <p:spPr>
          <a:xfrm>
            <a:off x="822960" y="2834640"/>
            <a:ext cx="7315200" cy="155448"/>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 Tech Stack</a:t>
            </a:r>
            <a:endParaRPr lang="en-US" sz="950" dirty="0"/>
          </a:p>
        </p:txBody>
      </p:sp>
      <p:sp>
        <p:nvSpPr>
          <p:cNvPr id="16" name="Text 14"/>
          <p:cNvSpPr/>
          <p:nvPr/>
        </p:nvSpPr>
        <p:spPr>
          <a:xfrm>
            <a:off x="822960" y="2990088"/>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Backend: Java 17, Spring Boot 3.2, Maven</a:t>
            </a:r>
            <a:endParaRPr lang="en-US" sz="850" dirty="0"/>
          </a:p>
        </p:txBody>
      </p:sp>
      <p:sp>
        <p:nvSpPr>
          <p:cNvPr id="17" name="Text 15"/>
          <p:cNvSpPr/>
          <p:nvPr/>
        </p:nvSpPr>
        <p:spPr>
          <a:xfrm>
            <a:off x="822960" y="3145536"/>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Frontend: Angular 16, TypeScript strict mode</a:t>
            </a:r>
            <a:endParaRPr lang="en-US" sz="850" dirty="0"/>
          </a:p>
        </p:txBody>
      </p:sp>
      <p:sp>
        <p:nvSpPr>
          <p:cNvPr id="18" name="Text 16"/>
          <p:cNvSpPr/>
          <p:nvPr/>
        </p:nvSpPr>
        <p:spPr>
          <a:xfrm>
            <a:off x="822960" y="3300984"/>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Database: PostgreSQL 15, Flyway migrations</a:t>
            </a:r>
            <a:endParaRPr lang="en-US" sz="850" dirty="0"/>
          </a:p>
        </p:txBody>
      </p:sp>
      <p:sp>
        <p:nvSpPr>
          <p:cNvPr id="19" name="Text 17"/>
          <p:cNvSpPr/>
          <p:nvPr/>
        </p:nvSpPr>
        <p:spPr>
          <a:xfrm>
            <a:off x="822960" y="3456432"/>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CI/CD: Jenkins, SonarQube, Artifactory</a:t>
            </a:r>
            <a:endParaRPr lang="en-US" sz="850" dirty="0"/>
          </a:p>
        </p:txBody>
      </p:sp>
      <p:sp>
        <p:nvSpPr>
          <p:cNvPr id="20" name="Text 18"/>
          <p:cNvSpPr/>
          <p:nvPr/>
        </p:nvSpPr>
        <p:spPr>
          <a:xfrm>
            <a:off x="822960" y="3611880"/>
            <a:ext cx="7315200" cy="155448"/>
          </a:xfrm>
          <a:prstGeom prst="rect">
            <a:avLst/>
          </a:prstGeom>
          <a:noFill/>
          <a:ln/>
        </p:spPr>
        <p:txBody>
          <a:bodyPr wrap="square" lIns="0" tIns="0" rIns="0" bIns="0" rtlCol="0" anchor="ctr"/>
          <a:lstStyle/>
          <a:p>
            <a:pPr indent="0" marL="0">
              <a:buNone/>
            </a:pPr>
            <a:endParaRPr lang="en-US" sz="850" dirty="0"/>
          </a:p>
        </p:txBody>
      </p:sp>
      <p:sp>
        <p:nvSpPr>
          <p:cNvPr id="21" name="Text 19"/>
          <p:cNvSpPr/>
          <p:nvPr/>
        </p:nvSpPr>
        <p:spPr>
          <a:xfrm>
            <a:off x="822960" y="3767328"/>
            <a:ext cx="7315200" cy="155448"/>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 Coding Rules</a:t>
            </a:r>
            <a:endParaRPr lang="en-US" sz="950" dirty="0"/>
          </a:p>
        </p:txBody>
      </p:sp>
      <p:sp>
        <p:nvSpPr>
          <p:cNvPr id="22" name="Text 20"/>
          <p:cNvSpPr/>
          <p:nvPr/>
        </p:nvSpPr>
        <p:spPr>
          <a:xfrm>
            <a:off x="822960" y="3922776"/>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All REST endpoints must follow company API guidelines v2.3</a:t>
            </a:r>
            <a:endParaRPr lang="en-US" sz="850" dirty="0"/>
          </a:p>
        </p:txBody>
      </p:sp>
      <p:sp>
        <p:nvSpPr>
          <p:cNvPr id="23" name="Text 21"/>
          <p:cNvSpPr/>
          <p:nvPr/>
        </p:nvSpPr>
        <p:spPr>
          <a:xfrm>
            <a:off x="822960" y="4078224"/>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Unit test coverage minimum: 80%</a:t>
            </a:r>
            <a:endParaRPr lang="en-US" sz="850" dirty="0"/>
          </a:p>
        </p:txBody>
      </p:sp>
      <p:sp>
        <p:nvSpPr>
          <p:cNvPr id="24" name="Text 22"/>
          <p:cNvSpPr/>
          <p:nvPr/>
        </p:nvSpPr>
        <p:spPr>
          <a:xfrm>
            <a:off x="822960" y="4233672"/>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No direct SQL — use repository pattern only</a:t>
            </a:r>
            <a:endParaRPr lang="en-US" sz="850" dirty="0"/>
          </a:p>
        </p:txBody>
      </p:sp>
      <p:sp>
        <p:nvSpPr>
          <p:cNvPr id="25" name="Text 23"/>
          <p:cNvSpPr/>
          <p:nvPr/>
        </p:nvSpPr>
        <p:spPr>
          <a:xfrm>
            <a:off x="822960" y="4389120"/>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All secrets from HashiCorp Vault — never hardcode</a:t>
            </a:r>
            <a:endParaRPr lang="en-US" sz="850" dirty="0"/>
          </a:p>
        </p:txBody>
      </p:sp>
      <p:sp>
        <p:nvSpPr>
          <p:cNvPr id="26" name="Text 24"/>
          <p:cNvSpPr/>
          <p:nvPr/>
        </p:nvSpPr>
        <p:spPr>
          <a:xfrm>
            <a:off x="822960" y="4544568"/>
            <a:ext cx="7315200" cy="155448"/>
          </a:xfrm>
          <a:prstGeom prst="rect">
            <a:avLst/>
          </a:prstGeom>
          <a:noFill/>
          <a:ln/>
        </p:spPr>
        <p:txBody>
          <a:bodyPr wrap="square" lIns="0" tIns="0" rIns="0" bIns="0" rtlCol="0" anchor="ctr"/>
          <a:lstStyle/>
          <a:p>
            <a:pPr indent="0" marL="0">
              <a:buNone/>
            </a:pPr>
            <a:r>
              <a:rPr lang="en-US" sz="850" dirty="0">
                <a:solidFill>
                  <a:srgbClr val="94A3B8"/>
                </a:solidFill>
                <a:latin typeface="Consolas" pitchFamily="34" charset="0"/>
                <a:ea typeface="Consolas" pitchFamily="34" charset="-122"/>
                <a:cs typeface="Consolas" pitchFamily="34" charset="-120"/>
              </a:rPr>
              <a:t>- Hebrew comments are acceptable in domain-specific code</a:t>
            </a:r>
            <a:endParaRPr lang="en-US" sz="850" dirty="0"/>
          </a:p>
        </p:txBody>
      </p:sp>
      <p:sp>
        <p:nvSpPr>
          <p:cNvPr id="27" name="Text 2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70 / 93</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Making Agents Smarter Over Time</a:t>
            </a:r>
            <a:endParaRPr lang="en-US" sz="2600" dirty="0"/>
          </a:p>
        </p:txBody>
      </p:sp>
      <p:sp>
        <p:nvSpPr>
          <p:cNvPr id="5" name="Text 3"/>
          <p:cNvSpPr/>
          <p:nvPr/>
        </p:nvSpPr>
        <p:spPr>
          <a:xfrm>
            <a:off x="457200" y="914400"/>
            <a:ext cx="822960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Agents don’t remember across sessions — but you can teach them with git-persistent knowledge files and course corrections.</a:t>
            </a:r>
            <a:endParaRPr lang="en-US" sz="1100" dirty="0"/>
          </a:p>
        </p:txBody>
      </p:sp>
      <p:sp>
        <p:nvSpPr>
          <p:cNvPr id="6" name="Shape 4"/>
          <p:cNvSpPr/>
          <p:nvPr/>
        </p:nvSpPr>
        <p:spPr>
          <a:xfrm>
            <a:off x="457200" y="1371600"/>
            <a:ext cx="39319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371600"/>
            <a:ext cx="3931920" cy="54864"/>
          </a:xfrm>
          <a:prstGeom prst="rect">
            <a:avLst/>
          </a:prstGeom>
          <a:solidFill>
            <a:srgbClr val="8B5CF6"/>
          </a:solidFill>
          <a:ln/>
        </p:spPr>
      </p:sp>
      <p:sp>
        <p:nvSpPr>
          <p:cNvPr id="8" name="Text 6"/>
          <p:cNvSpPr/>
          <p:nvPr/>
        </p:nvSpPr>
        <p:spPr>
          <a:xfrm>
            <a:off x="640080" y="1463040"/>
            <a:ext cx="35661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Git-Persistent Project Knowledge</a:t>
            </a:r>
            <a:endParaRPr lang="en-US" sz="1200" dirty="0"/>
          </a:p>
        </p:txBody>
      </p:sp>
      <p:sp>
        <p:nvSpPr>
          <p:cNvPr id="9" name="Text 7"/>
          <p:cNvSpPr/>
          <p:nvPr/>
        </p:nvSpPr>
        <p:spPr>
          <a:xfrm>
            <a:off x="640080" y="1737360"/>
            <a:ext cx="3566160" cy="27432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Store lessons in files that live in YOUR repo — they survive BMAD updates and are shared with the team.</a:t>
            </a:r>
            <a:endParaRPr lang="en-US" sz="950" dirty="0"/>
          </a:p>
        </p:txBody>
      </p:sp>
      <p:sp>
        <p:nvSpPr>
          <p:cNvPr id="10" name="Shape 8"/>
          <p:cNvSpPr/>
          <p:nvPr/>
        </p:nvSpPr>
        <p:spPr>
          <a:xfrm>
            <a:off x="640080" y="2057400"/>
            <a:ext cx="3566160" cy="1097280"/>
          </a:xfrm>
          <a:prstGeom prst="rect">
            <a:avLst/>
          </a:prstGeom>
          <a:solidFill>
            <a:srgbClr val="0F172A"/>
          </a:solidFill>
          <a:ln/>
        </p:spPr>
      </p:sp>
      <p:sp>
        <p:nvSpPr>
          <p:cNvPr id="11" name="Text 9"/>
          <p:cNvSpPr/>
          <p:nvPr/>
        </p:nvSpPr>
        <p:spPr>
          <a:xfrm>
            <a:off x="731520" y="2103120"/>
            <a:ext cx="3383280" cy="128016"/>
          </a:xfrm>
          <a:prstGeom prst="rect">
            <a:avLst/>
          </a:prstGeom>
          <a:noFill/>
          <a:ln/>
        </p:spPr>
        <p:txBody>
          <a:bodyPr wrap="square" lIns="0" tIns="0" rIns="0" bIns="0" rtlCol="0" anchor="ctr"/>
          <a:lstStyle/>
          <a:p>
            <a:pPr indent="0" marL="0">
              <a:buNone/>
            </a:pPr>
            <a:r>
              <a:rPr lang="en-US" sz="750" dirty="0">
                <a:solidFill>
                  <a:srgbClr val="64748B"/>
                </a:solidFill>
                <a:latin typeface="Consolas" pitchFamily="34" charset="0"/>
                <a:ea typeface="Consolas" pitchFamily="34" charset="-122"/>
                <a:cs typeface="Consolas" pitchFamily="34" charset="-120"/>
              </a:rPr>
              <a:t># project-context.md  (or CLAUDE.md / .clinerules)</a:t>
            </a:r>
            <a:endParaRPr lang="en-US" sz="750" dirty="0"/>
          </a:p>
        </p:txBody>
      </p:sp>
      <p:sp>
        <p:nvSpPr>
          <p:cNvPr id="12" name="Text 10"/>
          <p:cNvSpPr/>
          <p:nvPr/>
        </p:nvSpPr>
        <p:spPr>
          <a:xfrm>
            <a:off x="731520" y="2231136"/>
            <a:ext cx="3383280" cy="128016"/>
          </a:xfrm>
          <a:prstGeom prst="rect">
            <a:avLst/>
          </a:prstGeom>
          <a:noFill/>
          <a:ln/>
        </p:spPr>
        <p:txBody>
          <a:bodyPr wrap="square" lIns="0" tIns="0" rIns="0" bIns="0" rtlCol="0" anchor="ctr"/>
          <a:lstStyle/>
          <a:p>
            <a:pPr indent="0" marL="0">
              <a:buNone/>
            </a:pPr>
            <a:r>
              <a:rPr lang="en-US" sz="750" dirty="0">
                <a:solidFill>
                  <a:srgbClr val="64748B"/>
                </a:solidFill>
                <a:latin typeface="Consolas" pitchFamily="34" charset="0"/>
                <a:ea typeface="Consolas" pitchFamily="34" charset="-122"/>
                <a:cs typeface="Consolas" pitchFamily="34" charset="-120"/>
              </a:rPr>
              <a:t>## Lessons Learned</a:t>
            </a:r>
            <a:endParaRPr lang="en-US" sz="750" dirty="0"/>
          </a:p>
        </p:txBody>
      </p:sp>
      <p:sp>
        <p:nvSpPr>
          <p:cNvPr id="13" name="Text 11"/>
          <p:cNvSpPr/>
          <p:nvPr/>
        </p:nvSpPr>
        <p:spPr>
          <a:xfrm>
            <a:off x="731520" y="2359152"/>
            <a:ext cx="3383280" cy="128016"/>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 Always use @Transactional on service methods</a:t>
            </a:r>
            <a:endParaRPr lang="en-US" sz="750" dirty="0"/>
          </a:p>
        </p:txBody>
      </p:sp>
      <p:sp>
        <p:nvSpPr>
          <p:cNvPr id="14" name="Text 12"/>
          <p:cNvSpPr/>
          <p:nvPr/>
        </p:nvSpPr>
        <p:spPr>
          <a:xfrm>
            <a:off x="731520" y="2487168"/>
            <a:ext cx="3383280" cy="128016"/>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 Our API returns 422, not 400, for validation</a:t>
            </a:r>
            <a:endParaRPr lang="en-US" sz="750" dirty="0"/>
          </a:p>
        </p:txBody>
      </p:sp>
      <p:sp>
        <p:nvSpPr>
          <p:cNvPr id="15" name="Text 13"/>
          <p:cNvSpPr/>
          <p:nvPr/>
        </p:nvSpPr>
        <p:spPr>
          <a:xfrm>
            <a:off x="731520" y="2615184"/>
            <a:ext cx="3383280" cy="128016"/>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 Run mvn verify, not mvn test, for full check</a:t>
            </a:r>
            <a:endParaRPr lang="en-US" sz="750" dirty="0"/>
          </a:p>
        </p:txBody>
      </p:sp>
      <p:sp>
        <p:nvSpPr>
          <p:cNvPr id="16" name="Text 14"/>
          <p:cNvSpPr/>
          <p:nvPr/>
        </p:nvSpPr>
        <p:spPr>
          <a:xfrm>
            <a:off x="731520" y="2743200"/>
            <a:ext cx="3383280" cy="128016"/>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 Epic 2 changed auth from JWT to OAuth2 (ADR-7)</a:t>
            </a:r>
            <a:endParaRPr lang="en-US" sz="750" dirty="0"/>
          </a:p>
        </p:txBody>
      </p:sp>
      <p:sp>
        <p:nvSpPr>
          <p:cNvPr id="17" name="Text 15"/>
          <p:cNvSpPr/>
          <p:nvPr/>
        </p:nvSpPr>
        <p:spPr>
          <a:xfrm>
            <a:off x="731520" y="2871216"/>
            <a:ext cx="3383280" cy="128016"/>
          </a:xfrm>
          <a:prstGeom prst="rect">
            <a:avLst/>
          </a:prstGeom>
          <a:noFill/>
          <a:ln/>
        </p:spPr>
        <p:txBody>
          <a:bodyPr wrap="square" lIns="0" tIns="0" rIns="0" bIns="0" rtlCol="0" anchor="ctr"/>
          <a:lstStyle/>
          <a:p>
            <a:pPr indent="0" marL="0">
              <a:buNone/>
            </a:pPr>
            <a:r>
              <a:rPr lang="en-US" sz="750" dirty="0">
                <a:solidFill>
                  <a:srgbClr val="64748B"/>
                </a:solidFill>
                <a:latin typeface="Consolas" pitchFamily="34" charset="0"/>
                <a:ea typeface="Consolas" pitchFamily="34" charset="-122"/>
                <a:cs typeface="Consolas" pitchFamily="34" charset="-120"/>
              </a:rPr>
              <a:t>## Stack Rules</a:t>
            </a:r>
            <a:endParaRPr lang="en-US" sz="750" dirty="0"/>
          </a:p>
        </p:txBody>
      </p:sp>
      <p:sp>
        <p:nvSpPr>
          <p:cNvPr id="18" name="Text 16"/>
          <p:cNvSpPr/>
          <p:nvPr/>
        </p:nvSpPr>
        <p:spPr>
          <a:xfrm>
            <a:off x="731520" y="2999232"/>
            <a:ext cx="3383280" cy="128016"/>
          </a:xfrm>
          <a:prstGeom prst="rect">
            <a:avLst/>
          </a:prstGeom>
          <a:noFill/>
          <a:ln/>
        </p:spPr>
        <p:txBody>
          <a:bodyPr wrap="square" lIns="0" tIns="0" rIns="0" bIns="0"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 PostgreSQL 15, no raw SQL — use JPA repos</a:t>
            </a:r>
            <a:endParaRPr lang="en-US" sz="750" dirty="0"/>
          </a:p>
        </p:txBody>
      </p:sp>
      <p:sp>
        <p:nvSpPr>
          <p:cNvPr id="19" name="Shape 17"/>
          <p:cNvSpPr/>
          <p:nvPr/>
        </p:nvSpPr>
        <p:spPr>
          <a:xfrm>
            <a:off x="4754880" y="1371600"/>
            <a:ext cx="39319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4754880" y="1371600"/>
            <a:ext cx="3931920" cy="54864"/>
          </a:xfrm>
          <a:prstGeom prst="rect">
            <a:avLst/>
          </a:prstGeom>
          <a:solidFill>
            <a:srgbClr val="F59E0B"/>
          </a:solidFill>
          <a:ln/>
        </p:spPr>
      </p:sp>
      <p:sp>
        <p:nvSpPr>
          <p:cNvPr id="21" name="Text 19"/>
          <p:cNvSpPr/>
          <p:nvPr/>
        </p:nvSpPr>
        <p:spPr>
          <a:xfrm>
            <a:off x="4937760" y="1463040"/>
            <a:ext cx="35661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/correct-course — Mid-Sprint Changes</a:t>
            </a:r>
            <a:endParaRPr lang="en-US" sz="1200" dirty="0"/>
          </a:p>
        </p:txBody>
      </p:sp>
      <p:sp>
        <p:nvSpPr>
          <p:cNvPr id="22" name="Text 20"/>
          <p:cNvSpPr/>
          <p:nvPr/>
        </p:nvSpPr>
        <p:spPr>
          <a:xfrm>
            <a:off x="4937760" y="1737360"/>
            <a:ext cx="3566160" cy="3657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When things go off track during a sprint, don’t just hack the story file. Use the SM agent’s course correction workflow:</a:t>
            </a:r>
            <a:endParaRPr lang="en-US" sz="950" dirty="0"/>
          </a:p>
        </p:txBody>
      </p:sp>
      <p:sp>
        <p:nvSpPr>
          <p:cNvPr id="23" name="Text 21"/>
          <p:cNvSpPr/>
          <p:nvPr/>
        </p:nvSpPr>
        <p:spPr>
          <a:xfrm>
            <a:off x="4937760" y="219456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1. Load SM agent in fresh chat</a:t>
            </a:r>
            <a:endParaRPr lang="en-US" sz="900" dirty="0"/>
          </a:p>
        </p:txBody>
      </p:sp>
      <p:sp>
        <p:nvSpPr>
          <p:cNvPr id="24" name="Text 22"/>
          <p:cNvSpPr/>
          <p:nvPr/>
        </p:nvSpPr>
        <p:spPr>
          <a:xfrm>
            <a:off x="4937760" y="237744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2. Run /bmad-correct-course</a:t>
            </a:r>
            <a:endParaRPr lang="en-US" sz="900" dirty="0"/>
          </a:p>
        </p:txBody>
      </p:sp>
      <p:sp>
        <p:nvSpPr>
          <p:cNvPr id="25" name="Text 23"/>
          <p:cNvSpPr/>
          <p:nvPr/>
        </p:nvSpPr>
        <p:spPr>
          <a:xfrm>
            <a:off x="4937760" y="256032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3. Describe what changed and why</a:t>
            </a:r>
            <a:endParaRPr lang="en-US" sz="900" dirty="0"/>
          </a:p>
        </p:txBody>
      </p:sp>
      <p:sp>
        <p:nvSpPr>
          <p:cNvPr id="26" name="Text 24"/>
          <p:cNvSpPr/>
          <p:nvPr/>
        </p:nvSpPr>
        <p:spPr>
          <a:xfrm>
            <a:off x="4937760" y="274320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4. SM updates affected stories/epics</a:t>
            </a:r>
            <a:endParaRPr lang="en-US" sz="900" dirty="0"/>
          </a:p>
        </p:txBody>
      </p:sp>
      <p:sp>
        <p:nvSpPr>
          <p:cNvPr id="27" name="Text 25"/>
          <p:cNvSpPr/>
          <p:nvPr/>
        </p:nvSpPr>
        <p:spPr>
          <a:xfrm>
            <a:off x="4937760" y="292608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5. Run /validate-epics-and-stories</a:t>
            </a:r>
            <a:endParaRPr lang="en-US" sz="900" dirty="0"/>
          </a:p>
        </p:txBody>
      </p:sp>
      <p:sp>
        <p:nvSpPr>
          <p:cNvPr id="28" name="Text 26"/>
          <p:cNvSpPr/>
          <p:nvPr/>
        </p:nvSpPr>
        <p:spPr>
          <a:xfrm>
            <a:off x="4937760" y="3108960"/>
            <a:ext cx="3566160" cy="18288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6. Resume development with corrected context</a:t>
            </a:r>
            <a:endParaRPr lang="en-US" sz="900" dirty="0"/>
          </a:p>
        </p:txBody>
      </p:sp>
      <p:sp>
        <p:nvSpPr>
          <p:cNvPr id="29" name="Shape 27"/>
          <p:cNvSpPr/>
          <p:nvPr/>
        </p:nvSpPr>
        <p:spPr>
          <a:xfrm>
            <a:off x="457200" y="3566160"/>
            <a:ext cx="8229600" cy="1097280"/>
          </a:xfrm>
          <a:prstGeom prst="rect">
            <a:avLst/>
          </a:prstGeom>
          <a:solidFill>
            <a:srgbClr val="0F1B2D"/>
          </a:solidFill>
          <a:ln/>
        </p:spPr>
      </p:sp>
      <p:sp>
        <p:nvSpPr>
          <p:cNvPr id="30" name="Text 28"/>
          <p:cNvSpPr/>
          <p:nvPr/>
        </p:nvSpPr>
        <p:spPr>
          <a:xfrm>
            <a:off x="640080" y="3611880"/>
            <a:ext cx="7772400" cy="22860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Practical Tips</a:t>
            </a:r>
            <a:endParaRPr lang="en-US" sz="1200" dirty="0"/>
          </a:p>
        </p:txBody>
      </p:sp>
      <p:sp>
        <p:nvSpPr>
          <p:cNvPr id="31" name="Text 29"/>
          <p:cNvSpPr/>
          <p:nvPr/>
        </p:nvSpPr>
        <p:spPr>
          <a:xfrm>
            <a:off x="640080" y="3886200"/>
            <a:ext cx="7772400" cy="2468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After every sprint retro, add key learnings to project-context.md — the whole team (and agents) get smarter permanently</a:t>
            </a:r>
            <a:endParaRPr lang="en-US" sz="950" dirty="0"/>
          </a:p>
        </p:txBody>
      </p:sp>
      <p:sp>
        <p:nvSpPr>
          <p:cNvPr id="32" name="Text 30"/>
          <p:cNvSpPr/>
          <p:nvPr/>
        </p:nvSpPr>
        <p:spPr>
          <a:xfrm>
            <a:off x="640080" y="4133088"/>
            <a:ext cx="7772400" cy="2468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If the agent repeatedly makes the same mistake, add it to CLAUDE.md or .clinerules — these files survive BMAD updates</a:t>
            </a:r>
            <a:endParaRPr lang="en-US" sz="950" dirty="0"/>
          </a:p>
        </p:txBody>
      </p:sp>
      <p:sp>
        <p:nvSpPr>
          <p:cNvPr id="33" name="Text 31"/>
          <p:cNvSpPr/>
          <p:nvPr/>
        </p:nvSpPr>
        <p:spPr>
          <a:xfrm>
            <a:off x="640080" y="4379976"/>
            <a:ext cx="7772400" cy="2468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Use /correct-course instead of manually editing story files — the SM ensures all related artifacts stay consistent</a:t>
            </a:r>
            <a:endParaRPr lang="en-US" sz="950" dirty="0"/>
          </a:p>
        </p:txBody>
      </p:sp>
      <p:sp>
        <p:nvSpPr>
          <p:cNvPr id="34" name="Text 32"/>
          <p:cNvSpPr/>
          <p:nvPr/>
        </p:nvSpPr>
        <p:spPr>
          <a:xfrm>
            <a:off x="640080" y="4626864"/>
            <a:ext cx="7772400" cy="24688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Never put project knowledge in customize.yaml — it gets overwritten on ma-agents updates</a:t>
            </a:r>
            <a:endParaRPr lang="en-US" sz="950" dirty="0"/>
          </a:p>
        </p:txBody>
      </p:sp>
      <p:sp>
        <p:nvSpPr>
          <p:cNvPr id="35" name="Text 3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71 / 93</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Sample Prompts &amp; Session Management</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Practical habits that make multi-agent workflows smooth</a:t>
            </a:r>
            <a:endParaRPr lang="en-US" sz="1200" dirty="0"/>
          </a:p>
        </p:txBody>
      </p:sp>
      <p:sp>
        <p:nvSpPr>
          <p:cNvPr id="5" name="Shape 3"/>
          <p:cNvSpPr/>
          <p:nvPr/>
        </p:nvSpPr>
        <p:spPr>
          <a:xfrm>
            <a:off x="457200" y="1234440"/>
            <a:ext cx="4846320" cy="3383280"/>
          </a:xfrm>
          <a:prstGeom prst="rect">
            <a:avLst/>
          </a:prstGeom>
          <a:solidFill>
            <a:srgbClr val="1A2744"/>
          </a:solidFill>
          <a:ln/>
        </p:spPr>
      </p:sp>
      <p:sp>
        <p:nvSpPr>
          <p:cNvPr id="6" name="Shape 4"/>
          <p:cNvSpPr/>
          <p:nvPr/>
        </p:nvSpPr>
        <p:spPr>
          <a:xfrm>
            <a:off x="457200" y="1234440"/>
            <a:ext cx="4846320" cy="54864"/>
          </a:xfrm>
          <a:prstGeom prst="rect">
            <a:avLst/>
          </a:prstGeom>
          <a:solidFill>
            <a:srgbClr val="8B5CF6"/>
          </a:solidFill>
          <a:ln/>
        </p:spPr>
      </p:sp>
      <p:sp>
        <p:nvSpPr>
          <p:cNvPr id="7" name="Text 5"/>
          <p:cNvSpPr/>
          <p:nvPr/>
        </p:nvSpPr>
        <p:spPr>
          <a:xfrm>
            <a:off x="640080" y="1371600"/>
            <a:ext cx="44805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Handoff Prompts</a:t>
            </a:r>
            <a:endParaRPr lang="en-US" sz="1400" dirty="0"/>
          </a:p>
        </p:txBody>
      </p:sp>
      <p:sp>
        <p:nvSpPr>
          <p:cNvPr id="8" name="Text 6"/>
          <p:cNvSpPr/>
          <p:nvPr/>
        </p:nvSpPr>
        <p:spPr>
          <a:xfrm>
            <a:off x="640080" y="1691640"/>
            <a:ext cx="448056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When a coding agent finishes, ask it to prepare the next agent’s context:</a:t>
            </a:r>
            <a:endParaRPr lang="en-US" sz="1000" dirty="0"/>
          </a:p>
        </p:txBody>
      </p:sp>
      <p:sp>
        <p:nvSpPr>
          <p:cNvPr id="9" name="Shape 7"/>
          <p:cNvSpPr/>
          <p:nvPr/>
        </p:nvSpPr>
        <p:spPr>
          <a:xfrm>
            <a:off x="640080" y="2011680"/>
            <a:ext cx="4480560" cy="914400"/>
          </a:xfrm>
          <a:prstGeom prst="rect">
            <a:avLst/>
          </a:prstGeom>
          <a:solidFill>
            <a:srgbClr val="0F172A"/>
          </a:solidFill>
          <a:ln/>
        </p:spPr>
      </p:sp>
      <p:sp>
        <p:nvSpPr>
          <p:cNvPr id="10" name="Text 8"/>
          <p:cNvSpPr/>
          <p:nvPr/>
        </p:nvSpPr>
        <p:spPr>
          <a:xfrm>
            <a:off x="777240" y="2084832"/>
            <a:ext cx="4206240" cy="20116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"Write a prompt for another agent to review</a:t>
            </a:r>
            <a:endParaRPr lang="en-US" sz="950" dirty="0"/>
          </a:p>
        </p:txBody>
      </p:sp>
      <p:sp>
        <p:nvSpPr>
          <p:cNvPr id="11" name="Text 9"/>
          <p:cNvSpPr/>
          <p:nvPr/>
        </p:nvSpPr>
        <p:spPr>
          <a:xfrm>
            <a:off x="777240" y="2286000"/>
            <a:ext cx="4206240" cy="20116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this code. Explain where to find the code —</a:t>
            </a:r>
            <a:endParaRPr lang="en-US" sz="950" dirty="0"/>
          </a:p>
        </p:txBody>
      </p:sp>
      <p:sp>
        <p:nvSpPr>
          <p:cNvPr id="12" name="Text 10"/>
          <p:cNvSpPr/>
          <p:nvPr/>
        </p:nvSpPr>
        <p:spPr>
          <a:xfrm>
            <a:off x="777240" y="2487168"/>
            <a:ext cx="4206240" cy="20116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which worktree, which branch, and what</a:t>
            </a:r>
            <a:endParaRPr lang="en-US" sz="950" dirty="0"/>
          </a:p>
        </p:txBody>
      </p:sp>
      <p:sp>
        <p:nvSpPr>
          <p:cNvPr id="13" name="Text 11"/>
          <p:cNvSpPr/>
          <p:nvPr/>
        </p:nvSpPr>
        <p:spPr>
          <a:xfrm>
            <a:off x="777240" y="2688336"/>
            <a:ext cx="4206240" cy="201168"/>
          </a:xfrm>
          <a:prstGeom prst="rect">
            <a:avLst/>
          </a:prstGeom>
          <a:noFill/>
          <a:ln/>
        </p:spPr>
        <p:txBody>
          <a:bodyPr wrap="square" lIns="0" tIns="0" rIns="0" bIns="0" rtlCol="0" anchor="ctr"/>
          <a:lstStyle/>
          <a:p>
            <a:pPr indent="0" marL="0">
              <a:buNone/>
            </a:pPr>
            <a:r>
              <a:rPr lang="en-US" sz="950" dirty="0">
                <a:solidFill>
                  <a:srgbClr val="5EEAD4"/>
                </a:solidFill>
                <a:latin typeface="Consolas" pitchFamily="34" charset="0"/>
                <a:ea typeface="Consolas" pitchFamily="34" charset="-122"/>
                <a:cs typeface="Consolas" pitchFamily="34" charset="-120"/>
              </a:rPr>
              <a:t>files were changed."</a:t>
            </a:r>
            <a:endParaRPr lang="en-US" sz="950" dirty="0"/>
          </a:p>
        </p:txBody>
      </p:sp>
      <p:sp>
        <p:nvSpPr>
          <p:cNvPr id="14" name="Text 12"/>
          <p:cNvSpPr/>
          <p:nvPr/>
        </p:nvSpPr>
        <p:spPr>
          <a:xfrm>
            <a:off x="640080" y="3063240"/>
            <a:ext cx="4480560" cy="22860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More useful handoff prompts:</a:t>
            </a:r>
            <a:endParaRPr lang="en-US" sz="1000" dirty="0"/>
          </a:p>
        </p:txBody>
      </p:sp>
      <p:sp>
        <p:nvSpPr>
          <p:cNvPr id="15" name="Shape 13"/>
          <p:cNvSpPr/>
          <p:nvPr/>
        </p:nvSpPr>
        <p:spPr>
          <a:xfrm>
            <a:off x="640080" y="3337560"/>
            <a:ext cx="4480560" cy="365760"/>
          </a:xfrm>
          <a:prstGeom prst="rect">
            <a:avLst/>
          </a:prstGeom>
          <a:solidFill>
            <a:srgbClr val="0F172A"/>
          </a:solidFill>
          <a:ln/>
        </p:spPr>
      </p:sp>
      <p:sp>
        <p:nvSpPr>
          <p:cNvPr id="16" name="Text 14"/>
          <p:cNvSpPr/>
          <p:nvPr/>
        </p:nvSpPr>
        <p:spPr>
          <a:xfrm>
            <a:off x="777240" y="3355848"/>
            <a:ext cx="1371600" cy="164592"/>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Session handoff</a:t>
            </a:r>
            <a:endParaRPr lang="en-US" sz="800" dirty="0"/>
          </a:p>
        </p:txBody>
      </p:sp>
      <p:sp>
        <p:nvSpPr>
          <p:cNvPr id="17" name="Text 15"/>
          <p:cNvSpPr/>
          <p:nvPr/>
        </p:nvSpPr>
        <p:spPr>
          <a:xfrm>
            <a:off x="777240" y="3502152"/>
            <a:ext cx="420624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"Summarize what you did and what’s left — I’ll paste this into a fresh session"</a:t>
            </a:r>
            <a:endParaRPr lang="en-US" sz="800" dirty="0"/>
          </a:p>
        </p:txBody>
      </p:sp>
      <p:sp>
        <p:nvSpPr>
          <p:cNvPr id="18" name="Shape 16"/>
          <p:cNvSpPr/>
          <p:nvPr/>
        </p:nvSpPr>
        <p:spPr>
          <a:xfrm>
            <a:off x="640080" y="3749040"/>
            <a:ext cx="4480560" cy="365760"/>
          </a:xfrm>
          <a:prstGeom prst="rect">
            <a:avLst/>
          </a:prstGeom>
          <a:solidFill>
            <a:srgbClr val="0F172A"/>
          </a:solidFill>
          <a:ln/>
        </p:spPr>
      </p:sp>
      <p:sp>
        <p:nvSpPr>
          <p:cNvPr id="19" name="Text 17"/>
          <p:cNvSpPr/>
          <p:nvPr/>
        </p:nvSpPr>
        <p:spPr>
          <a:xfrm>
            <a:off x="777240" y="3767328"/>
            <a:ext cx="1371600" cy="164592"/>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QA handoff</a:t>
            </a:r>
            <a:endParaRPr lang="en-US" sz="800" dirty="0"/>
          </a:p>
        </p:txBody>
      </p:sp>
      <p:sp>
        <p:nvSpPr>
          <p:cNvPr id="20" name="Text 18"/>
          <p:cNvSpPr/>
          <p:nvPr/>
        </p:nvSpPr>
        <p:spPr>
          <a:xfrm>
            <a:off x="777240" y="3913632"/>
            <a:ext cx="420624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"Write a test plan prompt for the QA agent based on the story AC"</a:t>
            </a:r>
            <a:endParaRPr lang="en-US" sz="800" dirty="0"/>
          </a:p>
        </p:txBody>
      </p:sp>
      <p:sp>
        <p:nvSpPr>
          <p:cNvPr id="21" name="Shape 19"/>
          <p:cNvSpPr/>
          <p:nvPr/>
        </p:nvSpPr>
        <p:spPr>
          <a:xfrm>
            <a:off x="640080" y="4160520"/>
            <a:ext cx="4480560" cy="365760"/>
          </a:xfrm>
          <a:prstGeom prst="rect">
            <a:avLst/>
          </a:prstGeom>
          <a:solidFill>
            <a:srgbClr val="0F172A"/>
          </a:solidFill>
          <a:ln/>
        </p:spPr>
      </p:sp>
      <p:sp>
        <p:nvSpPr>
          <p:cNvPr id="22" name="Text 20"/>
          <p:cNvSpPr/>
          <p:nvPr/>
        </p:nvSpPr>
        <p:spPr>
          <a:xfrm>
            <a:off x="777240" y="4178808"/>
            <a:ext cx="1371600" cy="164592"/>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PR description</a:t>
            </a:r>
            <a:endParaRPr lang="en-US" sz="800" dirty="0"/>
          </a:p>
        </p:txBody>
      </p:sp>
      <p:sp>
        <p:nvSpPr>
          <p:cNvPr id="23" name="Text 21"/>
          <p:cNvSpPr/>
          <p:nvPr/>
        </p:nvSpPr>
        <p:spPr>
          <a:xfrm>
            <a:off x="777240" y="4325112"/>
            <a:ext cx="420624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"Write a PR description for these changes, reference the story ID"</a:t>
            </a:r>
            <a:endParaRPr lang="en-US" sz="800" dirty="0"/>
          </a:p>
        </p:txBody>
      </p:sp>
      <p:sp>
        <p:nvSpPr>
          <p:cNvPr id="24" name="Shape 22"/>
          <p:cNvSpPr/>
          <p:nvPr/>
        </p:nvSpPr>
        <p:spPr>
          <a:xfrm>
            <a:off x="5577840" y="1234440"/>
            <a:ext cx="3291840" cy="3383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5577840" y="1234440"/>
            <a:ext cx="3291840" cy="54864"/>
          </a:xfrm>
          <a:prstGeom prst="rect">
            <a:avLst/>
          </a:prstGeom>
          <a:solidFill>
            <a:srgbClr val="0D9488"/>
          </a:solidFill>
          <a:ln/>
        </p:spPr>
      </p:sp>
      <p:sp>
        <p:nvSpPr>
          <p:cNvPr id="26" name="Text 24"/>
          <p:cNvSpPr/>
          <p:nvPr/>
        </p:nvSpPr>
        <p:spPr>
          <a:xfrm>
            <a:off x="5760720" y="1371600"/>
            <a:ext cx="292608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Name Your Chat Windows</a:t>
            </a:r>
            <a:endParaRPr lang="en-US" sz="1300" dirty="0"/>
          </a:p>
        </p:txBody>
      </p:sp>
      <p:sp>
        <p:nvSpPr>
          <p:cNvPr id="27" name="Text 25"/>
          <p:cNvSpPr/>
          <p:nvPr/>
        </p:nvSpPr>
        <p:spPr>
          <a:xfrm>
            <a:off x="5760720" y="1645920"/>
            <a:ext cx="2926080" cy="3657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Use story number + activity type so you can track parallel work at a glance:</a:t>
            </a:r>
            <a:endParaRPr lang="en-US" sz="950" dirty="0"/>
          </a:p>
        </p:txBody>
      </p:sp>
      <p:pic>
        <p:nvPicPr>
          <p:cNvPr id="28" name="Image 0" descr="preencoded.png">    </p:cNvPr>
          <p:cNvPicPr>
            <a:picLocks noChangeAspect="1"/>
          </p:cNvPicPr>
          <p:nvPr/>
        </p:nvPicPr>
        <p:blipFill>
          <a:blip r:embed="rId1"/>
          <a:stretch>
            <a:fillRect/>
          </a:stretch>
        </p:blipFill>
        <p:spPr>
          <a:xfrm>
            <a:off x="5760720" y="2103120"/>
            <a:ext cx="2926080" cy="1709928"/>
          </a:xfrm>
          <a:prstGeom prst="rect">
            <a:avLst/>
          </a:prstGeom>
        </p:spPr>
      </p:pic>
      <p:sp>
        <p:nvSpPr>
          <p:cNvPr id="29" name="Shape 26"/>
          <p:cNvSpPr/>
          <p:nvPr/>
        </p:nvSpPr>
        <p:spPr>
          <a:xfrm>
            <a:off x="5760720" y="3931920"/>
            <a:ext cx="2926080" cy="594360"/>
          </a:xfrm>
          <a:prstGeom prst="rect">
            <a:avLst/>
          </a:prstGeom>
          <a:solidFill>
            <a:srgbClr val="0F1B2D"/>
          </a:solidFill>
          <a:ln/>
        </p:spPr>
      </p:sp>
      <p:sp>
        <p:nvSpPr>
          <p:cNvPr id="30" name="Text 27"/>
          <p:cNvSpPr/>
          <p:nvPr/>
        </p:nvSpPr>
        <p:spPr>
          <a:xfrm>
            <a:off x="5852160" y="3950208"/>
            <a:ext cx="2743200" cy="164592"/>
          </a:xfrm>
          <a:prstGeom prst="rect">
            <a:avLst/>
          </a:prstGeom>
          <a:noFill/>
          <a:ln/>
        </p:spPr>
        <p:txBody>
          <a:bodyPr wrap="square" lIns="0" tIns="0" rIns="0" bIns="0" rtlCol="0" anchor="ctr"/>
          <a:lstStyle/>
          <a:p>
            <a:pPr indent="0" marL="0">
              <a:buNone/>
            </a:pPr>
            <a:r>
              <a:rPr lang="en-US" sz="850" b="1" dirty="0">
                <a:solidFill>
                  <a:srgbClr val="14B8A6"/>
                </a:solidFill>
                <a:latin typeface="Calibri" pitchFamily="34" charset="0"/>
                <a:ea typeface="Calibri" pitchFamily="34" charset="-122"/>
                <a:cs typeface="Calibri" pitchFamily="34" charset="-120"/>
              </a:rPr>
              <a:t>Naming pattern:</a:t>
            </a:r>
            <a:endParaRPr lang="en-US" sz="850" dirty="0"/>
          </a:p>
        </p:txBody>
      </p:sp>
      <p:sp>
        <p:nvSpPr>
          <p:cNvPr id="31" name="Text 28"/>
          <p:cNvSpPr/>
          <p:nvPr/>
        </p:nvSpPr>
        <p:spPr>
          <a:xfrm>
            <a:off x="5852160" y="4114800"/>
            <a:ext cx="2743200" cy="164592"/>
          </a:xfrm>
          <a:prstGeom prst="rect">
            <a:avLst/>
          </a:prstGeom>
          <a:noFill/>
          <a:ln/>
        </p:spPr>
        <p:txBody>
          <a:bodyPr wrap="square" lIns="0" tIns="0" rIns="0" bIns="0" rtlCol="0" anchor="ctr"/>
          <a:lstStyle/>
          <a:p>
            <a:pPr indent="0" marL="0">
              <a:buNone/>
            </a:pPr>
            <a:r>
              <a:rPr lang="en-US" sz="900" dirty="0">
                <a:solidFill>
                  <a:srgbClr val="5EEAD4"/>
                </a:solidFill>
                <a:latin typeface="Consolas" pitchFamily="34" charset="0"/>
                <a:ea typeface="Consolas" pitchFamily="34" charset="-122"/>
                <a:cs typeface="Consolas" pitchFamily="34" charset="-120"/>
              </a:rPr>
              <a:t>[story#] [activity]</a:t>
            </a:r>
            <a:endParaRPr lang="en-US" sz="900" dirty="0"/>
          </a:p>
        </p:txBody>
      </p:sp>
      <p:sp>
        <p:nvSpPr>
          <p:cNvPr id="32" name="Text 29"/>
          <p:cNvSpPr/>
          <p:nvPr/>
        </p:nvSpPr>
        <p:spPr>
          <a:xfrm>
            <a:off x="5852160" y="4297680"/>
            <a:ext cx="2743200" cy="16459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5-7 coding  •  5-7 review  •  5-5 coding</a:t>
            </a:r>
            <a:endParaRPr lang="en-US" sz="800" dirty="0"/>
          </a:p>
        </p:txBody>
      </p:sp>
      <p:sp>
        <p:nvSpPr>
          <p:cNvPr id="33" name="Text 30"/>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The output of one agent becomes the input of another — teach them to write good handoff prompts and your workflow becomes seamless</a:t>
            </a:r>
            <a:endParaRPr lang="en-US" sz="1000" dirty="0"/>
          </a:p>
        </p:txBody>
      </p:sp>
      <p:sp>
        <p:nvSpPr>
          <p:cNvPr id="34" name="Text 3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72 / 93</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Planning Phase Prompt Loop</a:t>
            </a:r>
            <a:endParaRPr lang="en-US" sz="2600" dirty="0"/>
          </a:p>
        </p:txBody>
      </p:sp>
      <p:sp>
        <p:nvSpPr>
          <p:cNvPr id="5" name="Text 3"/>
          <p:cNvSpPr/>
          <p:nvPr/>
        </p:nvSpPr>
        <p:spPr>
          <a:xfrm>
            <a:off x="457200" y="914400"/>
            <a:ext cx="822960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Adding or changing a requirement — from PRD update to sprint-ready stories</a:t>
            </a:r>
            <a:endParaRPr lang="en-US" sz="1100" dirty="0"/>
          </a:p>
        </p:txBody>
      </p:sp>
      <p:sp>
        <p:nvSpPr>
          <p:cNvPr id="6" name="Shape 4"/>
          <p:cNvSpPr/>
          <p:nvPr/>
        </p:nvSpPr>
        <p:spPr>
          <a:xfrm>
            <a:off x="365760" y="1280160"/>
            <a:ext cx="8412480" cy="320040"/>
          </a:xfrm>
          <a:prstGeom prst="rect">
            <a:avLst/>
          </a:prstGeom>
          <a:solidFill>
            <a:srgbClr val="0F1B2D"/>
          </a:solidFill>
          <a:ln/>
        </p:spPr>
      </p:sp>
      <p:sp>
        <p:nvSpPr>
          <p:cNvPr id="7" name="Text 5"/>
          <p:cNvSpPr/>
          <p:nvPr/>
        </p:nvSpPr>
        <p:spPr>
          <a:xfrm>
            <a:off x="457200" y="1280160"/>
            <a:ext cx="128016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p>
        </p:txBody>
      </p:sp>
      <p:sp>
        <p:nvSpPr>
          <p:cNvPr id="8" name="Text 6"/>
          <p:cNvSpPr/>
          <p:nvPr/>
        </p:nvSpPr>
        <p:spPr>
          <a:xfrm>
            <a:off x="1783080" y="1280160"/>
            <a:ext cx="685800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Sample Prompt</a:t>
            </a:r>
            <a:endParaRPr lang="en-US" sz="900" dirty="0"/>
          </a:p>
        </p:txBody>
      </p:sp>
      <p:sp>
        <p:nvSpPr>
          <p:cNvPr id="9" name="Shape 7"/>
          <p:cNvSpPr/>
          <p:nvPr/>
        </p:nvSpPr>
        <p:spPr>
          <a:xfrm>
            <a:off x="365760" y="1645920"/>
            <a:ext cx="8412480" cy="402336"/>
          </a:xfrm>
          <a:prstGeom prst="rect">
            <a:avLst/>
          </a:prstGeom>
          <a:solidFill>
            <a:srgbClr val="F8FAFC"/>
          </a:solidFill>
          <a:ln/>
        </p:spPr>
      </p:sp>
      <p:sp>
        <p:nvSpPr>
          <p:cNvPr id="10" name="Shape 8"/>
          <p:cNvSpPr/>
          <p:nvPr/>
        </p:nvSpPr>
        <p:spPr>
          <a:xfrm>
            <a:off x="365760" y="1645920"/>
            <a:ext cx="45720" cy="402336"/>
          </a:xfrm>
          <a:prstGeom prst="rect">
            <a:avLst/>
          </a:prstGeom>
          <a:solidFill>
            <a:srgbClr val="3B82F6"/>
          </a:solidFill>
          <a:ln/>
        </p:spPr>
      </p:sp>
      <p:sp>
        <p:nvSpPr>
          <p:cNvPr id="11" name="Shape 9"/>
          <p:cNvSpPr/>
          <p:nvPr/>
        </p:nvSpPr>
        <p:spPr>
          <a:xfrm>
            <a:off x="502920" y="1682496"/>
            <a:ext cx="1097280" cy="329184"/>
          </a:xfrm>
          <a:prstGeom prst="roundRect">
            <a:avLst>
              <a:gd name="adj" fmla="val 11111"/>
            </a:avLst>
          </a:prstGeom>
          <a:solidFill>
            <a:srgbClr val="3B82F6"/>
          </a:solidFill>
          <a:ln/>
        </p:spPr>
      </p:sp>
      <p:sp>
        <p:nvSpPr>
          <p:cNvPr id="12" name="Text 10"/>
          <p:cNvSpPr/>
          <p:nvPr/>
        </p:nvSpPr>
        <p:spPr>
          <a:xfrm>
            <a:off x="502920" y="1682496"/>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Update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PRD</a:t>
            </a:r>
            <a:endParaRPr lang="en-US" sz="700" dirty="0"/>
          </a:p>
        </p:txBody>
      </p:sp>
      <p:sp>
        <p:nvSpPr>
          <p:cNvPr id="13" name="Text 11"/>
          <p:cNvSpPr/>
          <p:nvPr/>
        </p:nvSpPr>
        <p:spPr>
          <a:xfrm>
            <a:off x="1783080" y="1645920"/>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/bmad-bmm-create-prd  Add a new requirement to the PRD: &lt;describe the requirement&gt;.  Analyze the impact on existing user stories and NFRs.</a:t>
            </a:r>
            <a:endParaRPr lang="en-US" sz="700" dirty="0"/>
          </a:p>
        </p:txBody>
      </p:sp>
      <p:sp>
        <p:nvSpPr>
          <p:cNvPr id="14" name="Text 12"/>
          <p:cNvSpPr/>
          <p:nvPr/>
        </p:nvSpPr>
        <p:spPr>
          <a:xfrm>
            <a:off x="1783080" y="1865376"/>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PM agent updates the PRD and flags which sections are affected by the change</a:t>
            </a:r>
            <a:endParaRPr lang="en-US" sz="650" dirty="0"/>
          </a:p>
        </p:txBody>
      </p:sp>
      <p:sp>
        <p:nvSpPr>
          <p:cNvPr id="15" name="Shape 13"/>
          <p:cNvSpPr/>
          <p:nvPr/>
        </p:nvSpPr>
        <p:spPr>
          <a:xfrm>
            <a:off x="365760" y="2075688"/>
            <a:ext cx="8412480" cy="402336"/>
          </a:xfrm>
          <a:prstGeom prst="rect">
            <a:avLst/>
          </a:prstGeom>
          <a:solidFill>
            <a:srgbClr val="FFFFFF"/>
          </a:solidFill>
          <a:ln/>
        </p:spPr>
      </p:sp>
      <p:sp>
        <p:nvSpPr>
          <p:cNvPr id="16" name="Shape 14"/>
          <p:cNvSpPr/>
          <p:nvPr/>
        </p:nvSpPr>
        <p:spPr>
          <a:xfrm>
            <a:off x="365760" y="2075688"/>
            <a:ext cx="45720" cy="402336"/>
          </a:xfrm>
          <a:prstGeom prst="rect">
            <a:avLst/>
          </a:prstGeom>
          <a:solidFill>
            <a:srgbClr val="8B5CF6"/>
          </a:solidFill>
          <a:ln/>
        </p:spPr>
      </p:sp>
      <p:sp>
        <p:nvSpPr>
          <p:cNvPr id="17" name="Shape 15"/>
          <p:cNvSpPr/>
          <p:nvPr/>
        </p:nvSpPr>
        <p:spPr>
          <a:xfrm>
            <a:off x="502920" y="2112264"/>
            <a:ext cx="1097280" cy="329184"/>
          </a:xfrm>
          <a:prstGeom prst="roundRect">
            <a:avLst>
              <a:gd name="adj" fmla="val 11111"/>
            </a:avLst>
          </a:prstGeom>
          <a:solidFill>
            <a:srgbClr val="8B5CF6"/>
          </a:solidFill>
          <a:ln/>
        </p:spPr>
      </p:sp>
      <p:sp>
        <p:nvSpPr>
          <p:cNvPr id="18" name="Text 16"/>
          <p:cNvSpPr/>
          <p:nvPr/>
        </p:nvSpPr>
        <p:spPr>
          <a:xfrm>
            <a:off x="502920" y="211226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Validate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PRD</a:t>
            </a:r>
            <a:endParaRPr lang="en-US" sz="700" dirty="0"/>
          </a:p>
        </p:txBody>
      </p:sp>
      <p:sp>
        <p:nvSpPr>
          <p:cNvPr id="19" name="Text 17"/>
          <p:cNvSpPr/>
          <p:nvPr/>
        </p:nvSpPr>
        <p:spPr>
          <a:xfrm>
            <a:off x="1783080" y="2075688"/>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/bmad-bmm-validate-prd  Validate the updated PRD. Focus on consistency with the brief and check for conflicts with existing requirements.</a:t>
            </a:r>
            <a:endParaRPr lang="en-US" sz="700" dirty="0"/>
          </a:p>
        </p:txBody>
      </p:sp>
      <p:sp>
        <p:nvSpPr>
          <p:cNvPr id="20" name="Text 18"/>
          <p:cNvSpPr/>
          <p:nvPr/>
        </p:nvSpPr>
        <p:spPr>
          <a:xfrm>
            <a:off x="1783080" y="2295144"/>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Catches contradictions, missing NFRs, and scope creep before architecture work begins</a:t>
            </a:r>
            <a:endParaRPr lang="en-US" sz="650" dirty="0"/>
          </a:p>
        </p:txBody>
      </p:sp>
      <p:sp>
        <p:nvSpPr>
          <p:cNvPr id="21" name="Shape 19"/>
          <p:cNvSpPr/>
          <p:nvPr/>
        </p:nvSpPr>
        <p:spPr>
          <a:xfrm>
            <a:off x="365760" y="2505456"/>
            <a:ext cx="8412480" cy="402336"/>
          </a:xfrm>
          <a:prstGeom prst="rect">
            <a:avLst/>
          </a:prstGeom>
          <a:solidFill>
            <a:srgbClr val="F8FAFC"/>
          </a:solidFill>
          <a:ln/>
        </p:spPr>
      </p:sp>
      <p:sp>
        <p:nvSpPr>
          <p:cNvPr id="22" name="Shape 20"/>
          <p:cNvSpPr/>
          <p:nvPr/>
        </p:nvSpPr>
        <p:spPr>
          <a:xfrm>
            <a:off x="365760" y="2505456"/>
            <a:ext cx="45720" cy="402336"/>
          </a:xfrm>
          <a:prstGeom prst="rect">
            <a:avLst/>
          </a:prstGeom>
          <a:solidFill>
            <a:srgbClr val="10B981"/>
          </a:solidFill>
          <a:ln/>
        </p:spPr>
      </p:sp>
      <p:sp>
        <p:nvSpPr>
          <p:cNvPr id="23" name="Shape 21"/>
          <p:cNvSpPr/>
          <p:nvPr/>
        </p:nvSpPr>
        <p:spPr>
          <a:xfrm>
            <a:off x="502920" y="2542032"/>
            <a:ext cx="1097280" cy="329184"/>
          </a:xfrm>
          <a:prstGeom prst="roundRect">
            <a:avLst>
              <a:gd name="adj" fmla="val 11111"/>
            </a:avLst>
          </a:prstGeom>
          <a:solidFill>
            <a:srgbClr val="10B981"/>
          </a:solidFill>
          <a:ln/>
        </p:spPr>
      </p:sp>
      <p:sp>
        <p:nvSpPr>
          <p:cNvPr id="24" name="Text 22"/>
          <p:cNvSpPr/>
          <p:nvPr/>
        </p:nvSpPr>
        <p:spPr>
          <a:xfrm>
            <a:off x="502920" y="2542032"/>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Analyze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Architecture</a:t>
            </a:r>
            <a:endParaRPr lang="en-US" sz="700" dirty="0"/>
          </a:p>
        </p:txBody>
      </p:sp>
      <p:sp>
        <p:nvSpPr>
          <p:cNvPr id="25" name="Text 23"/>
          <p:cNvSpPr/>
          <p:nvPr/>
        </p:nvSpPr>
        <p:spPr>
          <a:xfrm>
            <a:off x="1783080" y="2505456"/>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/bmad-bmm-validate-architecture  Analyze the impact of the updated PRD on the current architecture. Which modules, APIs, or data models are affected?</a:t>
            </a:r>
            <a:endParaRPr lang="en-US" sz="700" dirty="0"/>
          </a:p>
        </p:txBody>
      </p:sp>
      <p:sp>
        <p:nvSpPr>
          <p:cNvPr id="26" name="Text 24"/>
          <p:cNvSpPr/>
          <p:nvPr/>
        </p:nvSpPr>
        <p:spPr>
          <a:xfrm>
            <a:off x="1783080" y="2724912"/>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Architect agent checks if the architecture still supports the changed requirements</a:t>
            </a:r>
            <a:endParaRPr lang="en-US" sz="650" dirty="0"/>
          </a:p>
        </p:txBody>
      </p:sp>
      <p:sp>
        <p:nvSpPr>
          <p:cNvPr id="27" name="Shape 25"/>
          <p:cNvSpPr/>
          <p:nvPr/>
        </p:nvSpPr>
        <p:spPr>
          <a:xfrm>
            <a:off x="365760" y="2935224"/>
            <a:ext cx="8412480" cy="402336"/>
          </a:xfrm>
          <a:prstGeom prst="rect">
            <a:avLst/>
          </a:prstGeom>
          <a:solidFill>
            <a:srgbClr val="FFFFFF"/>
          </a:solidFill>
          <a:ln/>
        </p:spPr>
      </p:sp>
      <p:sp>
        <p:nvSpPr>
          <p:cNvPr id="28" name="Shape 26"/>
          <p:cNvSpPr/>
          <p:nvPr/>
        </p:nvSpPr>
        <p:spPr>
          <a:xfrm>
            <a:off x="365760" y="2935224"/>
            <a:ext cx="45720" cy="402336"/>
          </a:xfrm>
          <a:prstGeom prst="rect">
            <a:avLst/>
          </a:prstGeom>
          <a:solidFill>
            <a:srgbClr val="0D9488"/>
          </a:solidFill>
          <a:ln/>
        </p:spPr>
      </p:sp>
      <p:sp>
        <p:nvSpPr>
          <p:cNvPr id="29" name="Shape 27"/>
          <p:cNvSpPr/>
          <p:nvPr/>
        </p:nvSpPr>
        <p:spPr>
          <a:xfrm>
            <a:off x="502920" y="2971800"/>
            <a:ext cx="1097280" cy="329184"/>
          </a:xfrm>
          <a:prstGeom prst="roundRect">
            <a:avLst>
              <a:gd name="adj" fmla="val 11111"/>
            </a:avLst>
          </a:prstGeom>
          <a:solidFill>
            <a:srgbClr val="0D9488"/>
          </a:solidFill>
          <a:ln/>
        </p:spPr>
      </p:sp>
      <p:sp>
        <p:nvSpPr>
          <p:cNvPr id="30" name="Text 28"/>
          <p:cNvSpPr/>
          <p:nvPr/>
        </p:nvSpPr>
        <p:spPr>
          <a:xfrm>
            <a:off x="502920" y="2971800"/>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Update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Architecture</a:t>
            </a:r>
            <a:endParaRPr lang="en-US" sz="700" dirty="0"/>
          </a:p>
        </p:txBody>
      </p:sp>
      <p:sp>
        <p:nvSpPr>
          <p:cNvPr id="31" name="Text 29"/>
          <p:cNvSpPr/>
          <p:nvPr/>
        </p:nvSpPr>
        <p:spPr>
          <a:xfrm>
            <a:off x="1783080" y="2935224"/>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/bmad-bmm-create-architecture  Update the architecture to support the new requirement.  Affected modules: &lt;list from previous step&gt;.</a:t>
            </a:r>
            <a:endParaRPr lang="en-US" sz="700" dirty="0"/>
          </a:p>
        </p:txBody>
      </p:sp>
      <p:sp>
        <p:nvSpPr>
          <p:cNvPr id="32" name="Text 30"/>
          <p:cNvSpPr/>
          <p:nvPr/>
        </p:nvSpPr>
        <p:spPr>
          <a:xfrm>
            <a:off x="1783080" y="3154680"/>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Only run this if the validation found gaps — skip if architecture already covers the change</a:t>
            </a:r>
            <a:endParaRPr lang="en-US" sz="650" dirty="0"/>
          </a:p>
        </p:txBody>
      </p:sp>
      <p:sp>
        <p:nvSpPr>
          <p:cNvPr id="33" name="Shape 31"/>
          <p:cNvSpPr/>
          <p:nvPr/>
        </p:nvSpPr>
        <p:spPr>
          <a:xfrm>
            <a:off x="365760" y="3364992"/>
            <a:ext cx="8412480" cy="402336"/>
          </a:xfrm>
          <a:prstGeom prst="rect">
            <a:avLst/>
          </a:prstGeom>
          <a:solidFill>
            <a:srgbClr val="F8FAFC"/>
          </a:solidFill>
          <a:ln/>
        </p:spPr>
      </p:sp>
      <p:sp>
        <p:nvSpPr>
          <p:cNvPr id="34" name="Shape 32"/>
          <p:cNvSpPr/>
          <p:nvPr/>
        </p:nvSpPr>
        <p:spPr>
          <a:xfrm>
            <a:off x="365760" y="3364992"/>
            <a:ext cx="45720" cy="402336"/>
          </a:xfrm>
          <a:prstGeom prst="rect">
            <a:avLst/>
          </a:prstGeom>
          <a:solidFill>
            <a:srgbClr val="F59E0B"/>
          </a:solidFill>
          <a:ln/>
        </p:spPr>
      </p:sp>
      <p:sp>
        <p:nvSpPr>
          <p:cNvPr id="35" name="Shape 33"/>
          <p:cNvSpPr/>
          <p:nvPr/>
        </p:nvSpPr>
        <p:spPr>
          <a:xfrm>
            <a:off x="502920" y="3401568"/>
            <a:ext cx="1097280" cy="329184"/>
          </a:xfrm>
          <a:prstGeom prst="roundRect">
            <a:avLst>
              <a:gd name="adj" fmla="val 11111"/>
            </a:avLst>
          </a:prstGeom>
          <a:solidFill>
            <a:srgbClr val="F59E0B"/>
          </a:solidFill>
          <a:ln/>
        </p:spPr>
      </p:sp>
      <p:sp>
        <p:nvSpPr>
          <p:cNvPr id="36" name="Text 34"/>
          <p:cNvSpPr/>
          <p:nvPr/>
        </p:nvSpPr>
        <p:spPr>
          <a:xfrm>
            <a:off x="502920" y="3401568"/>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Create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Stories</a:t>
            </a:r>
            <a:endParaRPr lang="en-US" sz="700" dirty="0"/>
          </a:p>
        </p:txBody>
      </p:sp>
      <p:sp>
        <p:nvSpPr>
          <p:cNvPr id="37" name="Text 35"/>
          <p:cNvSpPr/>
          <p:nvPr/>
        </p:nvSpPr>
        <p:spPr>
          <a:xfrm>
            <a:off x="1783080" y="3364992"/>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/bmad-bmm-create-epics-and-stories  Create epics and stories for the new/changed requirement.  Reference the updated PRD sections and architecture.</a:t>
            </a:r>
            <a:endParaRPr lang="en-US" sz="700" dirty="0"/>
          </a:p>
        </p:txBody>
      </p:sp>
      <p:sp>
        <p:nvSpPr>
          <p:cNvPr id="38" name="Text 36"/>
          <p:cNvSpPr/>
          <p:nvPr/>
        </p:nvSpPr>
        <p:spPr>
          <a:xfrm>
            <a:off x="1783080" y="3584448"/>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SM agent generates stories with AC derived from the updated PRD — not from scratch</a:t>
            </a:r>
            <a:endParaRPr lang="en-US" sz="650" dirty="0"/>
          </a:p>
        </p:txBody>
      </p:sp>
      <p:sp>
        <p:nvSpPr>
          <p:cNvPr id="39" name="Shape 37"/>
          <p:cNvSpPr/>
          <p:nvPr/>
        </p:nvSpPr>
        <p:spPr>
          <a:xfrm>
            <a:off x="365760" y="3794760"/>
            <a:ext cx="8412480" cy="402336"/>
          </a:xfrm>
          <a:prstGeom prst="rect">
            <a:avLst/>
          </a:prstGeom>
          <a:solidFill>
            <a:srgbClr val="FFFFFF"/>
          </a:solidFill>
          <a:ln/>
        </p:spPr>
      </p:sp>
      <p:sp>
        <p:nvSpPr>
          <p:cNvPr id="40" name="Shape 38"/>
          <p:cNvSpPr/>
          <p:nvPr/>
        </p:nvSpPr>
        <p:spPr>
          <a:xfrm>
            <a:off x="365760" y="3794760"/>
            <a:ext cx="45720" cy="402336"/>
          </a:xfrm>
          <a:prstGeom prst="rect">
            <a:avLst/>
          </a:prstGeom>
          <a:solidFill>
            <a:srgbClr val="EF4444"/>
          </a:solidFill>
          <a:ln/>
        </p:spPr>
      </p:sp>
      <p:sp>
        <p:nvSpPr>
          <p:cNvPr id="41" name="Shape 39"/>
          <p:cNvSpPr/>
          <p:nvPr/>
        </p:nvSpPr>
        <p:spPr>
          <a:xfrm>
            <a:off x="502920" y="3831336"/>
            <a:ext cx="1097280" cy="329184"/>
          </a:xfrm>
          <a:prstGeom prst="roundRect">
            <a:avLst>
              <a:gd name="adj" fmla="val 11111"/>
            </a:avLst>
          </a:prstGeom>
          <a:solidFill>
            <a:srgbClr val="EF4444"/>
          </a:solidFill>
          <a:ln/>
        </p:spPr>
      </p:sp>
      <p:sp>
        <p:nvSpPr>
          <p:cNvPr id="42" name="Text 40"/>
          <p:cNvSpPr/>
          <p:nvPr/>
        </p:nvSpPr>
        <p:spPr>
          <a:xfrm>
            <a:off x="502920" y="3831336"/>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Verify</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Alignment</a:t>
            </a:r>
            <a:endParaRPr lang="en-US" sz="700" dirty="0"/>
          </a:p>
        </p:txBody>
      </p:sp>
      <p:sp>
        <p:nvSpPr>
          <p:cNvPr id="43" name="Text 41"/>
          <p:cNvSpPr/>
          <p:nvPr/>
        </p:nvSpPr>
        <p:spPr>
          <a:xfrm>
            <a:off x="1783080" y="3794760"/>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/bmad-bmm-validate-epics-and-stories  Check that the new stories cover all updated PRD requirements.  Then run /bmad-bmm-check-impl-readiness.</a:t>
            </a:r>
            <a:endParaRPr lang="en-US" sz="700" dirty="0"/>
          </a:p>
        </p:txBody>
      </p:sp>
      <p:sp>
        <p:nvSpPr>
          <p:cNvPr id="44" name="Text 42"/>
          <p:cNvSpPr/>
          <p:nvPr/>
        </p:nvSpPr>
        <p:spPr>
          <a:xfrm>
            <a:off x="1783080" y="4014216"/>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Full alignment gate: PRD ↔ Architecture ↔ Epics ↔ Stories must all be consistent</a:t>
            </a:r>
            <a:endParaRPr lang="en-US" sz="650" dirty="0"/>
          </a:p>
        </p:txBody>
      </p:sp>
      <p:sp>
        <p:nvSpPr>
          <p:cNvPr id="45" name="Shape 43"/>
          <p:cNvSpPr/>
          <p:nvPr/>
        </p:nvSpPr>
        <p:spPr>
          <a:xfrm>
            <a:off x="365760" y="4224528"/>
            <a:ext cx="8412480" cy="402336"/>
          </a:xfrm>
          <a:prstGeom prst="rect">
            <a:avLst/>
          </a:prstGeom>
          <a:solidFill>
            <a:srgbClr val="F8FAFC"/>
          </a:solidFill>
          <a:ln/>
        </p:spPr>
      </p:sp>
      <p:sp>
        <p:nvSpPr>
          <p:cNvPr id="46" name="Shape 44"/>
          <p:cNvSpPr/>
          <p:nvPr/>
        </p:nvSpPr>
        <p:spPr>
          <a:xfrm>
            <a:off x="365760" y="4224528"/>
            <a:ext cx="45720" cy="402336"/>
          </a:xfrm>
          <a:prstGeom prst="rect">
            <a:avLst/>
          </a:prstGeom>
          <a:solidFill>
            <a:srgbClr val="EC4899"/>
          </a:solidFill>
          <a:ln/>
        </p:spPr>
      </p:sp>
      <p:sp>
        <p:nvSpPr>
          <p:cNvPr id="47" name="Shape 45"/>
          <p:cNvSpPr/>
          <p:nvPr/>
        </p:nvSpPr>
        <p:spPr>
          <a:xfrm>
            <a:off x="502920" y="4261104"/>
            <a:ext cx="1097280" cy="329184"/>
          </a:xfrm>
          <a:prstGeom prst="roundRect">
            <a:avLst>
              <a:gd name="adj" fmla="val 11111"/>
            </a:avLst>
          </a:prstGeom>
          <a:solidFill>
            <a:srgbClr val="EC4899"/>
          </a:solidFill>
          <a:ln/>
        </p:spPr>
      </p:sp>
      <p:sp>
        <p:nvSpPr>
          <p:cNvPr id="48" name="Text 46"/>
          <p:cNvSpPr/>
          <p:nvPr/>
        </p:nvSpPr>
        <p:spPr>
          <a:xfrm>
            <a:off x="502920" y="426110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Adversarial</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Review</a:t>
            </a:r>
            <a:endParaRPr lang="en-US" sz="700" dirty="0"/>
          </a:p>
        </p:txBody>
      </p:sp>
      <p:sp>
        <p:nvSpPr>
          <p:cNvPr id="49" name="Text 47"/>
          <p:cNvSpPr/>
          <p:nvPr/>
        </p:nvSpPr>
        <p:spPr>
          <a:xfrm>
            <a:off x="1783080" y="4224528"/>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/bmad-review-adversarial-general  Review the entire change: updated PRD, architecture delta, and new stories. Find contradictions.</a:t>
            </a:r>
            <a:endParaRPr lang="en-US" sz="700" dirty="0"/>
          </a:p>
        </p:txBody>
      </p:sp>
      <p:sp>
        <p:nvSpPr>
          <p:cNvPr id="50" name="Text 48"/>
          <p:cNvSpPr/>
          <p:nvPr/>
        </p:nvSpPr>
        <p:spPr>
          <a:xfrm>
            <a:off x="1783080" y="4443984"/>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Final sanity check before sprint planning — catches what the validation commands miss</a:t>
            </a:r>
            <a:endParaRPr lang="en-US" sz="650" dirty="0"/>
          </a:p>
        </p:txBody>
      </p:sp>
      <p:sp>
        <p:nvSpPr>
          <p:cNvPr id="51" name="Shape 49"/>
          <p:cNvSpPr/>
          <p:nvPr/>
        </p:nvSpPr>
        <p:spPr>
          <a:xfrm>
            <a:off x="365760" y="4663440"/>
            <a:ext cx="8412480" cy="365760"/>
          </a:xfrm>
          <a:prstGeom prst="rect">
            <a:avLst/>
          </a:prstGeom>
          <a:solidFill>
            <a:srgbClr val="0F1B2D"/>
          </a:solidFill>
          <a:ln/>
        </p:spPr>
      </p:sp>
      <p:sp>
        <p:nvSpPr>
          <p:cNvPr id="52" name="Text 50"/>
          <p:cNvSpPr/>
          <p:nvPr/>
        </p:nvSpPr>
        <p:spPr>
          <a:xfrm>
            <a:off x="548640" y="4663440"/>
            <a:ext cx="8046720" cy="365760"/>
          </a:xfrm>
          <a:prstGeom prst="rect">
            <a:avLst/>
          </a:prstGeom>
          <a:noFill/>
          <a:ln/>
        </p:spPr>
        <p:txBody>
          <a:bodyPr wrap="square" lIns="0" tIns="0" rIns="0" bIns="0" rtlCol="0" anchor="ctr"/>
          <a:lstStyle/>
          <a:p>
            <a:pPr indent="0" marL="0">
              <a:buNone/>
            </a:pPr>
            <a:r>
              <a:rPr lang="en-US" sz="900" dirty="0">
                <a:solidFill>
                  <a:srgbClr val="14B8A6"/>
                </a:solidFill>
                <a:latin typeface="Calibri" pitchFamily="34" charset="0"/>
                <a:ea typeface="Calibri" pitchFamily="34" charset="-122"/>
                <a:cs typeface="Calibri" pitchFamily="34" charset="-120"/>
              </a:rPr>
              <a:t>✨  Every requirement change flows top-down: PRD → Architecture → Stories.  Never skip a level — that’s how drift happens.</a:t>
            </a:r>
            <a:endParaRPr lang="en-US" sz="900" dirty="0"/>
          </a:p>
        </p:txBody>
      </p:sp>
      <p:sp>
        <p:nvSpPr>
          <p:cNvPr id="53" name="Text 5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73 / 93</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AI Coding Prompt Loop</a:t>
            </a:r>
            <a:endParaRPr lang="en-US" sz="2600" dirty="0"/>
          </a:p>
        </p:txBody>
      </p:sp>
      <p:sp>
        <p:nvSpPr>
          <p:cNvPr id="5" name="Text 3"/>
          <p:cNvSpPr/>
          <p:nvPr/>
        </p:nvSpPr>
        <p:spPr>
          <a:xfrm>
            <a:off x="457200" y="914400"/>
            <a:ext cx="822960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typical sprint cycle through prompts — from story creation to testing</a:t>
            </a:r>
            <a:endParaRPr lang="en-US" sz="1100" dirty="0"/>
          </a:p>
        </p:txBody>
      </p:sp>
      <p:sp>
        <p:nvSpPr>
          <p:cNvPr id="6" name="Shape 4"/>
          <p:cNvSpPr/>
          <p:nvPr/>
        </p:nvSpPr>
        <p:spPr>
          <a:xfrm>
            <a:off x="365760" y="1280160"/>
            <a:ext cx="8412480" cy="320040"/>
          </a:xfrm>
          <a:prstGeom prst="rect">
            <a:avLst/>
          </a:prstGeom>
          <a:solidFill>
            <a:srgbClr val="0F1B2D"/>
          </a:solidFill>
          <a:ln/>
        </p:spPr>
      </p:sp>
      <p:sp>
        <p:nvSpPr>
          <p:cNvPr id="7" name="Text 5"/>
          <p:cNvSpPr/>
          <p:nvPr/>
        </p:nvSpPr>
        <p:spPr>
          <a:xfrm>
            <a:off x="457200" y="1280160"/>
            <a:ext cx="128016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p>
        </p:txBody>
      </p:sp>
      <p:sp>
        <p:nvSpPr>
          <p:cNvPr id="8" name="Text 6"/>
          <p:cNvSpPr/>
          <p:nvPr/>
        </p:nvSpPr>
        <p:spPr>
          <a:xfrm>
            <a:off x="1783080" y="1280160"/>
            <a:ext cx="685800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Sample Prompt</a:t>
            </a:r>
            <a:endParaRPr lang="en-US" sz="900" dirty="0"/>
          </a:p>
        </p:txBody>
      </p:sp>
      <p:sp>
        <p:nvSpPr>
          <p:cNvPr id="9" name="Shape 7"/>
          <p:cNvSpPr/>
          <p:nvPr/>
        </p:nvSpPr>
        <p:spPr>
          <a:xfrm>
            <a:off x="365760" y="1645920"/>
            <a:ext cx="8412480" cy="402336"/>
          </a:xfrm>
          <a:prstGeom prst="rect">
            <a:avLst/>
          </a:prstGeom>
          <a:solidFill>
            <a:srgbClr val="F8FAFC"/>
          </a:solidFill>
          <a:ln/>
        </p:spPr>
      </p:sp>
      <p:sp>
        <p:nvSpPr>
          <p:cNvPr id="10" name="Shape 8"/>
          <p:cNvSpPr/>
          <p:nvPr/>
        </p:nvSpPr>
        <p:spPr>
          <a:xfrm>
            <a:off x="365760" y="1645920"/>
            <a:ext cx="45720" cy="402336"/>
          </a:xfrm>
          <a:prstGeom prst="rect">
            <a:avLst/>
          </a:prstGeom>
          <a:solidFill>
            <a:srgbClr val="3B82F6"/>
          </a:solidFill>
          <a:ln/>
        </p:spPr>
      </p:sp>
      <p:sp>
        <p:nvSpPr>
          <p:cNvPr id="11" name="Shape 9"/>
          <p:cNvSpPr/>
          <p:nvPr/>
        </p:nvSpPr>
        <p:spPr>
          <a:xfrm>
            <a:off x="502920" y="1682496"/>
            <a:ext cx="1097280" cy="329184"/>
          </a:xfrm>
          <a:prstGeom prst="roundRect">
            <a:avLst>
              <a:gd name="adj" fmla="val 11111"/>
            </a:avLst>
          </a:prstGeom>
          <a:solidFill>
            <a:srgbClr val="3B82F6"/>
          </a:solidFill>
          <a:ln/>
        </p:spPr>
      </p:sp>
      <p:sp>
        <p:nvSpPr>
          <p:cNvPr id="12" name="Text 10"/>
          <p:cNvSpPr/>
          <p:nvPr/>
        </p:nvSpPr>
        <p:spPr>
          <a:xfrm>
            <a:off x="502920" y="1682496"/>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Sprint</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Planning</a:t>
            </a:r>
            <a:endParaRPr lang="en-US" sz="700" dirty="0"/>
          </a:p>
        </p:txBody>
      </p:sp>
      <p:sp>
        <p:nvSpPr>
          <p:cNvPr id="13" name="Text 11"/>
          <p:cNvSpPr/>
          <p:nvPr/>
        </p:nvSpPr>
        <p:spPr>
          <a:xfrm>
            <a:off x="1783080" y="1645920"/>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/bmad-bmm-create-story 1-2 . Create a story which delivers value but stays short and focused</a:t>
            </a:r>
            <a:endParaRPr lang="en-US" sz="700" dirty="0"/>
          </a:p>
        </p:txBody>
      </p:sp>
      <p:sp>
        <p:nvSpPr>
          <p:cNvPr id="14" name="Text 12"/>
          <p:cNvSpPr/>
          <p:nvPr/>
        </p:nvSpPr>
        <p:spPr>
          <a:xfrm>
            <a:off x="1783080" y="1865376"/>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SM agent creates the story file with full AC, tasks, and architecture references</a:t>
            </a:r>
            <a:endParaRPr lang="en-US" sz="650" dirty="0"/>
          </a:p>
        </p:txBody>
      </p:sp>
      <p:sp>
        <p:nvSpPr>
          <p:cNvPr id="15" name="Shape 13"/>
          <p:cNvSpPr/>
          <p:nvPr/>
        </p:nvSpPr>
        <p:spPr>
          <a:xfrm>
            <a:off x="365760" y="2075688"/>
            <a:ext cx="8412480" cy="402336"/>
          </a:xfrm>
          <a:prstGeom prst="rect">
            <a:avLst/>
          </a:prstGeom>
          <a:solidFill>
            <a:srgbClr val="FFFFFF"/>
          </a:solidFill>
          <a:ln/>
        </p:spPr>
      </p:sp>
      <p:sp>
        <p:nvSpPr>
          <p:cNvPr id="16" name="Shape 14"/>
          <p:cNvSpPr/>
          <p:nvPr/>
        </p:nvSpPr>
        <p:spPr>
          <a:xfrm>
            <a:off x="365760" y="2075688"/>
            <a:ext cx="45720" cy="402336"/>
          </a:xfrm>
          <a:prstGeom prst="rect">
            <a:avLst/>
          </a:prstGeom>
          <a:solidFill>
            <a:srgbClr val="8B5CF6"/>
          </a:solidFill>
          <a:ln/>
        </p:spPr>
      </p:sp>
      <p:sp>
        <p:nvSpPr>
          <p:cNvPr id="17" name="Shape 15"/>
          <p:cNvSpPr/>
          <p:nvPr/>
        </p:nvSpPr>
        <p:spPr>
          <a:xfrm>
            <a:off x="502920" y="2112264"/>
            <a:ext cx="1097280" cy="329184"/>
          </a:xfrm>
          <a:prstGeom prst="roundRect">
            <a:avLst>
              <a:gd name="adj" fmla="val 11111"/>
            </a:avLst>
          </a:prstGeom>
          <a:solidFill>
            <a:srgbClr val="8B5CF6"/>
          </a:solidFill>
          <a:ln/>
        </p:spPr>
      </p:sp>
      <p:sp>
        <p:nvSpPr>
          <p:cNvPr id="18" name="Text 16"/>
          <p:cNvSpPr/>
          <p:nvPr/>
        </p:nvSpPr>
        <p:spPr>
          <a:xfrm>
            <a:off x="502920" y="211226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Sprint</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Planning</a:t>
            </a:r>
            <a:endParaRPr lang="en-US" sz="700" dirty="0"/>
          </a:p>
        </p:txBody>
      </p:sp>
      <p:sp>
        <p:nvSpPr>
          <p:cNvPr id="19" name="Text 17"/>
          <p:cNvSpPr/>
          <p:nvPr/>
        </p:nvSpPr>
        <p:spPr>
          <a:xfrm>
            <a:off x="1783080" y="2075688"/>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/bmad-review-adversarial-general  Review story 1-2</a:t>
            </a:r>
            <a:endParaRPr lang="en-US" sz="700" dirty="0"/>
          </a:p>
        </p:txBody>
      </p:sp>
      <p:sp>
        <p:nvSpPr>
          <p:cNvPr id="20" name="Text 18"/>
          <p:cNvSpPr/>
          <p:nvPr/>
        </p:nvSpPr>
        <p:spPr>
          <a:xfrm>
            <a:off x="1783080" y="2295144"/>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Adversarial review challenges assumptions, catches missing AC, finds edge cases</a:t>
            </a:r>
            <a:endParaRPr lang="en-US" sz="650" dirty="0"/>
          </a:p>
        </p:txBody>
      </p:sp>
      <p:sp>
        <p:nvSpPr>
          <p:cNvPr id="21" name="Shape 19"/>
          <p:cNvSpPr/>
          <p:nvPr/>
        </p:nvSpPr>
        <p:spPr>
          <a:xfrm>
            <a:off x="365760" y="2505456"/>
            <a:ext cx="8412480" cy="402336"/>
          </a:xfrm>
          <a:prstGeom prst="rect">
            <a:avLst/>
          </a:prstGeom>
          <a:solidFill>
            <a:srgbClr val="F8FAFC"/>
          </a:solidFill>
          <a:ln/>
        </p:spPr>
      </p:sp>
      <p:sp>
        <p:nvSpPr>
          <p:cNvPr id="22" name="Shape 20"/>
          <p:cNvSpPr/>
          <p:nvPr/>
        </p:nvSpPr>
        <p:spPr>
          <a:xfrm>
            <a:off x="365760" y="2505456"/>
            <a:ext cx="45720" cy="402336"/>
          </a:xfrm>
          <a:prstGeom prst="rect">
            <a:avLst/>
          </a:prstGeom>
          <a:solidFill>
            <a:srgbClr val="10B981"/>
          </a:solidFill>
          <a:ln/>
        </p:spPr>
      </p:sp>
      <p:sp>
        <p:nvSpPr>
          <p:cNvPr id="23" name="Shape 21"/>
          <p:cNvSpPr/>
          <p:nvPr/>
        </p:nvSpPr>
        <p:spPr>
          <a:xfrm>
            <a:off x="502920" y="2542032"/>
            <a:ext cx="1097280" cy="329184"/>
          </a:xfrm>
          <a:prstGeom prst="roundRect">
            <a:avLst>
              <a:gd name="adj" fmla="val 11111"/>
            </a:avLst>
          </a:prstGeom>
          <a:solidFill>
            <a:srgbClr val="10B981"/>
          </a:solidFill>
          <a:ln/>
        </p:spPr>
      </p:sp>
      <p:sp>
        <p:nvSpPr>
          <p:cNvPr id="24" name="Text 22"/>
          <p:cNvSpPr/>
          <p:nvPr/>
        </p:nvSpPr>
        <p:spPr>
          <a:xfrm>
            <a:off x="502920" y="2542032"/>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Coding</a:t>
            </a:r>
            <a:endParaRPr lang="en-US" sz="700" dirty="0"/>
          </a:p>
        </p:txBody>
      </p:sp>
      <p:sp>
        <p:nvSpPr>
          <p:cNvPr id="25" name="Text 23"/>
          <p:cNvSpPr/>
          <p:nvPr/>
        </p:nvSpPr>
        <p:spPr>
          <a:xfrm>
            <a:off x="1783080" y="2505456"/>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/bmad-bmm-dev-story  Work on story 1-2</a:t>
            </a:r>
            <a:endParaRPr lang="en-US" sz="700" dirty="0"/>
          </a:p>
        </p:txBody>
      </p:sp>
      <p:sp>
        <p:nvSpPr>
          <p:cNvPr id="26" name="Text 24"/>
          <p:cNvSpPr/>
          <p:nvPr/>
        </p:nvSpPr>
        <p:spPr>
          <a:xfrm>
            <a:off x="1783080" y="2724912"/>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Dev agent loads the story, architecture, and project context automatically</a:t>
            </a:r>
            <a:endParaRPr lang="en-US" sz="650" dirty="0"/>
          </a:p>
        </p:txBody>
      </p:sp>
      <p:sp>
        <p:nvSpPr>
          <p:cNvPr id="27" name="Shape 25"/>
          <p:cNvSpPr/>
          <p:nvPr/>
        </p:nvSpPr>
        <p:spPr>
          <a:xfrm>
            <a:off x="365760" y="2935224"/>
            <a:ext cx="8412480" cy="402336"/>
          </a:xfrm>
          <a:prstGeom prst="rect">
            <a:avLst/>
          </a:prstGeom>
          <a:solidFill>
            <a:srgbClr val="FFFFFF"/>
          </a:solidFill>
          <a:ln/>
        </p:spPr>
      </p:sp>
      <p:sp>
        <p:nvSpPr>
          <p:cNvPr id="28" name="Shape 26"/>
          <p:cNvSpPr/>
          <p:nvPr/>
        </p:nvSpPr>
        <p:spPr>
          <a:xfrm>
            <a:off x="365760" y="2935224"/>
            <a:ext cx="45720" cy="402336"/>
          </a:xfrm>
          <a:prstGeom prst="rect">
            <a:avLst/>
          </a:prstGeom>
          <a:solidFill>
            <a:srgbClr val="F59E0B"/>
          </a:solidFill>
          <a:ln/>
        </p:spPr>
      </p:sp>
      <p:sp>
        <p:nvSpPr>
          <p:cNvPr id="29" name="Shape 27"/>
          <p:cNvSpPr/>
          <p:nvPr/>
        </p:nvSpPr>
        <p:spPr>
          <a:xfrm>
            <a:off x="502920" y="2971800"/>
            <a:ext cx="1097280" cy="329184"/>
          </a:xfrm>
          <a:prstGeom prst="roundRect">
            <a:avLst>
              <a:gd name="adj" fmla="val 11111"/>
            </a:avLst>
          </a:prstGeom>
          <a:solidFill>
            <a:srgbClr val="F59E0B"/>
          </a:solidFill>
          <a:ln/>
        </p:spPr>
      </p:sp>
      <p:sp>
        <p:nvSpPr>
          <p:cNvPr id="30" name="Text 28"/>
          <p:cNvSpPr/>
          <p:nvPr/>
        </p:nvSpPr>
        <p:spPr>
          <a:xfrm>
            <a:off x="502920" y="2971800"/>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Code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Review</a:t>
            </a:r>
            <a:endParaRPr lang="en-US" sz="700" dirty="0"/>
          </a:p>
        </p:txBody>
      </p:sp>
      <p:sp>
        <p:nvSpPr>
          <p:cNvPr id="31" name="Text 29"/>
          <p:cNvSpPr/>
          <p:nvPr/>
        </p:nvSpPr>
        <p:spPr>
          <a:xfrm>
            <a:off x="1783080" y="2935224"/>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/bmad-bmm-code-review  Run code review on Story 1-2.  The implementation is in a git worktree at &lt;path&gt;. The branch has N commits on top of origin/dev.  Story file: docs/stories/1-2.md</a:t>
            </a:r>
            <a:endParaRPr lang="en-US" sz="700" dirty="0"/>
          </a:p>
        </p:txBody>
      </p:sp>
      <p:sp>
        <p:nvSpPr>
          <p:cNvPr id="32" name="Text 30"/>
          <p:cNvSpPr/>
          <p:nvPr/>
        </p:nvSpPr>
        <p:spPr>
          <a:xfrm>
            <a:off x="1783080" y="3154680"/>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Give the reviewer exact location — worktree path, branch, changed files</a:t>
            </a:r>
            <a:endParaRPr lang="en-US" sz="650" dirty="0"/>
          </a:p>
        </p:txBody>
      </p:sp>
      <p:sp>
        <p:nvSpPr>
          <p:cNvPr id="33" name="Shape 31"/>
          <p:cNvSpPr/>
          <p:nvPr/>
        </p:nvSpPr>
        <p:spPr>
          <a:xfrm>
            <a:off x="365760" y="3364992"/>
            <a:ext cx="8412480" cy="402336"/>
          </a:xfrm>
          <a:prstGeom prst="rect">
            <a:avLst/>
          </a:prstGeom>
          <a:solidFill>
            <a:srgbClr val="F8FAFC"/>
          </a:solidFill>
          <a:ln/>
        </p:spPr>
      </p:sp>
      <p:sp>
        <p:nvSpPr>
          <p:cNvPr id="34" name="Shape 32"/>
          <p:cNvSpPr/>
          <p:nvPr/>
        </p:nvSpPr>
        <p:spPr>
          <a:xfrm>
            <a:off x="365760" y="3364992"/>
            <a:ext cx="45720" cy="402336"/>
          </a:xfrm>
          <a:prstGeom prst="rect">
            <a:avLst/>
          </a:prstGeom>
          <a:solidFill>
            <a:srgbClr val="EF4444"/>
          </a:solidFill>
          <a:ln/>
        </p:spPr>
      </p:sp>
      <p:sp>
        <p:nvSpPr>
          <p:cNvPr id="35" name="Shape 33"/>
          <p:cNvSpPr/>
          <p:nvPr/>
        </p:nvSpPr>
        <p:spPr>
          <a:xfrm>
            <a:off x="502920" y="3401568"/>
            <a:ext cx="1097280" cy="329184"/>
          </a:xfrm>
          <a:prstGeom prst="roundRect">
            <a:avLst>
              <a:gd name="adj" fmla="val 11111"/>
            </a:avLst>
          </a:prstGeom>
          <a:solidFill>
            <a:srgbClr val="EF4444"/>
          </a:solidFill>
          <a:ln/>
        </p:spPr>
      </p:sp>
      <p:sp>
        <p:nvSpPr>
          <p:cNvPr id="36" name="Text 34"/>
          <p:cNvSpPr/>
          <p:nvPr/>
        </p:nvSpPr>
        <p:spPr>
          <a:xfrm>
            <a:off x="502920" y="3401568"/>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Fix</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Issues</a:t>
            </a:r>
            <a:endParaRPr lang="en-US" sz="700" dirty="0"/>
          </a:p>
        </p:txBody>
      </p:sp>
      <p:sp>
        <p:nvSpPr>
          <p:cNvPr id="37" name="Text 35"/>
          <p:cNvSpPr/>
          <p:nvPr/>
        </p:nvSpPr>
        <p:spPr>
          <a:xfrm>
            <a:off x="1783080" y="3364992"/>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/bmad-bmm-dev-story  Fix the issues found in the code review: &lt;paste review findings or ask the review agent to write a prompt for the dev agent&gt;</a:t>
            </a:r>
            <a:endParaRPr lang="en-US" sz="700" dirty="0"/>
          </a:p>
        </p:txBody>
      </p:sp>
      <p:sp>
        <p:nvSpPr>
          <p:cNvPr id="38" name="Text 36"/>
          <p:cNvSpPr/>
          <p:nvPr/>
        </p:nvSpPr>
        <p:spPr>
          <a:xfrm>
            <a:off x="1783080" y="3584448"/>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Pass review results back to the dev agent — or ask the reviewer to write the fix prompt for you (see slide 72)</a:t>
            </a:r>
            <a:endParaRPr lang="en-US" sz="650" dirty="0"/>
          </a:p>
        </p:txBody>
      </p:sp>
      <p:sp>
        <p:nvSpPr>
          <p:cNvPr id="39" name="Shape 37"/>
          <p:cNvSpPr/>
          <p:nvPr/>
        </p:nvSpPr>
        <p:spPr>
          <a:xfrm>
            <a:off x="365760" y="3794760"/>
            <a:ext cx="8412480" cy="402336"/>
          </a:xfrm>
          <a:prstGeom prst="rect">
            <a:avLst/>
          </a:prstGeom>
          <a:solidFill>
            <a:srgbClr val="FFFFFF"/>
          </a:solidFill>
          <a:ln/>
        </p:spPr>
      </p:sp>
      <p:sp>
        <p:nvSpPr>
          <p:cNvPr id="40" name="Shape 38"/>
          <p:cNvSpPr/>
          <p:nvPr/>
        </p:nvSpPr>
        <p:spPr>
          <a:xfrm>
            <a:off x="365760" y="3794760"/>
            <a:ext cx="45720" cy="402336"/>
          </a:xfrm>
          <a:prstGeom prst="rect">
            <a:avLst/>
          </a:prstGeom>
          <a:solidFill>
            <a:srgbClr val="EC4899"/>
          </a:solidFill>
          <a:ln/>
        </p:spPr>
      </p:sp>
      <p:sp>
        <p:nvSpPr>
          <p:cNvPr id="41" name="Shape 39"/>
          <p:cNvSpPr/>
          <p:nvPr/>
        </p:nvSpPr>
        <p:spPr>
          <a:xfrm>
            <a:off x="502920" y="3831336"/>
            <a:ext cx="1097280" cy="329184"/>
          </a:xfrm>
          <a:prstGeom prst="roundRect">
            <a:avLst>
              <a:gd name="adj" fmla="val 11111"/>
            </a:avLst>
          </a:prstGeom>
          <a:solidFill>
            <a:srgbClr val="EC4899"/>
          </a:solidFill>
          <a:ln/>
        </p:spPr>
      </p:sp>
      <p:sp>
        <p:nvSpPr>
          <p:cNvPr id="42" name="Text 40"/>
          <p:cNvSpPr/>
          <p:nvPr/>
        </p:nvSpPr>
        <p:spPr>
          <a:xfrm>
            <a:off x="502920" y="3831336"/>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Verification</a:t>
            </a:r>
            <a:endParaRPr lang="en-US" sz="700" dirty="0"/>
          </a:p>
        </p:txBody>
      </p:sp>
      <p:sp>
        <p:nvSpPr>
          <p:cNvPr id="43" name="Text 41"/>
          <p:cNvSpPr/>
          <p:nvPr/>
        </p:nvSpPr>
        <p:spPr>
          <a:xfrm>
            <a:off x="1783080" y="3794760"/>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/bmad-review-edge-case-hunter  Review story 1-2 implementation for edge cases and failure scenarios</a:t>
            </a:r>
            <a:endParaRPr lang="en-US" sz="700" dirty="0"/>
          </a:p>
        </p:txBody>
      </p:sp>
      <p:sp>
        <p:nvSpPr>
          <p:cNvPr id="44" name="Text 42"/>
          <p:cNvSpPr/>
          <p:nvPr/>
        </p:nvSpPr>
        <p:spPr>
          <a:xfrm>
            <a:off x="1783080" y="4014216"/>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Finds boundary conditions, missing error handling, untested paths</a:t>
            </a:r>
            <a:endParaRPr lang="en-US" sz="650" dirty="0"/>
          </a:p>
        </p:txBody>
      </p:sp>
      <p:sp>
        <p:nvSpPr>
          <p:cNvPr id="45" name="Shape 43"/>
          <p:cNvSpPr/>
          <p:nvPr/>
        </p:nvSpPr>
        <p:spPr>
          <a:xfrm>
            <a:off x="365760" y="4224528"/>
            <a:ext cx="8412480" cy="402336"/>
          </a:xfrm>
          <a:prstGeom prst="rect">
            <a:avLst/>
          </a:prstGeom>
          <a:solidFill>
            <a:srgbClr val="F8FAFC"/>
          </a:solidFill>
          <a:ln/>
        </p:spPr>
      </p:sp>
      <p:sp>
        <p:nvSpPr>
          <p:cNvPr id="46" name="Shape 44"/>
          <p:cNvSpPr/>
          <p:nvPr/>
        </p:nvSpPr>
        <p:spPr>
          <a:xfrm>
            <a:off x="365760" y="4224528"/>
            <a:ext cx="45720" cy="402336"/>
          </a:xfrm>
          <a:prstGeom prst="rect">
            <a:avLst/>
          </a:prstGeom>
          <a:solidFill>
            <a:srgbClr val="0EA5E9"/>
          </a:solidFill>
          <a:ln/>
        </p:spPr>
      </p:sp>
      <p:sp>
        <p:nvSpPr>
          <p:cNvPr id="47" name="Shape 45"/>
          <p:cNvSpPr/>
          <p:nvPr/>
        </p:nvSpPr>
        <p:spPr>
          <a:xfrm>
            <a:off x="502920" y="4261104"/>
            <a:ext cx="1097280" cy="329184"/>
          </a:xfrm>
          <a:prstGeom prst="roundRect">
            <a:avLst>
              <a:gd name="adj" fmla="val 11111"/>
            </a:avLst>
          </a:prstGeom>
          <a:solidFill>
            <a:srgbClr val="0EA5E9"/>
          </a:solidFill>
          <a:ln/>
        </p:spPr>
      </p:sp>
      <p:sp>
        <p:nvSpPr>
          <p:cNvPr id="48" name="Text 46"/>
          <p:cNvSpPr/>
          <p:nvPr/>
        </p:nvSpPr>
        <p:spPr>
          <a:xfrm>
            <a:off x="502920" y="426110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Testing</a:t>
            </a:r>
            <a:endParaRPr lang="en-US" sz="700" dirty="0"/>
          </a:p>
        </p:txBody>
      </p:sp>
      <p:sp>
        <p:nvSpPr>
          <p:cNvPr id="49" name="Text 47"/>
          <p:cNvSpPr/>
          <p:nvPr/>
        </p:nvSpPr>
        <p:spPr>
          <a:xfrm>
            <a:off x="1783080" y="4224528"/>
            <a:ext cx="6858000" cy="237744"/>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/bmad-bmm-code-review  Focus on test coverage for story 1-2.  Are all AC covered by tests? Any missing integration tests?</a:t>
            </a:r>
            <a:endParaRPr lang="en-US" sz="700" dirty="0"/>
          </a:p>
        </p:txBody>
      </p:sp>
      <p:sp>
        <p:nvSpPr>
          <p:cNvPr id="50" name="Text 48"/>
          <p:cNvSpPr/>
          <p:nvPr/>
        </p:nvSpPr>
        <p:spPr>
          <a:xfrm>
            <a:off x="1783080" y="4443984"/>
            <a:ext cx="6858000" cy="164592"/>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QA agent validates test completeness against story acceptance criteria</a:t>
            </a:r>
            <a:endParaRPr lang="en-US" sz="650" dirty="0"/>
          </a:p>
        </p:txBody>
      </p:sp>
      <p:sp>
        <p:nvSpPr>
          <p:cNvPr id="51" name="Shape 49"/>
          <p:cNvSpPr/>
          <p:nvPr/>
        </p:nvSpPr>
        <p:spPr>
          <a:xfrm>
            <a:off x="365760" y="4663440"/>
            <a:ext cx="8412480" cy="365760"/>
          </a:xfrm>
          <a:prstGeom prst="rect">
            <a:avLst/>
          </a:prstGeom>
          <a:solidFill>
            <a:srgbClr val="0F1B2D"/>
          </a:solidFill>
          <a:ln/>
        </p:spPr>
      </p:sp>
      <p:sp>
        <p:nvSpPr>
          <p:cNvPr id="52" name="Text 50"/>
          <p:cNvSpPr/>
          <p:nvPr/>
        </p:nvSpPr>
        <p:spPr>
          <a:xfrm>
            <a:off x="548640" y="4663440"/>
            <a:ext cx="8046720" cy="365760"/>
          </a:xfrm>
          <a:prstGeom prst="rect">
            <a:avLst/>
          </a:prstGeom>
          <a:noFill/>
          <a:ln/>
        </p:spPr>
        <p:txBody>
          <a:bodyPr wrap="square" lIns="0" tIns="0" rIns="0" bIns="0" rtlCol="0" anchor="ctr"/>
          <a:lstStyle/>
          <a:p>
            <a:pPr indent="0" marL="0">
              <a:buNone/>
            </a:pPr>
            <a:r>
              <a:rPr lang="en-US" sz="900" dirty="0">
                <a:solidFill>
                  <a:srgbClr val="14B8A6"/>
                </a:solidFill>
                <a:latin typeface="Calibri" pitchFamily="34" charset="0"/>
                <a:ea typeface="Calibri" pitchFamily="34" charset="-122"/>
                <a:cs typeface="Calibri" pitchFamily="34" charset="-120"/>
              </a:rPr>
              <a:t>✨  Tip: Be specific in your prompts. Tell the agent WHERE the code is (worktree, branch), WHAT the story is, and WHAT you expect.</a:t>
            </a:r>
            <a:endParaRPr lang="en-US" sz="900" dirty="0"/>
          </a:p>
        </p:txBody>
      </p:sp>
      <p:sp>
        <p:nvSpPr>
          <p:cNvPr id="53" name="Text 5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74 / 93</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Testing Phase Prompt Loop</a:t>
            </a:r>
            <a:endParaRPr lang="en-US" sz="2600" dirty="0"/>
          </a:p>
        </p:txBody>
      </p:sp>
      <p:sp>
        <p:nvSpPr>
          <p:cNvPr id="5" name="Text 3"/>
          <p:cNvSpPr/>
          <p:nvPr/>
        </p:nvSpPr>
        <p:spPr>
          <a:xfrm>
            <a:off x="457200" y="914400"/>
            <a:ext cx="822960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From risk assessment to test execution — automated and manual coverage</a:t>
            </a:r>
            <a:endParaRPr lang="en-US" sz="1100" dirty="0"/>
          </a:p>
        </p:txBody>
      </p:sp>
      <p:sp>
        <p:nvSpPr>
          <p:cNvPr id="6" name="Shape 4"/>
          <p:cNvSpPr/>
          <p:nvPr/>
        </p:nvSpPr>
        <p:spPr>
          <a:xfrm>
            <a:off x="365760" y="1280160"/>
            <a:ext cx="8412480" cy="320040"/>
          </a:xfrm>
          <a:prstGeom prst="rect">
            <a:avLst/>
          </a:prstGeom>
          <a:solidFill>
            <a:srgbClr val="0F1B2D"/>
          </a:solidFill>
          <a:ln/>
        </p:spPr>
      </p:sp>
      <p:sp>
        <p:nvSpPr>
          <p:cNvPr id="7" name="Text 5"/>
          <p:cNvSpPr/>
          <p:nvPr/>
        </p:nvSpPr>
        <p:spPr>
          <a:xfrm>
            <a:off x="457200" y="1280160"/>
            <a:ext cx="128016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p>
        </p:txBody>
      </p:sp>
      <p:sp>
        <p:nvSpPr>
          <p:cNvPr id="8" name="Text 6"/>
          <p:cNvSpPr/>
          <p:nvPr/>
        </p:nvSpPr>
        <p:spPr>
          <a:xfrm>
            <a:off x="1783080" y="1280160"/>
            <a:ext cx="6858000" cy="32004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Sample Prompt</a:t>
            </a:r>
            <a:endParaRPr lang="en-US" sz="900" dirty="0"/>
          </a:p>
        </p:txBody>
      </p:sp>
      <p:sp>
        <p:nvSpPr>
          <p:cNvPr id="9" name="Shape 7"/>
          <p:cNvSpPr/>
          <p:nvPr/>
        </p:nvSpPr>
        <p:spPr>
          <a:xfrm>
            <a:off x="365760" y="1645920"/>
            <a:ext cx="8412480" cy="438912"/>
          </a:xfrm>
          <a:prstGeom prst="rect">
            <a:avLst/>
          </a:prstGeom>
          <a:solidFill>
            <a:srgbClr val="F8FAFC"/>
          </a:solidFill>
          <a:ln/>
        </p:spPr>
      </p:sp>
      <p:sp>
        <p:nvSpPr>
          <p:cNvPr id="10" name="Shape 8"/>
          <p:cNvSpPr/>
          <p:nvPr/>
        </p:nvSpPr>
        <p:spPr>
          <a:xfrm>
            <a:off x="365760" y="1645920"/>
            <a:ext cx="45720" cy="438912"/>
          </a:xfrm>
          <a:prstGeom prst="rect">
            <a:avLst/>
          </a:prstGeom>
          <a:solidFill>
            <a:srgbClr val="EF4444"/>
          </a:solidFill>
          <a:ln/>
        </p:spPr>
      </p:sp>
      <p:sp>
        <p:nvSpPr>
          <p:cNvPr id="11" name="Shape 9"/>
          <p:cNvSpPr/>
          <p:nvPr/>
        </p:nvSpPr>
        <p:spPr>
          <a:xfrm>
            <a:off x="502920" y="1700784"/>
            <a:ext cx="1097280" cy="329184"/>
          </a:xfrm>
          <a:prstGeom prst="roundRect">
            <a:avLst>
              <a:gd name="adj" fmla="val 11111"/>
            </a:avLst>
          </a:prstGeom>
          <a:solidFill>
            <a:srgbClr val="EF4444"/>
          </a:solidFill>
          <a:ln/>
        </p:spPr>
      </p:sp>
      <p:sp>
        <p:nvSpPr>
          <p:cNvPr id="12" name="Text 10"/>
          <p:cNvSpPr/>
          <p:nvPr/>
        </p:nvSpPr>
        <p:spPr>
          <a:xfrm>
            <a:off x="502920" y="170078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Risk</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Assessment</a:t>
            </a:r>
            <a:endParaRPr lang="en-US" sz="700" dirty="0"/>
          </a:p>
        </p:txBody>
      </p:sp>
      <p:sp>
        <p:nvSpPr>
          <p:cNvPr id="13" name="Text 11"/>
          <p:cNvSpPr/>
          <p:nvPr/>
        </p:nvSpPr>
        <p:spPr>
          <a:xfrm>
            <a:off x="1783080" y="1645920"/>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*risk  Assess testing risks for Epic 1.  Prioritize test areas by risk level (P0–P3). Identify what MUST be tested manually vs. what can be automated.</a:t>
            </a:r>
            <a:endParaRPr lang="en-US" sz="700" dirty="0"/>
          </a:p>
        </p:txBody>
      </p:sp>
      <p:sp>
        <p:nvSpPr>
          <p:cNvPr id="14" name="Text 12"/>
          <p:cNvSpPr/>
          <p:nvPr/>
        </p:nvSpPr>
        <p:spPr>
          <a:xfrm>
            <a:off x="1783080" y="1892808"/>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TEA agent (Murat) produces a risk-based test strategy — focuses effort where failures hurt most</a:t>
            </a:r>
            <a:endParaRPr lang="en-US" sz="650" dirty="0"/>
          </a:p>
        </p:txBody>
      </p:sp>
      <p:sp>
        <p:nvSpPr>
          <p:cNvPr id="15" name="Shape 13"/>
          <p:cNvSpPr/>
          <p:nvPr/>
        </p:nvSpPr>
        <p:spPr>
          <a:xfrm>
            <a:off x="365760" y="2121408"/>
            <a:ext cx="8412480" cy="438912"/>
          </a:xfrm>
          <a:prstGeom prst="rect">
            <a:avLst/>
          </a:prstGeom>
          <a:solidFill>
            <a:srgbClr val="FFFFFF"/>
          </a:solidFill>
          <a:ln/>
        </p:spPr>
      </p:sp>
      <p:sp>
        <p:nvSpPr>
          <p:cNvPr id="16" name="Shape 14"/>
          <p:cNvSpPr/>
          <p:nvPr/>
        </p:nvSpPr>
        <p:spPr>
          <a:xfrm>
            <a:off x="365760" y="2121408"/>
            <a:ext cx="45720" cy="438912"/>
          </a:xfrm>
          <a:prstGeom prst="rect">
            <a:avLst/>
          </a:prstGeom>
          <a:solidFill>
            <a:srgbClr val="8B5CF6"/>
          </a:solidFill>
          <a:ln/>
        </p:spPr>
      </p:sp>
      <p:sp>
        <p:nvSpPr>
          <p:cNvPr id="17" name="Shape 15"/>
          <p:cNvSpPr/>
          <p:nvPr/>
        </p:nvSpPr>
        <p:spPr>
          <a:xfrm>
            <a:off x="502920" y="2176272"/>
            <a:ext cx="1097280" cy="329184"/>
          </a:xfrm>
          <a:prstGeom prst="roundRect">
            <a:avLst>
              <a:gd name="adj" fmla="val 11111"/>
            </a:avLst>
          </a:prstGeom>
          <a:solidFill>
            <a:srgbClr val="8B5CF6"/>
          </a:solidFill>
          <a:ln/>
        </p:spPr>
      </p:sp>
      <p:sp>
        <p:nvSpPr>
          <p:cNvPr id="18" name="Text 16"/>
          <p:cNvSpPr/>
          <p:nvPr/>
        </p:nvSpPr>
        <p:spPr>
          <a:xfrm>
            <a:off x="502920" y="2176272"/>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Test</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Design</a:t>
            </a:r>
            <a:endParaRPr lang="en-US" sz="700" dirty="0"/>
          </a:p>
        </p:txBody>
      </p:sp>
      <p:sp>
        <p:nvSpPr>
          <p:cNvPr id="19" name="Text 17"/>
          <p:cNvSpPr/>
          <p:nvPr/>
        </p:nvSpPr>
        <p:spPr>
          <a:xfrm>
            <a:off x="1783080" y="2121408"/>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*design  Design test cases for Story 1-2.  Derive from AC and architecture. Include happy path, error cases, and boundary conditions.</a:t>
            </a:r>
            <a:endParaRPr lang="en-US" sz="700" dirty="0"/>
          </a:p>
        </p:txBody>
      </p:sp>
      <p:sp>
        <p:nvSpPr>
          <p:cNvPr id="20" name="Text 18"/>
          <p:cNvSpPr/>
          <p:nvPr/>
        </p:nvSpPr>
        <p:spPr>
          <a:xfrm>
            <a:off x="1783080" y="2368296"/>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TEA generates structured test cases with expected results, linked to specific AC items</a:t>
            </a:r>
            <a:endParaRPr lang="en-US" sz="650" dirty="0"/>
          </a:p>
        </p:txBody>
      </p:sp>
      <p:sp>
        <p:nvSpPr>
          <p:cNvPr id="21" name="Shape 19"/>
          <p:cNvSpPr/>
          <p:nvPr/>
        </p:nvSpPr>
        <p:spPr>
          <a:xfrm>
            <a:off x="365760" y="2596896"/>
            <a:ext cx="8412480" cy="438912"/>
          </a:xfrm>
          <a:prstGeom prst="rect">
            <a:avLst/>
          </a:prstGeom>
          <a:solidFill>
            <a:srgbClr val="F8FAFC"/>
          </a:solidFill>
          <a:ln/>
        </p:spPr>
      </p:sp>
      <p:sp>
        <p:nvSpPr>
          <p:cNvPr id="22" name="Shape 20"/>
          <p:cNvSpPr/>
          <p:nvPr/>
        </p:nvSpPr>
        <p:spPr>
          <a:xfrm>
            <a:off x="365760" y="2596896"/>
            <a:ext cx="45720" cy="438912"/>
          </a:xfrm>
          <a:prstGeom prst="rect">
            <a:avLst/>
          </a:prstGeom>
          <a:solidFill>
            <a:srgbClr val="10B981"/>
          </a:solidFill>
          <a:ln/>
        </p:spPr>
      </p:sp>
      <p:sp>
        <p:nvSpPr>
          <p:cNvPr id="23" name="Shape 21"/>
          <p:cNvSpPr/>
          <p:nvPr/>
        </p:nvSpPr>
        <p:spPr>
          <a:xfrm>
            <a:off x="502920" y="2651760"/>
            <a:ext cx="1097280" cy="329184"/>
          </a:xfrm>
          <a:prstGeom prst="roundRect">
            <a:avLst>
              <a:gd name="adj" fmla="val 11111"/>
            </a:avLst>
          </a:prstGeom>
          <a:solidFill>
            <a:srgbClr val="10B981"/>
          </a:solidFill>
          <a:ln/>
        </p:spPr>
      </p:sp>
      <p:sp>
        <p:nvSpPr>
          <p:cNvPr id="24" name="Text 22"/>
          <p:cNvSpPr/>
          <p:nvPr/>
        </p:nvSpPr>
        <p:spPr>
          <a:xfrm>
            <a:off x="502920" y="2651760"/>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Automated</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Tests</a:t>
            </a:r>
            <a:endParaRPr lang="en-US" sz="700" dirty="0"/>
          </a:p>
        </p:txBody>
      </p:sp>
      <p:sp>
        <p:nvSpPr>
          <p:cNvPr id="25" name="Text 23"/>
          <p:cNvSpPr/>
          <p:nvPr/>
        </p:nvSpPr>
        <p:spPr>
          <a:xfrm>
            <a:off x="1783080" y="2596896"/>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/bmad-bmm-dev-story  Generate automated tests for Story 1-2: unit tests (Jest), API tests (status codes + error handling), and E2E tests (Playwright).</a:t>
            </a:r>
            <a:endParaRPr lang="en-US" sz="700" dirty="0"/>
          </a:p>
        </p:txBody>
      </p:sp>
      <p:sp>
        <p:nvSpPr>
          <p:cNvPr id="26" name="Text 24"/>
          <p:cNvSpPr/>
          <p:nvPr/>
        </p:nvSpPr>
        <p:spPr>
          <a:xfrm>
            <a:off x="1783080" y="2843784"/>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Dev/Quinn agent generates tests from AC — these go into CI and run on every commit</a:t>
            </a:r>
            <a:endParaRPr lang="en-US" sz="650" dirty="0"/>
          </a:p>
        </p:txBody>
      </p:sp>
      <p:sp>
        <p:nvSpPr>
          <p:cNvPr id="27" name="Shape 25"/>
          <p:cNvSpPr/>
          <p:nvPr/>
        </p:nvSpPr>
        <p:spPr>
          <a:xfrm>
            <a:off x="365760" y="3072384"/>
            <a:ext cx="8412480" cy="438912"/>
          </a:xfrm>
          <a:prstGeom prst="rect">
            <a:avLst/>
          </a:prstGeom>
          <a:solidFill>
            <a:srgbClr val="FFFFFF"/>
          </a:solidFill>
          <a:ln/>
        </p:spPr>
      </p:sp>
      <p:sp>
        <p:nvSpPr>
          <p:cNvPr id="28" name="Shape 26"/>
          <p:cNvSpPr/>
          <p:nvPr/>
        </p:nvSpPr>
        <p:spPr>
          <a:xfrm>
            <a:off x="365760" y="3072384"/>
            <a:ext cx="45720" cy="438912"/>
          </a:xfrm>
          <a:prstGeom prst="rect">
            <a:avLst/>
          </a:prstGeom>
          <a:solidFill>
            <a:srgbClr val="F59E0B"/>
          </a:solidFill>
          <a:ln/>
        </p:spPr>
      </p:sp>
      <p:sp>
        <p:nvSpPr>
          <p:cNvPr id="29" name="Shape 27"/>
          <p:cNvSpPr/>
          <p:nvPr/>
        </p:nvSpPr>
        <p:spPr>
          <a:xfrm>
            <a:off x="502920" y="3127248"/>
            <a:ext cx="1097280" cy="329184"/>
          </a:xfrm>
          <a:prstGeom prst="roundRect">
            <a:avLst>
              <a:gd name="adj" fmla="val 11111"/>
            </a:avLst>
          </a:prstGeom>
          <a:solidFill>
            <a:srgbClr val="F59E0B"/>
          </a:solidFill>
          <a:ln/>
        </p:spPr>
      </p:sp>
      <p:sp>
        <p:nvSpPr>
          <p:cNvPr id="30" name="Text 28"/>
          <p:cNvSpPr/>
          <p:nvPr/>
        </p:nvSpPr>
        <p:spPr>
          <a:xfrm>
            <a:off x="502920" y="3127248"/>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Manual</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Test Plan</a:t>
            </a:r>
            <a:endParaRPr lang="en-US" sz="700" dirty="0"/>
          </a:p>
        </p:txBody>
      </p:sp>
      <p:sp>
        <p:nvSpPr>
          <p:cNvPr id="31" name="Text 29"/>
          <p:cNvSpPr/>
          <p:nvPr/>
        </p:nvSpPr>
        <p:spPr>
          <a:xfrm>
            <a:off x="1783080" y="3072384"/>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*design  Create a manual test plan for Epic 1 based on the risk assessment.  Focus on UX flows, cross-browser, and scenarios that can’t be automated.</a:t>
            </a:r>
            <a:endParaRPr lang="en-US" sz="700" dirty="0"/>
          </a:p>
        </p:txBody>
      </p:sp>
      <p:sp>
        <p:nvSpPr>
          <p:cNvPr id="32" name="Text 30"/>
          <p:cNvSpPr/>
          <p:nvPr/>
        </p:nvSpPr>
        <p:spPr>
          <a:xfrm>
            <a:off x="1783080" y="3319272"/>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Manual tests cover what automation can’t: visual correctness, usability, exploratory testing</a:t>
            </a:r>
            <a:endParaRPr lang="en-US" sz="650" dirty="0"/>
          </a:p>
        </p:txBody>
      </p:sp>
      <p:sp>
        <p:nvSpPr>
          <p:cNvPr id="33" name="Shape 31"/>
          <p:cNvSpPr/>
          <p:nvPr/>
        </p:nvSpPr>
        <p:spPr>
          <a:xfrm>
            <a:off x="365760" y="3547872"/>
            <a:ext cx="8412480" cy="438912"/>
          </a:xfrm>
          <a:prstGeom prst="rect">
            <a:avLst/>
          </a:prstGeom>
          <a:solidFill>
            <a:srgbClr val="F8FAFC"/>
          </a:solidFill>
          <a:ln/>
        </p:spPr>
      </p:sp>
      <p:sp>
        <p:nvSpPr>
          <p:cNvPr id="34" name="Shape 32"/>
          <p:cNvSpPr/>
          <p:nvPr/>
        </p:nvSpPr>
        <p:spPr>
          <a:xfrm>
            <a:off x="365760" y="3547872"/>
            <a:ext cx="45720" cy="438912"/>
          </a:xfrm>
          <a:prstGeom prst="rect">
            <a:avLst/>
          </a:prstGeom>
          <a:solidFill>
            <a:srgbClr val="3B82F6"/>
          </a:solidFill>
          <a:ln/>
        </p:spPr>
      </p:sp>
      <p:sp>
        <p:nvSpPr>
          <p:cNvPr id="35" name="Shape 33"/>
          <p:cNvSpPr/>
          <p:nvPr/>
        </p:nvSpPr>
        <p:spPr>
          <a:xfrm>
            <a:off x="502920" y="3602736"/>
            <a:ext cx="1097280" cy="329184"/>
          </a:xfrm>
          <a:prstGeom prst="roundRect">
            <a:avLst>
              <a:gd name="adj" fmla="val 11111"/>
            </a:avLst>
          </a:prstGeom>
          <a:solidFill>
            <a:srgbClr val="3B82F6"/>
          </a:solidFill>
          <a:ln/>
        </p:spPr>
      </p:sp>
      <p:sp>
        <p:nvSpPr>
          <p:cNvPr id="36" name="Text 34"/>
          <p:cNvSpPr/>
          <p:nvPr/>
        </p:nvSpPr>
        <p:spPr>
          <a:xfrm>
            <a:off x="502920" y="3602736"/>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Execute &amp;</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Verify</a:t>
            </a:r>
            <a:endParaRPr lang="en-US" sz="700" dirty="0"/>
          </a:p>
        </p:txBody>
      </p:sp>
      <p:sp>
        <p:nvSpPr>
          <p:cNvPr id="37" name="Text 35"/>
          <p:cNvSpPr/>
          <p:nvPr/>
        </p:nvSpPr>
        <p:spPr>
          <a:xfrm>
            <a:off x="1783080" y="3547872"/>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/bmad-bmm-code-review  Verify test coverage for Story 1-2.  Are all P0 and P1 risks covered? Are all AC mapped to at least one test?</a:t>
            </a:r>
            <a:endParaRPr lang="en-US" sz="700" dirty="0"/>
          </a:p>
        </p:txBody>
      </p:sp>
      <p:sp>
        <p:nvSpPr>
          <p:cNvPr id="38" name="Text 36"/>
          <p:cNvSpPr/>
          <p:nvPr/>
        </p:nvSpPr>
        <p:spPr>
          <a:xfrm>
            <a:off x="1783080" y="3794760"/>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QA agent checks traceability: every AC → test case → result.  Gaps are flagged.</a:t>
            </a:r>
            <a:endParaRPr lang="en-US" sz="650" dirty="0"/>
          </a:p>
        </p:txBody>
      </p:sp>
      <p:sp>
        <p:nvSpPr>
          <p:cNvPr id="39" name="Shape 37"/>
          <p:cNvSpPr/>
          <p:nvPr/>
        </p:nvSpPr>
        <p:spPr>
          <a:xfrm>
            <a:off x="365760" y="4023360"/>
            <a:ext cx="8412480" cy="438912"/>
          </a:xfrm>
          <a:prstGeom prst="rect">
            <a:avLst/>
          </a:prstGeom>
          <a:solidFill>
            <a:srgbClr val="FFFFFF"/>
          </a:solidFill>
          <a:ln/>
        </p:spPr>
      </p:sp>
      <p:sp>
        <p:nvSpPr>
          <p:cNvPr id="40" name="Shape 38"/>
          <p:cNvSpPr/>
          <p:nvPr/>
        </p:nvSpPr>
        <p:spPr>
          <a:xfrm>
            <a:off x="365760" y="4023360"/>
            <a:ext cx="45720" cy="438912"/>
          </a:xfrm>
          <a:prstGeom prst="rect">
            <a:avLst/>
          </a:prstGeom>
          <a:solidFill>
            <a:srgbClr val="EC4899"/>
          </a:solidFill>
          <a:ln/>
        </p:spPr>
      </p:sp>
      <p:sp>
        <p:nvSpPr>
          <p:cNvPr id="41" name="Shape 39"/>
          <p:cNvSpPr/>
          <p:nvPr/>
        </p:nvSpPr>
        <p:spPr>
          <a:xfrm>
            <a:off x="502920" y="4078224"/>
            <a:ext cx="1097280" cy="329184"/>
          </a:xfrm>
          <a:prstGeom prst="roundRect">
            <a:avLst>
              <a:gd name="adj" fmla="val 11111"/>
            </a:avLst>
          </a:prstGeom>
          <a:solidFill>
            <a:srgbClr val="EC4899"/>
          </a:solidFill>
          <a:ln/>
        </p:spPr>
      </p:sp>
      <p:sp>
        <p:nvSpPr>
          <p:cNvPr id="42" name="Text 40"/>
          <p:cNvSpPr/>
          <p:nvPr/>
        </p:nvSpPr>
        <p:spPr>
          <a:xfrm>
            <a:off x="502920" y="4078224"/>
            <a:ext cx="1097280" cy="329184"/>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Test</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Review</a:t>
            </a:r>
            <a:endParaRPr lang="en-US" sz="700" dirty="0"/>
          </a:p>
        </p:txBody>
      </p:sp>
      <p:sp>
        <p:nvSpPr>
          <p:cNvPr id="43" name="Text 41"/>
          <p:cNvSpPr/>
          <p:nvPr/>
        </p:nvSpPr>
        <p:spPr>
          <a:xfrm>
            <a:off x="1783080" y="4023360"/>
            <a:ext cx="6858000" cy="256032"/>
          </a:xfrm>
          <a:prstGeom prst="rect">
            <a:avLst/>
          </a:prstGeom>
          <a:noFill/>
          <a:ln/>
        </p:spPr>
        <p:txBody>
          <a:bodyPr wrap="square" lIns="0" tIns="0" rIns="0" bIns="0" rtlCol="0" anchor="ctr"/>
          <a:lstStyle/>
          <a:p>
            <a:pPr indent="0" marL="0">
              <a:buNone/>
            </a:pPr>
            <a:r>
              <a:rPr lang="en-US" sz="700" dirty="0">
                <a:solidFill>
                  <a:srgbClr val="1E293B"/>
                </a:solidFill>
                <a:latin typeface="Consolas" pitchFamily="34" charset="0"/>
                <a:ea typeface="Consolas" pitchFamily="34" charset="-122"/>
                <a:cs typeface="Consolas" pitchFamily="34" charset="-120"/>
              </a:rPr>
              <a:t>*review  Review the test suite for Epic 1.  Check: coverage gaps, flaky tests, missing edge cases, manual test results against risk assessment.</a:t>
            </a:r>
            <a:endParaRPr lang="en-US" sz="700" dirty="0"/>
          </a:p>
        </p:txBody>
      </p:sp>
      <p:sp>
        <p:nvSpPr>
          <p:cNvPr id="44" name="Text 42"/>
          <p:cNvSpPr/>
          <p:nvPr/>
        </p:nvSpPr>
        <p:spPr>
          <a:xfrm>
            <a:off x="1783080" y="4270248"/>
            <a:ext cx="6858000" cy="182880"/>
          </a:xfrm>
          <a:prstGeom prst="rect">
            <a:avLst/>
          </a:prstGeom>
          <a:noFill/>
          <a:ln/>
        </p:spPr>
        <p:txBody>
          <a:bodyPr wrap="square" lIns="0" tIns="0" rIns="0" bIns="0"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TEA reviews the full test picture — automated + manual — and signs off or flags gaps</a:t>
            </a:r>
            <a:endParaRPr lang="en-US" sz="650" dirty="0"/>
          </a:p>
        </p:txBody>
      </p:sp>
      <p:sp>
        <p:nvSpPr>
          <p:cNvPr id="45" name="Shape 43"/>
          <p:cNvSpPr/>
          <p:nvPr/>
        </p:nvSpPr>
        <p:spPr>
          <a:xfrm>
            <a:off x="365760" y="4572000"/>
            <a:ext cx="8412480" cy="457200"/>
          </a:xfrm>
          <a:prstGeom prst="rect">
            <a:avLst/>
          </a:prstGeom>
          <a:solidFill>
            <a:srgbClr val="0F1B2D"/>
          </a:solidFill>
          <a:ln/>
        </p:spPr>
      </p:sp>
      <p:sp>
        <p:nvSpPr>
          <p:cNvPr id="46" name="Text 44"/>
          <p:cNvSpPr/>
          <p:nvPr/>
        </p:nvSpPr>
        <p:spPr>
          <a:xfrm>
            <a:off x="548640" y="4572000"/>
            <a:ext cx="8046720" cy="457200"/>
          </a:xfrm>
          <a:prstGeom prst="rect">
            <a:avLst/>
          </a:prstGeom>
          <a:noFill/>
          <a:ln/>
        </p:spPr>
        <p:txBody>
          <a:bodyPr wrap="square" lIns="0" tIns="0" rIns="0" bIns="0" rtlCol="0" anchor="ctr"/>
          <a:lstStyle/>
          <a:p>
            <a:pPr indent="0" marL="0">
              <a:buNone/>
            </a:pPr>
            <a:r>
              <a:rPr lang="en-US" sz="850" dirty="0">
                <a:solidFill>
                  <a:srgbClr val="14B8A6"/>
                </a:solidFill>
                <a:latin typeface="Calibri" pitchFamily="34" charset="0"/>
                <a:ea typeface="Calibri" pitchFamily="34" charset="-122"/>
                <a:cs typeface="Calibri" pitchFamily="34" charset="-120"/>
              </a:rPr>
              <a:t>✨  *risk → *design → automate → manual plan → verify → *review.   TEA (Murat) handles strategy. Quinn handles execution. Humans handle judgment.</a:t>
            </a:r>
            <a:endParaRPr lang="en-US" sz="850" dirty="0"/>
          </a:p>
        </p:txBody>
      </p:sp>
      <p:sp>
        <p:nvSpPr>
          <p:cNvPr id="47" name="Text 45"/>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75 / 93</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Common Mistakes to Avoid</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Patterns we’ve seen that lead to problems — and how to fix them</a:t>
            </a:r>
            <a:endParaRPr lang="en-US" sz="1200" dirty="0"/>
          </a:p>
        </p:txBody>
      </p:sp>
      <p:sp>
        <p:nvSpPr>
          <p:cNvPr id="5" name="Shape 3"/>
          <p:cNvSpPr/>
          <p:nvPr/>
        </p:nvSpPr>
        <p:spPr>
          <a:xfrm>
            <a:off x="457200" y="1234440"/>
            <a:ext cx="8229600" cy="429768"/>
          </a:xfrm>
          <a:prstGeom prst="rect">
            <a:avLst/>
          </a:prstGeom>
          <a:solidFill>
            <a:srgbClr val="1A2744"/>
          </a:solidFill>
          <a:ln/>
        </p:spPr>
      </p:sp>
      <p:sp>
        <p:nvSpPr>
          <p:cNvPr id="6" name="Shape 4"/>
          <p:cNvSpPr/>
          <p:nvPr/>
        </p:nvSpPr>
        <p:spPr>
          <a:xfrm>
            <a:off x="457200" y="1234440"/>
            <a:ext cx="45720" cy="429768"/>
          </a:xfrm>
          <a:prstGeom prst="rect">
            <a:avLst/>
          </a:prstGeom>
          <a:solidFill>
            <a:srgbClr val="EF4444"/>
          </a:solidFill>
          <a:ln/>
        </p:spPr>
      </p:sp>
      <p:sp>
        <p:nvSpPr>
          <p:cNvPr id="7" name="Text 5"/>
          <p:cNvSpPr/>
          <p:nvPr/>
        </p:nvSpPr>
        <p:spPr>
          <a:xfrm>
            <a:off x="594360" y="1234440"/>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Skipping verification workflows</a:t>
            </a:r>
            <a:endParaRPr lang="en-US" sz="950" dirty="0"/>
          </a:p>
        </p:txBody>
      </p:sp>
      <p:sp>
        <p:nvSpPr>
          <p:cNvPr id="8" name="Text 6"/>
          <p:cNvSpPr/>
          <p:nvPr/>
        </p:nvSpPr>
        <p:spPr>
          <a:xfrm>
            <a:off x="3840480" y="1234440"/>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Run /validate-* after every artifact creation. It takes 2 minutes and catches drift early.</a:t>
            </a:r>
            <a:endParaRPr lang="en-US" sz="900" dirty="0"/>
          </a:p>
        </p:txBody>
      </p:sp>
      <p:sp>
        <p:nvSpPr>
          <p:cNvPr id="9" name="Shape 7"/>
          <p:cNvSpPr/>
          <p:nvPr/>
        </p:nvSpPr>
        <p:spPr>
          <a:xfrm>
            <a:off x="457200" y="1719072"/>
            <a:ext cx="8229600" cy="429768"/>
          </a:xfrm>
          <a:prstGeom prst="rect">
            <a:avLst/>
          </a:prstGeom>
          <a:solidFill>
            <a:srgbClr val="1A2744"/>
          </a:solidFill>
          <a:ln/>
        </p:spPr>
      </p:sp>
      <p:sp>
        <p:nvSpPr>
          <p:cNvPr id="10" name="Shape 8"/>
          <p:cNvSpPr/>
          <p:nvPr/>
        </p:nvSpPr>
        <p:spPr>
          <a:xfrm>
            <a:off x="457200" y="1719072"/>
            <a:ext cx="45720" cy="429768"/>
          </a:xfrm>
          <a:prstGeom prst="rect">
            <a:avLst/>
          </a:prstGeom>
          <a:solidFill>
            <a:srgbClr val="F59E0B"/>
          </a:solidFill>
          <a:ln/>
        </p:spPr>
      </p:sp>
      <p:sp>
        <p:nvSpPr>
          <p:cNvPr id="11" name="Text 9"/>
          <p:cNvSpPr/>
          <p:nvPr/>
        </p:nvSpPr>
        <p:spPr>
          <a:xfrm>
            <a:off x="594360" y="1719072"/>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Long chat sessions with multiple stories</a:t>
            </a:r>
            <a:endParaRPr lang="en-US" sz="950" dirty="0"/>
          </a:p>
        </p:txBody>
      </p:sp>
      <p:sp>
        <p:nvSpPr>
          <p:cNvPr id="12" name="Text 10"/>
          <p:cNvSpPr/>
          <p:nvPr/>
        </p:nvSpPr>
        <p:spPr>
          <a:xfrm>
            <a:off x="3840480" y="1719072"/>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Close and reopen. One story = one fresh session. Agent quality degrades after ~30 min of accumulated context.</a:t>
            </a:r>
            <a:endParaRPr lang="en-US" sz="900" dirty="0"/>
          </a:p>
        </p:txBody>
      </p:sp>
      <p:sp>
        <p:nvSpPr>
          <p:cNvPr id="13" name="Shape 11"/>
          <p:cNvSpPr/>
          <p:nvPr/>
        </p:nvSpPr>
        <p:spPr>
          <a:xfrm>
            <a:off x="457200" y="2203704"/>
            <a:ext cx="8229600" cy="429768"/>
          </a:xfrm>
          <a:prstGeom prst="rect">
            <a:avLst/>
          </a:prstGeom>
          <a:solidFill>
            <a:srgbClr val="1A2744"/>
          </a:solidFill>
          <a:ln/>
        </p:spPr>
      </p:sp>
      <p:sp>
        <p:nvSpPr>
          <p:cNvPr id="14" name="Shape 12"/>
          <p:cNvSpPr/>
          <p:nvPr/>
        </p:nvSpPr>
        <p:spPr>
          <a:xfrm>
            <a:off x="457200" y="2203704"/>
            <a:ext cx="45720" cy="429768"/>
          </a:xfrm>
          <a:prstGeom prst="rect">
            <a:avLst/>
          </a:prstGeom>
          <a:solidFill>
            <a:srgbClr val="8B5CF6"/>
          </a:solidFill>
          <a:ln/>
        </p:spPr>
      </p:sp>
      <p:sp>
        <p:nvSpPr>
          <p:cNvPr id="15" name="Text 13"/>
          <p:cNvSpPr/>
          <p:nvPr/>
        </p:nvSpPr>
        <p:spPr>
          <a:xfrm>
            <a:off x="594360" y="2203704"/>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Accepting agent output without reading it</a:t>
            </a:r>
            <a:endParaRPr lang="en-US" sz="950" dirty="0"/>
          </a:p>
        </p:txBody>
      </p:sp>
      <p:sp>
        <p:nvSpPr>
          <p:cNvPr id="16" name="Text 14"/>
          <p:cNvSpPr/>
          <p:nvPr/>
        </p:nvSpPr>
        <p:spPr>
          <a:xfrm>
            <a:off x="3840480" y="2203704"/>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Read every PRD section, every story AC, every code review finding. The agent is a draft writer, you’re the editor.</a:t>
            </a:r>
            <a:endParaRPr lang="en-US" sz="900" dirty="0"/>
          </a:p>
        </p:txBody>
      </p:sp>
      <p:sp>
        <p:nvSpPr>
          <p:cNvPr id="17" name="Shape 15"/>
          <p:cNvSpPr/>
          <p:nvPr/>
        </p:nvSpPr>
        <p:spPr>
          <a:xfrm>
            <a:off x="457200" y="2688336"/>
            <a:ext cx="8229600" cy="429768"/>
          </a:xfrm>
          <a:prstGeom prst="rect">
            <a:avLst/>
          </a:prstGeom>
          <a:solidFill>
            <a:srgbClr val="1A2744"/>
          </a:solidFill>
          <a:ln/>
        </p:spPr>
      </p:sp>
      <p:sp>
        <p:nvSpPr>
          <p:cNvPr id="18" name="Shape 16"/>
          <p:cNvSpPr/>
          <p:nvPr/>
        </p:nvSpPr>
        <p:spPr>
          <a:xfrm>
            <a:off x="457200" y="2688336"/>
            <a:ext cx="45720" cy="429768"/>
          </a:xfrm>
          <a:prstGeom prst="rect">
            <a:avLst/>
          </a:prstGeom>
          <a:solidFill>
            <a:srgbClr val="3B82F6"/>
          </a:solidFill>
          <a:ln/>
        </p:spPr>
      </p:sp>
      <p:sp>
        <p:nvSpPr>
          <p:cNvPr id="19" name="Text 17"/>
          <p:cNvSpPr/>
          <p:nvPr/>
        </p:nvSpPr>
        <p:spPr>
          <a:xfrm>
            <a:off x="594360" y="2688336"/>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Editing story files manually</a:t>
            </a:r>
            <a:endParaRPr lang="en-US" sz="950" dirty="0"/>
          </a:p>
        </p:txBody>
      </p:sp>
      <p:sp>
        <p:nvSpPr>
          <p:cNvPr id="20" name="Text 18"/>
          <p:cNvSpPr/>
          <p:nvPr/>
        </p:nvSpPr>
        <p:spPr>
          <a:xfrm>
            <a:off x="3840480" y="2688336"/>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Use /correct-course or ask the SM agent to update. Manual edits break consistency with upstream docs.</a:t>
            </a:r>
            <a:endParaRPr lang="en-US" sz="900" dirty="0"/>
          </a:p>
        </p:txBody>
      </p:sp>
      <p:sp>
        <p:nvSpPr>
          <p:cNvPr id="21" name="Shape 19"/>
          <p:cNvSpPr/>
          <p:nvPr/>
        </p:nvSpPr>
        <p:spPr>
          <a:xfrm>
            <a:off x="457200" y="3172968"/>
            <a:ext cx="8229600" cy="429768"/>
          </a:xfrm>
          <a:prstGeom prst="rect">
            <a:avLst/>
          </a:prstGeom>
          <a:solidFill>
            <a:srgbClr val="1A2744"/>
          </a:solidFill>
          <a:ln/>
        </p:spPr>
      </p:sp>
      <p:sp>
        <p:nvSpPr>
          <p:cNvPr id="22" name="Shape 20"/>
          <p:cNvSpPr/>
          <p:nvPr/>
        </p:nvSpPr>
        <p:spPr>
          <a:xfrm>
            <a:off x="457200" y="3172968"/>
            <a:ext cx="45720" cy="429768"/>
          </a:xfrm>
          <a:prstGeom prst="rect">
            <a:avLst/>
          </a:prstGeom>
          <a:solidFill>
            <a:srgbClr val="10B981"/>
          </a:solidFill>
          <a:ln/>
        </p:spPr>
      </p:sp>
      <p:sp>
        <p:nvSpPr>
          <p:cNvPr id="23" name="Text 21"/>
          <p:cNvSpPr/>
          <p:nvPr/>
        </p:nvSpPr>
        <p:spPr>
          <a:xfrm>
            <a:off x="594360" y="3172968"/>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Implementing before architecture is done</a:t>
            </a:r>
            <a:endParaRPr lang="en-US" sz="950" dirty="0"/>
          </a:p>
        </p:txBody>
      </p:sp>
      <p:sp>
        <p:nvSpPr>
          <p:cNvPr id="24" name="Text 22"/>
          <p:cNvSpPr/>
          <p:nvPr/>
        </p:nvSpPr>
        <p:spPr>
          <a:xfrm>
            <a:off x="3840480" y="3172968"/>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Run /check-implementation-readiness first. If it returns CONCERNS or FAIL, stop and fix the planning docs.</a:t>
            </a:r>
            <a:endParaRPr lang="en-US" sz="900" dirty="0"/>
          </a:p>
        </p:txBody>
      </p:sp>
      <p:sp>
        <p:nvSpPr>
          <p:cNvPr id="25" name="Shape 23"/>
          <p:cNvSpPr/>
          <p:nvPr/>
        </p:nvSpPr>
        <p:spPr>
          <a:xfrm>
            <a:off x="457200" y="3657600"/>
            <a:ext cx="8229600" cy="429768"/>
          </a:xfrm>
          <a:prstGeom prst="rect">
            <a:avLst/>
          </a:prstGeom>
          <a:solidFill>
            <a:srgbClr val="1A2744"/>
          </a:solidFill>
          <a:ln/>
        </p:spPr>
      </p:sp>
      <p:sp>
        <p:nvSpPr>
          <p:cNvPr id="26" name="Shape 24"/>
          <p:cNvSpPr/>
          <p:nvPr/>
        </p:nvSpPr>
        <p:spPr>
          <a:xfrm>
            <a:off x="457200" y="3657600"/>
            <a:ext cx="45720" cy="429768"/>
          </a:xfrm>
          <a:prstGeom prst="rect">
            <a:avLst/>
          </a:prstGeom>
          <a:solidFill>
            <a:srgbClr val="EC4899"/>
          </a:solidFill>
          <a:ln/>
        </p:spPr>
      </p:sp>
      <p:sp>
        <p:nvSpPr>
          <p:cNvPr id="27" name="Text 25"/>
          <p:cNvSpPr/>
          <p:nvPr/>
        </p:nvSpPr>
        <p:spPr>
          <a:xfrm>
            <a:off x="594360" y="3657600"/>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Not updating docs when requirements change</a:t>
            </a:r>
            <a:endParaRPr lang="en-US" sz="950" dirty="0"/>
          </a:p>
        </p:txBody>
      </p:sp>
      <p:sp>
        <p:nvSpPr>
          <p:cNvPr id="28" name="Text 26"/>
          <p:cNvSpPr/>
          <p:nvPr/>
        </p:nvSpPr>
        <p:spPr>
          <a:xfrm>
            <a:off x="3840480" y="3657600"/>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Changes propagate top-down: PRD → Architecture → Epics → Stories. Never change downstream without updating upstream.</a:t>
            </a:r>
            <a:endParaRPr lang="en-US" sz="900" dirty="0"/>
          </a:p>
        </p:txBody>
      </p:sp>
      <p:sp>
        <p:nvSpPr>
          <p:cNvPr id="29" name="Shape 27"/>
          <p:cNvSpPr/>
          <p:nvPr/>
        </p:nvSpPr>
        <p:spPr>
          <a:xfrm>
            <a:off x="457200" y="4142232"/>
            <a:ext cx="8229600" cy="429768"/>
          </a:xfrm>
          <a:prstGeom prst="rect">
            <a:avLst/>
          </a:prstGeom>
          <a:solidFill>
            <a:srgbClr val="1A2744"/>
          </a:solidFill>
          <a:ln/>
        </p:spPr>
      </p:sp>
      <p:sp>
        <p:nvSpPr>
          <p:cNvPr id="30" name="Shape 28"/>
          <p:cNvSpPr/>
          <p:nvPr/>
        </p:nvSpPr>
        <p:spPr>
          <a:xfrm>
            <a:off x="457200" y="4142232"/>
            <a:ext cx="45720" cy="429768"/>
          </a:xfrm>
          <a:prstGeom prst="rect">
            <a:avLst/>
          </a:prstGeom>
          <a:solidFill>
            <a:srgbClr val="6366F1"/>
          </a:solidFill>
          <a:ln/>
        </p:spPr>
      </p:sp>
      <p:sp>
        <p:nvSpPr>
          <p:cNvPr id="31" name="Text 29"/>
          <p:cNvSpPr/>
          <p:nvPr/>
        </p:nvSpPr>
        <p:spPr>
          <a:xfrm>
            <a:off x="594360" y="4142232"/>
            <a:ext cx="3200400" cy="429768"/>
          </a:xfrm>
          <a:prstGeom prst="rect">
            <a:avLst/>
          </a:prstGeom>
          <a:noFill/>
          <a:ln/>
        </p:spPr>
        <p:txBody>
          <a:bodyPr wrap="square" lIns="0" tIns="0" rIns="0" bIns="0" rtlCol="0" anchor="ctr"/>
          <a:lstStyle/>
          <a:p>
            <a:pPr indent="0" marL="0">
              <a:buNone/>
            </a:pPr>
            <a:r>
              <a:rPr lang="en-US" sz="950" dirty="0">
                <a:solidFill>
                  <a:srgbClr val="FCA5A5"/>
                </a:solidFill>
                <a:latin typeface="Calibri" pitchFamily="34" charset="0"/>
                <a:ea typeface="Calibri" pitchFamily="34" charset="-122"/>
                <a:cs typeface="Calibri" pitchFamily="34" charset="-120"/>
              </a:rPr>
              <a:t>✖  Stories too large or vague</a:t>
            </a:r>
            <a:endParaRPr lang="en-US" sz="950" dirty="0"/>
          </a:p>
        </p:txBody>
      </p:sp>
      <p:sp>
        <p:nvSpPr>
          <p:cNvPr id="32" name="Text 30"/>
          <p:cNvSpPr/>
          <p:nvPr/>
        </p:nvSpPr>
        <p:spPr>
          <a:xfrm>
            <a:off x="3840480" y="4142232"/>
            <a:ext cx="4663440" cy="4297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If a story has &gt; 8 AC or touches &gt; 4 modules, ask the SM to break it down. Apply the INVEST “S” criterion.</a:t>
            </a:r>
            <a:endParaRPr lang="en-US" sz="900" dirty="0"/>
          </a:p>
        </p:txBody>
      </p:sp>
      <p:sp>
        <p:nvSpPr>
          <p:cNvPr id="33" name="Text 31"/>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Most of these mistakes happen because teams try to move fast without the discipline. BMAD is fast AND structured — you need both.</a:t>
            </a:r>
            <a:endParaRPr lang="en-US" sz="1000" dirty="0"/>
          </a:p>
        </p:txBody>
      </p:sp>
      <p:sp>
        <p:nvSpPr>
          <p:cNvPr id="34" name="Text 32"/>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76 / 93</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0D9488"/>
          </a:solidFill>
          <a:ln/>
        </p:spPr>
      </p:sp>
      <p:sp>
        <p:nvSpPr>
          <p:cNvPr id="4" name="Shape 2"/>
          <p:cNvSpPr/>
          <p:nvPr/>
        </p:nvSpPr>
        <p:spPr>
          <a:xfrm>
            <a:off x="457200" y="1645920"/>
            <a:ext cx="8229600" cy="36576"/>
          </a:xfrm>
          <a:prstGeom prst="rect">
            <a:avLst/>
          </a:prstGeom>
          <a:solidFill>
            <a:srgbClr val="0D9488"/>
          </a:solidFill>
          <a:ln/>
        </p:spPr>
      </p:sp>
      <p:sp>
        <p:nvSpPr>
          <p:cNvPr id="5" name="Text 3"/>
          <p:cNvSpPr/>
          <p:nvPr/>
        </p:nvSpPr>
        <p:spPr>
          <a:xfrm>
            <a:off x="457200" y="1828800"/>
            <a:ext cx="8229600" cy="731520"/>
          </a:xfrm>
          <a:prstGeom prst="rect">
            <a:avLst/>
          </a:prstGeom>
          <a:noFill/>
          <a:ln/>
        </p:spPr>
        <p:txBody>
          <a:bodyPr wrap="square" rtlCol="0" anchor="ctr"/>
          <a:lstStyle/>
          <a:p>
            <a:pPr algn="ctr" indent="0" marL="0">
              <a:buNone/>
            </a:pPr>
            <a:r>
              <a:rPr lang="en-US" sz="4200" b="1" dirty="0">
                <a:solidFill>
                  <a:srgbClr val="FFFFFF"/>
                </a:solidFill>
              </a:rPr>
              <a:t>Getting Started</a:t>
            </a:r>
            <a:endParaRPr lang="en-US" sz="4200" dirty="0"/>
          </a:p>
        </p:txBody>
      </p:sp>
      <p:sp>
        <p:nvSpPr>
          <p:cNvPr id="6" name="Text 4"/>
          <p:cNvSpPr/>
          <p:nvPr/>
        </p:nvSpPr>
        <p:spPr>
          <a:xfrm>
            <a:off x="457200" y="2468880"/>
            <a:ext cx="8229600" cy="548640"/>
          </a:xfrm>
          <a:prstGeom prst="rect">
            <a:avLst/>
          </a:prstGeom>
          <a:noFill/>
          <a:ln/>
        </p:spPr>
        <p:txBody>
          <a:bodyPr wrap="square" rtlCol="0" anchor="ctr"/>
          <a:lstStyle/>
          <a:p>
            <a:pPr algn="ctr" indent="0" marL="0">
              <a:buNone/>
            </a:pPr>
            <a:r>
              <a:rPr lang="en-US" sz="2400" dirty="0">
                <a:solidFill>
                  <a:srgbClr val="14B8A6"/>
                </a:solidFill>
              </a:rPr>
              <a:t>Installation, First Steps &amp; Team Collaboration</a:t>
            </a:r>
            <a:endParaRPr lang="en-US" sz="2400" dirty="0"/>
          </a:p>
        </p:txBody>
      </p:sp>
      <p:sp>
        <p:nvSpPr>
          <p:cNvPr id="7" name="Shape 5"/>
          <p:cNvSpPr/>
          <p:nvPr/>
        </p:nvSpPr>
        <p:spPr>
          <a:xfrm>
            <a:off x="457200" y="3200400"/>
            <a:ext cx="8229600" cy="36576"/>
          </a:xfrm>
          <a:prstGeom prst="rect">
            <a:avLst/>
          </a:prstGeom>
          <a:solidFill>
            <a:srgbClr val="0D9488"/>
          </a:solidFill>
          <a:ln/>
        </p:spPr>
      </p:sp>
      <p:sp>
        <p:nvSpPr>
          <p:cNvPr id="8" name="Text 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77 / 93</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Tools &amp; Prerequisites</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What you need before getting started</a:t>
            </a:r>
            <a:endParaRPr lang="en-US" sz="1300" dirty="0"/>
          </a:p>
        </p:txBody>
      </p:sp>
      <p:sp>
        <p:nvSpPr>
          <p:cNvPr id="5" name="Shape 3"/>
          <p:cNvSpPr/>
          <p:nvPr/>
        </p:nvSpPr>
        <p:spPr>
          <a:xfrm>
            <a:off x="457200" y="1234440"/>
            <a:ext cx="5029200" cy="283464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5029200" cy="54864"/>
          </a:xfrm>
          <a:prstGeom prst="rect">
            <a:avLst/>
          </a:prstGeom>
          <a:solidFill>
            <a:srgbClr val="007ACC"/>
          </a:solidFill>
          <a:ln/>
        </p:spPr>
      </p:sp>
      <p:pic>
        <p:nvPicPr>
          <p:cNvPr id="7" name="Image 0" descr="preencoded.png">    </p:cNvPr>
          <p:cNvPicPr>
            <a:picLocks noChangeAspect="1"/>
          </p:cNvPicPr>
          <p:nvPr/>
        </p:nvPicPr>
        <p:blipFill>
          <a:blip r:embed="rId1"/>
          <a:stretch>
            <a:fillRect/>
          </a:stretch>
        </p:blipFill>
        <p:spPr>
          <a:xfrm>
            <a:off x="640080" y="1417320"/>
            <a:ext cx="365760" cy="365760"/>
          </a:xfrm>
          <a:prstGeom prst="rect">
            <a:avLst/>
          </a:prstGeom>
        </p:spPr>
      </p:pic>
      <p:sp>
        <p:nvSpPr>
          <p:cNvPr id="8" name="Text 5"/>
          <p:cNvSpPr/>
          <p:nvPr/>
        </p:nvSpPr>
        <p:spPr>
          <a:xfrm>
            <a:off x="1097280" y="1417320"/>
            <a:ext cx="3657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VS Code</a:t>
            </a:r>
            <a:endParaRPr lang="en-US" sz="1800" dirty="0"/>
          </a:p>
        </p:txBody>
      </p:sp>
      <p:sp>
        <p:nvSpPr>
          <p:cNvPr id="9" name="Text 6"/>
          <p:cNvSpPr/>
          <p:nvPr/>
        </p:nvSpPr>
        <p:spPr>
          <a:xfrm>
            <a:off x="1097280" y="1783080"/>
            <a:ext cx="4114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Your primary development environment</a:t>
            </a:r>
            <a:endParaRPr lang="en-US" sz="1000" dirty="0"/>
          </a:p>
        </p:txBody>
      </p:sp>
      <p:sp>
        <p:nvSpPr>
          <p:cNvPr id="10" name="Text 7"/>
          <p:cNvSpPr/>
          <p:nvPr/>
        </p:nvSpPr>
        <p:spPr>
          <a:xfrm>
            <a:off x="731520" y="2148840"/>
            <a:ext cx="4572000" cy="22860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Required Extension (one of):</a:t>
            </a:r>
            <a:endParaRPr lang="en-US" sz="1100" dirty="0"/>
          </a:p>
        </p:txBody>
      </p:sp>
      <p:pic>
        <p:nvPicPr>
          <p:cNvPr id="11" name="Image 1" descr="preencoded.png">    </p:cNvPr>
          <p:cNvPicPr>
            <a:picLocks noChangeAspect="1"/>
          </p:cNvPicPr>
          <p:nvPr/>
        </p:nvPicPr>
        <p:blipFill>
          <a:blip r:embed="rId2"/>
          <a:stretch>
            <a:fillRect/>
          </a:stretch>
        </p:blipFill>
        <p:spPr>
          <a:xfrm>
            <a:off x="822960" y="2450592"/>
            <a:ext cx="164592" cy="164592"/>
          </a:xfrm>
          <a:prstGeom prst="rect">
            <a:avLst/>
          </a:prstGeom>
        </p:spPr>
      </p:pic>
      <p:sp>
        <p:nvSpPr>
          <p:cNvPr id="12" name="Text 8"/>
          <p:cNvSpPr/>
          <p:nvPr/>
        </p:nvSpPr>
        <p:spPr>
          <a:xfrm>
            <a:off x="1097280" y="2404872"/>
            <a:ext cx="41148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Claude Code — Anthropic’s AI coding agent</a:t>
            </a:r>
            <a:endParaRPr lang="en-US" sz="1000" dirty="0"/>
          </a:p>
        </p:txBody>
      </p:sp>
      <p:pic>
        <p:nvPicPr>
          <p:cNvPr id="13" name="Image 2" descr="preencoded.png">    </p:cNvPr>
          <p:cNvPicPr>
            <a:picLocks noChangeAspect="1"/>
          </p:cNvPicPr>
          <p:nvPr/>
        </p:nvPicPr>
        <p:blipFill>
          <a:blip r:embed="rId3"/>
          <a:stretch>
            <a:fillRect/>
          </a:stretch>
        </p:blipFill>
        <p:spPr>
          <a:xfrm>
            <a:off x="822960" y="2706624"/>
            <a:ext cx="164592" cy="164592"/>
          </a:xfrm>
          <a:prstGeom prst="rect">
            <a:avLst/>
          </a:prstGeom>
        </p:spPr>
      </p:pic>
      <p:sp>
        <p:nvSpPr>
          <p:cNvPr id="14" name="Text 9"/>
          <p:cNvSpPr/>
          <p:nvPr/>
        </p:nvSpPr>
        <p:spPr>
          <a:xfrm>
            <a:off x="1097280" y="2660904"/>
            <a:ext cx="41148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Gemini Assist — Google’s AI assistant</a:t>
            </a:r>
            <a:endParaRPr lang="en-US" sz="1000" dirty="0"/>
          </a:p>
        </p:txBody>
      </p:sp>
      <p:pic>
        <p:nvPicPr>
          <p:cNvPr id="15" name="Image 3" descr="preencoded.png">    </p:cNvPr>
          <p:cNvPicPr>
            <a:picLocks noChangeAspect="1"/>
          </p:cNvPicPr>
          <p:nvPr/>
        </p:nvPicPr>
        <p:blipFill>
          <a:blip r:embed="rId4"/>
          <a:stretch>
            <a:fillRect/>
          </a:stretch>
        </p:blipFill>
        <p:spPr>
          <a:xfrm>
            <a:off x="822960" y="2962656"/>
            <a:ext cx="164592" cy="164592"/>
          </a:xfrm>
          <a:prstGeom prst="rect">
            <a:avLst/>
          </a:prstGeom>
        </p:spPr>
      </p:pic>
      <p:sp>
        <p:nvSpPr>
          <p:cNvPr id="16" name="Text 10"/>
          <p:cNvSpPr/>
          <p:nvPr/>
        </p:nvSpPr>
        <p:spPr>
          <a:xfrm>
            <a:off x="1097280" y="2916936"/>
            <a:ext cx="41148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Cline — Open-source AI coding agent</a:t>
            </a:r>
            <a:endParaRPr lang="en-US" sz="1000" dirty="0"/>
          </a:p>
        </p:txBody>
      </p:sp>
      <p:sp>
        <p:nvSpPr>
          <p:cNvPr id="17" name="Text 11"/>
          <p:cNvSpPr/>
          <p:nvPr/>
        </p:nvSpPr>
        <p:spPr>
          <a:xfrm>
            <a:off x="731520" y="3246120"/>
            <a:ext cx="4572000" cy="22860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Recommended Extensions:</a:t>
            </a:r>
            <a:endParaRPr lang="en-US" sz="1100" dirty="0"/>
          </a:p>
        </p:txBody>
      </p:sp>
      <p:sp>
        <p:nvSpPr>
          <p:cNvPr id="18" name="Text 12"/>
          <p:cNvSpPr/>
          <p:nvPr/>
        </p:nvSpPr>
        <p:spPr>
          <a:xfrm>
            <a:off x="822960" y="3502152"/>
            <a:ext cx="182880" cy="256032"/>
          </a:xfrm>
          <a:prstGeom prst="rect">
            <a:avLst/>
          </a:prstGeom>
          <a:noFill/>
          <a:ln/>
        </p:spPr>
        <p:txBody>
          <a:bodyPr wrap="square" lIns="0" tIns="0" rIns="0" bIns="0" rtlCol="0" anchor="ctr"/>
          <a:lstStyle/>
          <a:p>
            <a:pPr indent="0" marL="0">
              <a:buNone/>
            </a:pPr>
            <a:r>
              <a:rPr lang="en-US" sz="1200" dirty="0">
                <a:solidFill>
                  <a:srgbClr val="F59E0B"/>
                </a:solidFill>
              </a:rPr>
              <a:t>☆</a:t>
            </a:r>
            <a:endParaRPr lang="en-US" sz="1200" dirty="0"/>
          </a:p>
        </p:txBody>
      </p:sp>
      <p:sp>
        <p:nvSpPr>
          <p:cNvPr id="19" name="Text 13"/>
          <p:cNvSpPr/>
          <p:nvPr/>
        </p:nvSpPr>
        <p:spPr>
          <a:xfrm>
            <a:off x="1097280" y="3502152"/>
            <a:ext cx="16459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Markdown Editor</a:t>
            </a:r>
            <a:endParaRPr lang="en-US" sz="1000" dirty="0"/>
          </a:p>
        </p:txBody>
      </p:sp>
      <p:sp>
        <p:nvSpPr>
          <p:cNvPr id="20" name="Text 14"/>
          <p:cNvSpPr/>
          <p:nvPr/>
        </p:nvSpPr>
        <p:spPr>
          <a:xfrm>
            <a:off x="2743200" y="3502152"/>
            <a:ext cx="256032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Better editing experience for .md files</a:t>
            </a:r>
            <a:endParaRPr lang="en-US" sz="950" dirty="0"/>
          </a:p>
        </p:txBody>
      </p:sp>
      <p:sp>
        <p:nvSpPr>
          <p:cNvPr id="21" name="Text 15"/>
          <p:cNvSpPr/>
          <p:nvPr/>
        </p:nvSpPr>
        <p:spPr>
          <a:xfrm>
            <a:off x="822960" y="3758184"/>
            <a:ext cx="182880" cy="256032"/>
          </a:xfrm>
          <a:prstGeom prst="rect">
            <a:avLst/>
          </a:prstGeom>
          <a:noFill/>
          <a:ln/>
        </p:spPr>
        <p:txBody>
          <a:bodyPr wrap="square" lIns="0" tIns="0" rIns="0" bIns="0" rtlCol="0" anchor="ctr"/>
          <a:lstStyle/>
          <a:p>
            <a:pPr indent="0" marL="0">
              <a:buNone/>
            </a:pPr>
            <a:r>
              <a:rPr lang="en-US" sz="1200" dirty="0">
                <a:solidFill>
                  <a:srgbClr val="F59E0B"/>
                </a:solidFill>
              </a:rPr>
              <a:t>☆</a:t>
            </a:r>
            <a:endParaRPr lang="en-US" sz="1200" dirty="0"/>
          </a:p>
        </p:txBody>
      </p:sp>
      <p:sp>
        <p:nvSpPr>
          <p:cNvPr id="22" name="Text 16"/>
          <p:cNvSpPr/>
          <p:nvPr/>
        </p:nvSpPr>
        <p:spPr>
          <a:xfrm>
            <a:off x="1097280" y="3758184"/>
            <a:ext cx="164592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Markdown PDF</a:t>
            </a:r>
            <a:endParaRPr lang="en-US" sz="1000" dirty="0"/>
          </a:p>
        </p:txBody>
      </p:sp>
      <p:sp>
        <p:nvSpPr>
          <p:cNvPr id="23" name="Text 17"/>
          <p:cNvSpPr/>
          <p:nvPr/>
        </p:nvSpPr>
        <p:spPr>
          <a:xfrm>
            <a:off x="2743200" y="3758184"/>
            <a:ext cx="256032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Convert markdown documents to PDF</a:t>
            </a:r>
            <a:endParaRPr lang="en-US" sz="950" dirty="0"/>
          </a:p>
        </p:txBody>
      </p:sp>
      <p:sp>
        <p:nvSpPr>
          <p:cNvPr id="24" name="Shape 18"/>
          <p:cNvSpPr/>
          <p:nvPr/>
        </p:nvSpPr>
        <p:spPr>
          <a:xfrm>
            <a:off x="5760720" y="1234440"/>
            <a:ext cx="292608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25" name="Shape 19"/>
          <p:cNvSpPr/>
          <p:nvPr/>
        </p:nvSpPr>
        <p:spPr>
          <a:xfrm>
            <a:off x="5760720" y="1234440"/>
            <a:ext cx="54864" cy="822960"/>
          </a:xfrm>
          <a:prstGeom prst="rect">
            <a:avLst/>
          </a:prstGeom>
          <a:solidFill>
            <a:srgbClr val="339933"/>
          </a:solidFill>
          <a:ln/>
        </p:spPr>
      </p:sp>
      <p:pic>
        <p:nvPicPr>
          <p:cNvPr id="26" name="Image 4" descr="preencoded.png">    </p:cNvPr>
          <p:cNvPicPr>
            <a:picLocks noChangeAspect="1"/>
          </p:cNvPicPr>
          <p:nvPr/>
        </p:nvPicPr>
        <p:blipFill>
          <a:blip r:embed="rId5"/>
          <a:stretch>
            <a:fillRect/>
          </a:stretch>
        </p:blipFill>
        <p:spPr>
          <a:xfrm>
            <a:off x="5943600" y="1371600"/>
            <a:ext cx="320040" cy="320040"/>
          </a:xfrm>
          <a:prstGeom prst="rect">
            <a:avLst/>
          </a:prstGeom>
        </p:spPr>
      </p:pic>
      <p:sp>
        <p:nvSpPr>
          <p:cNvPr id="27" name="Text 20"/>
          <p:cNvSpPr/>
          <p:nvPr/>
        </p:nvSpPr>
        <p:spPr>
          <a:xfrm>
            <a:off x="6355080" y="1307592"/>
            <a:ext cx="2194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Node.js (v20+)</a:t>
            </a:r>
            <a:endParaRPr lang="en-US" sz="1200" dirty="0"/>
          </a:p>
        </p:txBody>
      </p:sp>
      <p:sp>
        <p:nvSpPr>
          <p:cNvPr id="28" name="Text 21"/>
          <p:cNvSpPr/>
          <p:nvPr/>
        </p:nvSpPr>
        <p:spPr>
          <a:xfrm>
            <a:off x="6355080" y="1600200"/>
            <a:ext cx="2194560" cy="384048"/>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Required for running npx ma-agents install and BMAD tooling</a:t>
            </a:r>
            <a:endParaRPr lang="en-US" sz="900" dirty="0"/>
          </a:p>
        </p:txBody>
      </p:sp>
      <p:sp>
        <p:nvSpPr>
          <p:cNvPr id="29" name="Shape 22"/>
          <p:cNvSpPr/>
          <p:nvPr/>
        </p:nvSpPr>
        <p:spPr>
          <a:xfrm>
            <a:off x="5760720" y="2194560"/>
            <a:ext cx="292608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0" name="Shape 23"/>
          <p:cNvSpPr/>
          <p:nvPr/>
        </p:nvSpPr>
        <p:spPr>
          <a:xfrm>
            <a:off x="5760720" y="2194560"/>
            <a:ext cx="54864" cy="822960"/>
          </a:xfrm>
          <a:prstGeom prst="rect">
            <a:avLst/>
          </a:prstGeom>
          <a:solidFill>
            <a:srgbClr val="F05032"/>
          </a:solidFill>
          <a:ln/>
        </p:spPr>
      </p:sp>
      <p:pic>
        <p:nvPicPr>
          <p:cNvPr id="31" name="Image 5" descr="preencoded.png">    </p:cNvPr>
          <p:cNvPicPr>
            <a:picLocks noChangeAspect="1"/>
          </p:cNvPicPr>
          <p:nvPr/>
        </p:nvPicPr>
        <p:blipFill>
          <a:blip r:embed="rId6"/>
          <a:stretch>
            <a:fillRect/>
          </a:stretch>
        </p:blipFill>
        <p:spPr>
          <a:xfrm>
            <a:off x="5943600" y="2331720"/>
            <a:ext cx="320040" cy="320040"/>
          </a:xfrm>
          <a:prstGeom prst="rect">
            <a:avLst/>
          </a:prstGeom>
        </p:spPr>
      </p:pic>
      <p:sp>
        <p:nvSpPr>
          <p:cNvPr id="32" name="Text 24"/>
          <p:cNvSpPr/>
          <p:nvPr/>
        </p:nvSpPr>
        <p:spPr>
          <a:xfrm>
            <a:off x="6355080" y="2267712"/>
            <a:ext cx="2194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Git</a:t>
            </a:r>
            <a:endParaRPr lang="en-US" sz="1200" dirty="0"/>
          </a:p>
        </p:txBody>
      </p:sp>
      <p:sp>
        <p:nvSpPr>
          <p:cNvPr id="33" name="Text 25"/>
          <p:cNvSpPr/>
          <p:nvPr/>
        </p:nvSpPr>
        <p:spPr>
          <a:xfrm>
            <a:off x="6355080" y="2560320"/>
            <a:ext cx="2194560" cy="384048"/>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Version control. Usually included with VS Code — verify with: git --version</a:t>
            </a:r>
            <a:endParaRPr lang="en-US" sz="900" dirty="0"/>
          </a:p>
        </p:txBody>
      </p:sp>
      <p:sp>
        <p:nvSpPr>
          <p:cNvPr id="34" name="Shape 26"/>
          <p:cNvSpPr/>
          <p:nvPr/>
        </p:nvSpPr>
        <p:spPr>
          <a:xfrm>
            <a:off x="5760720" y="3154680"/>
            <a:ext cx="2926080" cy="8229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35" name="Shape 27"/>
          <p:cNvSpPr/>
          <p:nvPr/>
        </p:nvSpPr>
        <p:spPr>
          <a:xfrm>
            <a:off x="5760720" y="3154680"/>
            <a:ext cx="54864" cy="822960"/>
          </a:xfrm>
          <a:prstGeom prst="rect">
            <a:avLst/>
          </a:prstGeom>
          <a:solidFill>
            <a:srgbClr val="6E40C9"/>
          </a:solidFill>
          <a:ln/>
        </p:spPr>
      </p:sp>
      <p:pic>
        <p:nvPicPr>
          <p:cNvPr id="36" name="Image 6" descr="preencoded.png">    </p:cNvPr>
          <p:cNvPicPr>
            <a:picLocks noChangeAspect="1"/>
          </p:cNvPicPr>
          <p:nvPr/>
        </p:nvPicPr>
        <p:blipFill>
          <a:blip r:embed="rId7"/>
          <a:stretch>
            <a:fillRect/>
          </a:stretch>
        </p:blipFill>
        <p:spPr>
          <a:xfrm>
            <a:off x="5943600" y="3291840"/>
            <a:ext cx="320040" cy="320040"/>
          </a:xfrm>
          <a:prstGeom prst="rect">
            <a:avLst/>
          </a:prstGeom>
        </p:spPr>
      </p:pic>
      <p:sp>
        <p:nvSpPr>
          <p:cNvPr id="37" name="Text 28"/>
          <p:cNvSpPr/>
          <p:nvPr/>
        </p:nvSpPr>
        <p:spPr>
          <a:xfrm>
            <a:off x="6355080" y="3227832"/>
            <a:ext cx="2194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GitHub CLI (gh)</a:t>
            </a:r>
            <a:endParaRPr lang="en-US" sz="1200" dirty="0"/>
          </a:p>
        </p:txBody>
      </p:sp>
      <p:sp>
        <p:nvSpPr>
          <p:cNvPr id="38" name="Text 29"/>
          <p:cNvSpPr/>
          <p:nvPr/>
        </p:nvSpPr>
        <p:spPr>
          <a:xfrm>
            <a:off x="6355080" y="3520440"/>
            <a:ext cx="2194560" cy="384048"/>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Create pull requests, manage repos, and work with GitHub directly from the AI agent terminal</a:t>
            </a:r>
            <a:endParaRPr lang="en-US" sz="900" dirty="0"/>
          </a:p>
        </p:txBody>
      </p:sp>
      <p:sp>
        <p:nvSpPr>
          <p:cNvPr id="39" name="Shape 30"/>
          <p:cNvSpPr/>
          <p:nvPr/>
        </p:nvSpPr>
        <p:spPr>
          <a:xfrm>
            <a:off x="457200" y="4251960"/>
            <a:ext cx="8229600" cy="685800"/>
          </a:xfrm>
          <a:prstGeom prst="rect">
            <a:avLst/>
          </a:prstGeom>
          <a:solidFill>
            <a:srgbClr val="1E293B"/>
          </a:solidFill>
          <a:ln/>
        </p:spPr>
      </p:sp>
      <p:sp>
        <p:nvSpPr>
          <p:cNvPr id="40" name="Text 31"/>
          <p:cNvSpPr/>
          <p:nvPr/>
        </p:nvSpPr>
        <p:spPr>
          <a:xfrm>
            <a:off x="640080" y="4279392"/>
            <a:ext cx="1828800" cy="22860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Quick Verification</a:t>
            </a:r>
            <a:endParaRPr lang="en-US" sz="1000" dirty="0"/>
          </a:p>
        </p:txBody>
      </p:sp>
      <p:sp>
        <p:nvSpPr>
          <p:cNvPr id="41" name="Text 32"/>
          <p:cNvSpPr/>
          <p:nvPr/>
        </p:nvSpPr>
        <p:spPr>
          <a:xfrm>
            <a:off x="640080" y="4526280"/>
            <a:ext cx="7863840" cy="27432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node --version          git --version          gh --version          code --version</a:t>
            </a:r>
            <a:endParaRPr lang="en-US" sz="900" dirty="0"/>
          </a:p>
        </p:txBody>
      </p:sp>
      <p:sp>
        <p:nvSpPr>
          <p:cNvPr id="42" name="Text 3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78 / 93</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Installing &amp; Configuring Cline — Outside</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Step-by-step setup for your AI coding assistant</a:t>
            </a:r>
            <a:endParaRPr lang="en-US" sz="1300" dirty="0"/>
          </a:p>
        </p:txBody>
      </p:sp>
      <p:sp>
        <p:nvSpPr>
          <p:cNvPr id="5" name="Shape 3"/>
          <p:cNvSpPr/>
          <p:nvPr/>
        </p:nvSpPr>
        <p:spPr>
          <a:xfrm>
            <a:off x="457200" y="1234440"/>
            <a:ext cx="4023360" cy="3657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4023360" cy="54864"/>
          </a:xfrm>
          <a:prstGeom prst="rect">
            <a:avLst/>
          </a:prstGeom>
          <a:solidFill>
            <a:srgbClr val="10B981"/>
          </a:solidFill>
          <a:ln/>
        </p:spPr>
      </p:sp>
      <p:sp>
        <p:nvSpPr>
          <p:cNvPr id="7" name="Text 5"/>
          <p:cNvSpPr/>
          <p:nvPr/>
        </p:nvSpPr>
        <p:spPr>
          <a:xfrm>
            <a:off x="640080" y="132588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1: Install the Extension</a:t>
            </a:r>
            <a:endParaRPr lang="en-US" sz="1200" dirty="0"/>
          </a:p>
        </p:txBody>
      </p:sp>
      <p:sp>
        <p:nvSpPr>
          <p:cNvPr id="8" name="Text 6"/>
          <p:cNvSpPr/>
          <p:nvPr/>
        </p:nvSpPr>
        <p:spPr>
          <a:xfrm>
            <a:off x="640080" y="1664208"/>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868680" y="1664208"/>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Open VS Code</a:t>
            </a:r>
            <a:endParaRPr lang="en-US" sz="950" dirty="0"/>
          </a:p>
        </p:txBody>
      </p:sp>
      <p:sp>
        <p:nvSpPr>
          <p:cNvPr id="10" name="Text 8"/>
          <p:cNvSpPr/>
          <p:nvPr/>
        </p:nvSpPr>
        <p:spPr>
          <a:xfrm>
            <a:off x="640080" y="1883664"/>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868680" y="1883664"/>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Extensions icon in the left sidebar  (⌃⇧X)</a:t>
            </a:r>
            <a:endParaRPr lang="en-US" sz="950" dirty="0"/>
          </a:p>
        </p:txBody>
      </p:sp>
      <p:sp>
        <p:nvSpPr>
          <p:cNvPr id="12" name="Text 10"/>
          <p:cNvSpPr/>
          <p:nvPr/>
        </p:nvSpPr>
        <p:spPr>
          <a:xfrm>
            <a:off x="640080" y="2103120"/>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3.</a:t>
            </a:r>
            <a:endParaRPr lang="en-US" sz="1000" dirty="0"/>
          </a:p>
        </p:txBody>
      </p:sp>
      <p:sp>
        <p:nvSpPr>
          <p:cNvPr id="13" name="Text 11"/>
          <p:cNvSpPr/>
          <p:nvPr/>
        </p:nvSpPr>
        <p:spPr>
          <a:xfrm>
            <a:off x="868680" y="2103120"/>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Search for "Cline"</a:t>
            </a:r>
            <a:endParaRPr lang="en-US" sz="950" dirty="0"/>
          </a:p>
        </p:txBody>
      </p:sp>
      <p:sp>
        <p:nvSpPr>
          <p:cNvPr id="14" name="Text 12"/>
          <p:cNvSpPr/>
          <p:nvPr/>
        </p:nvSpPr>
        <p:spPr>
          <a:xfrm>
            <a:off x="640080" y="2322576"/>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4.</a:t>
            </a:r>
            <a:endParaRPr lang="en-US" sz="1000" dirty="0"/>
          </a:p>
        </p:txBody>
      </p:sp>
      <p:sp>
        <p:nvSpPr>
          <p:cNvPr id="15" name="Text 13"/>
          <p:cNvSpPr/>
          <p:nvPr/>
        </p:nvSpPr>
        <p:spPr>
          <a:xfrm>
            <a:off x="868680" y="2322576"/>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Install on "Cline" by saoud (the one with the most installs)</a:t>
            </a:r>
            <a:endParaRPr lang="en-US" sz="950" dirty="0"/>
          </a:p>
        </p:txBody>
      </p:sp>
      <p:sp>
        <p:nvSpPr>
          <p:cNvPr id="16" name="Text 14"/>
          <p:cNvSpPr/>
          <p:nvPr/>
        </p:nvSpPr>
        <p:spPr>
          <a:xfrm>
            <a:off x="640080" y="2542032"/>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5.</a:t>
            </a:r>
            <a:endParaRPr lang="en-US" sz="1000" dirty="0"/>
          </a:p>
        </p:txBody>
      </p:sp>
      <p:sp>
        <p:nvSpPr>
          <p:cNvPr id="17" name="Text 15"/>
          <p:cNvSpPr/>
          <p:nvPr/>
        </p:nvSpPr>
        <p:spPr>
          <a:xfrm>
            <a:off x="868680" y="2542032"/>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Wait for installation → Cline icon appears in sidebar</a:t>
            </a:r>
            <a:endParaRPr lang="en-US" sz="950" dirty="0"/>
          </a:p>
        </p:txBody>
      </p:sp>
      <p:sp>
        <p:nvSpPr>
          <p:cNvPr id="18" name="Shape 16"/>
          <p:cNvSpPr/>
          <p:nvPr/>
        </p:nvSpPr>
        <p:spPr>
          <a:xfrm>
            <a:off x="640080" y="2834640"/>
            <a:ext cx="3657600" cy="9144"/>
          </a:xfrm>
          <a:prstGeom prst="rect">
            <a:avLst/>
          </a:prstGeom>
          <a:solidFill>
            <a:srgbClr val="334155"/>
          </a:solidFill>
          <a:ln/>
        </p:spPr>
      </p:sp>
      <p:sp>
        <p:nvSpPr>
          <p:cNvPr id="19" name="Text 17"/>
          <p:cNvSpPr/>
          <p:nvPr/>
        </p:nvSpPr>
        <p:spPr>
          <a:xfrm>
            <a:off x="640080" y="292608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2: Configure the AI Model</a:t>
            </a:r>
            <a:endParaRPr lang="en-US" sz="1200" dirty="0"/>
          </a:p>
        </p:txBody>
      </p:sp>
      <p:sp>
        <p:nvSpPr>
          <p:cNvPr id="20" name="Text 18"/>
          <p:cNvSpPr/>
          <p:nvPr/>
        </p:nvSpPr>
        <p:spPr>
          <a:xfrm>
            <a:off x="640080" y="3246120"/>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1.</a:t>
            </a:r>
            <a:endParaRPr lang="en-US" sz="1000" dirty="0"/>
          </a:p>
        </p:txBody>
      </p:sp>
      <p:sp>
        <p:nvSpPr>
          <p:cNvPr id="21" name="Text 19"/>
          <p:cNvSpPr/>
          <p:nvPr/>
        </p:nvSpPr>
        <p:spPr>
          <a:xfrm>
            <a:off x="868680" y="3246120"/>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Cline icon in the sidebar to open it</a:t>
            </a:r>
            <a:endParaRPr lang="en-US" sz="950" dirty="0"/>
          </a:p>
        </p:txBody>
      </p:sp>
      <p:sp>
        <p:nvSpPr>
          <p:cNvPr id="22" name="Text 20"/>
          <p:cNvSpPr/>
          <p:nvPr/>
        </p:nvSpPr>
        <p:spPr>
          <a:xfrm>
            <a:off x="640080" y="3465576"/>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2.</a:t>
            </a:r>
            <a:endParaRPr lang="en-US" sz="1000" dirty="0"/>
          </a:p>
        </p:txBody>
      </p:sp>
      <p:sp>
        <p:nvSpPr>
          <p:cNvPr id="23" name="Text 21"/>
          <p:cNvSpPr/>
          <p:nvPr/>
        </p:nvSpPr>
        <p:spPr>
          <a:xfrm>
            <a:off x="868680" y="3465576"/>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Settings icon (⚙) at the top of the Cline panel</a:t>
            </a:r>
            <a:endParaRPr lang="en-US" sz="950" dirty="0"/>
          </a:p>
        </p:txBody>
      </p:sp>
      <p:sp>
        <p:nvSpPr>
          <p:cNvPr id="24" name="Text 22"/>
          <p:cNvSpPr/>
          <p:nvPr/>
        </p:nvSpPr>
        <p:spPr>
          <a:xfrm>
            <a:off x="640080" y="3685032"/>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868680" y="3685032"/>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Under API Provider, select "OpenAI Compatible"</a:t>
            </a:r>
            <a:endParaRPr lang="en-US" sz="950" dirty="0"/>
          </a:p>
        </p:txBody>
      </p:sp>
      <p:sp>
        <p:nvSpPr>
          <p:cNvPr id="26" name="Text 24"/>
          <p:cNvSpPr/>
          <p:nvPr/>
        </p:nvSpPr>
        <p:spPr>
          <a:xfrm>
            <a:off x="640080" y="3904488"/>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868680" y="3904488"/>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Fill in the configuration fields (see right →)</a:t>
            </a:r>
            <a:endParaRPr lang="en-US" sz="950" dirty="0"/>
          </a:p>
        </p:txBody>
      </p:sp>
      <p:sp>
        <p:nvSpPr>
          <p:cNvPr id="28" name="Text 26"/>
          <p:cNvSpPr/>
          <p:nvPr/>
        </p:nvSpPr>
        <p:spPr>
          <a:xfrm>
            <a:off x="640080" y="4123944"/>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5.</a:t>
            </a:r>
            <a:endParaRPr lang="en-US" sz="1000" dirty="0"/>
          </a:p>
        </p:txBody>
      </p:sp>
      <p:sp>
        <p:nvSpPr>
          <p:cNvPr id="29" name="Text 27"/>
          <p:cNvSpPr/>
          <p:nvPr/>
        </p:nvSpPr>
        <p:spPr>
          <a:xfrm>
            <a:off x="868680" y="4123944"/>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Save — the status should turn green</a:t>
            </a:r>
            <a:endParaRPr lang="en-US" sz="950" dirty="0"/>
          </a:p>
        </p:txBody>
      </p:sp>
      <p:sp>
        <p:nvSpPr>
          <p:cNvPr id="30" name="Shape 28"/>
          <p:cNvSpPr/>
          <p:nvPr/>
        </p:nvSpPr>
        <p:spPr>
          <a:xfrm>
            <a:off x="4754880" y="1234440"/>
            <a:ext cx="3931920" cy="2331720"/>
          </a:xfrm>
          <a:prstGeom prst="rect">
            <a:avLst/>
          </a:prstGeom>
          <a:solidFill>
            <a:srgbClr val="1E293B"/>
          </a:solidFill>
          <a:ln/>
        </p:spPr>
      </p:sp>
      <p:sp>
        <p:nvSpPr>
          <p:cNvPr id="31" name="Text 29"/>
          <p:cNvSpPr/>
          <p:nvPr/>
        </p:nvSpPr>
        <p:spPr>
          <a:xfrm>
            <a:off x="4937760" y="1280160"/>
            <a:ext cx="365760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Cline Configuration</a:t>
            </a:r>
            <a:endParaRPr lang="en-US" sz="1200" dirty="0"/>
          </a:p>
        </p:txBody>
      </p:sp>
      <p:sp>
        <p:nvSpPr>
          <p:cNvPr id="32" name="Text 30"/>
          <p:cNvSpPr/>
          <p:nvPr/>
        </p:nvSpPr>
        <p:spPr>
          <a:xfrm>
            <a:off x="4937760" y="16459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Provider</a:t>
            </a:r>
            <a:endParaRPr lang="en-US" sz="900" dirty="0"/>
          </a:p>
        </p:txBody>
      </p:sp>
      <p:sp>
        <p:nvSpPr>
          <p:cNvPr id="33" name="Shape 31"/>
          <p:cNvSpPr/>
          <p:nvPr/>
        </p:nvSpPr>
        <p:spPr>
          <a:xfrm>
            <a:off x="4937760" y="1828800"/>
            <a:ext cx="3566160" cy="228600"/>
          </a:xfrm>
          <a:prstGeom prst="rect">
            <a:avLst/>
          </a:prstGeom>
          <a:solidFill>
            <a:srgbClr val="0F172A"/>
          </a:solidFill>
          <a:ln/>
        </p:spPr>
      </p:sp>
      <p:sp>
        <p:nvSpPr>
          <p:cNvPr id="34" name="Text 32"/>
          <p:cNvSpPr/>
          <p:nvPr/>
        </p:nvSpPr>
        <p:spPr>
          <a:xfrm>
            <a:off x="5029200" y="18288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OpenAI Compatible</a:t>
            </a:r>
            <a:endParaRPr lang="en-US" sz="900" dirty="0"/>
          </a:p>
        </p:txBody>
      </p:sp>
      <p:sp>
        <p:nvSpPr>
          <p:cNvPr id="35" name="Text 33"/>
          <p:cNvSpPr/>
          <p:nvPr/>
        </p:nvSpPr>
        <p:spPr>
          <a:xfrm>
            <a:off x="4937760" y="21031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Base URL</a:t>
            </a:r>
            <a:endParaRPr lang="en-US" sz="900" dirty="0"/>
          </a:p>
        </p:txBody>
      </p:sp>
      <p:sp>
        <p:nvSpPr>
          <p:cNvPr id="36" name="Shape 34"/>
          <p:cNvSpPr/>
          <p:nvPr/>
        </p:nvSpPr>
        <p:spPr>
          <a:xfrm>
            <a:off x="4937760" y="2286000"/>
            <a:ext cx="3566160" cy="228600"/>
          </a:xfrm>
          <a:prstGeom prst="rect">
            <a:avLst/>
          </a:prstGeom>
          <a:solidFill>
            <a:srgbClr val="0F172A"/>
          </a:solidFill>
          <a:ln/>
        </p:spPr>
      </p:sp>
      <p:sp>
        <p:nvSpPr>
          <p:cNvPr id="37" name="Text 35"/>
          <p:cNvSpPr/>
          <p:nvPr/>
        </p:nvSpPr>
        <p:spPr>
          <a:xfrm>
            <a:off x="5029200" y="22860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http://52.174.21.131:8070/v1</a:t>
            </a:r>
            <a:endParaRPr lang="en-US" sz="900" dirty="0"/>
          </a:p>
        </p:txBody>
      </p:sp>
      <p:sp>
        <p:nvSpPr>
          <p:cNvPr id="38" name="Text 36"/>
          <p:cNvSpPr/>
          <p:nvPr/>
        </p:nvSpPr>
        <p:spPr>
          <a:xfrm>
            <a:off x="4937760" y="25603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Key</a:t>
            </a:r>
            <a:endParaRPr lang="en-US" sz="900" dirty="0"/>
          </a:p>
        </p:txBody>
      </p:sp>
      <p:sp>
        <p:nvSpPr>
          <p:cNvPr id="39" name="Shape 37"/>
          <p:cNvSpPr/>
          <p:nvPr/>
        </p:nvSpPr>
        <p:spPr>
          <a:xfrm>
            <a:off x="4937760" y="2743200"/>
            <a:ext cx="3566160" cy="228600"/>
          </a:xfrm>
          <a:prstGeom prst="rect">
            <a:avLst/>
          </a:prstGeom>
          <a:solidFill>
            <a:srgbClr val="0F172A"/>
          </a:solidFill>
          <a:ln/>
        </p:spPr>
      </p:sp>
      <p:sp>
        <p:nvSpPr>
          <p:cNvPr id="40" name="Text 38"/>
          <p:cNvSpPr/>
          <p:nvPr/>
        </p:nvSpPr>
        <p:spPr>
          <a:xfrm>
            <a:off x="5029200" y="27432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1</a:t>
            </a:r>
            <a:endParaRPr lang="en-US" sz="900" dirty="0"/>
          </a:p>
        </p:txBody>
      </p:sp>
      <p:sp>
        <p:nvSpPr>
          <p:cNvPr id="41" name="Text 39"/>
          <p:cNvSpPr/>
          <p:nvPr/>
        </p:nvSpPr>
        <p:spPr>
          <a:xfrm>
            <a:off x="4937760" y="30175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Model ID</a:t>
            </a:r>
            <a:endParaRPr lang="en-US" sz="900" dirty="0"/>
          </a:p>
        </p:txBody>
      </p:sp>
      <p:sp>
        <p:nvSpPr>
          <p:cNvPr id="42" name="Shape 40"/>
          <p:cNvSpPr/>
          <p:nvPr/>
        </p:nvSpPr>
        <p:spPr>
          <a:xfrm>
            <a:off x="4937760" y="3200400"/>
            <a:ext cx="3566160" cy="228600"/>
          </a:xfrm>
          <a:prstGeom prst="rect">
            <a:avLst/>
          </a:prstGeom>
          <a:solidFill>
            <a:srgbClr val="0F172A"/>
          </a:solidFill>
          <a:ln/>
        </p:spPr>
      </p:sp>
      <p:sp>
        <p:nvSpPr>
          <p:cNvPr id="43" name="Text 41"/>
          <p:cNvSpPr/>
          <p:nvPr/>
        </p:nvSpPr>
        <p:spPr>
          <a:xfrm>
            <a:off x="5029200" y="32004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Qwen/Qwen3.5-27B</a:t>
            </a:r>
            <a:endParaRPr lang="en-US" sz="900" dirty="0"/>
          </a:p>
        </p:txBody>
      </p:sp>
      <p:sp>
        <p:nvSpPr>
          <p:cNvPr id="44" name="Shape 42"/>
          <p:cNvSpPr/>
          <p:nvPr/>
        </p:nvSpPr>
        <p:spPr>
          <a:xfrm>
            <a:off x="4754880" y="3703320"/>
            <a:ext cx="393192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5" name="Shape 43"/>
          <p:cNvSpPr/>
          <p:nvPr/>
        </p:nvSpPr>
        <p:spPr>
          <a:xfrm>
            <a:off x="4754880" y="3703320"/>
            <a:ext cx="3931920" cy="54864"/>
          </a:xfrm>
          <a:prstGeom prst="rect">
            <a:avLst/>
          </a:prstGeom>
          <a:solidFill>
            <a:srgbClr val="F59E0B"/>
          </a:solidFill>
          <a:ln/>
        </p:spPr>
      </p:sp>
      <p:sp>
        <p:nvSpPr>
          <p:cNvPr id="46" name="Text 44"/>
          <p:cNvSpPr/>
          <p:nvPr/>
        </p:nvSpPr>
        <p:spPr>
          <a:xfrm>
            <a:off x="4937760" y="3767328"/>
            <a:ext cx="36576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Quick Test</a:t>
            </a:r>
            <a:endParaRPr lang="en-US" sz="1200" dirty="0"/>
          </a:p>
        </p:txBody>
      </p:sp>
      <p:sp>
        <p:nvSpPr>
          <p:cNvPr id="47" name="Text 45"/>
          <p:cNvSpPr/>
          <p:nvPr/>
        </p:nvSpPr>
        <p:spPr>
          <a:xfrm>
            <a:off x="4937760" y="406908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After saving, open the Cline chat panel</a:t>
            </a:r>
            <a:endParaRPr lang="en-US" sz="900" dirty="0"/>
          </a:p>
        </p:txBody>
      </p:sp>
      <p:sp>
        <p:nvSpPr>
          <p:cNvPr id="48" name="Text 46"/>
          <p:cNvSpPr/>
          <p:nvPr/>
        </p:nvSpPr>
        <p:spPr>
          <a:xfrm>
            <a:off x="4937760" y="425196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Type: "Hello, what model are you?"</a:t>
            </a:r>
            <a:endParaRPr lang="en-US" sz="900" dirty="0"/>
          </a:p>
        </p:txBody>
      </p:sp>
      <p:sp>
        <p:nvSpPr>
          <p:cNvPr id="49" name="Text 47"/>
          <p:cNvSpPr/>
          <p:nvPr/>
        </p:nvSpPr>
        <p:spPr>
          <a:xfrm>
            <a:off x="4937760" y="443484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You should get a response from Qwen</a:t>
            </a:r>
            <a:endParaRPr lang="en-US" sz="900" dirty="0"/>
          </a:p>
        </p:txBody>
      </p:sp>
      <p:sp>
        <p:nvSpPr>
          <p:cNvPr id="50" name="Text 48"/>
          <p:cNvSpPr/>
          <p:nvPr/>
        </p:nvSpPr>
        <p:spPr>
          <a:xfrm>
            <a:off x="4937760" y="461772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If you see an error, double-check the Base URL</a:t>
            </a:r>
            <a:endParaRPr lang="en-US" sz="900" dirty="0"/>
          </a:p>
        </p:txBody>
      </p:sp>
      <p:sp>
        <p:nvSpPr>
          <p:cNvPr id="51" name="Text 49"/>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This connects Cline to our self-hosted Qwen model — no external access needed</a:t>
            </a:r>
            <a:endParaRPr lang="en-US" sz="1000" dirty="0"/>
          </a:p>
        </p:txBody>
      </p:sp>
      <p:sp>
        <p:nvSpPr>
          <p:cNvPr id="52" name="Text 5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79 / 93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Installing &amp; Configuring Cline — Inside</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Step-by-step setup for your AI coding assistant</a:t>
            </a:r>
            <a:endParaRPr lang="en-US" sz="1300" dirty="0"/>
          </a:p>
        </p:txBody>
      </p:sp>
      <p:sp>
        <p:nvSpPr>
          <p:cNvPr id="5" name="Shape 3"/>
          <p:cNvSpPr/>
          <p:nvPr/>
        </p:nvSpPr>
        <p:spPr>
          <a:xfrm>
            <a:off x="457200" y="1234440"/>
            <a:ext cx="4023360" cy="36576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457200" y="1234440"/>
            <a:ext cx="4023360" cy="54864"/>
          </a:xfrm>
          <a:prstGeom prst="rect">
            <a:avLst/>
          </a:prstGeom>
          <a:solidFill>
            <a:srgbClr val="10B981"/>
          </a:solidFill>
          <a:ln/>
        </p:spPr>
      </p:sp>
      <p:sp>
        <p:nvSpPr>
          <p:cNvPr id="7" name="Text 5"/>
          <p:cNvSpPr/>
          <p:nvPr/>
        </p:nvSpPr>
        <p:spPr>
          <a:xfrm>
            <a:off x="640080" y="132588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1: Install the Extension</a:t>
            </a:r>
            <a:endParaRPr lang="en-US" sz="1200" dirty="0"/>
          </a:p>
        </p:txBody>
      </p:sp>
      <p:sp>
        <p:nvSpPr>
          <p:cNvPr id="8" name="Text 6"/>
          <p:cNvSpPr/>
          <p:nvPr/>
        </p:nvSpPr>
        <p:spPr>
          <a:xfrm>
            <a:off x="640080" y="1664208"/>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868680" y="1664208"/>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Open VS Code</a:t>
            </a:r>
            <a:endParaRPr lang="en-US" sz="950" dirty="0"/>
          </a:p>
        </p:txBody>
      </p:sp>
      <p:sp>
        <p:nvSpPr>
          <p:cNvPr id="10" name="Text 8"/>
          <p:cNvSpPr/>
          <p:nvPr/>
        </p:nvSpPr>
        <p:spPr>
          <a:xfrm>
            <a:off x="640080" y="1883664"/>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868680" y="1883664"/>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Extensions icon in the left sidebar  (⌃⇧X)</a:t>
            </a:r>
            <a:endParaRPr lang="en-US" sz="950" dirty="0"/>
          </a:p>
        </p:txBody>
      </p:sp>
      <p:sp>
        <p:nvSpPr>
          <p:cNvPr id="12" name="Text 10"/>
          <p:cNvSpPr/>
          <p:nvPr/>
        </p:nvSpPr>
        <p:spPr>
          <a:xfrm>
            <a:off x="640080" y="2103120"/>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3.</a:t>
            </a:r>
            <a:endParaRPr lang="en-US" sz="1000" dirty="0"/>
          </a:p>
        </p:txBody>
      </p:sp>
      <p:sp>
        <p:nvSpPr>
          <p:cNvPr id="13" name="Text 11"/>
          <p:cNvSpPr/>
          <p:nvPr/>
        </p:nvSpPr>
        <p:spPr>
          <a:xfrm>
            <a:off x="868680" y="2103120"/>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Search for "Cline"</a:t>
            </a:r>
            <a:endParaRPr lang="en-US" sz="950" dirty="0"/>
          </a:p>
        </p:txBody>
      </p:sp>
      <p:sp>
        <p:nvSpPr>
          <p:cNvPr id="14" name="Text 12"/>
          <p:cNvSpPr/>
          <p:nvPr/>
        </p:nvSpPr>
        <p:spPr>
          <a:xfrm>
            <a:off x="640080" y="2322576"/>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4.</a:t>
            </a:r>
            <a:endParaRPr lang="en-US" sz="1000" dirty="0"/>
          </a:p>
        </p:txBody>
      </p:sp>
      <p:sp>
        <p:nvSpPr>
          <p:cNvPr id="15" name="Text 13"/>
          <p:cNvSpPr/>
          <p:nvPr/>
        </p:nvSpPr>
        <p:spPr>
          <a:xfrm>
            <a:off x="868680" y="2322576"/>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Install on "Cline" by saoud (the one with the most installs)</a:t>
            </a:r>
            <a:endParaRPr lang="en-US" sz="950" dirty="0"/>
          </a:p>
        </p:txBody>
      </p:sp>
      <p:sp>
        <p:nvSpPr>
          <p:cNvPr id="16" name="Text 14"/>
          <p:cNvSpPr/>
          <p:nvPr/>
        </p:nvSpPr>
        <p:spPr>
          <a:xfrm>
            <a:off x="640080" y="2542032"/>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5.</a:t>
            </a:r>
            <a:endParaRPr lang="en-US" sz="1000" dirty="0"/>
          </a:p>
        </p:txBody>
      </p:sp>
      <p:sp>
        <p:nvSpPr>
          <p:cNvPr id="17" name="Text 15"/>
          <p:cNvSpPr/>
          <p:nvPr/>
        </p:nvSpPr>
        <p:spPr>
          <a:xfrm>
            <a:off x="868680" y="2542032"/>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Wait for installation → Cline icon appears in sidebar</a:t>
            </a:r>
            <a:endParaRPr lang="en-US" sz="950" dirty="0"/>
          </a:p>
        </p:txBody>
      </p:sp>
      <p:sp>
        <p:nvSpPr>
          <p:cNvPr id="18" name="Shape 16"/>
          <p:cNvSpPr/>
          <p:nvPr/>
        </p:nvSpPr>
        <p:spPr>
          <a:xfrm>
            <a:off x="640080" y="2834640"/>
            <a:ext cx="3657600" cy="9144"/>
          </a:xfrm>
          <a:prstGeom prst="rect">
            <a:avLst/>
          </a:prstGeom>
          <a:solidFill>
            <a:srgbClr val="334155"/>
          </a:solidFill>
          <a:ln/>
        </p:spPr>
      </p:sp>
      <p:sp>
        <p:nvSpPr>
          <p:cNvPr id="19" name="Text 17"/>
          <p:cNvSpPr/>
          <p:nvPr/>
        </p:nvSpPr>
        <p:spPr>
          <a:xfrm>
            <a:off x="640080" y="2926080"/>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2: Configure the AI Model</a:t>
            </a:r>
            <a:endParaRPr lang="en-US" sz="1200" dirty="0"/>
          </a:p>
        </p:txBody>
      </p:sp>
      <p:sp>
        <p:nvSpPr>
          <p:cNvPr id="20" name="Text 18"/>
          <p:cNvSpPr/>
          <p:nvPr/>
        </p:nvSpPr>
        <p:spPr>
          <a:xfrm>
            <a:off x="640080" y="3246120"/>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1.</a:t>
            </a:r>
            <a:endParaRPr lang="en-US" sz="1000" dirty="0"/>
          </a:p>
        </p:txBody>
      </p:sp>
      <p:sp>
        <p:nvSpPr>
          <p:cNvPr id="21" name="Text 19"/>
          <p:cNvSpPr/>
          <p:nvPr/>
        </p:nvSpPr>
        <p:spPr>
          <a:xfrm>
            <a:off x="868680" y="3246120"/>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Cline icon in the sidebar to open it</a:t>
            </a:r>
            <a:endParaRPr lang="en-US" sz="950" dirty="0"/>
          </a:p>
        </p:txBody>
      </p:sp>
      <p:sp>
        <p:nvSpPr>
          <p:cNvPr id="22" name="Text 20"/>
          <p:cNvSpPr/>
          <p:nvPr/>
        </p:nvSpPr>
        <p:spPr>
          <a:xfrm>
            <a:off x="640080" y="3465576"/>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2.</a:t>
            </a:r>
            <a:endParaRPr lang="en-US" sz="1000" dirty="0"/>
          </a:p>
        </p:txBody>
      </p:sp>
      <p:sp>
        <p:nvSpPr>
          <p:cNvPr id="23" name="Text 21"/>
          <p:cNvSpPr/>
          <p:nvPr/>
        </p:nvSpPr>
        <p:spPr>
          <a:xfrm>
            <a:off x="868680" y="3465576"/>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the Settings icon (⚙) at the top of the Cline panel</a:t>
            </a:r>
            <a:endParaRPr lang="en-US" sz="950" dirty="0"/>
          </a:p>
        </p:txBody>
      </p:sp>
      <p:sp>
        <p:nvSpPr>
          <p:cNvPr id="24" name="Text 22"/>
          <p:cNvSpPr/>
          <p:nvPr/>
        </p:nvSpPr>
        <p:spPr>
          <a:xfrm>
            <a:off x="640080" y="3685032"/>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868680" y="3685032"/>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Under API Provider, select "OpenAI Compatible"</a:t>
            </a:r>
            <a:endParaRPr lang="en-US" sz="950" dirty="0"/>
          </a:p>
        </p:txBody>
      </p:sp>
      <p:sp>
        <p:nvSpPr>
          <p:cNvPr id="26" name="Text 24"/>
          <p:cNvSpPr/>
          <p:nvPr/>
        </p:nvSpPr>
        <p:spPr>
          <a:xfrm>
            <a:off x="640080" y="3904488"/>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868680" y="3904488"/>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Fill in the configuration fields (see right →)</a:t>
            </a:r>
            <a:endParaRPr lang="en-US" sz="950" dirty="0"/>
          </a:p>
        </p:txBody>
      </p:sp>
      <p:sp>
        <p:nvSpPr>
          <p:cNvPr id="28" name="Text 26"/>
          <p:cNvSpPr/>
          <p:nvPr/>
        </p:nvSpPr>
        <p:spPr>
          <a:xfrm>
            <a:off x="640080" y="4123944"/>
            <a:ext cx="228600" cy="219456"/>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5.</a:t>
            </a:r>
            <a:endParaRPr lang="en-US" sz="1000" dirty="0"/>
          </a:p>
        </p:txBody>
      </p:sp>
      <p:sp>
        <p:nvSpPr>
          <p:cNvPr id="29" name="Text 27"/>
          <p:cNvSpPr/>
          <p:nvPr/>
        </p:nvSpPr>
        <p:spPr>
          <a:xfrm>
            <a:off x="868680" y="4123944"/>
            <a:ext cx="347472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Click Save — the status should turn green</a:t>
            </a:r>
            <a:endParaRPr lang="en-US" sz="950" dirty="0"/>
          </a:p>
        </p:txBody>
      </p:sp>
      <p:sp>
        <p:nvSpPr>
          <p:cNvPr id="30" name="Shape 28"/>
          <p:cNvSpPr/>
          <p:nvPr/>
        </p:nvSpPr>
        <p:spPr>
          <a:xfrm>
            <a:off x="4754880" y="1234440"/>
            <a:ext cx="3931920" cy="2331720"/>
          </a:xfrm>
          <a:prstGeom prst="rect">
            <a:avLst/>
          </a:prstGeom>
          <a:solidFill>
            <a:srgbClr val="1E293B"/>
          </a:solidFill>
          <a:ln/>
        </p:spPr>
      </p:sp>
      <p:sp>
        <p:nvSpPr>
          <p:cNvPr id="31" name="Text 29"/>
          <p:cNvSpPr/>
          <p:nvPr/>
        </p:nvSpPr>
        <p:spPr>
          <a:xfrm>
            <a:off x="4937760" y="1280160"/>
            <a:ext cx="365760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Cline Configuration</a:t>
            </a:r>
            <a:endParaRPr lang="en-US" sz="1200" dirty="0"/>
          </a:p>
        </p:txBody>
      </p:sp>
      <p:sp>
        <p:nvSpPr>
          <p:cNvPr id="32" name="Text 30"/>
          <p:cNvSpPr/>
          <p:nvPr/>
        </p:nvSpPr>
        <p:spPr>
          <a:xfrm>
            <a:off x="4937760" y="16459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Provider</a:t>
            </a:r>
            <a:endParaRPr lang="en-US" sz="900" dirty="0"/>
          </a:p>
        </p:txBody>
      </p:sp>
      <p:sp>
        <p:nvSpPr>
          <p:cNvPr id="33" name="Shape 31"/>
          <p:cNvSpPr/>
          <p:nvPr/>
        </p:nvSpPr>
        <p:spPr>
          <a:xfrm>
            <a:off x="4937760" y="1828800"/>
            <a:ext cx="3566160" cy="228600"/>
          </a:xfrm>
          <a:prstGeom prst="rect">
            <a:avLst/>
          </a:prstGeom>
          <a:solidFill>
            <a:srgbClr val="0F172A"/>
          </a:solidFill>
          <a:ln/>
        </p:spPr>
      </p:sp>
      <p:sp>
        <p:nvSpPr>
          <p:cNvPr id="34" name="Text 32"/>
          <p:cNvSpPr/>
          <p:nvPr/>
        </p:nvSpPr>
        <p:spPr>
          <a:xfrm>
            <a:off x="5029200" y="18288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OpenAI Compatible</a:t>
            </a:r>
            <a:endParaRPr lang="en-US" sz="900" dirty="0"/>
          </a:p>
        </p:txBody>
      </p:sp>
      <p:sp>
        <p:nvSpPr>
          <p:cNvPr id="35" name="Text 33"/>
          <p:cNvSpPr/>
          <p:nvPr/>
        </p:nvSpPr>
        <p:spPr>
          <a:xfrm>
            <a:off x="4937760" y="21031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Base URL</a:t>
            </a:r>
            <a:endParaRPr lang="en-US" sz="900" dirty="0"/>
          </a:p>
        </p:txBody>
      </p:sp>
      <p:sp>
        <p:nvSpPr>
          <p:cNvPr id="36" name="Shape 34"/>
          <p:cNvSpPr/>
          <p:nvPr/>
        </p:nvSpPr>
        <p:spPr>
          <a:xfrm>
            <a:off x="4937760" y="2286000"/>
            <a:ext cx="3566160" cy="228600"/>
          </a:xfrm>
          <a:prstGeom prst="rect">
            <a:avLst/>
          </a:prstGeom>
          <a:solidFill>
            <a:srgbClr val="0F172A"/>
          </a:solidFill>
          <a:ln/>
        </p:spPr>
      </p:sp>
      <p:sp>
        <p:nvSpPr>
          <p:cNvPr id="37" name="Text 35"/>
          <p:cNvSpPr/>
          <p:nvPr/>
        </p:nvSpPr>
        <p:spPr>
          <a:xfrm>
            <a:off x="5029200" y="22860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http://52.174.21.131:8070/v1</a:t>
            </a:r>
            <a:endParaRPr lang="en-US" sz="900" dirty="0"/>
          </a:p>
        </p:txBody>
      </p:sp>
      <p:sp>
        <p:nvSpPr>
          <p:cNvPr id="38" name="Text 36"/>
          <p:cNvSpPr/>
          <p:nvPr/>
        </p:nvSpPr>
        <p:spPr>
          <a:xfrm>
            <a:off x="4937760" y="25603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Key</a:t>
            </a:r>
            <a:endParaRPr lang="en-US" sz="900" dirty="0"/>
          </a:p>
        </p:txBody>
      </p:sp>
      <p:sp>
        <p:nvSpPr>
          <p:cNvPr id="39" name="Shape 37"/>
          <p:cNvSpPr/>
          <p:nvPr/>
        </p:nvSpPr>
        <p:spPr>
          <a:xfrm>
            <a:off x="4937760" y="2743200"/>
            <a:ext cx="3566160" cy="228600"/>
          </a:xfrm>
          <a:prstGeom prst="rect">
            <a:avLst/>
          </a:prstGeom>
          <a:solidFill>
            <a:srgbClr val="0F172A"/>
          </a:solidFill>
          <a:ln/>
        </p:spPr>
      </p:sp>
      <p:sp>
        <p:nvSpPr>
          <p:cNvPr id="40" name="Text 38"/>
          <p:cNvSpPr/>
          <p:nvPr/>
        </p:nvSpPr>
        <p:spPr>
          <a:xfrm>
            <a:off x="5029200" y="27432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1</a:t>
            </a:r>
            <a:endParaRPr lang="en-US" sz="900" dirty="0"/>
          </a:p>
        </p:txBody>
      </p:sp>
      <p:sp>
        <p:nvSpPr>
          <p:cNvPr id="41" name="Text 39"/>
          <p:cNvSpPr/>
          <p:nvPr/>
        </p:nvSpPr>
        <p:spPr>
          <a:xfrm>
            <a:off x="4937760" y="3017520"/>
            <a:ext cx="356616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Model ID</a:t>
            </a:r>
            <a:endParaRPr lang="en-US" sz="900" dirty="0"/>
          </a:p>
        </p:txBody>
      </p:sp>
      <p:sp>
        <p:nvSpPr>
          <p:cNvPr id="42" name="Shape 40"/>
          <p:cNvSpPr/>
          <p:nvPr/>
        </p:nvSpPr>
        <p:spPr>
          <a:xfrm>
            <a:off x="4937760" y="3200400"/>
            <a:ext cx="3566160" cy="228600"/>
          </a:xfrm>
          <a:prstGeom prst="rect">
            <a:avLst/>
          </a:prstGeom>
          <a:solidFill>
            <a:srgbClr val="0F172A"/>
          </a:solidFill>
          <a:ln/>
        </p:spPr>
      </p:sp>
      <p:sp>
        <p:nvSpPr>
          <p:cNvPr id="43" name="Text 41"/>
          <p:cNvSpPr/>
          <p:nvPr/>
        </p:nvSpPr>
        <p:spPr>
          <a:xfrm>
            <a:off x="5029200" y="3200400"/>
            <a:ext cx="338328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Qwen/Qwen3.5-27B</a:t>
            </a:r>
            <a:endParaRPr lang="en-US" sz="900" dirty="0"/>
          </a:p>
        </p:txBody>
      </p:sp>
      <p:sp>
        <p:nvSpPr>
          <p:cNvPr id="44" name="Shape 42"/>
          <p:cNvSpPr/>
          <p:nvPr/>
        </p:nvSpPr>
        <p:spPr>
          <a:xfrm>
            <a:off x="4754880" y="3703320"/>
            <a:ext cx="3931920" cy="11887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45" name="Shape 43"/>
          <p:cNvSpPr/>
          <p:nvPr/>
        </p:nvSpPr>
        <p:spPr>
          <a:xfrm>
            <a:off x="4754880" y="3703320"/>
            <a:ext cx="3931920" cy="54864"/>
          </a:xfrm>
          <a:prstGeom prst="rect">
            <a:avLst/>
          </a:prstGeom>
          <a:solidFill>
            <a:srgbClr val="F59E0B"/>
          </a:solidFill>
          <a:ln/>
        </p:spPr>
      </p:sp>
      <p:sp>
        <p:nvSpPr>
          <p:cNvPr id="46" name="Text 44"/>
          <p:cNvSpPr/>
          <p:nvPr/>
        </p:nvSpPr>
        <p:spPr>
          <a:xfrm>
            <a:off x="4937760" y="3767328"/>
            <a:ext cx="36576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Quick Test</a:t>
            </a:r>
            <a:endParaRPr lang="en-US" sz="1200" dirty="0"/>
          </a:p>
        </p:txBody>
      </p:sp>
      <p:sp>
        <p:nvSpPr>
          <p:cNvPr id="47" name="Text 45"/>
          <p:cNvSpPr/>
          <p:nvPr/>
        </p:nvSpPr>
        <p:spPr>
          <a:xfrm>
            <a:off x="4937760" y="406908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After saving, open the Cline chat panel</a:t>
            </a:r>
            <a:endParaRPr lang="en-US" sz="900" dirty="0"/>
          </a:p>
        </p:txBody>
      </p:sp>
      <p:sp>
        <p:nvSpPr>
          <p:cNvPr id="48" name="Text 46"/>
          <p:cNvSpPr/>
          <p:nvPr/>
        </p:nvSpPr>
        <p:spPr>
          <a:xfrm>
            <a:off x="4937760" y="425196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Type: "Hello, what model are you?"</a:t>
            </a:r>
            <a:endParaRPr lang="en-US" sz="900" dirty="0"/>
          </a:p>
        </p:txBody>
      </p:sp>
      <p:sp>
        <p:nvSpPr>
          <p:cNvPr id="49" name="Text 47"/>
          <p:cNvSpPr/>
          <p:nvPr/>
        </p:nvSpPr>
        <p:spPr>
          <a:xfrm>
            <a:off x="4937760" y="443484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You should get a response from Qwen</a:t>
            </a:r>
            <a:endParaRPr lang="en-US" sz="900" dirty="0"/>
          </a:p>
        </p:txBody>
      </p:sp>
      <p:sp>
        <p:nvSpPr>
          <p:cNvPr id="50" name="Text 48"/>
          <p:cNvSpPr/>
          <p:nvPr/>
        </p:nvSpPr>
        <p:spPr>
          <a:xfrm>
            <a:off x="4937760" y="4617720"/>
            <a:ext cx="356616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  If you see an error, double-check the Base URL</a:t>
            </a:r>
            <a:endParaRPr lang="en-US" sz="900" dirty="0"/>
          </a:p>
        </p:txBody>
      </p:sp>
      <p:sp>
        <p:nvSpPr>
          <p:cNvPr id="51" name="Text 49"/>
          <p:cNvSpPr/>
          <p:nvPr/>
        </p:nvSpPr>
        <p:spPr>
          <a:xfrm>
            <a:off x="457200" y="4709160"/>
            <a:ext cx="8229600" cy="27432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This connects Cline to our self-hosted Qwen model — no external access needed</a:t>
            </a:r>
            <a:endParaRPr lang="en-US" sz="1000" dirty="0"/>
          </a:p>
        </p:txBody>
      </p:sp>
      <p:sp>
        <p:nvSpPr>
          <p:cNvPr id="52" name="Text 5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80 / 93</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Markdown?</a:t>
            </a:r>
            <a:endParaRPr lang="en-US" sz="2600" dirty="0"/>
          </a:p>
        </p:txBody>
      </p:sp>
      <p:sp>
        <p:nvSpPr>
          <p:cNvPr id="5" name="Shape 3"/>
          <p:cNvSpPr/>
          <p:nvPr/>
        </p:nvSpPr>
        <p:spPr>
          <a:xfrm>
            <a:off x="457200" y="1005840"/>
            <a:ext cx="393192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457200" y="1005840"/>
            <a:ext cx="54864" cy="2377440"/>
          </a:xfrm>
          <a:prstGeom prst="rect">
            <a:avLst/>
          </a:prstGeom>
          <a:solidFill>
            <a:srgbClr val="0D9488"/>
          </a:solidFill>
          <a:ln/>
        </p:spPr>
      </p:sp>
      <p:sp>
        <p:nvSpPr>
          <p:cNvPr id="7" name="Text 5"/>
          <p:cNvSpPr/>
          <p:nvPr/>
        </p:nvSpPr>
        <p:spPr>
          <a:xfrm>
            <a:off x="731520" y="1051560"/>
            <a:ext cx="3474720" cy="4572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 lightweight way to write formatted text using plain characters.</a:t>
            </a:r>
            <a:endParaRPr lang="en-US" sz="1200" dirty="0"/>
          </a:p>
        </p:txBody>
      </p:sp>
      <p:sp>
        <p:nvSpPr>
          <p:cNvPr id="8" name="Text 6"/>
          <p:cNvSpPr/>
          <p:nvPr/>
        </p:nvSpPr>
        <p:spPr>
          <a:xfrm>
            <a:off x="731520" y="1508760"/>
            <a:ext cx="3474720" cy="64008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Markdown files (.md) are just text files with simple formatting rules. No special editor needed — any text editor works. The format is readable even without rendering.</a:t>
            </a:r>
            <a:endParaRPr lang="en-US" sz="1050" dirty="0"/>
          </a:p>
        </p:txBody>
      </p:sp>
      <p:sp>
        <p:nvSpPr>
          <p:cNvPr id="9" name="Text 7"/>
          <p:cNvSpPr/>
          <p:nvPr/>
        </p:nvSpPr>
        <p:spPr>
          <a:xfrm>
            <a:off x="731520" y="2194560"/>
            <a:ext cx="3474720" cy="27432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Why BMAD uses Markdown:</a:t>
            </a:r>
            <a:endParaRPr lang="en-US" sz="1100" dirty="0"/>
          </a:p>
        </p:txBody>
      </p:sp>
      <p:sp>
        <p:nvSpPr>
          <p:cNvPr id="10" name="Text 8"/>
          <p:cNvSpPr/>
          <p:nvPr/>
        </p:nvSpPr>
        <p:spPr>
          <a:xfrm>
            <a:off x="731520" y="2487168"/>
            <a:ext cx="3474720" cy="1828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AI agents read and write it natively</a:t>
            </a:r>
            <a:endParaRPr lang="en-US" sz="950" dirty="0"/>
          </a:p>
        </p:txBody>
      </p:sp>
      <p:sp>
        <p:nvSpPr>
          <p:cNvPr id="11" name="Text 9"/>
          <p:cNvSpPr/>
          <p:nvPr/>
        </p:nvSpPr>
        <p:spPr>
          <a:xfrm>
            <a:off x="731520" y="2670048"/>
            <a:ext cx="3474720" cy="1828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Version-controlled with Git (diff-friendly)</a:t>
            </a:r>
            <a:endParaRPr lang="en-US" sz="950" dirty="0"/>
          </a:p>
        </p:txBody>
      </p:sp>
      <p:sp>
        <p:nvSpPr>
          <p:cNvPr id="12" name="Text 10"/>
          <p:cNvSpPr/>
          <p:nvPr/>
        </p:nvSpPr>
        <p:spPr>
          <a:xfrm>
            <a:off x="731520" y="2852928"/>
            <a:ext cx="3474720" cy="1828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Works in air-gapped environments</a:t>
            </a:r>
            <a:endParaRPr lang="en-US" sz="950" dirty="0"/>
          </a:p>
        </p:txBody>
      </p:sp>
      <p:sp>
        <p:nvSpPr>
          <p:cNvPr id="13" name="Text 11"/>
          <p:cNvSpPr/>
          <p:nvPr/>
        </p:nvSpPr>
        <p:spPr>
          <a:xfrm>
            <a:off x="731520" y="3035808"/>
            <a:ext cx="3474720" cy="1828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No vendor lock-in — it’s plain text</a:t>
            </a:r>
            <a:endParaRPr lang="en-US" sz="950" dirty="0"/>
          </a:p>
        </p:txBody>
      </p:sp>
      <p:sp>
        <p:nvSpPr>
          <p:cNvPr id="14" name="Text 12"/>
          <p:cNvSpPr/>
          <p:nvPr/>
        </p:nvSpPr>
        <p:spPr>
          <a:xfrm>
            <a:off x="731520" y="3218688"/>
            <a:ext cx="3474720" cy="18288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  All BMAD agents, skills, and workflows are .md</a:t>
            </a:r>
            <a:endParaRPr lang="en-US" sz="950" dirty="0"/>
          </a:p>
        </p:txBody>
      </p:sp>
      <p:sp>
        <p:nvSpPr>
          <p:cNvPr id="15" name="Shape 13"/>
          <p:cNvSpPr/>
          <p:nvPr/>
        </p:nvSpPr>
        <p:spPr>
          <a:xfrm>
            <a:off x="4754880" y="1005840"/>
            <a:ext cx="3931920" cy="2377440"/>
          </a:xfrm>
          <a:prstGeom prst="rect">
            <a:avLst/>
          </a:prstGeom>
          <a:solidFill>
            <a:srgbClr val="1E293B"/>
          </a:solidFill>
          <a:ln/>
        </p:spPr>
      </p:sp>
      <p:sp>
        <p:nvSpPr>
          <p:cNvPr id="16" name="Text 14"/>
          <p:cNvSpPr/>
          <p:nvPr/>
        </p:nvSpPr>
        <p:spPr>
          <a:xfrm>
            <a:off x="4937760" y="1051560"/>
            <a:ext cx="3657600" cy="27432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Basic Syntax</a:t>
            </a:r>
            <a:endParaRPr lang="en-US" sz="1300" dirty="0"/>
          </a:p>
        </p:txBody>
      </p:sp>
      <p:sp>
        <p:nvSpPr>
          <p:cNvPr id="17" name="Text 15"/>
          <p:cNvSpPr/>
          <p:nvPr/>
        </p:nvSpPr>
        <p:spPr>
          <a:xfrm>
            <a:off x="4937760" y="137160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 Heading 1</a:t>
            </a:r>
            <a:endParaRPr lang="en-US" sz="900" dirty="0"/>
          </a:p>
        </p:txBody>
      </p:sp>
      <p:sp>
        <p:nvSpPr>
          <p:cNvPr id="18" name="Text 16"/>
          <p:cNvSpPr/>
          <p:nvPr/>
        </p:nvSpPr>
        <p:spPr>
          <a:xfrm>
            <a:off x="6766560" y="137160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Large title</a:t>
            </a:r>
            <a:endParaRPr lang="en-US" sz="900" dirty="0"/>
          </a:p>
        </p:txBody>
      </p:sp>
      <p:sp>
        <p:nvSpPr>
          <p:cNvPr id="19" name="Text 17"/>
          <p:cNvSpPr/>
          <p:nvPr/>
        </p:nvSpPr>
        <p:spPr>
          <a:xfrm>
            <a:off x="4937760" y="155448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 Heading 2</a:t>
            </a:r>
            <a:endParaRPr lang="en-US" sz="900" dirty="0"/>
          </a:p>
        </p:txBody>
      </p:sp>
      <p:sp>
        <p:nvSpPr>
          <p:cNvPr id="20" name="Text 18"/>
          <p:cNvSpPr/>
          <p:nvPr/>
        </p:nvSpPr>
        <p:spPr>
          <a:xfrm>
            <a:off x="6766560" y="155448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Section title</a:t>
            </a:r>
            <a:endParaRPr lang="en-US" sz="900" dirty="0"/>
          </a:p>
        </p:txBody>
      </p:sp>
      <p:sp>
        <p:nvSpPr>
          <p:cNvPr id="21" name="Text 19"/>
          <p:cNvSpPr/>
          <p:nvPr/>
        </p:nvSpPr>
        <p:spPr>
          <a:xfrm>
            <a:off x="4937760" y="173736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**bold text**</a:t>
            </a:r>
            <a:endParaRPr lang="en-US" sz="900" dirty="0"/>
          </a:p>
        </p:txBody>
      </p:sp>
      <p:sp>
        <p:nvSpPr>
          <p:cNvPr id="22" name="Text 20"/>
          <p:cNvSpPr/>
          <p:nvPr/>
        </p:nvSpPr>
        <p:spPr>
          <a:xfrm>
            <a:off x="6766560" y="17373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Bold text</a:t>
            </a:r>
            <a:endParaRPr lang="en-US" sz="900" dirty="0"/>
          </a:p>
        </p:txBody>
      </p:sp>
      <p:sp>
        <p:nvSpPr>
          <p:cNvPr id="23" name="Text 21"/>
          <p:cNvSpPr/>
          <p:nvPr/>
        </p:nvSpPr>
        <p:spPr>
          <a:xfrm>
            <a:off x="4937760" y="192024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*italic text*</a:t>
            </a:r>
            <a:endParaRPr lang="en-US" sz="900" dirty="0"/>
          </a:p>
        </p:txBody>
      </p:sp>
      <p:sp>
        <p:nvSpPr>
          <p:cNvPr id="24" name="Text 22"/>
          <p:cNvSpPr/>
          <p:nvPr/>
        </p:nvSpPr>
        <p:spPr>
          <a:xfrm>
            <a:off x="6766560" y="192024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Italic text</a:t>
            </a:r>
            <a:endParaRPr lang="en-US" sz="900" dirty="0"/>
          </a:p>
        </p:txBody>
      </p:sp>
      <p:sp>
        <p:nvSpPr>
          <p:cNvPr id="25" name="Text 23"/>
          <p:cNvSpPr/>
          <p:nvPr/>
        </p:nvSpPr>
        <p:spPr>
          <a:xfrm>
            <a:off x="4937760" y="210312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 Item one</a:t>
            </a:r>
            <a:endParaRPr lang="en-US" sz="900" dirty="0"/>
          </a:p>
        </p:txBody>
      </p:sp>
      <p:sp>
        <p:nvSpPr>
          <p:cNvPr id="26" name="Text 24"/>
          <p:cNvSpPr/>
          <p:nvPr/>
        </p:nvSpPr>
        <p:spPr>
          <a:xfrm>
            <a:off x="6766560" y="210312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Bullet list</a:t>
            </a:r>
            <a:endParaRPr lang="en-US" sz="900" dirty="0"/>
          </a:p>
        </p:txBody>
      </p:sp>
      <p:sp>
        <p:nvSpPr>
          <p:cNvPr id="27" name="Text 25"/>
          <p:cNvSpPr/>
          <p:nvPr/>
        </p:nvSpPr>
        <p:spPr>
          <a:xfrm>
            <a:off x="4937760" y="228600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1. First step</a:t>
            </a:r>
            <a:endParaRPr lang="en-US" sz="900" dirty="0"/>
          </a:p>
        </p:txBody>
      </p:sp>
      <p:sp>
        <p:nvSpPr>
          <p:cNvPr id="28" name="Text 26"/>
          <p:cNvSpPr/>
          <p:nvPr/>
        </p:nvSpPr>
        <p:spPr>
          <a:xfrm>
            <a:off x="6766560" y="228600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Numbered list</a:t>
            </a:r>
            <a:endParaRPr lang="en-US" sz="900" dirty="0"/>
          </a:p>
        </p:txBody>
      </p:sp>
      <p:sp>
        <p:nvSpPr>
          <p:cNvPr id="29" name="Text 27"/>
          <p:cNvSpPr/>
          <p:nvPr/>
        </p:nvSpPr>
        <p:spPr>
          <a:xfrm>
            <a:off x="4937760" y="246888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[link](url)</a:t>
            </a:r>
            <a:endParaRPr lang="en-US" sz="900" dirty="0"/>
          </a:p>
        </p:txBody>
      </p:sp>
      <p:sp>
        <p:nvSpPr>
          <p:cNvPr id="30" name="Text 28"/>
          <p:cNvSpPr/>
          <p:nvPr/>
        </p:nvSpPr>
        <p:spPr>
          <a:xfrm>
            <a:off x="6766560" y="246888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Hyperlink</a:t>
            </a:r>
            <a:endParaRPr lang="en-US" sz="900" dirty="0"/>
          </a:p>
        </p:txBody>
      </p:sp>
      <p:sp>
        <p:nvSpPr>
          <p:cNvPr id="31" name="Text 29"/>
          <p:cNvSpPr/>
          <p:nvPr/>
        </p:nvSpPr>
        <p:spPr>
          <a:xfrm>
            <a:off x="4937760" y="265176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```code```</a:t>
            </a:r>
            <a:endParaRPr lang="en-US" sz="900" dirty="0"/>
          </a:p>
        </p:txBody>
      </p:sp>
      <p:sp>
        <p:nvSpPr>
          <p:cNvPr id="32" name="Text 30"/>
          <p:cNvSpPr/>
          <p:nvPr/>
        </p:nvSpPr>
        <p:spPr>
          <a:xfrm>
            <a:off x="6766560" y="265176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Code block</a:t>
            </a:r>
            <a:endParaRPr lang="en-US" sz="900" dirty="0"/>
          </a:p>
        </p:txBody>
      </p:sp>
      <p:sp>
        <p:nvSpPr>
          <p:cNvPr id="33" name="Text 31"/>
          <p:cNvSpPr/>
          <p:nvPr/>
        </p:nvSpPr>
        <p:spPr>
          <a:xfrm>
            <a:off x="4937760" y="283464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&gt; Quote</a:t>
            </a:r>
            <a:endParaRPr lang="en-US" sz="900" dirty="0"/>
          </a:p>
        </p:txBody>
      </p:sp>
      <p:sp>
        <p:nvSpPr>
          <p:cNvPr id="34" name="Text 32"/>
          <p:cNvSpPr/>
          <p:nvPr/>
        </p:nvSpPr>
        <p:spPr>
          <a:xfrm>
            <a:off x="6766560" y="283464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Blockquote</a:t>
            </a:r>
            <a:endParaRPr lang="en-US" sz="900" dirty="0"/>
          </a:p>
        </p:txBody>
      </p:sp>
      <p:sp>
        <p:nvSpPr>
          <p:cNvPr id="35" name="Text 33"/>
          <p:cNvSpPr/>
          <p:nvPr/>
        </p:nvSpPr>
        <p:spPr>
          <a:xfrm>
            <a:off x="4937760" y="3017520"/>
            <a:ext cx="1828800" cy="18288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a:t>
            </a:r>
            <a:endParaRPr lang="en-US" sz="900" dirty="0"/>
          </a:p>
        </p:txBody>
      </p:sp>
      <p:sp>
        <p:nvSpPr>
          <p:cNvPr id="36" name="Text 34"/>
          <p:cNvSpPr/>
          <p:nvPr/>
        </p:nvSpPr>
        <p:spPr>
          <a:xfrm>
            <a:off x="6766560" y="301752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  Horizontal rule</a:t>
            </a:r>
            <a:endParaRPr lang="en-US" sz="900" dirty="0"/>
          </a:p>
        </p:txBody>
      </p:sp>
      <p:sp>
        <p:nvSpPr>
          <p:cNvPr id="37" name="Text 35"/>
          <p:cNvSpPr/>
          <p:nvPr/>
        </p:nvSpPr>
        <p:spPr>
          <a:xfrm>
            <a:off x="457200" y="3566160"/>
            <a:ext cx="82296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 Real BMAD File:</a:t>
            </a:r>
            <a:endParaRPr lang="en-US" sz="1200" dirty="0"/>
          </a:p>
        </p:txBody>
      </p:sp>
      <p:sp>
        <p:nvSpPr>
          <p:cNvPr id="38" name="Shape 36"/>
          <p:cNvSpPr/>
          <p:nvPr/>
        </p:nvSpPr>
        <p:spPr>
          <a:xfrm>
            <a:off x="457200" y="3794760"/>
            <a:ext cx="8229600" cy="777240"/>
          </a:xfrm>
          <a:prstGeom prst="rect">
            <a:avLst/>
          </a:prstGeom>
          <a:solidFill>
            <a:srgbClr val="1E293B"/>
          </a:solidFill>
          <a:ln/>
        </p:spPr>
      </p:sp>
      <p:sp>
        <p:nvSpPr>
          <p:cNvPr id="39" name="Text 37"/>
          <p:cNvSpPr/>
          <p:nvPr/>
        </p:nvSpPr>
        <p:spPr>
          <a:xfrm>
            <a:off x="640080" y="3822192"/>
            <a:ext cx="7863840" cy="118872"/>
          </a:xfrm>
          <a:prstGeom prst="rect">
            <a:avLst/>
          </a:prstGeom>
          <a:noFill/>
          <a:ln/>
        </p:spPr>
        <p:txBody>
          <a:bodyPr wrap="square" lIns="0" tIns="0" rIns="0" bIns="0" rtlCol="0" anchor="ctr"/>
          <a:lstStyle/>
          <a:p>
            <a:pPr indent="0" marL="0">
              <a:buNone/>
            </a:pPr>
            <a:r>
              <a:rPr lang="en-US" sz="800" dirty="0">
                <a:solidFill>
                  <a:srgbClr val="14B8A6"/>
                </a:solidFill>
                <a:latin typeface="Consolas" pitchFamily="34" charset="0"/>
                <a:ea typeface="Consolas" pitchFamily="34" charset="-122"/>
                <a:cs typeface="Consolas" pitchFamily="34" charset="-120"/>
              </a:rPr>
              <a:t># Story: Implement Authentication API</a:t>
            </a:r>
            <a:endParaRPr lang="en-US" sz="800" dirty="0"/>
          </a:p>
        </p:txBody>
      </p:sp>
      <p:sp>
        <p:nvSpPr>
          <p:cNvPr id="40" name="Text 38"/>
          <p:cNvSpPr/>
          <p:nvPr/>
        </p:nvSpPr>
        <p:spPr>
          <a:xfrm>
            <a:off x="640080" y="3941064"/>
            <a:ext cx="7863840" cy="118872"/>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 Status: ready  |  Epic: user-management</a:t>
            </a:r>
            <a:endParaRPr lang="en-US" sz="800" dirty="0"/>
          </a:p>
        </p:txBody>
      </p:sp>
      <p:sp>
        <p:nvSpPr>
          <p:cNvPr id="41" name="Text 39"/>
          <p:cNvSpPr/>
          <p:nvPr/>
        </p:nvSpPr>
        <p:spPr>
          <a:xfrm>
            <a:off x="640080" y="4059936"/>
            <a:ext cx="7863840" cy="118872"/>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 Acceptance Criteria</a:t>
            </a:r>
            <a:endParaRPr lang="en-US" sz="800" dirty="0"/>
          </a:p>
        </p:txBody>
      </p:sp>
      <p:sp>
        <p:nvSpPr>
          <p:cNvPr id="42" name="Text 40"/>
          <p:cNvSpPr/>
          <p:nvPr/>
        </p:nvSpPr>
        <p:spPr>
          <a:xfrm>
            <a:off x="640080" y="4178808"/>
            <a:ext cx="7863840" cy="118872"/>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 JWT token generation with 15-min expiry</a:t>
            </a:r>
            <a:endParaRPr lang="en-US" sz="800" dirty="0"/>
          </a:p>
        </p:txBody>
      </p:sp>
      <p:sp>
        <p:nvSpPr>
          <p:cNvPr id="43" name="Text 41"/>
          <p:cNvSpPr/>
          <p:nvPr/>
        </p:nvSpPr>
        <p:spPr>
          <a:xfrm>
            <a:off x="640080" y="4297680"/>
            <a:ext cx="7863840" cy="118872"/>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 Refresh token rotation on each use</a:t>
            </a:r>
            <a:endParaRPr lang="en-US" sz="800" dirty="0"/>
          </a:p>
        </p:txBody>
      </p:sp>
      <p:sp>
        <p:nvSpPr>
          <p:cNvPr id="44" name="Text 42"/>
          <p:cNvSpPr/>
          <p:nvPr/>
        </p:nvSpPr>
        <p:spPr>
          <a:xfrm>
            <a:off x="640080" y="4416552"/>
            <a:ext cx="7863840" cy="118872"/>
          </a:xfrm>
          <a:prstGeom prst="rect">
            <a:avLst/>
          </a:prstGeom>
          <a:noFill/>
          <a:ln/>
        </p:spPr>
        <p:txBody>
          <a:bodyPr wrap="square" lIns="0" tIns="0" rIns="0" bIns="0"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 [ ] Rate limiting: max 5 failed attempts per IP</a:t>
            </a:r>
            <a:endParaRPr lang="en-US" sz="800" dirty="0"/>
          </a:p>
        </p:txBody>
      </p:sp>
      <p:sp>
        <p:nvSpPr>
          <p:cNvPr id="45" name="Text 43"/>
          <p:cNvSpPr/>
          <p:nvPr/>
        </p:nvSpPr>
        <p:spPr>
          <a:xfrm>
            <a:off x="457200" y="4663440"/>
            <a:ext cx="822960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Every BMAD artifact — briefs, PRDs, architecture docs, stories — is a Markdown file that AI agents and humans both understand</a:t>
            </a:r>
            <a:endParaRPr lang="en-US" sz="1000" dirty="0"/>
          </a:p>
        </p:txBody>
      </p:sp>
      <p:sp>
        <p:nvSpPr>
          <p:cNvPr id="46" name="Text 4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81 / 93</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Installing ma-agents + BMAD-METHOD</a:t>
            </a:r>
            <a:endParaRPr lang="en-US" sz="2600" dirty="0"/>
          </a:p>
        </p:txBody>
      </p:sp>
      <p:sp>
        <p:nvSpPr>
          <p:cNvPr id="5" name="Shape 3"/>
          <p:cNvSpPr/>
          <p:nvPr/>
        </p:nvSpPr>
        <p:spPr>
          <a:xfrm>
            <a:off x="320040" y="1051560"/>
            <a:ext cx="4754880" cy="3383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54864" cy="3383280"/>
          </a:xfrm>
          <a:prstGeom prst="rect">
            <a:avLst/>
          </a:prstGeom>
          <a:solidFill>
            <a:srgbClr val="0D9488"/>
          </a:solidFill>
          <a:ln/>
        </p:spPr>
      </p:sp>
      <p:sp>
        <p:nvSpPr>
          <p:cNvPr id="7" name="Text 5"/>
          <p:cNvSpPr/>
          <p:nvPr/>
        </p:nvSpPr>
        <p:spPr>
          <a:xfrm>
            <a:off x="502920" y="1097280"/>
            <a:ext cx="438912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Step-by-Step Installation</a:t>
            </a:r>
            <a:endParaRPr lang="en-US" sz="1400" dirty="0"/>
          </a:p>
        </p:txBody>
      </p:sp>
      <p:sp>
        <p:nvSpPr>
          <p:cNvPr id="8" name="Shape 6"/>
          <p:cNvSpPr/>
          <p:nvPr/>
        </p:nvSpPr>
        <p:spPr>
          <a:xfrm>
            <a:off x="594360" y="1508760"/>
            <a:ext cx="320040" cy="320040"/>
          </a:xfrm>
          <a:prstGeom prst="ellipse">
            <a:avLst/>
          </a:prstGeom>
          <a:solidFill>
            <a:srgbClr val="0D9488"/>
          </a:solidFill>
          <a:ln/>
        </p:spPr>
      </p:sp>
      <p:sp>
        <p:nvSpPr>
          <p:cNvPr id="9" name="Text 7"/>
          <p:cNvSpPr/>
          <p:nvPr/>
        </p:nvSpPr>
        <p:spPr>
          <a:xfrm>
            <a:off x="594360" y="150876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05840" y="1490472"/>
            <a:ext cx="384048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Install Node.js (v20+)</a:t>
            </a:r>
            <a:endParaRPr lang="en-US" sz="1100" dirty="0"/>
          </a:p>
        </p:txBody>
      </p:sp>
      <p:sp>
        <p:nvSpPr>
          <p:cNvPr id="11" name="Text 9"/>
          <p:cNvSpPr/>
          <p:nvPr/>
        </p:nvSpPr>
        <p:spPr>
          <a:xfrm>
            <a:off x="1005840" y="1691640"/>
            <a:ext cx="384048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nodejs.org — download LTS version</a:t>
            </a:r>
            <a:endParaRPr lang="en-US" sz="900" dirty="0"/>
          </a:p>
        </p:txBody>
      </p:sp>
      <p:sp>
        <p:nvSpPr>
          <p:cNvPr id="12" name="Shape 10"/>
          <p:cNvSpPr/>
          <p:nvPr/>
        </p:nvSpPr>
        <p:spPr>
          <a:xfrm>
            <a:off x="594360" y="2057400"/>
            <a:ext cx="320040" cy="320040"/>
          </a:xfrm>
          <a:prstGeom prst="ellipse">
            <a:avLst/>
          </a:prstGeom>
          <a:solidFill>
            <a:srgbClr val="0D9488"/>
          </a:solidFill>
          <a:ln/>
        </p:spPr>
      </p:sp>
      <p:sp>
        <p:nvSpPr>
          <p:cNvPr id="13" name="Text 11"/>
          <p:cNvSpPr/>
          <p:nvPr/>
        </p:nvSpPr>
        <p:spPr>
          <a:xfrm>
            <a:off x="594360" y="205740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005840" y="2039112"/>
            <a:ext cx="384048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Navigate to your project root</a:t>
            </a:r>
            <a:endParaRPr lang="en-US" sz="1100" dirty="0"/>
          </a:p>
        </p:txBody>
      </p:sp>
      <p:sp>
        <p:nvSpPr>
          <p:cNvPr id="15" name="Text 13"/>
          <p:cNvSpPr/>
          <p:nvPr/>
        </p:nvSpPr>
        <p:spPr>
          <a:xfrm>
            <a:off x="1005840" y="2240280"/>
            <a:ext cx="384048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cd /path/to/your/project</a:t>
            </a:r>
            <a:endParaRPr lang="en-US" sz="900" dirty="0"/>
          </a:p>
        </p:txBody>
      </p:sp>
      <p:sp>
        <p:nvSpPr>
          <p:cNvPr id="16" name="Shape 14"/>
          <p:cNvSpPr/>
          <p:nvPr/>
        </p:nvSpPr>
        <p:spPr>
          <a:xfrm>
            <a:off x="594360" y="2606040"/>
            <a:ext cx="320040" cy="320040"/>
          </a:xfrm>
          <a:prstGeom prst="ellipse">
            <a:avLst/>
          </a:prstGeom>
          <a:solidFill>
            <a:srgbClr val="0D9488"/>
          </a:solidFill>
          <a:ln/>
        </p:spPr>
      </p:sp>
      <p:sp>
        <p:nvSpPr>
          <p:cNvPr id="17" name="Text 15"/>
          <p:cNvSpPr/>
          <p:nvPr/>
        </p:nvSpPr>
        <p:spPr>
          <a:xfrm>
            <a:off x="594360" y="26060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05840" y="2587752"/>
            <a:ext cx="384048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Run the ma-agents wizard</a:t>
            </a:r>
            <a:endParaRPr lang="en-US" sz="1100" dirty="0"/>
          </a:p>
        </p:txBody>
      </p:sp>
      <p:sp>
        <p:nvSpPr>
          <p:cNvPr id="19" name="Text 17"/>
          <p:cNvSpPr/>
          <p:nvPr/>
        </p:nvSpPr>
        <p:spPr>
          <a:xfrm>
            <a:off x="1005840" y="2788920"/>
            <a:ext cx="384048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npx ma-agents install</a:t>
            </a:r>
            <a:endParaRPr lang="en-US" sz="900" dirty="0"/>
          </a:p>
        </p:txBody>
      </p:sp>
      <p:sp>
        <p:nvSpPr>
          <p:cNvPr id="20" name="Shape 18"/>
          <p:cNvSpPr/>
          <p:nvPr/>
        </p:nvSpPr>
        <p:spPr>
          <a:xfrm>
            <a:off x="594360" y="3154680"/>
            <a:ext cx="320040" cy="320040"/>
          </a:xfrm>
          <a:prstGeom prst="ellipse">
            <a:avLst/>
          </a:prstGeom>
          <a:solidFill>
            <a:srgbClr val="0D9488"/>
          </a:solidFill>
          <a:ln/>
        </p:spPr>
      </p:sp>
      <p:sp>
        <p:nvSpPr>
          <p:cNvPr id="21" name="Text 19"/>
          <p:cNvSpPr/>
          <p:nvPr/>
        </p:nvSpPr>
        <p:spPr>
          <a:xfrm>
            <a:off x="594360" y="31546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005840" y="3136392"/>
            <a:ext cx="384048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Select skills you need</a:t>
            </a:r>
            <a:endParaRPr lang="en-US" sz="1100" dirty="0"/>
          </a:p>
        </p:txBody>
      </p:sp>
      <p:sp>
        <p:nvSpPr>
          <p:cNvPr id="23" name="Text 21"/>
          <p:cNvSpPr/>
          <p:nvPr/>
        </p:nvSpPr>
        <p:spPr>
          <a:xfrm>
            <a:off x="1005840" y="3337560"/>
            <a:ext cx="384048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code-review, test-generator, security...</a:t>
            </a:r>
            <a:endParaRPr lang="en-US" sz="900" dirty="0"/>
          </a:p>
        </p:txBody>
      </p:sp>
      <p:sp>
        <p:nvSpPr>
          <p:cNvPr id="24" name="Shape 22"/>
          <p:cNvSpPr/>
          <p:nvPr/>
        </p:nvSpPr>
        <p:spPr>
          <a:xfrm>
            <a:off x="594360" y="3703320"/>
            <a:ext cx="320040" cy="320040"/>
          </a:xfrm>
          <a:prstGeom prst="ellipse">
            <a:avLst/>
          </a:prstGeom>
          <a:solidFill>
            <a:srgbClr val="0D9488"/>
          </a:solidFill>
          <a:ln/>
        </p:spPr>
      </p:sp>
      <p:sp>
        <p:nvSpPr>
          <p:cNvPr id="25" name="Text 23"/>
          <p:cNvSpPr/>
          <p:nvPr/>
        </p:nvSpPr>
        <p:spPr>
          <a:xfrm>
            <a:off x="594360" y="370332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1005840" y="3685032"/>
            <a:ext cx="3840480" cy="20116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Select target agents</a:t>
            </a:r>
            <a:endParaRPr lang="en-US" sz="1100" dirty="0"/>
          </a:p>
        </p:txBody>
      </p:sp>
      <p:sp>
        <p:nvSpPr>
          <p:cNvPr id="27" name="Text 25"/>
          <p:cNvSpPr/>
          <p:nvPr/>
        </p:nvSpPr>
        <p:spPr>
          <a:xfrm>
            <a:off x="1005840" y="3886200"/>
            <a:ext cx="384048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claude-code, cursor, cline, antigravity...</a:t>
            </a:r>
            <a:endParaRPr lang="en-US" sz="900" dirty="0"/>
          </a:p>
        </p:txBody>
      </p:sp>
      <p:sp>
        <p:nvSpPr>
          <p:cNvPr id="28" name="Shape 26"/>
          <p:cNvSpPr/>
          <p:nvPr/>
        </p:nvSpPr>
        <p:spPr>
          <a:xfrm>
            <a:off x="5257800" y="1051560"/>
            <a:ext cx="3703320" cy="3383280"/>
          </a:xfrm>
          <a:prstGeom prst="rect">
            <a:avLst/>
          </a:prstGeom>
          <a:solidFill>
            <a:srgbClr val="0F1B2D"/>
          </a:solidFill>
          <a:ln/>
        </p:spPr>
      </p:sp>
      <p:sp>
        <p:nvSpPr>
          <p:cNvPr id="29" name="Text 27"/>
          <p:cNvSpPr/>
          <p:nvPr/>
        </p:nvSpPr>
        <p:spPr>
          <a:xfrm>
            <a:off x="5440680" y="1115568"/>
            <a:ext cx="3383280" cy="32004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What Happens Automatically</a:t>
            </a:r>
            <a:endParaRPr lang="en-US" sz="1300" dirty="0"/>
          </a:p>
        </p:txBody>
      </p:sp>
      <p:sp>
        <p:nvSpPr>
          <p:cNvPr id="30" name="Text 28"/>
          <p:cNvSpPr/>
          <p:nvPr/>
        </p:nvSpPr>
        <p:spPr>
          <a:xfrm>
            <a:off x="5440680" y="15544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31" name="Text 29"/>
          <p:cNvSpPr/>
          <p:nvPr/>
        </p:nvSpPr>
        <p:spPr>
          <a:xfrm>
            <a:off x="5760720" y="15544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BMAD-METHOD is installed inside your project</a:t>
            </a:r>
            <a:endParaRPr lang="en-US" sz="950" dirty="0"/>
          </a:p>
        </p:txBody>
      </p:sp>
      <p:sp>
        <p:nvSpPr>
          <p:cNvPr id="32" name="Text 30"/>
          <p:cNvSpPr/>
          <p:nvPr/>
        </p:nvSpPr>
        <p:spPr>
          <a:xfrm>
            <a:off x="5760720" y="17373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_bmad/ directory with agents, workflows, tasks</a:t>
            </a:r>
            <a:endParaRPr lang="en-US" sz="800" dirty="0"/>
          </a:p>
        </p:txBody>
      </p:sp>
      <p:sp>
        <p:nvSpPr>
          <p:cNvPr id="33" name="Text 31"/>
          <p:cNvSpPr/>
          <p:nvPr/>
        </p:nvSpPr>
        <p:spPr>
          <a:xfrm>
            <a:off x="5440680" y="20116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34" name="Text 32"/>
          <p:cNvSpPr/>
          <p:nvPr/>
        </p:nvSpPr>
        <p:spPr>
          <a:xfrm>
            <a:off x="5760720" y="20116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Skills copied to each agent’s directory</a:t>
            </a:r>
            <a:endParaRPr lang="en-US" sz="950" dirty="0"/>
          </a:p>
        </p:txBody>
      </p:sp>
      <p:sp>
        <p:nvSpPr>
          <p:cNvPr id="35" name="Text 33"/>
          <p:cNvSpPr/>
          <p:nvPr/>
        </p:nvSpPr>
        <p:spPr>
          <a:xfrm>
            <a:off x="5760720" y="21945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.claude/skills/, .cursor/skills/, etc.</a:t>
            </a:r>
            <a:endParaRPr lang="en-US" sz="800" dirty="0"/>
          </a:p>
        </p:txBody>
      </p:sp>
      <p:sp>
        <p:nvSpPr>
          <p:cNvPr id="36" name="Text 34"/>
          <p:cNvSpPr/>
          <p:nvPr/>
        </p:nvSpPr>
        <p:spPr>
          <a:xfrm>
            <a:off x="5440680" y="24688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37" name="Text 35"/>
          <p:cNvSpPr/>
          <p:nvPr/>
        </p:nvSpPr>
        <p:spPr>
          <a:xfrm>
            <a:off x="5760720" y="24688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MANIFEST.yaml generated</a:t>
            </a:r>
            <a:endParaRPr lang="en-US" sz="950" dirty="0"/>
          </a:p>
        </p:txBody>
      </p:sp>
      <p:sp>
        <p:nvSpPr>
          <p:cNvPr id="38" name="Text 36"/>
          <p:cNvSpPr/>
          <p:nvPr/>
        </p:nvSpPr>
        <p:spPr>
          <a:xfrm>
            <a:off x="5760720" y="26517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Auto-discovery file for all installed skills</a:t>
            </a:r>
            <a:endParaRPr lang="en-US" sz="800" dirty="0"/>
          </a:p>
        </p:txBody>
      </p:sp>
      <p:sp>
        <p:nvSpPr>
          <p:cNvPr id="39" name="Text 37"/>
          <p:cNvSpPr/>
          <p:nvPr/>
        </p:nvSpPr>
        <p:spPr>
          <a:xfrm>
            <a:off x="5440680" y="29260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40" name="Text 38"/>
          <p:cNvSpPr/>
          <p:nvPr/>
        </p:nvSpPr>
        <p:spPr>
          <a:xfrm>
            <a:off x="5760720" y="29260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Agent instruction files updated</a:t>
            </a:r>
            <a:endParaRPr lang="en-US" sz="950" dirty="0"/>
          </a:p>
        </p:txBody>
      </p:sp>
      <p:sp>
        <p:nvSpPr>
          <p:cNvPr id="41" name="Text 39"/>
          <p:cNvSpPr/>
          <p:nvPr/>
        </p:nvSpPr>
        <p:spPr>
          <a:xfrm>
            <a:off x="5760720" y="31089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CLAUDE.md, .clinerules — planning hints injected</a:t>
            </a:r>
            <a:endParaRPr lang="en-US" sz="800" dirty="0"/>
          </a:p>
        </p:txBody>
      </p:sp>
      <p:sp>
        <p:nvSpPr>
          <p:cNvPr id="42" name="Text 40"/>
          <p:cNvSpPr/>
          <p:nvPr/>
        </p:nvSpPr>
        <p:spPr>
          <a:xfrm>
            <a:off x="5440680" y="33832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43" name="Text 41"/>
          <p:cNvSpPr/>
          <p:nvPr/>
        </p:nvSpPr>
        <p:spPr>
          <a:xfrm>
            <a:off x="5760720" y="33832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Default agent configs created</a:t>
            </a:r>
            <a:endParaRPr lang="en-US" sz="950" dirty="0"/>
          </a:p>
        </p:txBody>
      </p:sp>
      <p:sp>
        <p:nvSpPr>
          <p:cNvPr id="44" name="Text 42"/>
          <p:cNvSpPr/>
          <p:nvPr/>
        </p:nvSpPr>
        <p:spPr>
          <a:xfrm>
            <a:off x="5760720" y="35661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.customize.yaml templates (override defaults only)</a:t>
            </a:r>
            <a:endParaRPr lang="en-US" sz="800" dirty="0"/>
          </a:p>
        </p:txBody>
      </p:sp>
      <p:sp>
        <p:nvSpPr>
          <p:cNvPr id="45" name="Text 43"/>
          <p:cNvSpPr/>
          <p:nvPr/>
        </p:nvSpPr>
        <p:spPr>
          <a:xfrm>
            <a:off x="5440680" y="3840480"/>
            <a:ext cx="274320" cy="201168"/>
          </a:xfrm>
          <a:prstGeom prst="rect">
            <a:avLst/>
          </a:prstGeom>
          <a:noFill/>
          <a:ln/>
        </p:spPr>
        <p:txBody>
          <a:bodyPr wrap="square" lIns="0" tIns="0" rIns="0" bIns="0" rtlCol="0" anchor="ctr"/>
          <a:lstStyle/>
          <a:p>
            <a:pPr indent="0" marL="0">
              <a:buNone/>
            </a:pPr>
            <a:r>
              <a:rPr lang="en-US" sz="1200" dirty="0">
                <a:solidFill>
                  <a:srgbClr val="0D9488"/>
                </a:solidFill>
              </a:rPr>
              <a:t>✔</a:t>
            </a:r>
            <a:endParaRPr lang="en-US" sz="1200" dirty="0"/>
          </a:p>
        </p:txBody>
      </p:sp>
      <p:sp>
        <p:nvSpPr>
          <p:cNvPr id="46" name="Text 44"/>
          <p:cNvSpPr/>
          <p:nvPr/>
        </p:nvSpPr>
        <p:spPr>
          <a:xfrm>
            <a:off x="5760720" y="3840480"/>
            <a:ext cx="301752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Slash commands created</a:t>
            </a:r>
            <a:endParaRPr lang="en-US" sz="950" dirty="0"/>
          </a:p>
        </p:txBody>
      </p:sp>
      <p:sp>
        <p:nvSpPr>
          <p:cNvPr id="47" name="Text 45"/>
          <p:cNvSpPr/>
          <p:nvPr/>
        </p:nvSpPr>
        <p:spPr>
          <a:xfrm>
            <a:off x="5760720" y="4023360"/>
            <a:ext cx="3017520" cy="182880"/>
          </a:xfrm>
          <a:prstGeom prst="rect">
            <a:avLst/>
          </a:prstGeom>
          <a:noFill/>
          <a:ln/>
        </p:spPr>
        <p:txBody>
          <a:bodyPr wrap="square" lIns="0" tIns="0" rIns="0" bIns="0"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/bmad-help, /bmad-bmm-create-prd, etc.</a:t>
            </a:r>
            <a:endParaRPr lang="en-US" sz="800" dirty="0"/>
          </a:p>
        </p:txBody>
      </p:sp>
      <p:sp>
        <p:nvSpPr>
          <p:cNvPr id="48" name="Text 46"/>
          <p:cNvSpPr/>
          <p:nvPr/>
        </p:nvSpPr>
        <p:spPr>
          <a:xfrm>
            <a:off x="320040" y="4709160"/>
            <a:ext cx="850392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One command installs everything: skills, BMAD framework, agent integration, and slash commands</a:t>
            </a:r>
            <a:endParaRPr lang="en-US" sz="1000" dirty="0"/>
          </a:p>
        </p:txBody>
      </p:sp>
      <p:sp>
        <p:nvSpPr>
          <p:cNvPr id="49" name="Text 4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82 / 93</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Getting Started — /bmad-help</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Your intelligent guide — always knows what to do next</a:t>
            </a:r>
            <a:endParaRPr lang="en-US" sz="1300" dirty="0"/>
          </a:p>
        </p:txBody>
      </p:sp>
      <p:sp>
        <p:nvSpPr>
          <p:cNvPr id="5" name="Shape 3"/>
          <p:cNvSpPr/>
          <p:nvPr/>
        </p:nvSpPr>
        <p:spPr>
          <a:xfrm>
            <a:off x="365760" y="1234440"/>
            <a:ext cx="4114800" cy="2286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Text 4"/>
          <p:cNvSpPr/>
          <p:nvPr/>
        </p:nvSpPr>
        <p:spPr>
          <a:xfrm>
            <a:off x="548640" y="1280160"/>
            <a:ext cx="2286000" cy="320040"/>
          </a:xfrm>
          <a:prstGeom prst="rect">
            <a:avLst/>
          </a:prstGeom>
          <a:noFill/>
          <a:ln/>
        </p:spPr>
        <p:txBody>
          <a:bodyPr wrap="square" lIns="0" tIns="0" rIns="0" bIns="0" rtlCol="0" anchor="ctr"/>
          <a:lstStyle/>
          <a:p>
            <a:pPr indent="0" marL="0">
              <a:buNone/>
            </a:pPr>
            <a:r>
              <a:rPr lang="en-US" sz="1600" b="1" dirty="0">
                <a:solidFill>
                  <a:srgbClr val="F59E0B"/>
                </a:solidFill>
                <a:latin typeface="Consolas" pitchFamily="34" charset="0"/>
                <a:ea typeface="Consolas" pitchFamily="34" charset="-122"/>
                <a:cs typeface="Consolas" pitchFamily="34" charset="-120"/>
              </a:rPr>
              <a:t>/bmad-help</a:t>
            </a:r>
            <a:endParaRPr lang="en-US" sz="1600" dirty="0"/>
          </a:p>
        </p:txBody>
      </p:sp>
      <p:sp>
        <p:nvSpPr>
          <p:cNvPr id="7" name="Text 5"/>
          <p:cNvSpPr/>
          <p:nvPr/>
        </p:nvSpPr>
        <p:spPr>
          <a:xfrm>
            <a:off x="548640" y="1691640"/>
            <a:ext cx="3749040" cy="32004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Inspects your project to see what’s already been done</a:t>
            </a:r>
            <a:endParaRPr lang="en-US" sz="1000" dirty="0"/>
          </a:p>
        </p:txBody>
      </p:sp>
      <p:sp>
        <p:nvSpPr>
          <p:cNvPr id="8" name="Text 6"/>
          <p:cNvSpPr/>
          <p:nvPr/>
        </p:nvSpPr>
        <p:spPr>
          <a:xfrm>
            <a:off x="548640" y="2011680"/>
            <a:ext cx="3749040" cy="32004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Shows options based on installed modules</a:t>
            </a:r>
            <a:endParaRPr lang="en-US" sz="1000" dirty="0"/>
          </a:p>
        </p:txBody>
      </p:sp>
      <p:sp>
        <p:nvSpPr>
          <p:cNvPr id="9" name="Text 7"/>
          <p:cNvSpPr/>
          <p:nvPr/>
        </p:nvSpPr>
        <p:spPr>
          <a:xfrm>
            <a:off x="548640" y="2331720"/>
            <a:ext cx="3749040" cy="32004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Recommends the next required task</a:t>
            </a:r>
            <a:endParaRPr lang="en-US" sz="1000" dirty="0"/>
          </a:p>
        </p:txBody>
      </p:sp>
      <p:sp>
        <p:nvSpPr>
          <p:cNvPr id="10" name="Text 8"/>
          <p:cNvSpPr/>
          <p:nvPr/>
        </p:nvSpPr>
        <p:spPr>
          <a:xfrm>
            <a:off x="548640" y="2651760"/>
            <a:ext cx="3749040" cy="32004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Runs automatically at the end of every workflow</a:t>
            </a:r>
            <a:endParaRPr lang="en-US" sz="1000" dirty="0"/>
          </a:p>
        </p:txBody>
      </p:sp>
      <p:sp>
        <p:nvSpPr>
          <p:cNvPr id="11" name="Text 9"/>
          <p:cNvSpPr/>
          <p:nvPr/>
        </p:nvSpPr>
        <p:spPr>
          <a:xfrm>
            <a:off x="548640" y="2971800"/>
            <a:ext cx="3749040" cy="320040"/>
          </a:xfrm>
          <a:prstGeom prst="rect">
            <a:avLst/>
          </a:prstGeom>
          <a:noFill/>
          <a:ln/>
        </p:spPr>
        <p:txBody>
          <a:bodyPr wrap="square" lIns="0" tIns="0" rIns="0" bIns="0" rtlCol="0" anchor="ctr"/>
          <a:lstStyle/>
          <a:p>
            <a:pPr indent="0" marL="0">
              <a:buNone/>
            </a:pPr>
            <a:r>
              <a:rPr lang="en-US" sz="1000" dirty="0">
                <a:solidFill>
                  <a:srgbClr val="14B8A6"/>
                </a:solidFill>
                <a:latin typeface="Calibri" pitchFamily="34" charset="0"/>
                <a:ea typeface="Calibri" pitchFamily="34" charset="-122"/>
                <a:cs typeface="Calibri" pitchFamily="34" charset="-120"/>
              </a:rPr>
              <a:t>✔  Answers natural language questions</a:t>
            </a:r>
            <a:endParaRPr lang="en-US" sz="1000" dirty="0"/>
          </a:p>
        </p:txBody>
      </p:sp>
      <p:sp>
        <p:nvSpPr>
          <p:cNvPr id="12" name="Shape 10"/>
          <p:cNvSpPr/>
          <p:nvPr/>
        </p:nvSpPr>
        <p:spPr>
          <a:xfrm>
            <a:off x="4663440" y="1234440"/>
            <a:ext cx="4297680" cy="228600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3" name="Text 11"/>
          <p:cNvSpPr/>
          <p:nvPr/>
        </p:nvSpPr>
        <p:spPr>
          <a:xfrm>
            <a:off x="4846320" y="1280160"/>
            <a:ext cx="3931920" cy="32004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Example Commands</a:t>
            </a:r>
            <a:endParaRPr lang="en-US" sz="1300" dirty="0"/>
          </a:p>
        </p:txBody>
      </p:sp>
      <p:sp>
        <p:nvSpPr>
          <p:cNvPr id="14" name="Text 12"/>
          <p:cNvSpPr/>
          <p:nvPr/>
        </p:nvSpPr>
        <p:spPr>
          <a:xfrm>
            <a:off x="4846320" y="1719072"/>
            <a:ext cx="3931920" cy="182880"/>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/bmad-help</a:t>
            </a:r>
            <a:endParaRPr lang="en-US" sz="950" dirty="0"/>
          </a:p>
        </p:txBody>
      </p:sp>
      <p:sp>
        <p:nvSpPr>
          <p:cNvPr id="15" name="Text 13"/>
          <p:cNvSpPr/>
          <p:nvPr/>
        </p:nvSpPr>
        <p:spPr>
          <a:xfrm>
            <a:off x="4846320" y="1901952"/>
            <a:ext cx="393192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What should I do first?</a:t>
            </a:r>
            <a:endParaRPr lang="en-US" sz="900" dirty="0"/>
          </a:p>
        </p:txBody>
      </p:sp>
      <p:sp>
        <p:nvSpPr>
          <p:cNvPr id="16" name="Text 14"/>
          <p:cNvSpPr/>
          <p:nvPr/>
        </p:nvSpPr>
        <p:spPr>
          <a:xfrm>
            <a:off x="4846320" y="2130552"/>
            <a:ext cx="3931920" cy="182880"/>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/bmad-help</a:t>
            </a:r>
            <a:endParaRPr lang="en-US" sz="950" dirty="0"/>
          </a:p>
        </p:txBody>
      </p:sp>
      <p:sp>
        <p:nvSpPr>
          <p:cNvPr id="17" name="Text 15"/>
          <p:cNvSpPr/>
          <p:nvPr/>
        </p:nvSpPr>
        <p:spPr>
          <a:xfrm>
            <a:off x="4846320" y="2313432"/>
            <a:ext cx="393192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I have a SaaS idea, where do I start?</a:t>
            </a:r>
            <a:endParaRPr lang="en-US" sz="900" dirty="0"/>
          </a:p>
        </p:txBody>
      </p:sp>
      <p:sp>
        <p:nvSpPr>
          <p:cNvPr id="18" name="Text 16"/>
          <p:cNvSpPr/>
          <p:nvPr/>
        </p:nvSpPr>
        <p:spPr>
          <a:xfrm>
            <a:off x="4846320" y="2542032"/>
            <a:ext cx="3931920" cy="182880"/>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/bmad-help</a:t>
            </a:r>
            <a:endParaRPr lang="en-US" sz="950" dirty="0"/>
          </a:p>
        </p:txBody>
      </p:sp>
      <p:sp>
        <p:nvSpPr>
          <p:cNvPr id="19" name="Text 17"/>
          <p:cNvSpPr/>
          <p:nvPr/>
        </p:nvSpPr>
        <p:spPr>
          <a:xfrm>
            <a:off x="4846320" y="2724912"/>
            <a:ext cx="393192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I just finished the architecture</a:t>
            </a:r>
            <a:endParaRPr lang="en-US" sz="900" dirty="0"/>
          </a:p>
        </p:txBody>
      </p:sp>
      <p:sp>
        <p:nvSpPr>
          <p:cNvPr id="20" name="Text 18"/>
          <p:cNvSpPr/>
          <p:nvPr/>
        </p:nvSpPr>
        <p:spPr>
          <a:xfrm>
            <a:off x="4846320" y="2953512"/>
            <a:ext cx="3931920" cy="182880"/>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/bmad-help</a:t>
            </a:r>
            <a:endParaRPr lang="en-US" sz="950" dirty="0"/>
          </a:p>
        </p:txBody>
      </p:sp>
      <p:sp>
        <p:nvSpPr>
          <p:cNvPr id="21" name="Text 19"/>
          <p:cNvSpPr/>
          <p:nvPr/>
        </p:nvSpPr>
        <p:spPr>
          <a:xfrm>
            <a:off x="4846320" y="3136392"/>
            <a:ext cx="3931920" cy="18288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What are my options?</a:t>
            </a:r>
            <a:endParaRPr lang="en-US" sz="900" dirty="0"/>
          </a:p>
        </p:txBody>
      </p:sp>
      <p:sp>
        <p:nvSpPr>
          <p:cNvPr id="22" name="Shape 20"/>
          <p:cNvSpPr/>
          <p:nvPr/>
        </p:nvSpPr>
        <p:spPr>
          <a:xfrm>
            <a:off x="365760" y="3703320"/>
            <a:ext cx="8595360" cy="10972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3" name="Text 21"/>
          <p:cNvSpPr/>
          <p:nvPr/>
        </p:nvSpPr>
        <p:spPr>
          <a:xfrm>
            <a:off x="548640" y="3749040"/>
            <a:ext cx="77724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Your First Session — 5 Steps</a:t>
            </a:r>
            <a:endParaRPr lang="en-US" sz="1200" dirty="0"/>
          </a:p>
        </p:txBody>
      </p:sp>
      <p:sp>
        <p:nvSpPr>
          <p:cNvPr id="24" name="Shape 22"/>
          <p:cNvSpPr/>
          <p:nvPr/>
        </p:nvSpPr>
        <p:spPr>
          <a:xfrm>
            <a:off x="502920" y="4069080"/>
            <a:ext cx="320040" cy="320040"/>
          </a:xfrm>
          <a:prstGeom prst="ellipse">
            <a:avLst/>
          </a:prstGeom>
          <a:solidFill>
            <a:srgbClr val="0D9488"/>
          </a:solidFill>
          <a:ln/>
        </p:spPr>
      </p:sp>
      <p:sp>
        <p:nvSpPr>
          <p:cNvPr id="25" name="Text 23"/>
          <p:cNvSpPr/>
          <p:nvPr/>
        </p:nvSpPr>
        <p:spPr>
          <a:xfrm>
            <a:off x="502920" y="40690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4"/>
          <p:cNvSpPr/>
          <p:nvPr/>
        </p:nvSpPr>
        <p:spPr>
          <a:xfrm>
            <a:off x="914400" y="4041648"/>
            <a:ext cx="1234440" cy="32004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npx ma-agents</a:t>
            </a:r>
            <a:endParaRPr lang="en-US" sz="800" dirty="0"/>
          </a:p>
          <a:p>
            <a:pPr indent="0" marL="0">
              <a:buNone/>
            </a:pPr>
            <a:r>
              <a:rPr lang="en-US" sz="800" dirty="0">
                <a:solidFill>
                  <a:srgbClr val="0D9488"/>
                </a:solidFill>
                <a:latin typeface="Consolas" pitchFamily="34" charset="0"/>
                <a:ea typeface="Consolas" pitchFamily="34" charset="-122"/>
                <a:cs typeface="Consolas" pitchFamily="34" charset="-120"/>
              </a:rPr>
              <a:t>install</a:t>
            </a:r>
            <a:endParaRPr lang="en-US" sz="800" dirty="0"/>
          </a:p>
        </p:txBody>
      </p:sp>
      <p:sp>
        <p:nvSpPr>
          <p:cNvPr id="27" name="Text 25"/>
          <p:cNvSpPr/>
          <p:nvPr/>
        </p:nvSpPr>
        <p:spPr>
          <a:xfrm>
            <a:off x="914400" y="4370832"/>
            <a:ext cx="1234440" cy="18288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Install skills + BMAD</a:t>
            </a:r>
            <a:endParaRPr lang="en-US" sz="800" dirty="0"/>
          </a:p>
        </p:txBody>
      </p:sp>
      <p:sp>
        <p:nvSpPr>
          <p:cNvPr id="28" name="Text 26"/>
          <p:cNvSpPr/>
          <p:nvPr/>
        </p:nvSpPr>
        <p:spPr>
          <a:xfrm>
            <a:off x="1920240" y="4069080"/>
            <a:ext cx="274320" cy="32004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29" name="Shape 27"/>
          <p:cNvSpPr/>
          <p:nvPr/>
        </p:nvSpPr>
        <p:spPr>
          <a:xfrm>
            <a:off x="2194560" y="4069080"/>
            <a:ext cx="320040" cy="320040"/>
          </a:xfrm>
          <a:prstGeom prst="ellipse">
            <a:avLst/>
          </a:prstGeom>
          <a:solidFill>
            <a:srgbClr val="0D9488"/>
          </a:solidFill>
          <a:ln/>
        </p:spPr>
      </p:sp>
      <p:sp>
        <p:nvSpPr>
          <p:cNvPr id="30" name="Text 28"/>
          <p:cNvSpPr/>
          <p:nvPr/>
        </p:nvSpPr>
        <p:spPr>
          <a:xfrm>
            <a:off x="2194560" y="40690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9"/>
          <p:cNvSpPr/>
          <p:nvPr/>
        </p:nvSpPr>
        <p:spPr>
          <a:xfrm>
            <a:off x="2606040" y="4041648"/>
            <a:ext cx="1234440" cy="32004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/bmad-help</a:t>
            </a:r>
            <a:endParaRPr lang="en-US" sz="800" dirty="0"/>
          </a:p>
        </p:txBody>
      </p:sp>
      <p:sp>
        <p:nvSpPr>
          <p:cNvPr id="32" name="Text 30"/>
          <p:cNvSpPr/>
          <p:nvPr/>
        </p:nvSpPr>
        <p:spPr>
          <a:xfrm>
            <a:off x="2606040" y="4370832"/>
            <a:ext cx="1234440" cy="18288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Get guidance</a:t>
            </a:r>
            <a:endParaRPr lang="en-US" sz="800" dirty="0"/>
          </a:p>
        </p:txBody>
      </p:sp>
      <p:sp>
        <p:nvSpPr>
          <p:cNvPr id="33" name="Text 31"/>
          <p:cNvSpPr/>
          <p:nvPr/>
        </p:nvSpPr>
        <p:spPr>
          <a:xfrm>
            <a:off x="3611880" y="4069080"/>
            <a:ext cx="274320" cy="32004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34" name="Shape 32"/>
          <p:cNvSpPr/>
          <p:nvPr/>
        </p:nvSpPr>
        <p:spPr>
          <a:xfrm>
            <a:off x="3886200" y="4069080"/>
            <a:ext cx="320040" cy="320040"/>
          </a:xfrm>
          <a:prstGeom prst="ellipse">
            <a:avLst/>
          </a:prstGeom>
          <a:solidFill>
            <a:srgbClr val="0D9488"/>
          </a:solidFill>
          <a:ln/>
        </p:spPr>
      </p:sp>
      <p:sp>
        <p:nvSpPr>
          <p:cNvPr id="35" name="Text 33"/>
          <p:cNvSpPr/>
          <p:nvPr/>
        </p:nvSpPr>
        <p:spPr>
          <a:xfrm>
            <a:off x="3886200" y="40690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Text 34"/>
          <p:cNvSpPr/>
          <p:nvPr/>
        </p:nvSpPr>
        <p:spPr>
          <a:xfrm>
            <a:off x="4297680" y="4041648"/>
            <a:ext cx="1234440" cy="32004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/bmad-bmm-create-</a:t>
            </a:r>
            <a:endParaRPr lang="en-US" sz="800" dirty="0"/>
          </a:p>
          <a:p>
            <a:pPr indent="0" marL="0">
              <a:buNone/>
            </a:pPr>
            <a:r>
              <a:rPr lang="en-US" sz="800" dirty="0">
                <a:solidFill>
                  <a:srgbClr val="0D9488"/>
                </a:solidFill>
                <a:latin typeface="Consolas" pitchFamily="34" charset="0"/>
                <a:ea typeface="Consolas" pitchFamily="34" charset="-122"/>
                <a:cs typeface="Consolas" pitchFamily="34" charset="-120"/>
              </a:rPr>
              <a:t>project-brief</a:t>
            </a:r>
            <a:endParaRPr lang="en-US" sz="800" dirty="0"/>
          </a:p>
        </p:txBody>
      </p:sp>
      <p:sp>
        <p:nvSpPr>
          <p:cNvPr id="37" name="Text 35"/>
          <p:cNvSpPr/>
          <p:nvPr/>
        </p:nvSpPr>
        <p:spPr>
          <a:xfrm>
            <a:off x="4297680" y="4370832"/>
            <a:ext cx="1234440" cy="18288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Analyst agent starts</a:t>
            </a:r>
            <a:endParaRPr lang="en-US" sz="800" dirty="0"/>
          </a:p>
        </p:txBody>
      </p:sp>
      <p:sp>
        <p:nvSpPr>
          <p:cNvPr id="38" name="Text 36"/>
          <p:cNvSpPr/>
          <p:nvPr/>
        </p:nvSpPr>
        <p:spPr>
          <a:xfrm>
            <a:off x="5303520" y="4069080"/>
            <a:ext cx="274320" cy="32004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39" name="Shape 37"/>
          <p:cNvSpPr/>
          <p:nvPr/>
        </p:nvSpPr>
        <p:spPr>
          <a:xfrm>
            <a:off x="5577840" y="4069080"/>
            <a:ext cx="320040" cy="320040"/>
          </a:xfrm>
          <a:prstGeom prst="ellipse">
            <a:avLst/>
          </a:prstGeom>
          <a:solidFill>
            <a:srgbClr val="0D9488"/>
          </a:solidFill>
          <a:ln/>
        </p:spPr>
      </p:sp>
      <p:sp>
        <p:nvSpPr>
          <p:cNvPr id="40" name="Text 38"/>
          <p:cNvSpPr/>
          <p:nvPr/>
        </p:nvSpPr>
        <p:spPr>
          <a:xfrm>
            <a:off x="5577840" y="40690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1" name="Text 39"/>
          <p:cNvSpPr/>
          <p:nvPr/>
        </p:nvSpPr>
        <p:spPr>
          <a:xfrm>
            <a:off x="5989320" y="4041648"/>
            <a:ext cx="1234440" cy="32004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/bmad-bmm-create-prd</a:t>
            </a:r>
            <a:endParaRPr lang="en-US" sz="800" dirty="0"/>
          </a:p>
        </p:txBody>
      </p:sp>
      <p:sp>
        <p:nvSpPr>
          <p:cNvPr id="42" name="Text 40"/>
          <p:cNvSpPr/>
          <p:nvPr/>
        </p:nvSpPr>
        <p:spPr>
          <a:xfrm>
            <a:off x="5989320" y="4370832"/>
            <a:ext cx="1234440" cy="18288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PM agent creates PRD</a:t>
            </a:r>
            <a:endParaRPr lang="en-US" sz="800" dirty="0"/>
          </a:p>
        </p:txBody>
      </p:sp>
      <p:sp>
        <p:nvSpPr>
          <p:cNvPr id="43" name="Text 41"/>
          <p:cNvSpPr/>
          <p:nvPr/>
        </p:nvSpPr>
        <p:spPr>
          <a:xfrm>
            <a:off x="6995160" y="4069080"/>
            <a:ext cx="274320" cy="320040"/>
          </a:xfrm>
          <a:prstGeom prst="rect">
            <a:avLst/>
          </a:prstGeom>
          <a:noFill/>
          <a:ln/>
        </p:spPr>
        <p:txBody>
          <a:bodyPr wrap="square" rtlCol="0" anchor="ctr"/>
          <a:lstStyle/>
          <a:p>
            <a:pPr algn="ctr" indent="0" marL="0">
              <a:buNone/>
            </a:pPr>
            <a:r>
              <a:rPr lang="en-US" sz="1200" dirty="0">
                <a:solidFill>
                  <a:srgbClr val="0D9488"/>
                </a:solidFill>
              </a:rPr>
              <a:t>▶</a:t>
            </a:r>
            <a:endParaRPr lang="en-US" sz="1200" dirty="0"/>
          </a:p>
        </p:txBody>
      </p:sp>
      <p:sp>
        <p:nvSpPr>
          <p:cNvPr id="44" name="Shape 42"/>
          <p:cNvSpPr/>
          <p:nvPr/>
        </p:nvSpPr>
        <p:spPr>
          <a:xfrm>
            <a:off x="7269480" y="4069080"/>
            <a:ext cx="320040" cy="320040"/>
          </a:xfrm>
          <a:prstGeom prst="ellipse">
            <a:avLst/>
          </a:prstGeom>
          <a:solidFill>
            <a:srgbClr val="0D9488"/>
          </a:solidFill>
          <a:ln/>
        </p:spPr>
      </p:sp>
      <p:sp>
        <p:nvSpPr>
          <p:cNvPr id="45" name="Text 43"/>
          <p:cNvSpPr/>
          <p:nvPr/>
        </p:nvSpPr>
        <p:spPr>
          <a:xfrm>
            <a:off x="7269480" y="40690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Text 44"/>
          <p:cNvSpPr/>
          <p:nvPr/>
        </p:nvSpPr>
        <p:spPr>
          <a:xfrm>
            <a:off x="7680960" y="4041648"/>
            <a:ext cx="1234440" cy="320040"/>
          </a:xfrm>
          <a:prstGeom prst="rect">
            <a:avLst/>
          </a:prstGeom>
          <a:noFill/>
          <a:ln/>
        </p:spPr>
        <p:txBody>
          <a:bodyPr wrap="square" lIns="0" tIns="0" rIns="0" bIns="0" rtlCol="0" anchor="ctr"/>
          <a:lstStyle/>
          <a:p>
            <a:pPr indent="0" marL="0">
              <a:buNone/>
            </a:pPr>
            <a:r>
              <a:rPr lang="en-US" sz="800" dirty="0">
                <a:solidFill>
                  <a:srgbClr val="0D9488"/>
                </a:solidFill>
                <a:latin typeface="Consolas" pitchFamily="34" charset="0"/>
                <a:ea typeface="Consolas" pitchFamily="34" charset="-122"/>
                <a:cs typeface="Consolas" pitchFamily="34" charset="-120"/>
              </a:rPr>
              <a:t>/bmad-bmm-create-</a:t>
            </a:r>
            <a:endParaRPr lang="en-US" sz="800" dirty="0"/>
          </a:p>
          <a:p>
            <a:pPr indent="0" marL="0">
              <a:buNone/>
            </a:pPr>
            <a:r>
              <a:rPr lang="en-US" sz="800" dirty="0">
                <a:solidFill>
                  <a:srgbClr val="0D9488"/>
                </a:solidFill>
                <a:latin typeface="Consolas" pitchFamily="34" charset="0"/>
                <a:ea typeface="Consolas" pitchFamily="34" charset="-122"/>
                <a:cs typeface="Consolas" pitchFamily="34" charset="-120"/>
              </a:rPr>
              <a:t>architecture</a:t>
            </a:r>
            <a:endParaRPr lang="en-US" sz="800" dirty="0"/>
          </a:p>
        </p:txBody>
      </p:sp>
      <p:sp>
        <p:nvSpPr>
          <p:cNvPr id="47" name="Text 45"/>
          <p:cNvSpPr/>
          <p:nvPr/>
        </p:nvSpPr>
        <p:spPr>
          <a:xfrm>
            <a:off x="7680960" y="4370832"/>
            <a:ext cx="1234440" cy="18288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Architect designs</a:t>
            </a:r>
            <a:endParaRPr lang="en-US" sz="800" dirty="0"/>
          </a:p>
        </p:txBody>
      </p:sp>
      <p:sp>
        <p:nvSpPr>
          <p:cNvPr id="48" name="Text 46"/>
          <p:cNvSpPr/>
          <p:nvPr/>
        </p:nvSpPr>
        <p:spPr>
          <a:xfrm>
            <a:off x="365760" y="4709160"/>
            <a:ext cx="8412480" cy="274320"/>
          </a:xfrm>
          <a:prstGeom prst="rect">
            <a:avLst/>
          </a:prstGeom>
          <a:noFill/>
          <a:ln/>
        </p:spPr>
        <p:txBody>
          <a:bodyPr wrap="square" rtlCol="0" anchor="ctr"/>
          <a:lstStyle/>
          <a:p>
            <a:pPr algn="ctr" indent="0" marL="0">
              <a:buNone/>
            </a:pPr>
            <a:r>
              <a:rPr lang="en-US" sz="1000" i="1" dirty="0">
                <a:solidFill>
                  <a:srgbClr val="14B8A6"/>
                </a:solidFill>
                <a:latin typeface="Calibri" pitchFamily="34" charset="0"/>
                <a:ea typeface="Calibri" pitchFamily="34" charset="-122"/>
                <a:cs typeface="Calibri" pitchFamily="34" charset="-120"/>
              </a:rPr>
              <a:t>Always start a fresh chat for each workflow — prevents context window overflow</a:t>
            </a:r>
            <a:endParaRPr lang="en-US" sz="1000" dirty="0"/>
          </a:p>
        </p:txBody>
      </p:sp>
      <p:sp>
        <p:nvSpPr>
          <p:cNvPr id="49" name="Text 4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83 / 93</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0D9488"/>
          </a:solidFill>
          <a:ln/>
        </p:spPr>
      </p:sp>
      <p:sp>
        <p:nvSpPr>
          <p:cNvPr id="4" name="Shape 2"/>
          <p:cNvSpPr/>
          <p:nvPr/>
        </p:nvSpPr>
        <p:spPr>
          <a:xfrm>
            <a:off x="457200" y="1371600"/>
            <a:ext cx="8229600" cy="36576"/>
          </a:xfrm>
          <a:prstGeom prst="rect">
            <a:avLst/>
          </a:prstGeom>
          <a:solidFill>
            <a:srgbClr val="0D9488"/>
          </a:solidFill>
          <a:ln/>
        </p:spPr>
      </p:sp>
      <p:sp>
        <p:nvSpPr>
          <p:cNvPr id="5" name="Text 3"/>
          <p:cNvSpPr/>
          <p:nvPr/>
        </p:nvSpPr>
        <p:spPr>
          <a:xfrm>
            <a:off x="457200" y="1554480"/>
            <a:ext cx="8229600" cy="731520"/>
          </a:xfrm>
          <a:prstGeom prst="rect">
            <a:avLst/>
          </a:prstGeom>
          <a:noFill/>
          <a:ln/>
        </p:spPr>
        <p:txBody>
          <a:bodyPr wrap="square" rtlCol="0" anchor="ctr"/>
          <a:lstStyle/>
          <a:p>
            <a:pPr algn="ctr" indent="0" marL="0">
              <a:buNone/>
            </a:pPr>
            <a:r>
              <a:rPr lang="en-US" sz="4200" b="1" dirty="0">
                <a:solidFill>
                  <a:srgbClr val="FFFFFF"/>
                </a:solidFill>
              </a:rPr>
              <a:t>Team Collaboration</a:t>
            </a:r>
            <a:endParaRPr lang="en-US" sz="4200" dirty="0"/>
          </a:p>
        </p:txBody>
      </p:sp>
      <p:sp>
        <p:nvSpPr>
          <p:cNvPr id="6" name="Text 4"/>
          <p:cNvSpPr/>
          <p:nvPr/>
        </p:nvSpPr>
        <p:spPr>
          <a:xfrm>
            <a:off x="457200" y="2194560"/>
            <a:ext cx="8229600" cy="548640"/>
          </a:xfrm>
          <a:prstGeom prst="rect">
            <a:avLst/>
          </a:prstGeom>
          <a:noFill/>
          <a:ln/>
        </p:spPr>
        <p:txBody>
          <a:bodyPr wrap="square" rtlCol="0" anchor="ctr"/>
          <a:lstStyle/>
          <a:p>
            <a:pPr algn="ctr" indent="0" marL="0">
              <a:buNone/>
            </a:pPr>
            <a:r>
              <a:rPr lang="en-US" sz="3000" dirty="0">
                <a:solidFill>
                  <a:srgbClr val="14B8A6"/>
                </a:solidFill>
              </a:rPr>
              <a:t>with Git &amp; AI Agents</a:t>
            </a:r>
            <a:endParaRPr lang="en-US" sz="3000" dirty="0"/>
          </a:p>
        </p:txBody>
      </p:sp>
      <p:sp>
        <p:nvSpPr>
          <p:cNvPr id="7" name="Shape 5"/>
          <p:cNvSpPr/>
          <p:nvPr/>
        </p:nvSpPr>
        <p:spPr>
          <a:xfrm>
            <a:off x="457200" y="2926080"/>
            <a:ext cx="8229600" cy="36576"/>
          </a:xfrm>
          <a:prstGeom prst="rect">
            <a:avLst/>
          </a:prstGeom>
          <a:solidFill>
            <a:srgbClr val="0D9488"/>
          </a:solidFill>
          <a:ln/>
        </p:spPr>
      </p:sp>
      <p:sp>
        <p:nvSpPr>
          <p:cNvPr id="8" name="Text 6"/>
          <p:cNvSpPr/>
          <p:nvPr/>
        </p:nvSpPr>
        <p:spPr>
          <a:xfrm>
            <a:off x="914400" y="3200400"/>
            <a:ext cx="7315200" cy="64008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When multiple developers and AI agents work on the same codebase,</a:t>
            </a:r>
            <a:endParaRPr lang="en-US" sz="1400" dirty="0"/>
          </a:p>
          <a:p>
            <a:pPr algn="ctr" indent="0" marL="0">
              <a:buNone/>
            </a:pPr>
            <a:r>
              <a:rPr lang="en-US" sz="1400" dirty="0">
                <a:solidFill>
                  <a:srgbClr val="94A3B8"/>
                </a:solidFill>
                <a:latin typeface="Calibri" pitchFamily="34" charset="0"/>
                <a:ea typeface="Calibri" pitchFamily="34" charset="-122"/>
                <a:cs typeface="Calibri" pitchFamily="34" charset="-120"/>
              </a:rPr>
              <a:t>order and structure are not optional — they are survival.</a:t>
            </a:r>
            <a:endParaRPr lang="en-US" sz="1400" dirty="0"/>
          </a:p>
        </p:txBody>
      </p:sp>
      <p:sp>
        <p:nvSpPr>
          <p:cNvPr id="9" name="Text 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84 / 93</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What is Git?</a:t>
            </a:r>
            <a:endParaRPr lang="en-US" sz="2600" dirty="0"/>
          </a:p>
        </p:txBody>
      </p:sp>
      <p:sp>
        <p:nvSpPr>
          <p:cNvPr id="5" name="Shape 3"/>
          <p:cNvSpPr/>
          <p:nvPr/>
        </p:nvSpPr>
        <p:spPr>
          <a:xfrm>
            <a:off x="320040" y="1051560"/>
            <a:ext cx="420624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54864" cy="1463040"/>
          </a:xfrm>
          <a:prstGeom prst="rect">
            <a:avLst/>
          </a:prstGeom>
          <a:solidFill>
            <a:srgbClr val="0D9488"/>
          </a:solidFill>
          <a:ln/>
        </p:spPr>
      </p:sp>
      <p:sp>
        <p:nvSpPr>
          <p:cNvPr id="7" name="Text 5"/>
          <p:cNvSpPr/>
          <p:nvPr/>
        </p:nvSpPr>
        <p:spPr>
          <a:xfrm>
            <a:off x="502920" y="1097280"/>
            <a:ext cx="384048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Distributed Version Control System</a:t>
            </a:r>
            <a:endParaRPr lang="en-US" sz="1300" dirty="0"/>
          </a:p>
        </p:txBody>
      </p:sp>
      <p:sp>
        <p:nvSpPr>
          <p:cNvPr id="8" name="Text 6"/>
          <p:cNvSpPr/>
          <p:nvPr/>
        </p:nvSpPr>
        <p:spPr>
          <a:xfrm>
            <a:off x="502920" y="1417320"/>
            <a:ext cx="3840480" cy="100584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Git tracks every change to every file in your project.</a:t>
            </a:r>
            <a:endParaRPr lang="en-US" sz="1000" dirty="0"/>
          </a:p>
          <a:p>
            <a:pPr indent="0" marL="0">
              <a:buNone/>
            </a:pPr>
            <a:r>
              <a:rPr lang="en-US" sz="1000" dirty="0">
                <a:solidFill>
                  <a:srgbClr val="475569"/>
                </a:solidFill>
                <a:latin typeface="Calibri" pitchFamily="34" charset="0"/>
                <a:ea typeface="Calibri" pitchFamily="34" charset="-122"/>
                <a:cs typeface="Calibri" pitchFamily="34" charset="-120"/>
              </a:rPr>
              <a:t>Every developer has a full copy of the entire history.</a:t>
            </a:r>
            <a:endParaRPr lang="en-US" sz="1000" dirty="0"/>
          </a:p>
          <a:p>
            <a:pPr indent="0" marL="0">
              <a:buNone/>
            </a:pPr>
            <a:r>
              <a:rPr lang="en-US" sz="1000" dirty="0">
                <a:solidFill>
                  <a:srgbClr val="475569"/>
                </a:solidFill>
                <a:latin typeface="Calibri" pitchFamily="34" charset="0"/>
                <a:ea typeface="Calibri" pitchFamily="34" charset="-122"/>
                <a:cs typeface="Calibri" pitchFamily="34" charset="-120"/>
              </a:rPr>
              <a:t>You can go back to any point in time, compare changes,</a:t>
            </a:r>
            <a:endParaRPr lang="en-US" sz="1000" dirty="0"/>
          </a:p>
          <a:p>
            <a:pPr indent="0" marL="0">
              <a:buNone/>
            </a:pPr>
            <a:r>
              <a:rPr lang="en-US" sz="1000" dirty="0">
                <a:solidFill>
                  <a:srgbClr val="475569"/>
                </a:solidFill>
                <a:latin typeface="Calibri" pitchFamily="34" charset="0"/>
                <a:ea typeface="Calibri" pitchFamily="34" charset="-122"/>
                <a:cs typeface="Calibri" pitchFamily="34" charset="-120"/>
              </a:rPr>
              <a:t>and work in parallel without overwriting each other.</a:t>
            </a:r>
            <a:endParaRPr lang="en-US" sz="1000" dirty="0"/>
          </a:p>
        </p:txBody>
      </p:sp>
      <p:sp>
        <p:nvSpPr>
          <p:cNvPr id="9" name="Shape 7"/>
          <p:cNvSpPr/>
          <p:nvPr/>
        </p:nvSpPr>
        <p:spPr>
          <a:xfrm>
            <a:off x="4709160" y="1051560"/>
            <a:ext cx="4251960" cy="1463040"/>
          </a:xfrm>
          <a:prstGeom prst="rect">
            <a:avLst/>
          </a:prstGeom>
          <a:solidFill>
            <a:srgbClr val="0F1B2D"/>
          </a:solidFill>
          <a:ln/>
        </p:spPr>
      </p:sp>
      <p:sp>
        <p:nvSpPr>
          <p:cNvPr id="10" name="Text 8"/>
          <p:cNvSpPr/>
          <p:nvPr/>
        </p:nvSpPr>
        <p:spPr>
          <a:xfrm>
            <a:off x="4892040" y="1097280"/>
            <a:ext cx="3931920" cy="27432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Installation</a:t>
            </a:r>
            <a:endParaRPr lang="en-US" sz="1300" dirty="0"/>
          </a:p>
        </p:txBody>
      </p:sp>
      <p:sp>
        <p:nvSpPr>
          <p:cNvPr id="11" name="Text 9"/>
          <p:cNvSpPr/>
          <p:nvPr/>
        </p:nvSpPr>
        <p:spPr>
          <a:xfrm>
            <a:off x="4892040" y="1463040"/>
            <a:ext cx="13716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Linux (Ubuntu):</a:t>
            </a:r>
            <a:endParaRPr lang="en-US" sz="900" dirty="0"/>
          </a:p>
        </p:txBody>
      </p:sp>
      <p:sp>
        <p:nvSpPr>
          <p:cNvPr id="12" name="Text 10"/>
          <p:cNvSpPr/>
          <p:nvPr/>
        </p:nvSpPr>
        <p:spPr>
          <a:xfrm>
            <a:off x="6263640" y="1463040"/>
            <a:ext cx="256032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sudo apt install git</a:t>
            </a:r>
            <a:endParaRPr lang="en-US" sz="900" dirty="0"/>
          </a:p>
        </p:txBody>
      </p:sp>
      <p:sp>
        <p:nvSpPr>
          <p:cNvPr id="13" name="Text 11"/>
          <p:cNvSpPr/>
          <p:nvPr/>
        </p:nvSpPr>
        <p:spPr>
          <a:xfrm>
            <a:off x="4892040" y="1691640"/>
            <a:ext cx="13716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macOS:</a:t>
            </a:r>
            <a:endParaRPr lang="en-US" sz="900" dirty="0"/>
          </a:p>
        </p:txBody>
      </p:sp>
      <p:sp>
        <p:nvSpPr>
          <p:cNvPr id="14" name="Text 12"/>
          <p:cNvSpPr/>
          <p:nvPr/>
        </p:nvSpPr>
        <p:spPr>
          <a:xfrm>
            <a:off x="6263640" y="1691640"/>
            <a:ext cx="256032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brew install git</a:t>
            </a:r>
            <a:endParaRPr lang="en-US" sz="900" dirty="0"/>
          </a:p>
        </p:txBody>
      </p:sp>
      <p:sp>
        <p:nvSpPr>
          <p:cNvPr id="15" name="Text 13"/>
          <p:cNvSpPr/>
          <p:nvPr/>
        </p:nvSpPr>
        <p:spPr>
          <a:xfrm>
            <a:off x="4892040" y="1920240"/>
            <a:ext cx="13716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Windows:</a:t>
            </a:r>
            <a:endParaRPr lang="en-US" sz="900" dirty="0"/>
          </a:p>
        </p:txBody>
      </p:sp>
      <p:sp>
        <p:nvSpPr>
          <p:cNvPr id="16" name="Text 14"/>
          <p:cNvSpPr/>
          <p:nvPr/>
        </p:nvSpPr>
        <p:spPr>
          <a:xfrm>
            <a:off x="6263640" y="1920240"/>
            <a:ext cx="256032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git-scm.com/download/win</a:t>
            </a:r>
            <a:endParaRPr lang="en-US" sz="900" dirty="0"/>
          </a:p>
        </p:txBody>
      </p:sp>
      <p:sp>
        <p:nvSpPr>
          <p:cNvPr id="17" name="Text 15"/>
          <p:cNvSpPr/>
          <p:nvPr/>
        </p:nvSpPr>
        <p:spPr>
          <a:xfrm>
            <a:off x="4892040" y="2148840"/>
            <a:ext cx="13716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Air-gapped:</a:t>
            </a:r>
            <a:endParaRPr lang="en-US" sz="900" dirty="0"/>
          </a:p>
        </p:txBody>
      </p:sp>
      <p:sp>
        <p:nvSpPr>
          <p:cNvPr id="18" name="Text 16"/>
          <p:cNvSpPr/>
          <p:nvPr/>
        </p:nvSpPr>
        <p:spPr>
          <a:xfrm>
            <a:off x="6263640" y="2148840"/>
            <a:ext cx="2560320" cy="228600"/>
          </a:xfrm>
          <a:prstGeom prst="rect">
            <a:avLst/>
          </a:prstGeom>
          <a:noFill/>
          <a:ln/>
        </p:spPr>
        <p:txBody>
          <a:bodyPr wrap="square" lIns="0" tIns="0" rIns="0" bIns="0" rtlCol="0" anchor="ctr"/>
          <a:lstStyle/>
          <a:p>
            <a:pPr indent="0" marL="0">
              <a:buNone/>
            </a:pPr>
            <a:r>
              <a:rPr lang="en-US" sz="900" dirty="0">
                <a:solidFill>
                  <a:srgbClr val="F59E0B"/>
                </a:solidFill>
                <a:latin typeface="Consolas" pitchFamily="34" charset="0"/>
                <a:ea typeface="Consolas" pitchFamily="34" charset="-122"/>
                <a:cs typeface="Consolas" pitchFamily="34" charset="-120"/>
              </a:rPr>
              <a:t>Copy .deb/.rpm from mirror</a:t>
            </a:r>
            <a:endParaRPr lang="en-US" sz="900" dirty="0"/>
          </a:p>
        </p:txBody>
      </p:sp>
      <p:sp>
        <p:nvSpPr>
          <p:cNvPr id="19" name="Shape 17"/>
          <p:cNvSpPr/>
          <p:nvPr/>
        </p:nvSpPr>
        <p:spPr>
          <a:xfrm>
            <a:off x="320040" y="2697480"/>
            <a:ext cx="8641080" cy="2103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Text 18"/>
          <p:cNvSpPr/>
          <p:nvPr/>
        </p:nvSpPr>
        <p:spPr>
          <a:xfrm>
            <a:off x="502920" y="2743200"/>
            <a:ext cx="8229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Essential Commands</a:t>
            </a:r>
            <a:endParaRPr lang="en-US" sz="1300" dirty="0"/>
          </a:p>
        </p:txBody>
      </p:sp>
      <p:sp>
        <p:nvSpPr>
          <p:cNvPr id="21" name="Text 19"/>
          <p:cNvSpPr/>
          <p:nvPr/>
        </p:nvSpPr>
        <p:spPr>
          <a:xfrm>
            <a:off x="502920" y="3090672"/>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init</a:t>
            </a:r>
            <a:endParaRPr lang="en-US" sz="900" dirty="0"/>
          </a:p>
        </p:txBody>
      </p:sp>
      <p:sp>
        <p:nvSpPr>
          <p:cNvPr id="22" name="Text 20"/>
          <p:cNvSpPr/>
          <p:nvPr/>
        </p:nvSpPr>
        <p:spPr>
          <a:xfrm>
            <a:off x="2606040" y="3090672"/>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Create a new Git repository in current directory</a:t>
            </a:r>
            <a:endParaRPr lang="en-US" sz="850" dirty="0"/>
          </a:p>
        </p:txBody>
      </p:sp>
      <p:sp>
        <p:nvSpPr>
          <p:cNvPr id="23" name="Text 21"/>
          <p:cNvSpPr/>
          <p:nvPr/>
        </p:nvSpPr>
        <p:spPr>
          <a:xfrm>
            <a:off x="502920" y="3483864"/>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clone &lt;url&gt;</a:t>
            </a:r>
            <a:endParaRPr lang="en-US" sz="900" dirty="0"/>
          </a:p>
        </p:txBody>
      </p:sp>
      <p:sp>
        <p:nvSpPr>
          <p:cNvPr id="24" name="Text 22"/>
          <p:cNvSpPr/>
          <p:nvPr/>
        </p:nvSpPr>
        <p:spPr>
          <a:xfrm>
            <a:off x="2606040" y="3483864"/>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Download a repository from a remote server</a:t>
            </a:r>
            <a:endParaRPr lang="en-US" sz="850" dirty="0"/>
          </a:p>
        </p:txBody>
      </p:sp>
      <p:sp>
        <p:nvSpPr>
          <p:cNvPr id="25" name="Text 23"/>
          <p:cNvSpPr/>
          <p:nvPr/>
        </p:nvSpPr>
        <p:spPr>
          <a:xfrm>
            <a:off x="502920" y="3877056"/>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add .</a:t>
            </a:r>
            <a:endParaRPr lang="en-US" sz="900" dirty="0"/>
          </a:p>
        </p:txBody>
      </p:sp>
      <p:sp>
        <p:nvSpPr>
          <p:cNvPr id="26" name="Text 24"/>
          <p:cNvSpPr/>
          <p:nvPr/>
        </p:nvSpPr>
        <p:spPr>
          <a:xfrm>
            <a:off x="2606040" y="3877056"/>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Stage all changed files for the next commit</a:t>
            </a:r>
            <a:endParaRPr lang="en-US" sz="850" dirty="0"/>
          </a:p>
        </p:txBody>
      </p:sp>
      <p:sp>
        <p:nvSpPr>
          <p:cNvPr id="27" name="Text 25"/>
          <p:cNvSpPr/>
          <p:nvPr/>
        </p:nvSpPr>
        <p:spPr>
          <a:xfrm>
            <a:off x="502920" y="4270248"/>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commit -m "message"</a:t>
            </a:r>
            <a:endParaRPr lang="en-US" sz="900" dirty="0"/>
          </a:p>
        </p:txBody>
      </p:sp>
      <p:sp>
        <p:nvSpPr>
          <p:cNvPr id="28" name="Text 26"/>
          <p:cNvSpPr/>
          <p:nvPr/>
        </p:nvSpPr>
        <p:spPr>
          <a:xfrm>
            <a:off x="2606040" y="4270248"/>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Save staged changes with a description</a:t>
            </a:r>
            <a:endParaRPr lang="en-US" sz="850" dirty="0"/>
          </a:p>
        </p:txBody>
      </p:sp>
      <p:sp>
        <p:nvSpPr>
          <p:cNvPr id="29" name="Text 27"/>
          <p:cNvSpPr/>
          <p:nvPr/>
        </p:nvSpPr>
        <p:spPr>
          <a:xfrm>
            <a:off x="4800600" y="3090672"/>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push</a:t>
            </a:r>
            <a:endParaRPr lang="en-US" sz="900" dirty="0"/>
          </a:p>
        </p:txBody>
      </p:sp>
      <p:sp>
        <p:nvSpPr>
          <p:cNvPr id="30" name="Text 28"/>
          <p:cNvSpPr/>
          <p:nvPr/>
        </p:nvSpPr>
        <p:spPr>
          <a:xfrm>
            <a:off x="6903720" y="3090672"/>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Upload your commits to the remote server</a:t>
            </a:r>
            <a:endParaRPr lang="en-US" sz="850" dirty="0"/>
          </a:p>
        </p:txBody>
      </p:sp>
      <p:sp>
        <p:nvSpPr>
          <p:cNvPr id="31" name="Text 29"/>
          <p:cNvSpPr/>
          <p:nvPr/>
        </p:nvSpPr>
        <p:spPr>
          <a:xfrm>
            <a:off x="4800600" y="3483864"/>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pull</a:t>
            </a:r>
            <a:endParaRPr lang="en-US" sz="900" dirty="0"/>
          </a:p>
        </p:txBody>
      </p:sp>
      <p:sp>
        <p:nvSpPr>
          <p:cNvPr id="32" name="Text 30"/>
          <p:cNvSpPr/>
          <p:nvPr/>
        </p:nvSpPr>
        <p:spPr>
          <a:xfrm>
            <a:off x="6903720" y="3483864"/>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Download and merge latest changes from remote</a:t>
            </a:r>
            <a:endParaRPr lang="en-US" sz="850" dirty="0"/>
          </a:p>
        </p:txBody>
      </p:sp>
      <p:sp>
        <p:nvSpPr>
          <p:cNvPr id="33" name="Text 31"/>
          <p:cNvSpPr/>
          <p:nvPr/>
        </p:nvSpPr>
        <p:spPr>
          <a:xfrm>
            <a:off x="4800600" y="3877056"/>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status</a:t>
            </a:r>
            <a:endParaRPr lang="en-US" sz="900" dirty="0"/>
          </a:p>
        </p:txBody>
      </p:sp>
      <p:sp>
        <p:nvSpPr>
          <p:cNvPr id="34" name="Text 32"/>
          <p:cNvSpPr/>
          <p:nvPr/>
        </p:nvSpPr>
        <p:spPr>
          <a:xfrm>
            <a:off x="6903720" y="3877056"/>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See which files have changed since last commit</a:t>
            </a:r>
            <a:endParaRPr lang="en-US" sz="850" dirty="0"/>
          </a:p>
        </p:txBody>
      </p:sp>
      <p:sp>
        <p:nvSpPr>
          <p:cNvPr id="35" name="Text 33"/>
          <p:cNvSpPr/>
          <p:nvPr/>
        </p:nvSpPr>
        <p:spPr>
          <a:xfrm>
            <a:off x="4800600" y="4270248"/>
            <a:ext cx="21031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git log --oneline</a:t>
            </a:r>
            <a:endParaRPr lang="en-US" sz="900" dirty="0"/>
          </a:p>
        </p:txBody>
      </p:sp>
      <p:sp>
        <p:nvSpPr>
          <p:cNvPr id="36" name="Text 34"/>
          <p:cNvSpPr/>
          <p:nvPr/>
        </p:nvSpPr>
        <p:spPr>
          <a:xfrm>
            <a:off x="6903720" y="4270248"/>
            <a:ext cx="2194560" cy="1828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View commit history (one line per commit)</a:t>
            </a:r>
            <a:endParaRPr lang="en-US" sz="850" dirty="0"/>
          </a:p>
        </p:txBody>
      </p:sp>
      <p:sp>
        <p:nvSpPr>
          <p:cNvPr id="37" name="Text 35"/>
          <p:cNvSpPr/>
          <p:nvPr/>
        </p:nvSpPr>
        <p:spPr>
          <a:xfrm>
            <a:off x="320040" y="4709160"/>
            <a:ext cx="850392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Learn more:  git-scm.com/doc  •  atlassian.com/git/tutorials  •  learngitbranching.js.org</a:t>
            </a:r>
            <a:endParaRPr lang="en-US" sz="1000" dirty="0"/>
          </a:p>
        </p:txBody>
      </p:sp>
      <p:sp>
        <p:nvSpPr>
          <p:cNvPr id="38" name="Text 36"/>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85 / 93</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Remotes, Branches &amp; Collaboration</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Git is local. GitHub / GitLab are where teams come together.</a:t>
            </a:r>
            <a:endParaRPr lang="en-US" sz="1300" dirty="0"/>
          </a:p>
        </p:txBody>
      </p:sp>
      <p:sp>
        <p:nvSpPr>
          <p:cNvPr id="5" name="Shape 3"/>
          <p:cNvSpPr/>
          <p:nvPr/>
        </p:nvSpPr>
        <p:spPr>
          <a:xfrm>
            <a:off x="365760" y="1234440"/>
            <a:ext cx="4160520" cy="10515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Shape 4"/>
          <p:cNvSpPr/>
          <p:nvPr/>
        </p:nvSpPr>
        <p:spPr>
          <a:xfrm>
            <a:off x="365760" y="1234440"/>
            <a:ext cx="4160520" cy="36576"/>
          </a:xfrm>
          <a:prstGeom prst="rect">
            <a:avLst/>
          </a:prstGeom>
          <a:solidFill>
            <a:srgbClr val="0D9488"/>
          </a:solidFill>
          <a:ln/>
        </p:spPr>
      </p:sp>
      <p:sp>
        <p:nvSpPr>
          <p:cNvPr id="7" name="Text 5"/>
          <p:cNvSpPr/>
          <p:nvPr/>
        </p:nvSpPr>
        <p:spPr>
          <a:xfrm>
            <a:off x="502920" y="1280160"/>
            <a:ext cx="22860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a:t>
            </a:r>
            <a:endParaRPr lang="en-US" sz="1500" dirty="0"/>
          </a:p>
        </p:txBody>
      </p:sp>
      <p:sp>
        <p:nvSpPr>
          <p:cNvPr id="8" name="Text 6"/>
          <p:cNvSpPr/>
          <p:nvPr/>
        </p:nvSpPr>
        <p:spPr>
          <a:xfrm>
            <a:off x="2926080" y="1280160"/>
            <a:ext cx="1463040" cy="274320"/>
          </a:xfrm>
          <a:prstGeom prst="rect">
            <a:avLst/>
          </a:prstGeom>
          <a:noFill/>
          <a:ln/>
        </p:spPr>
        <p:txBody>
          <a:bodyPr wrap="square" lIns="0" tIns="0" rIns="0" bIns="0" rtlCol="0" anchor="ctr"/>
          <a:lstStyle/>
          <a:p>
            <a:pPr algn="r" indent="0" marL="0">
              <a:buNone/>
            </a:pPr>
            <a:r>
              <a:rPr lang="en-US" sz="900" dirty="0">
                <a:solidFill>
                  <a:srgbClr val="94A3B8"/>
                </a:solidFill>
                <a:latin typeface="Consolas" pitchFamily="34" charset="0"/>
                <a:ea typeface="Consolas" pitchFamily="34" charset="-122"/>
                <a:cs typeface="Consolas" pitchFamily="34" charset="-120"/>
              </a:rPr>
              <a:t>github.com</a:t>
            </a:r>
            <a:endParaRPr lang="en-US" sz="900" dirty="0"/>
          </a:p>
        </p:txBody>
      </p:sp>
      <p:sp>
        <p:nvSpPr>
          <p:cNvPr id="9" name="Text 7"/>
          <p:cNvSpPr/>
          <p:nvPr/>
        </p:nvSpPr>
        <p:spPr>
          <a:xfrm>
            <a:off x="502920" y="1600200"/>
            <a:ext cx="384048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Hosted by Microsoft. The largest open-source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platform. Cloud-first. Great CI/CD with Actions.</a:t>
            </a:r>
            <a:endParaRPr lang="en-US" sz="1000" dirty="0"/>
          </a:p>
        </p:txBody>
      </p:sp>
      <p:sp>
        <p:nvSpPr>
          <p:cNvPr id="10" name="Shape 8"/>
          <p:cNvSpPr/>
          <p:nvPr/>
        </p:nvSpPr>
        <p:spPr>
          <a:xfrm>
            <a:off x="4754880" y="1234440"/>
            <a:ext cx="4160520" cy="105156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11" name="Shape 9"/>
          <p:cNvSpPr/>
          <p:nvPr/>
        </p:nvSpPr>
        <p:spPr>
          <a:xfrm>
            <a:off x="4754880" y="1234440"/>
            <a:ext cx="4160520" cy="36576"/>
          </a:xfrm>
          <a:prstGeom prst="rect">
            <a:avLst/>
          </a:prstGeom>
          <a:solidFill>
            <a:srgbClr val="EA580C"/>
          </a:solidFill>
          <a:ln/>
        </p:spPr>
      </p:sp>
      <p:sp>
        <p:nvSpPr>
          <p:cNvPr id="12" name="Text 10"/>
          <p:cNvSpPr/>
          <p:nvPr/>
        </p:nvSpPr>
        <p:spPr>
          <a:xfrm>
            <a:off x="4892040" y="1280160"/>
            <a:ext cx="228600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GitLab</a:t>
            </a:r>
            <a:endParaRPr lang="en-US" sz="1500" dirty="0"/>
          </a:p>
        </p:txBody>
      </p:sp>
      <p:sp>
        <p:nvSpPr>
          <p:cNvPr id="13" name="Text 11"/>
          <p:cNvSpPr/>
          <p:nvPr/>
        </p:nvSpPr>
        <p:spPr>
          <a:xfrm>
            <a:off x="7315200" y="1280160"/>
            <a:ext cx="1463040" cy="274320"/>
          </a:xfrm>
          <a:prstGeom prst="rect">
            <a:avLst/>
          </a:prstGeom>
          <a:noFill/>
          <a:ln/>
        </p:spPr>
        <p:txBody>
          <a:bodyPr wrap="square" lIns="0" tIns="0" rIns="0" bIns="0" rtlCol="0" anchor="ctr"/>
          <a:lstStyle/>
          <a:p>
            <a:pPr algn="r" indent="0" marL="0">
              <a:buNone/>
            </a:pPr>
            <a:r>
              <a:rPr lang="en-US" sz="900" dirty="0">
                <a:solidFill>
                  <a:srgbClr val="94A3B8"/>
                </a:solidFill>
                <a:latin typeface="Consolas" pitchFamily="34" charset="0"/>
                <a:ea typeface="Consolas" pitchFamily="34" charset="-122"/>
                <a:cs typeface="Consolas" pitchFamily="34" charset="-120"/>
              </a:rPr>
              <a:t>gitlab.com</a:t>
            </a:r>
            <a:endParaRPr lang="en-US" sz="900" dirty="0"/>
          </a:p>
        </p:txBody>
      </p:sp>
      <p:sp>
        <p:nvSpPr>
          <p:cNvPr id="14" name="Text 12"/>
          <p:cNvSpPr/>
          <p:nvPr/>
        </p:nvSpPr>
        <p:spPr>
          <a:xfrm>
            <a:off x="4892040" y="1600200"/>
            <a:ext cx="3840480" cy="59436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Self-hosted or cloud. Built-in CI/CD pipeline.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Popular in enterprise and air-gapped environments.</a:t>
            </a:r>
            <a:endParaRPr lang="en-US" sz="1000" dirty="0"/>
          </a:p>
        </p:txBody>
      </p:sp>
      <p:sp>
        <p:nvSpPr>
          <p:cNvPr id="15" name="Shape 13"/>
          <p:cNvSpPr/>
          <p:nvPr/>
        </p:nvSpPr>
        <p:spPr>
          <a:xfrm>
            <a:off x="365760" y="2468880"/>
            <a:ext cx="8549640" cy="2377440"/>
          </a:xfrm>
          <a:prstGeom prst="rect">
            <a:avLst/>
          </a:prstGeom>
          <a:solidFill>
            <a:srgbClr val="1A2744"/>
          </a:solidFill>
          <a:ln/>
        </p:spPr>
      </p:sp>
      <p:sp>
        <p:nvSpPr>
          <p:cNvPr id="16" name="Text 14"/>
          <p:cNvSpPr/>
          <p:nvPr/>
        </p:nvSpPr>
        <p:spPr>
          <a:xfrm>
            <a:off x="548640" y="2514600"/>
            <a:ext cx="8229600" cy="32004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are Branches?</a:t>
            </a:r>
            <a:endParaRPr lang="en-US" sz="1400" dirty="0"/>
          </a:p>
        </p:txBody>
      </p:sp>
      <p:sp>
        <p:nvSpPr>
          <p:cNvPr id="17" name="Text 15"/>
          <p:cNvSpPr/>
          <p:nvPr/>
        </p:nvSpPr>
        <p:spPr>
          <a:xfrm>
            <a:off x="548640" y="2834640"/>
            <a:ext cx="8229600" cy="4572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 branch is a parallel copy of your code where you can make changes without affecting anyone else.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When your work is done and reviewed, you merge it back into the main branch.</a:t>
            </a:r>
            <a:endParaRPr lang="en-US" sz="1000" dirty="0"/>
          </a:p>
        </p:txBody>
      </p:sp>
      <p:sp>
        <p:nvSpPr>
          <p:cNvPr id="18" name="Shape 16"/>
          <p:cNvSpPr/>
          <p:nvPr/>
        </p:nvSpPr>
        <p:spPr>
          <a:xfrm>
            <a:off x="731520" y="3474720"/>
            <a:ext cx="7680960" cy="36576"/>
          </a:xfrm>
          <a:prstGeom prst="rect">
            <a:avLst/>
          </a:prstGeom>
          <a:solidFill>
            <a:srgbClr val="0D9488"/>
          </a:solidFill>
          <a:ln/>
        </p:spPr>
      </p:sp>
      <p:sp>
        <p:nvSpPr>
          <p:cNvPr id="19" name="Text 17"/>
          <p:cNvSpPr/>
          <p:nvPr/>
        </p:nvSpPr>
        <p:spPr>
          <a:xfrm>
            <a:off x="731520" y="3218688"/>
            <a:ext cx="731520" cy="228600"/>
          </a:xfrm>
          <a:prstGeom prst="rect">
            <a:avLst/>
          </a:prstGeom>
          <a:noFill/>
          <a:ln/>
        </p:spPr>
        <p:txBody>
          <a:bodyPr wrap="square" rtlCol="0" anchor="ctr"/>
          <a:lstStyle/>
          <a:p>
            <a:pPr indent="0" marL="0">
              <a:buNone/>
            </a:pPr>
            <a:r>
              <a:rPr lang="en-US" sz="1000" b="1" dirty="0">
                <a:solidFill>
                  <a:srgbClr val="0D9488"/>
                </a:solidFill>
                <a:latin typeface="Consolas" pitchFamily="34" charset="0"/>
                <a:ea typeface="Consolas" pitchFamily="34" charset="-122"/>
                <a:cs typeface="Consolas" pitchFamily="34" charset="-120"/>
              </a:rPr>
              <a:t>main</a:t>
            </a:r>
            <a:endParaRPr lang="en-US" sz="1000" dirty="0"/>
          </a:p>
        </p:txBody>
      </p:sp>
      <p:sp>
        <p:nvSpPr>
          <p:cNvPr id="20" name="Shape 18"/>
          <p:cNvSpPr/>
          <p:nvPr/>
        </p:nvSpPr>
        <p:spPr>
          <a:xfrm>
            <a:off x="1371600" y="3401568"/>
            <a:ext cx="164592" cy="164592"/>
          </a:xfrm>
          <a:prstGeom prst="ellipse">
            <a:avLst/>
          </a:prstGeom>
          <a:solidFill>
            <a:srgbClr val="0D9488"/>
          </a:solidFill>
          <a:ln/>
        </p:spPr>
      </p:sp>
      <p:sp>
        <p:nvSpPr>
          <p:cNvPr id="21" name="Shape 19"/>
          <p:cNvSpPr/>
          <p:nvPr/>
        </p:nvSpPr>
        <p:spPr>
          <a:xfrm>
            <a:off x="3200400" y="3401568"/>
            <a:ext cx="164592" cy="164592"/>
          </a:xfrm>
          <a:prstGeom prst="ellipse">
            <a:avLst/>
          </a:prstGeom>
          <a:solidFill>
            <a:srgbClr val="0D9488"/>
          </a:solidFill>
          <a:ln/>
        </p:spPr>
      </p:sp>
      <p:sp>
        <p:nvSpPr>
          <p:cNvPr id="22" name="Shape 20"/>
          <p:cNvSpPr/>
          <p:nvPr/>
        </p:nvSpPr>
        <p:spPr>
          <a:xfrm>
            <a:off x="6858000" y="3401568"/>
            <a:ext cx="164592" cy="164592"/>
          </a:xfrm>
          <a:prstGeom prst="ellipse">
            <a:avLst/>
          </a:prstGeom>
          <a:solidFill>
            <a:srgbClr val="0D9488"/>
          </a:solidFill>
          <a:ln/>
        </p:spPr>
      </p:sp>
      <p:sp>
        <p:nvSpPr>
          <p:cNvPr id="23" name="Shape 21"/>
          <p:cNvSpPr/>
          <p:nvPr/>
        </p:nvSpPr>
        <p:spPr>
          <a:xfrm>
            <a:off x="7772400" y="3401568"/>
            <a:ext cx="164592" cy="164592"/>
          </a:xfrm>
          <a:prstGeom prst="ellipse">
            <a:avLst/>
          </a:prstGeom>
          <a:solidFill>
            <a:srgbClr val="0D9488"/>
          </a:solidFill>
          <a:ln/>
        </p:spPr>
      </p:sp>
      <p:sp>
        <p:nvSpPr>
          <p:cNvPr id="24" name="Shape 22"/>
          <p:cNvSpPr/>
          <p:nvPr/>
        </p:nvSpPr>
        <p:spPr>
          <a:xfrm>
            <a:off x="3200400" y="3493008"/>
            <a:ext cx="731520" cy="457200"/>
          </a:xfrm>
          <a:prstGeom prst="line">
            <a:avLst/>
          </a:prstGeom>
          <a:noFill/>
          <a:ln w="25400">
            <a:solidFill>
              <a:srgbClr val="F59E0B"/>
            </a:solidFill>
            <a:prstDash val="solid"/>
          </a:ln>
        </p:spPr>
      </p:sp>
      <p:sp>
        <p:nvSpPr>
          <p:cNvPr id="25" name="Shape 23"/>
          <p:cNvSpPr/>
          <p:nvPr/>
        </p:nvSpPr>
        <p:spPr>
          <a:xfrm>
            <a:off x="3931920" y="3913632"/>
            <a:ext cx="2286000" cy="36576"/>
          </a:xfrm>
          <a:prstGeom prst="rect">
            <a:avLst/>
          </a:prstGeom>
          <a:solidFill>
            <a:srgbClr val="F59E0B"/>
          </a:solidFill>
          <a:ln/>
        </p:spPr>
      </p:sp>
      <p:sp>
        <p:nvSpPr>
          <p:cNvPr id="26" name="Text 24"/>
          <p:cNvSpPr/>
          <p:nvPr/>
        </p:nvSpPr>
        <p:spPr>
          <a:xfrm>
            <a:off x="3931920" y="3977640"/>
            <a:ext cx="1828800" cy="228600"/>
          </a:xfrm>
          <a:prstGeom prst="rect">
            <a:avLst/>
          </a:prstGeom>
          <a:noFill/>
          <a:ln/>
        </p:spPr>
        <p:txBody>
          <a:bodyPr wrap="square"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feature/login</a:t>
            </a:r>
            <a:endParaRPr lang="en-US" sz="900" dirty="0"/>
          </a:p>
        </p:txBody>
      </p:sp>
      <p:sp>
        <p:nvSpPr>
          <p:cNvPr id="27" name="Shape 25"/>
          <p:cNvSpPr/>
          <p:nvPr/>
        </p:nvSpPr>
        <p:spPr>
          <a:xfrm>
            <a:off x="4389120" y="3840480"/>
            <a:ext cx="164592" cy="164592"/>
          </a:xfrm>
          <a:prstGeom prst="ellipse">
            <a:avLst/>
          </a:prstGeom>
          <a:solidFill>
            <a:srgbClr val="F59E0B"/>
          </a:solidFill>
          <a:ln/>
        </p:spPr>
      </p:sp>
      <p:sp>
        <p:nvSpPr>
          <p:cNvPr id="28" name="Shape 26"/>
          <p:cNvSpPr/>
          <p:nvPr/>
        </p:nvSpPr>
        <p:spPr>
          <a:xfrm>
            <a:off x="5029200" y="3840480"/>
            <a:ext cx="164592" cy="164592"/>
          </a:xfrm>
          <a:prstGeom prst="ellipse">
            <a:avLst/>
          </a:prstGeom>
          <a:solidFill>
            <a:srgbClr val="F59E0B"/>
          </a:solidFill>
          <a:ln/>
        </p:spPr>
      </p:sp>
      <p:sp>
        <p:nvSpPr>
          <p:cNvPr id="29" name="Shape 27"/>
          <p:cNvSpPr/>
          <p:nvPr/>
        </p:nvSpPr>
        <p:spPr>
          <a:xfrm>
            <a:off x="5669280" y="3840480"/>
            <a:ext cx="164592" cy="164592"/>
          </a:xfrm>
          <a:prstGeom prst="ellipse">
            <a:avLst/>
          </a:prstGeom>
          <a:solidFill>
            <a:srgbClr val="F59E0B"/>
          </a:solidFill>
          <a:ln/>
        </p:spPr>
      </p:sp>
      <p:sp>
        <p:nvSpPr>
          <p:cNvPr id="30" name="Shape 28"/>
          <p:cNvSpPr/>
          <p:nvPr/>
        </p:nvSpPr>
        <p:spPr>
          <a:xfrm flipV="1">
            <a:off x="6126480" y="3493008"/>
            <a:ext cx="731520" cy="457200"/>
          </a:xfrm>
          <a:prstGeom prst="line">
            <a:avLst/>
          </a:prstGeom>
          <a:noFill/>
          <a:ln w="25400">
            <a:solidFill>
              <a:srgbClr val="F59E0B"/>
            </a:solidFill>
            <a:prstDash val="solid"/>
          </a:ln>
        </p:spPr>
      </p:sp>
      <p:sp>
        <p:nvSpPr>
          <p:cNvPr id="31" name="Text 29"/>
          <p:cNvSpPr/>
          <p:nvPr/>
        </p:nvSpPr>
        <p:spPr>
          <a:xfrm>
            <a:off x="6400800" y="3611880"/>
            <a:ext cx="731520" cy="228600"/>
          </a:xfrm>
          <a:prstGeom prst="rect">
            <a:avLst/>
          </a:prstGeom>
          <a:noFill/>
          <a:ln/>
        </p:spPr>
        <p:txBody>
          <a:bodyPr wrap="square"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merge</a:t>
            </a:r>
            <a:endParaRPr lang="en-US" sz="800" dirty="0"/>
          </a:p>
        </p:txBody>
      </p:sp>
      <p:sp>
        <p:nvSpPr>
          <p:cNvPr id="32" name="Text 30"/>
          <p:cNvSpPr/>
          <p:nvPr/>
        </p:nvSpPr>
        <p:spPr>
          <a:xfrm>
            <a:off x="914400" y="4297680"/>
            <a:ext cx="2286000" cy="182880"/>
          </a:xfrm>
          <a:prstGeom prst="rect">
            <a:avLst/>
          </a:prstGeom>
          <a:noFill/>
          <a:ln/>
        </p:spPr>
        <p:txBody>
          <a:bodyPr wrap="square" lIns="0" tIns="0" rIns="0" bIns="0" rtlCol="0" anchor="ctr"/>
          <a:lstStyle/>
          <a:p>
            <a:pPr indent="0" marL="0">
              <a:buNone/>
            </a:pPr>
            <a:r>
              <a:rPr lang="en-US" sz="850" dirty="0">
                <a:solidFill>
                  <a:srgbClr val="F59E0B"/>
                </a:solidFill>
                <a:latin typeface="Consolas" pitchFamily="34" charset="0"/>
                <a:ea typeface="Consolas" pitchFamily="34" charset="-122"/>
                <a:cs typeface="Consolas" pitchFamily="34" charset="-120"/>
              </a:rPr>
              <a:t>git branch feature/login</a:t>
            </a:r>
            <a:endParaRPr lang="en-US" sz="850" dirty="0"/>
          </a:p>
        </p:txBody>
      </p:sp>
      <p:sp>
        <p:nvSpPr>
          <p:cNvPr id="33" name="Text 31"/>
          <p:cNvSpPr/>
          <p:nvPr/>
        </p:nvSpPr>
        <p:spPr>
          <a:xfrm>
            <a:off x="3474720" y="4297680"/>
            <a:ext cx="2286000" cy="182880"/>
          </a:xfrm>
          <a:prstGeom prst="rect">
            <a:avLst/>
          </a:prstGeom>
          <a:noFill/>
          <a:ln/>
        </p:spPr>
        <p:txBody>
          <a:bodyPr wrap="square" lIns="0" tIns="0" rIns="0" bIns="0" rtlCol="0" anchor="ctr"/>
          <a:lstStyle/>
          <a:p>
            <a:pPr indent="0" marL="0">
              <a:buNone/>
            </a:pPr>
            <a:r>
              <a:rPr lang="en-US" sz="850" dirty="0">
                <a:solidFill>
                  <a:srgbClr val="F59E0B"/>
                </a:solidFill>
                <a:latin typeface="Consolas" pitchFamily="34" charset="0"/>
                <a:ea typeface="Consolas" pitchFamily="34" charset="-122"/>
                <a:cs typeface="Consolas" pitchFamily="34" charset="-120"/>
              </a:rPr>
              <a:t>git checkout feature/login</a:t>
            </a:r>
            <a:endParaRPr lang="en-US" sz="850" dirty="0"/>
          </a:p>
        </p:txBody>
      </p:sp>
      <p:sp>
        <p:nvSpPr>
          <p:cNvPr id="34" name="Text 32"/>
          <p:cNvSpPr/>
          <p:nvPr/>
        </p:nvSpPr>
        <p:spPr>
          <a:xfrm>
            <a:off x="6035040" y="4297680"/>
            <a:ext cx="2103120" cy="182880"/>
          </a:xfrm>
          <a:prstGeom prst="rect">
            <a:avLst/>
          </a:prstGeom>
          <a:noFill/>
          <a:ln/>
        </p:spPr>
        <p:txBody>
          <a:bodyPr wrap="square" lIns="0" tIns="0" rIns="0" bIns="0" rtlCol="0" anchor="ctr"/>
          <a:lstStyle/>
          <a:p>
            <a:pPr indent="0" marL="0">
              <a:buNone/>
            </a:pPr>
            <a:r>
              <a:rPr lang="en-US" sz="850" dirty="0">
                <a:solidFill>
                  <a:srgbClr val="F59E0B"/>
                </a:solidFill>
                <a:latin typeface="Consolas" pitchFamily="34" charset="0"/>
                <a:ea typeface="Consolas" pitchFamily="34" charset="-122"/>
                <a:cs typeface="Consolas" pitchFamily="34" charset="-120"/>
              </a:rPr>
              <a:t>git merge feature/login</a:t>
            </a:r>
            <a:endParaRPr lang="en-US" sz="850" dirty="0"/>
          </a:p>
        </p:txBody>
      </p:sp>
      <p:sp>
        <p:nvSpPr>
          <p:cNvPr id="35" name="Text 33"/>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86 / 93</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Feature Branches &amp; Pull Requests</a:t>
            </a:r>
            <a:endParaRPr lang="en-US" sz="2600" dirty="0"/>
          </a:p>
        </p:txBody>
      </p:sp>
      <p:sp>
        <p:nvSpPr>
          <p:cNvPr id="5" name="Shape 3"/>
          <p:cNvSpPr/>
          <p:nvPr/>
        </p:nvSpPr>
        <p:spPr>
          <a:xfrm>
            <a:off x="320040" y="1051560"/>
            <a:ext cx="4206240" cy="2468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320040" y="1051560"/>
            <a:ext cx="4206240" cy="365760"/>
          </a:xfrm>
          <a:prstGeom prst="rect">
            <a:avLst/>
          </a:prstGeom>
          <a:solidFill>
            <a:srgbClr val="7C3AED"/>
          </a:solidFill>
          <a:ln/>
        </p:spPr>
      </p:sp>
      <p:sp>
        <p:nvSpPr>
          <p:cNvPr id="7" name="Text 5"/>
          <p:cNvSpPr/>
          <p:nvPr/>
        </p:nvSpPr>
        <p:spPr>
          <a:xfrm>
            <a:off x="502920" y="1069848"/>
            <a:ext cx="384048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Feature Branch Workflow</a:t>
            </a:r>
            <a:endParaRPr lang="en-US" sz="1300" dirty="0"/>
          </a:p>
        </p:txBody>
      </p:sp>
      <p:sp>
        <p:nvSpPr>
          <p:cNvPr id="8" name="Text 6"/>
          <p:cNvSpPr/>
          <p:nvPr/>
        </p:nvSpPr>
        <p:spPr>
          <a:xfrm>
            <a:off x="502920" y="1508760"/>
            <a:ext cx="384048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The Golden Rule:</a:t>
            </a:r>
            <a:endParaRPr lang="en-US" sz="1100" dirty="0"/>
          </a:p>
        </p:txBody>
      </p:sp>
      <p:sp>
        <p:nvSpPr>
          <p:cNvPr id="9" name="Text 7"/>
          <p:cNvSpPr/>
          <p:nvPr/>
        </p:nvSpPr>
        <p:spPr>
          <a:xfrm>
            <a:off x="502920" y="1737360"/>
            <a:ext cx="3840480" cy="228600"/>
          </a:xfrm>
          <a:prstGeom prst="rect">
            <a:avLst/>
          </a:prstGeom>
          <a:noFill/>
          <a:ln/>
        </p:spPr>
        <p:txBody>
          <a:bodyPr wrap="square" lIns="0" tIns="0" rIns="0" bIns="0" rtlCol="0" anchor="ctr"/>
          <a:lstStyle/>
          <a:p>
            <a:pPr indent="0" marL="0">
              <a:buNone/>
            </a:pPr>
            <a:r>
              <a:rPr lang="en-US" sz="1100" b="1" i="1" dirty="0">
                <a:solidFill>
                  <a:srgbClr val="DC2626"/>
                </a:solidFill>
                <a:latin typeface="Calibri" pitchFamily="34" charset="0"/>
                <a:ea typeface="Calibri" pitchFamily="34" charset="-122"/>
                <a:cs typeface="Calibri" pitchFamily="34" charset="-120"/>
              </a:rPr>
              <a:t>Never commit directly to main or dev.</a:t>
            </a:r>
            <a:endParaRPr lang="en-US" sz="1100" dirty="0"/>
          </a:p>
        </p:txBody>
      </p:sp>
      <p:sp>
        <p:nvSpPr>
          <p:cNvPr id="10" name="Text 8"/>
          <p:cNvSpPr/>
          <p:nvPr/>
        </p:nvSpPr>
        <p:spPr>
          <a:xfrm>
            <a:off x="502920" y="20574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1.  Create a branch per feature / story / bug fix</a:t>
            </a:r>
            <a:endParaRPr lang="en-US" sz="900" dirty="0"/>
          </a:p>
        </p:txBody>
      </p:sp>
      <p:sp>
        <p:nvSpPr>
          <p:cNvPr id="11" name="Text 9"/>
          <p:cNvSpPr/>
          <p:nvPr/>
        </p:nvSpPr>
        <p:spPr>
          <a:xfrm>
            <a:off x="502920" y="22860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2.  Name it clearly:  feature/JIRA-123-login-page</a:t>
            </a:r>
            <a:endParaRPr lang="en-US" sz="900" dirty="0"/>
          </a:p>
        </p:txBody>
      </p:sp>
      <p:sp>
        <p:nvSpPr>
          <p:cNvPr id="12" name="Text 10"/>
          <p:cNvSpPr/>
          <p:nvPr/>
        </p:nvSpPr>
        <p:spPr>
          <a:xfrm>
            <a:off x="502920" y="25146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3.  Make small, focused commits with clear messages</a:t>
            </a:r>
            <a:endParaRPr lang="en-US" sz="900" dirty="0"/>
          </a:p>
        </p:txBody>
      </p:sp>
      <p:sp>
        <p:nvSpPr>
          <p:cNvPr id="13" name="Text 11"/>
          <p:cNvSpPr/>
          <p:nvPr/>
        </p:nvSpPr>
        <p:spPr>
          <a:xfrm>
            <a:off x="502920" y="27432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4.  Push to remote frequently (backup + visibility)</a:t>
            </a:r>
            <a:endParaRPr lang="en-US" sz="900" dirty="0"/>
          </a:p>
        </p:txBody>
      </p:sp>
      <p:sp>
        <p:nvSpPr>
          <p:cNvPr id="14" name="Text 12"/>
          <p:cNvSpPr/>
          <p:nvPr/>
        </p:nvSpPr>
        <p:spPr>
          <a:xfrm>
            <a:off x="502920" y="29718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5.  Open a Pull Request when done</a:t>
            </a:r>
            <a:endParaRPr lang="en-US" sz="900" dirty="0"/>
          </a:p>
        </p:txBody>
      </p:sp>
      <p:sp>
        <p:nvSpPr>
          <p:cNvPr id="15" name="Text 13"/>
          <p:cNvSpPr/>
          <p:nvPr/>
        </p:nvSpPr>
        <p:spPr>
          <a:xfrm>
            <a:off x="502920" y="3200400"/>
            <a:ext cx="3840480" cy="22860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6.  Get reviewed, then merge to dev</a:t>
            </a:r>
            <a:endParaRPr lang="en-US" sz="900" dirty="0"/>
          </a:p>
        </p:txBody>
      </p:sp>
      <p:sp>
        <p:nvSpPr>
          <p:cNvPr id="16" name="Shape 14"/>
          <p:cNvSpPr/>
          <p:nvPr/>
        </p:nvSpPr>
        <p:spPr>
          <a:xfrm>
            <a:off x="4709160" y="1051560"/>
            <a:ext cx="4251960" cy="2468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4709160" y="1051560"/>
            <a:ext cx="4251960" cy="365760"/>
          </a:xfrm>
          <a:prstGeom prst="rect">
            <a:avLst/>
          </a:prstGeom>
          <a:solidFill>
            <a:srgbClr val="059669"/>
          </a:solidFill>
          <a:ln/>
        </p:spPr>
      </p:sp>
      <p:sp>
        <p:nvSpPr>
          <p:cNvPr id="18" name="Text 16"/>
          <p:cNvSpPr/>
          <p:nvPr/>
        </p:nvSpPr>
        <p:spPr>
          <a:xfrm>
            <a:off x="4892040" y="1069848"/>
            <a:ext cx="38862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Pull Requests (PR) / Merge Requests (MR)</a:t>
            </a:r>
            <a:endParaRPr lang="en-US" sz="1200" dirty="0"/>
          </a:p>
        </p:txBody>
      </p:sp>
      <p:sp>
        <p:nvSpPr>
          <p:cNvPr id="19" name="Text 17"/>
          <p:cNvSpPr/>
          <p:nvPr/>
        </p:nvSpPr>
        <p:spPr>
          <a:xfrm>
            <a:off x="4892040" y="1508760"/>
            <a:ext cx="3886200" cy="457200"/>
          </a:xfrm>
          <a:prstGeom prst="rect">
            <a:avLst/>
          </a:prstGeom>
          <a:noFill/>
          <a:ln/>
        </p:spPr>
        <p:txBody>
          <a:bodyPr wrap="square" lIns="0" tIns="0" rIns="0" bIns="0" rtlCol="0" anchor="t"/>
          <a:lstStyle/>
          <a:p>
            <a:pPr indent="0" marL="0">
              <a:buNone/>
            </a:pPr>
            <a:r>
              <a:rPr lang="en-US" sz="1000" dirty="0">
                <a:solidFill>
                  <a:srgbClr val="475569"/>
                </a:solidFill>
                <a:latin typeface="Calibri" pitchFamily="34" charset="0"/>
                <a:ea typeface="Calibri" pitchFamily="34" charset="-122"/>
                <a:cs typeface="Calibri" pitchFamily="34" charset="-120"/>
              </a:rPr>
              <a:t>A PR is a formal request to merge your branch into another.</a:t>
            </a:r>
            <a:endParaRPr lang="en-US" sz="1000" dirty="0"/>
          </a:p>
          <a:p>
            <a:pPr indent="0" marL="0">
              <a:buNone/>
            </a:pPr>
            <a:r>
              <a:rPr lang="en-US" sz="1000" dirty="0">
                <a:solidFill>
                  <a:srgbClr val="475569"/>
                </a:solidFill>
                <a:latin typeface="Calibri" pitchFamily="34" charset="0"/>
                <a:ea typeface="Calibri" pitchFamily="34" charset="-122"/>
                <a:cs typeface="Calibri" pitchFamily="34" charset="-120"/>
              </a:rPr>
              <a:t>It is the checkpoint where code gets reviewed.</a:t>
            </a:r>
            <a:endParaRPr lang="en-US" sz="1000" dirty="0"/>
          </a:p>
        </p:txBody>
      </p:sp>
      <p:sp>
        <p:nvSpPr>
          <p:cNvPr id="20" name="Shape 18"/>
          <p:cNvSpPr/>
          <p:nvPr/>
        </p:nvSpPr>
        <p:spPr>
          <a:xfrm>
            <a:off x="4892040" y="2057400"/>
            <a:ext cx="3886200" cy="411480"/>
          </a:xfrm>
          <a:prstGeom prst="rect">
            <a:avLst/>
          </a:prstGeom>
          <a:solidFill>
            <a:srgbClr val="F8FAFC"/>
          </a:solidFill>
          <a:ln/>
        </p:spPr>
      </p:sp>
      <p:sp>
        <p:nvSpPr>
          <p:cNvPr id="21" name="Text 19"/>
          <p:cNvSpPr/>
          <p:nvPr/>
        </p:nvSpPr>
        <p:spPr>
          <a:xfrm>
            <a:off x="4983480" y="2075688"/>
            <a:ext cx="10972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GitHub</a:t>
            </a:r>
            <a:endParaRPr lang="en-US" sz="1000" dirty="0"/>
          </a:p>
        </p:txBody>
      </p:sp>
      <p:sp>
        <p:nvSpPr>
          <p:cNvPr id="22" name="Text 20"/>
          <p:cNvSpPr/>
          <p:nvPr/>
        </p:nvSpPr>
        <p:spPr>
          <a:xfrm>
            <a:off x="6126480" y="2075688"/>
            <a:ext cx="25603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Pull Request (PR)</a:t>
            </a:r>
            <a:endParaRPr lang="en-US" sz="900" dirty="0"/>
          </a:p>
        </p:txBody>
      </p:sp>
      <p:sp>
        <p:nvSpPr>
          <p:cNvPr id="23" name="Text 21"/>
          <p:cNvSpPr/>
          <p:nvPr/>
        </p:nvSpPr>
        <p:spPr>
          <a:xfrm>
            <a:off x="4983480" y="2258568"/>
            <a:ext cx="365760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Create PR on github.com</a:t>
            </a:r>
            <a:endParaRPr lang="en-US" sz="850" dirty="0"/>
          </a:p>
        </p:txBody>
      </p:sp>
      <p:sp>
        <p:nvSpPr>
          <p:cNvPr id="24" name="Shape 22"/>
          <p:cNvSpPr/>
          <p:nvPr/>
        </p:nvSpPr>
        <p:spPr>
          <a:xfrm>
            <a:off x="4892040" y="2560320"/>
            <a:ext cx="3886200" cy="411480"/>
          </a:xfrm>
          <a:prstGeom prst="rect">
            <a:avLst/>
          </a:prstGeom>
          <a:solidFill>
            <a:srgbClr val="F8FAFC"/>
          </a:solidFill>
          <a:ln/>
        </p:spPr>
      </p:sp>
      <p:sp>
        <p:nvSpPr>
          <p:cNvPr id="25" name="Text 23"/>
          <p:cNvSpPr/>
          <p:nvPr/>
        </p:nvSpPr>
        <p:spPr>
          <a:xfrm>
            <a:off x="4983480" y="2578608"/>
            <a:ext cx="1097280" cy="18288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GitLab</a:t>
            </a:r>
            <a:endParaRPr lang="en-US" sz="1000" dirty="0"/>
          </a:p>
        </p:txBody>
      </p:sp>
      <p:sp>
        <p:nvSpPr>
          <p:cNvPr id="26" name="Text 24"/>
          <p:cNvSpPr/>
          <p:nvPr/>
        </p:nvSpPr>
        <p:spPr>
          <a:xfrm>
            <a:off x="6126480" y="2578608"/>
            <a:ext cx="2560320" cy="182880"/>
          </a:xfrm>
          <a:prstGeom prst="rect">
            <a:avLst/>
          </a:prstGeom>
          <a:noFill/>
          <a:ln/>
        </p:spPr>
        <p:txBody>
          <a:bodyPr wrap="square" lIns="0" tIns="0" rIns="0" bIns="0" rtlCol="0" anchor="ctr"/>
          <a:lstStyle/>
          <a:p>
            <a:pPr indent="0" marL="0">
              <a:buNone/>
            </a:pPr>
            <a:r>
              <a:rPr lang="en-US" sz="900" dirty="0">
                <a:solidFill>
                  <a:srgbClr val="0D9488"/>
                </a:solidFill>
                <a:latin typeface="Consolas" pitchFamily="34" charset="0"/>
                <a:ea typeface="Consolas" pitchFamily="34" charset="-122"/>
                <a:cs typeface="Consolas" pitchFamily="34" charset="-120"/>
              </a:rPr>
              <a:t>Merge Request (MR)</a:t>
            </a:r>
            <a:endParaRPr lang="en-US" sz="900" dirty="0"/>
          </a:p>
        </p:txBody>
      </p:sp>
      <p:sp>
        <p:nvSpPr>
          <p:cNvPr id="27" name="Text 25"/>
          <p:cNvSpPr/>
          <p:nvPr/>
        </p:nvSpPr>
        <p:spPr>
          <a:xfrm>
            <a:off x="4983480" y="2761488"/>
            <a:ext cx="365760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Create MR on gitlab.com</a:t>
            </a:r>
            <a:endParaRPr lang="en-US" sz="850" dirty="0"/>
          </a:p>
        </p:txBody>
      </p:sp>
      <p:sp>
        <p:nvSpPr>
          <p:cNvPr id="28" name="Text 26"/>
          <p:cNvSpPr/>
          <p:nvPr/>
        </p:nvSpPr>
        <p:spPr>
          <a:xfrm>
            <a:off x="4892040" y="3108960"/>
            <a:ext cx="3886200" cy="228600"/>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What happens in a PR review:</a:t>
            </a:r>
            <a:endParaRPr lang="en-US" sz="1000" dirty="0"/>
          </a:p>
        </p:txBody>
      </p:sp>
      <p:sp>
        <p:nvSpPr>
          <p:cNvPr id="29" name="Text 27"/>
          <p:cNvSpPr/>
          <p:nvPr/>
        </p:nvSpPr>
        <p:spPr>
          <a:xfrm>
            <a:off x="4892040" y="3337560"/>
            <a:ext cx="388620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Teammates review code changes</a:t>
            </a:r>
            <a:endParaRPr lang="en-US" sz="900" dirty="0"/>
          </a:p>
        </p:txBody>
      </p:sp>
      <p:sp>
        <p:nvSpPr>
          <p:cNvPr id="30" name="Text 28"/>
          <p:cNvSpPr/>
          <p:nvPr/>
        </p:nvSpPr>
        <p:spPr>
          <a:xfrm>
            <a:off x="4892040" y="3538728"/>
            <a:ext cx="388620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CI/CD runs automated tests</a:t>
            </a:r>
            <a:endParaRPr lang="en-US" sz="900" dirty="0"/>
          </a:p>
        </p:txBody>
      </p:sp>
      <p:sp>
        <p:nvSpPr>
          <p:cNvPr id="31" name="Text 29"/>
          <p:cNvSpPr/>
          <p:nvPr/>
        </p:nvSpPr>
        <p:spPr>
          <a:xfrm>
            <a:off x="4892040" y="3739896"/>
            <a:ext cx="388620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Comments and change requests</a:t>
            </a:r>
            <a:endParaRPr lang="en-US" sz="900" dirty="0"/>
          </a:p>
        </p:txBody>
      </p:sp>
      <p:sp>
        <p:nvSpPr>
          <p:cNvPr id="32" name="Text 30"/>
          <p:cNvSpPr/>
          <p:nvPr/>
        </p:nvSpPr>
        <p:spPr>
          <a:xfrm>
            <a:off x="4892040" y="3941064"/>
            <a:ext cx="388620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  Approval → Merge → Branch deleted</a:t>
            </a:r>
            <a:endParaRPr lang="en-US" sz="900" dirty="0"/>
          </a:p>
        </p:txBody>
      </p:sp>
      <p:sp>
        <p:nvSpPr>
          <p:cNvPr id="33" name="Shape 31"/>
          <p:cNvSpPr/>
          <p:nvPr/>
        </p:nvSpPr>
        <p:spPr>
          <a:xfrm>
            <a:off x="320040" y="3749040"/>
            <a:ext cx="8641080" cy="960120"/>
          </a:xfrm>
          <a:prstGeom prst="rect">
            <a:avLst/>
          </a:prstGeom>
          <a:solidFill>
            <a:srgbClr val="0F1B2D"/>
          </a:solidFill>
          <a:ln/>
        </p:spPr>
      </p:sp>
      <p:sp>
        <p:nvSpPr>
          <p:cNvPr id="34" name="Text 32"/>
          <p:cNvSpPr/>
          <p:nvPr/>
        </p:nvSpPr>
        <p:spPr>
          <a:xfrm>
            <a:off x="502920" y="3794760"/>
            <a:ext cx="822960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Why This Matters for AI-Assisted Development</a:t>
            </a:r>
            <a:endParaRPr lang="en-US" sz="1200" dirty="0"/>
          </a:p>
        </p:txBody>
      </p:sp>
      <p:sp>
        <p:nvSpPr>
          <p:cNvPr id="35" name="Text 33"/>
          <p:cNvSpPr/>
          <p:nvPr/>
        </p:nvSpPr>
        <p:spPr>
          <a:xfrm>
            <a:off x="502920" y="4114800"/>
            <a:ext cx="8229600" cy="5486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AI agents generate code fast. Without feature branches and PR reviews, you get:</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conflicts between developers, untested code in production, and no traceability.</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The branch → PR → review → merge cycle is your safety net.</a:t>
            </a:r>
            <a:endParaRPr lang="en-US" sz="1000" dirty="0"/>
          </a:p>
        </p:txBody>
      </p:sp>
      <p:sp>
        <p:nvSpPr>
          <p:cNvPr id="36" name="Text 34"/>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87 / 93</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Git Worktrees for Multi-Agent Work</a:t>
            </a:r>
            <a:endParaRPr lang="en-US" sz="2800" dirty="0"/>
          </a:p>
        </p:txBody>
      </p:sp>
      <p:sp>
        <p:nvSpPr>
          <p:cNvPr id="4" name="Text 2"/>
          <p:cNvSpPr/>
          <p:nvPr/>
        </p:nvSpPr>
        <p:spPr>
          <a:xfrm>
            <a:off x="548640" y="777240"/>
            <a:ext cx="7315200" cy="320040"/>
          </a:xfrm>
          <a:prstGeom prst="rect">
            <a:avLst/>
          </a:prstGeom>
          <a:noFill/>
          <a:ln/>
        </p:spPr>
        <p:txBody>
          <a:bodyPr wrap="square" lIns="0" tIns="0" rIns="0" bIns="0" rtlCol="0" anchor="ctr"/>
          <a:lstStyle/>
          <a:p>
            <a:pPr indent="0" marL="0">
              <a:buNone/>
            </a:pPr>
            <a:r>
              <a:rPr lang="en-US" sz="1300" dirty="0">
                <a:solidFill>
                  <a:srgbClr val="14B8A6"/>
                </a:solidFill>
                <a:latin typeface="Calibri" pitchFamily="34" charset="0"/>
                <a:ea typeface="Calibri" pitchFamily="34" charset="-122"/>
                <a:cs typeface="Calibri" pitchFamily="34" charset="-120"/>
              </a:rPr>
              <a:t>Run multiple agents on different branches simultaneously, without conflicts</a:t>
            </a:r>
            <a:endParaRPr lang="en-US" sz="1300" dirty="0"/>
          </a:p>
        </p:txBody>
      </p:sp>
      <p:sp>
        <p:nvSpPr>
          <p:cNvPr id="5" name="Shape 3"/>
          <p:cNvSpPr/>
          <p:nvPr/>
        </p:nvSpPr>
        <p:spPr>
          <a:xfrm>
            <a:off x="365760" y="1234440"/>
            <a:ext cx="411480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6" name="Text 4"/>
          <p:cNvSpPr/>
          <p:nvPr/>
        </p:nvSpPr>
        <p:spPr>
          <a:xfrm>
            <a:off x="548640" y="1280160"/>
            <a:ext cx="3749040" cy="27432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What is a Git Worktree?</a:t>
            </a:r>
            <a:endParaRPr lang="en-US" sz="1300" dirty="0"/>
          </a:p>
        </p:txBody>
      </p:sp>
      <p:sp>
        <p:nvSpPr>
          <p:cNvPr id="7" name="Text 5"/>
          <p:cNvSpPr/>
          <p:nvPr/>
        </p:nvSpPr>
        <p:spPr>
          <a:xfrm>
            <a:off x="548640" y="1600200"/>
            <a:ext cx="3749040" cy="114300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 worktree lets you check out multiple branches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at the same time in different directories.</a:t>
            </a:r>
            <a:endParaRPr lang="en-US" sz="1000" dirty="0"/>
          </a:p>
          <a:p>
            <a:pPr indent="0" marL="0">
              <a:buNone/>
            </a:pP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Normally you can only work on one branch at a time.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With worktrees, each branch gets its own folder—</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so multiple agents can code in parallel.</a:t>
            </a:r>
            <a:endParaRPr lang="en-US" sz="1000" dirty="0"/>
          </a:p>
        </p:txBody>
      </p:sp>
      <p:sp>
        <p:nvSpPr>
          <p:cNvPr id="8" name="Shape 6"/>
          <p:cNvSpPr/>
          <p:nvPr/>
        </p:nvSpPr>
        <p:spPr>
          <a:xfrm>
            <a:off x="4663440" y="1234440"/>
            <a:ext cx="4297680" cy="1645920"/>
          </a:xfrm>
          <a:prstGeom prst="rect">
            <a:avLst/>
          </a:prstGeom>
          <a:solidFill>
            <a:srgbClr val="1A2744"/>
          </a:solidFill>
          <a:ln/>
          <a:effectLst>
            <a:outerShdw sx="100000" sy="100000" kx="0" ky="0" algn="bl" rotWithShape="0" blurRad="101600" dist="38100" dir="8100000">
              <a:srgbClr val="000000">
                <a:alpha val="15000"/>
              </a:srgbClr>
            </a:outerShdw>
          </a:effectLst>
        </p:spPr>
      </p:sp>
      <p:sp>
        <p:nvSpPr>
          <p:cNvPr id="9" name="Text 7"/>
          <p:cNvSpPr/>
          <p:nvPr/>
        </p:nvSpPr>
        <p:spPr>
          <a:xfrm>
            <a:off x="4846320" y="1280160"/>
            <a:ext cx="3931920" cy="27432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Worktree Commands</a:t>
            </a:r>
            <a:endParaRPr lang="en-US" sz="1300" dirty="0"/>
          </a:p>
        </p:txBody>
      </p:sp>
      <p:sp>
        <p:nvSpPr>
          <p:cNvPr id="10" name="Text 8"/>
          <p:cNvSpPr/>
          <p:nvPr/>
        </p:nvSpPr>
        <p:spPr>
          <a:xfrm>
            <a:off x="4846320" y="1664208"/>
            <a:ext cx="3931920" cy="137160"/>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git worktree add ../feature-login feature/login</a:t>
            </a:r>
            <a:endParaRPr lang="en-US" sz="800" dirty="0"/>
          </a:p>
        </p:txBody>
      </p:sp>
      <p:sp>
        <p:nvSpPr>
          <p:cNvPr id="11" name="Text 9"/>
          <p:cNvSpPr/>
          <p:nvPr/>
        </p:nvSpPr>
        <p:spPr>
          <a:xfrm>
            <a:off x="4846320" y="1801368"/>
            <a:ext cx="3931920" cy="13716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Create worktree for a branch</a:t>
            </a:r>
            <a:endParaRPr lang="en-US" sz="800" dirty="0"/>
          </a:p>
        </p:txBody>
      </p:sp>
      <p:sp>
        <p:nvSpPr>
          <p:cNvPr id="12" name="Text 10"/>
          <p:cNvSpPr/>
          <p:nvPr/>
        </p:nvSpPr>
        <p:spPr>
          <a:xfrm>
            <a:off x="4846320" y="1938528"/>
            <a:ext cx="3931920" cy="137160"/>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git worktree add ../bugfix-auth bugfix/auth</a:t>
            </a:r>
            <a:endParaRPr lang="en-US" sz="800" dirty="0"/>
          </a:p>
        </p:txBody>
      </p:sp>
      <p:sp>
        <p:nvSpPr>
          <p:cNvPr id="13" name="Text 11"/>
          <p:cNvSpPr/>
          <p:nvPr/>
        </p:nvSpPr>
        <p:spPr>
          <a:xfrm>
            <a:off x="4846320" y="2075688"/>
            <a:ext cx="3931920" cy="13716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Another worktree, another branch</a:t>
            </a:r>
            <a:endParaRPr lang="en-US" sz="800" dirty="0"/>
          </a:p>
        </p:txBody>
      </p:sp>
      <p:sp>
        <p:nvSpPr>
          <p:cNvPr id="14" name="Text 12"/>
          <p:cNvSpPr/>
          <p:nvPr/>
        </p:nvSpPr>
        <p:spPr>
          <a:xfrm>
            <a:off x="4846320" y="2212848"/>
            <a:ext cx="3931920" cy="137160"/>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git worktree list</a:t>
            </a:r>
            <a:endParaRPr lang="en-US" sz="800" dirty="0"/>
          </a:p>
        </p:txBody>
      </p:sp>
      <p:sp>
        <p:nvSpPr>
          <p:cNvPr id="15" name="Text 13"/>
          <p:cNvSpPr/>
          <p:nvPr/>
        </p:nvSpPr>
        <p:spPr>
          <a:xfrm>
            <a:off x="4846320" y="2350008"/>
            <a:ext cx="3931920" cy="13716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See all active worktrees</a:t>
            </a:r>
            <a:endParaRPr lang="en-US" sz="800" dirty="0"/>
          </a:p>
        </p:txBody>
      </p:sp>
      <p:sp>
        <p:nvSpPr>
          <p:cNvPr id="16" name="Text 14"/>
          <p:cNvSpPr/>
          <p:nvPr/>
        </p:nvSpPr>
        <p:spPr>
          <a:xfrm>
            <a:off x="4846320" y="2487168"/>
            <a:ext cx="3931920" cy="137160"/>
          </a:xfrm>
          <a:prstGeom prst="rect">
            <a:avLst/>
          </a:prstGeom>
          <a:noFill/>
          <a:ln/>
        </p:spPr>
        <p:txBody>
          <a:bodyPr wrap="square" lIns="0" tIns="0" rIns="0" bIns="0" rtlCol="0" anchor="ctr"/>
          <a:lstStyle/>
          <a:p>
            <a:pPr indent="0" marL="0">
              <a:buNone/>
            </a:pPr>
            <a:r>
              <a:rPr lang="en-US" sz="800" dirty="0">
                <a:solidFill>
                  <a:srgbClr val="F59E0B"/>
                </a:solidFill>
                <a:latin typeface="Consolas" pitchFamily="34" charset="0"/>
                <a:ea typeface="Consolas" pitchFamily="34" charset="-122"/>
                <a:cs typeface="Consolas" pitchFamily="34" charset="-120"/>
              </a:rPr>
              <a:t>git worktree remove ../feature-login</a:t>
            </a:r>
            <a:endParaRPr lang="en-US" sz="800" dirty="0"/>
          </a:p>
        </p:txBody>
      </p:sp>
      <p:sp>
        <p:nvSpPr>
          <p:cNvPr id="17" name="Text 15"/>
          <p:cNvSpPr/>
          <p:nvPr/>
        </p:nvSpPr>
        <p:spPr>
          <a:xfrm>
            <a:off x="4846320" y="2624328"/>
            <a:ext cx="3931920" cy="13716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Clean up after merge</a:t>
            </a:r>
            <a:endParaRPr lang="en-US" sz="800" dirty="0"/>
          </a:p>
        </p:txBody>
      </p:sp>
      <p:sp>
        <p:nvSpPr>
          <p:cNvPr id="18" name="Shape 16"/>
          <p:cNvSpPr/>
          <p:nvPr/>
        </p:nvSpPr>
        <p:spPr>
          <a:xfrm>
            <a:off x="365760" y="3063240"/>
            <a:ext cx="854964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Text 17"/>
          <p:cNvSpPr/>
          <p:nvPr/>
        </p:nvSpPr>
        <p:spPr>
          <a:xfrm>
            <a:off x="548640" y="3108960"/>
            <a:ext cx="82296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Multi-Agent Parallel Work</a:t>
            </a:r>
            <a:endParaRPr lang="en-US" sz="1200" dirty="0"/>
          </a:p>
        </p:txBody>
      </p:sp>
      <p:sp>
        <p:nvSpPr>
          <p:cNvPr id="20" name="Text 18"/>
          <p:cNvSpPr/>
          <p:nvPr/>
        </p:nvSpPr>
        <p:spPr>
          <a:xfrm>
            <a:off x="548640" y="3383280"/>
            <a:ext cx="2011680" cy="228600"/>
          </a:xfrm>
          <a:prstGeom prst="rect">
            <a:avLst/>
          </a:prstGeom>
          <a:noFill/>
          <a:ln/>
        </p:spPr>
        <p:txBody>
          <a:bodyPr wrap="square" lIns="0" tIns="0" rIns="0" bIns="0" rtlCol="0" anchor="ctr"/>
          <a:lstStyle/>
          <a:p>
            <a:pPr indent="0" marL="0">
              <a:buNone/>
            </a:pPr>
            <a:r>
              <a:rPr lang="en-US" sz="900" b="1" dirty="0">
                <a:solidFill>
                  <a:srgbClr val="94A3B8"/>
                </a:solidFill>
                <a:latin typeface="Calibri" pitchFamily="34" charset="0"/>
                <a:ea typeface="Calibri" pitchFamily="34" charset="-122"/>
                <a:cs typeface="Calibri" pitchFamily="34" charset="-120"/>
              </a:rPr>
              <a:t>Agent</a:t>
            </a:r>
            <a:endParaRPr lang="en-US" sz="900" dirty="0"/>
          </a:p>
        </p:txBody>
      </p:sp>
      <p:sp>
        <p:nvSpPr>
          <p:cNvPr id="21" name="Text 19"/>
          <p:cNvSpPr/>
          <p:nvPr/>
        </p:nvSpPr>
        <p:spPr>
          <a:xfrm>
            <a:off x="2560320" y="3383280"/>
            <a:ext cx="2560320" cy="228600"/>
          </a:xfrm>
          <a:prstGeom prst="rect">
            <a:avLst/>
          </a:prstGeom>
          <a:noFill/>
          <a:ln/>
        </p:spPr>
        <p:txBody>
          <a:bodyPr wrap="square" lIns="0" tIns="0" rIns="0" bIns="0" rtlCol="0" anchor="ctr"/>
          <a:lstStyle/>
          <a:p>
            <a:pPr indent="0" marL="0">
              <a:buNone/>
            </a:pPr>
            <a:r>
              <a:rPr lang="en-US" sz="900" b="1" dirty="0">
                <a:solidFill>
                  <a:srgbClr val="94A3B8"/>
                </a:solidFill>
                <a:latin typeface="Calibri" pitchFamily="34" charset="0"/>
                <a:ea typeface="Calibri" pitchFamily="34" charset="-122"/>
                <a:cs typeface="Calibri" pitchFamily="34" charset="-120"/>
              </a:rPr>
              <a:t>Working Directory</a:t>
            </a:r>
            <a:endParaRPr lang="en-US" sz="900" dirty="0"/>
          </a:p>
        </p:txBody>
      </p:sp>
      <p:sp>
        <p:nvSpPr>
          <p:cNvPr id="22" name="Text 20"/>
          <p:cNvSpPr/>
          <p:nvPr/>
        </p:nvSpPr>
        <p:spPr>
          <a:xfrm>
            <a:off x="5212080" y="3383280"/>
            <a:ext cx="3474720" cy="228600"/>
          </a:xfrm>
          <a:prstGeom prst="rect">
            <a:avLst/>
          </a:prstGeom>
          <a:noFill/>
          <a:ln/>
        </p:spPr>
        <p:txBody>
          <a:bodyPr wrap="square" lIns="0" tIns="0" rIns="0" bIns="0" rtlCol="0" anchor="ctr"/>
          <a:lstStyle/>
          <a:p>
            <a:pPr indent="0" marL="0">
              <a:buNone/>
            </a:pPr>
            <a:r>
              <a:rPr lang="en-US" sz="900" b="1" dirty="0">
                <a:solidFill>
                  <a:srgbClr val="94A3B8"/>
                </a:solidFill>
                <a:latin typeface="Calibri" pitchFamily="34" charset="0"/>
                <a:ea typeface="Calibri" pitchFamily="34" charset="-122"/>
                <a:cs typeface="Calibri" pitchFamily="34" charset="-120"/>
              </a:rPr>
              <a:t>Branch</a:t>
            </a:r>
            <a:endParaRPr lang="en-US" sz="900" dirty="0"/>
          </a:p>
        </p:txBody>
      </p:sp>
      <p:sp>
        <p:nvSpPr>
          <p:cNvPr id="23" name="Shape 21"/>
          <p:cNvSpPr/>
          <p:nvPr/>
        </p:nvSpPr>
        <p:spPr>
          <a:xfrm>
            <a:off x="502920" y="3639312"/>
            <a:ext cx="109728" cy="228600"/>
          </a:xfrm>
          <a:prstGeom prst="rect">
            <a:avLst/>
          </a:prstGeom>
          <a:solidFill>
            <a:srgbClr val="0D9488"/>
          </a:solidFill>
          <a:ln/>
        </p:spPr>
      </p:sp>
      <p:sp>
        <p:nvSpPr>
          <p:cNvPr id="24" name="Text 22"/>
          <p:cNvSpPr/>
          <p:nvPr/>
        </p:nvSpPr>
        <p:spPr>
          <a:xfrm>
            <a:off x="685800" y="3657600"/>
            <a:ext cx="182880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1 (Claude Code)</a:t>
            </a:r>
            <a:endParaRPr lang="en-US" sz="900" dirty="0"/>
          </a:p>
        </p:txBody>
      </p:sp>
      <p:sp>
        <p:nvSpPr>
          <p:cNvPr id="25" name="Text 23"/>
          <p:cNvSpPr/>
          <p:nvPr/>
        </p:nvSpPr>
        <p:spPr>
          <a:xfrm>
            <a:off x="2560320" y="3657600"/>
            <a:ext cx="2560320" cy="201168"/>
          </a:xfrm>
          <a:prstGeom prst="rect">
            <a:avLst/>
          </a:prstGeom>
          <a:noFill/>
          <a:ln/>
        </p:spPr>
        <p:txBody>
          <a:bodyPr wrap="square" lIns="0" tIns="0" rIns="0" bIns="0" rtlCol="0" anchor="ctr"/>
          <a:lstStyle/>
          <a:p>
            <a:pPr indent="0" marL="0">
              <a:buNone/>
            </a:pPr>
            <a:r>
              <a:rPr lang="en-US" sz="850" dirty="0">
                <a:solidFill>
                  <a:srgbClr val="475569"/>
                </a:solidFill>
                <a:latin typeface="Consolas" pitchFamily="34" charset="0"/>
                <a:ea typeface="Consolas" pitchFamily="34" charset="-122"/>
                <a:cs typeface="Consolas" pitchFamily="34" charset="-120"/>
              </a:rPr>
              <a:t>../my-project/</a:t>
            </a:r>
            <a:endParaRPr lang="en-US" sz="850" dirty="0"/>
          </a:p>
        </p:txBody>
      </p:sp>
      <p:sp>
        <p:nvSpPr>
          <p:cNvPr id="26" name="Text 24"/>
          <p:cNvSpPr/>
          <p:nvPr/>
        </p:nvSpPr>
        <p:spPr>
          <a:xfrm>
            <a:off x="5212080" y="3657600"/>
            <a:ext cx="3474720" cy="201168"/>
          </a:xfrm>
          <a:prstGeom prst="rect">
            <a:avLst/>
          </a:prstGeom>
          <a:noFill/>
          <a:ln/>
        </p:spPr>
        <p:txBody>
          <a:bodyPr wrap="square" lIns="0" tIns="0" rIns="0" bIns="0" rtlCol="0" anchor="ctr"/>
          <a:lstStyle/>
          <a:p>
            <a:pPr indent="0" marL="0">
              <a:buNone/>
            </a:pPr>
            <a:r>
              <a:rPr lang="en-US" sz="900" b="1" dirty="0">
                <a:solidFill>
                  <a:srgbClr val="0D9488"/>
                </a:solidFill>
                <a:latin typeface="Consolas" pitchFamily="34" charset="0"/>
                <a:ea typeface="Consolas" pitchFamily="34" charset="-122"/>
                <a:cs typeface="Consolas" pitchFamily="34" charset="-120"/>
              </a:rPr>
              <a:t>feature/user-auth</a:t>
            </a:r>
            <a:endParaRPr lang="en-US" sz="900" dirty="0"/>
          </a:p>
        </p:txBody>
      </p:sp>
      <p:sp>
        <p:nvSpPr>
          <p:cNvPr id="27" name="Shape 25"/>
          <p:cNvSpPr/>
          <p:nvPr/>
        </p:nvSpPr>
        <p:spPr>
          <a:xfrm>
            <a:off x="502920" y="3913632"/>
            <a:ext cx="109728" cy="228600"/>
          </a:xfrm>
          <a:prstGeom prst="rect">
            <a:avLst/>
          </a:prstGeom>
          <a:solidFill>
            <a:srgbClr val="2563EB"/>
          </a:solidFill>
          <a:ln/>
        </p:spPr>
      </p:sp>
      <p:sp>
        <p:nvSpPr>
          <p:cNvPr id="28" name="Text 26"/>
          <p:cNvSpPr/>
          <p:nvPr/>
        </p:nvSpPr>
        <p:spPr>
          <a:xfrm>
            <a:off x="685800" y="3931920"/>
            <a:ext cx="182880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2 (Cursor)</a:t>
            </a:r>
            <a:endParaRPr lang="en-US" sz="900" dirty="0"/>
          </a:p>
        </p:txBody>
      </p:sp>
      <p:sp>
        <p:nvSpPr>
          <p:cNvPr id="29" name="Text 27"/>
          <p:cNvSpPr/>
          <p:nvPr/>
        </p:nvSpPr>
        <p:spPr>
          <a:xfrm>
            <a:off x="2560320" y="3931920"/>
            <a:ext cx="2560320" cy="201168"/>
          </a:xfrm>
          <a:prstGeom prst="rect">
            <a:avLst/>
          </a:prstGeom>
          <a:noFill/>
          <a:ln/>
        </p:spPr>
        <p:txBody>
          <a:bodyPr wrap="square" lIns="0" tIns="0" rIns="0" bIns="0" rtlCol="0" anchor="ctr"/>
          <a:lstStyle/>
          <a:p>
            <a:pPr indent="0" marL="0">
              <a:buNone/>
            </a:pPr>
            <a:r>
              <a:rPr lang="en-US" sz="850" dirty="0">
                <a:solidFill>
                  <a:srgbClr val="475569"/>
                </a:solidFill>
                <a:latin typeface="Consolas" pitchFamily="34" charset="0"/>
                <a:ea typeface="Consolas" pitchFamily="34" charset="-122"/>
                <a:cs typeface="Consolas" pitchFamily="34" charset="-120"/>
              </a:rPr>
              <a:t>../wt-feature-api/</a:t>
            </a:r>
            <a:endParaRPr lang="en-US" sz="850" dirty="0"/>
          </a:p>
        </p:txBody>
      </p:sp>
      <p:sp>
        <p:nvSpPr>
          <p:cNvPr id="30" name="Text 28"/>
          <p:cNvSpPr/>
          <p:nvPr/>
        </p:nvSpPr>
        <p:spPr>
          <a:xfrm>
            <a:off x="5212080" y="3931920"/>
            <a:ext cx="3474720" cy="201168"/>
          </a:xfrm>
          <a:prstGeom prst="rect">
            <a:avLst/>
          </a:prstGeom>
          <a:noFill/>
          <a:ln/>
        </p:spPr>
        <p:txBody>
          <a:bodyPr wrap="square" lIns="0" tIns="0" rIns="0" bIns="0" rtlCol="0" anchor="ctr"/>
          <a:lstStyle/>
          <a:p>
            <a:pPr indent="0" marL="0">
              <a:buNone/>
            </a:pPr>
            <a:r>
              <a:rPr lang="en-US" sz="900" b="1" dirty="0">
                <a:solidFill>
                  <a:srgbClr val="2563EB"/>
                </a:solidFill>
                <a:latin typeface="Consolas" pitchFamily="34" charset="0"/>
                <a:ea typeface="Consolas" pitchFamily="34" charset="-122"/>
                <a:cs typeface="Consolas" pitchFamily="34" charset="-120"/>
              </a:rPr>
              <a:t>feature/api-layer</a:t>
            </a:r>
            <a:endParaRPr lang="en-US" sz="900" dirty="0"/>
          </a:p>
        </p:txBody>
      </p:sp>
      <p:sp>
        <p:nvSpPr>
          <p:cNvPr id="31" name="Shape 29"/>
          <p:cNvSpPr/>
          <p:nvPr/>
        </p:nvSpPr>
        <p:spPr>
          <a:xfrm>
            <a:off x="502920" y="4187952"/>
            <a:ext cx="109728" cy="228600"/>
          </a:xfrm>
          <a:prstGeom prst="rect">
            <a:avLst/>
          </a:prstGeom>
          <a:solidFill>
            <a:srgbClr val="7C3AED"/>
          </a:solidFill>
          <a:ln/>
        </p:spPr>
      </p:sp>
      <p:sp>
        <p:nvSpPr>
          <p:cNvPr id="32" name="Text 30"/>
          <p:cNvSpPr/>
          <p:nvPr/>
        </p:nvSpPr>
        <p:spPr>
          <a:xfrm>
            <a:off x="685800" y="4206240"/>
            <a:ext cx="182880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3 (Cline)</a:t>
            </a:r>
            <a:endParaRPr lang="en-US" sz="900" dirty="0"/>
          </a:p>
        </p:txBody>
      </p:sp>
      <p:sp>
        <p:nvSpPr>
          <p:cNvPr id="33" name="Text 31"/>
          <p:cNvSpPr/>
          <p:nvPr/>
        </p:nvSpPr>
        <p:spPr>
          <a:xfrm>
            <a:off x="2560320" y="4206240"/>
            <a:ext cx="2560320" cy="201168"/>
          </a:xfrm>
          <a:prstGeom prst="rect">
            <a:avLst/>
          </a:prstGeom>
          <a:noFill/>
          <a:ln/>
        </p:spPr>
        <p:txBody>
          <a:bodyPr wrap="square" lIns="0" tIns="0" rIns="0" bIns="0" rtlCol="0" anchor="ctr"/>
          <a:lstStyle/>
          <a:p>
            <a:pPr indent="0" marL="0">
              <a:buNone/>
            </a:pPr>
            <a:r>
              <a:rPr lang="en-US" sz="850" dirty="0">
                <a:solidFill>
                  <a:srgbClr val="475569"/>
                </a:solidFill>
                <a:latin typeface="Consolas" pitchFamily="34" charset="0"/>
                <a:ea typeface="Consolas" pitchFamily="34" charset="-122"/>
                <a:cs typeface="Consolas" pitchFamily="34" charset="-120"/>
              </a:rPr>
              <a:t>../wt-bugfix-nav/</a:t>
            </a:r>
            <a:endParaRPr lang="en-US" sz="850" dirty="0"/>
          </a:p>
        </p:txBody>
      </p:sp>
      <p:sp>
        <p:nvSpPr>
          <p:cNvPr id="34" name="Text 32"/>
          <p:cNvSpPr/>
          <p:nvPr/>
        </p:nvSpPr>
        <p:spPr>
          <a:xfrm>
            <a:off x="5212080" y="4206240"/>
            <a:ext cx="3474720" cy="201168"/>
          </a:xfrm>
          <a:prstGeom prst="rect">
            <a:avLst/>
          </a:prstGeom>
          <a:noFill/>
          <a:ln/>
        </p:spPr>
        <p:txBody>
          <a:bodyPr wrap="square" lIns="0" tIns="0" rIns="0" bIns="0" rtlCol="0" anchor="ctr"/>
          <a:lstStyle/>
          <a:p>
            <a:pPr indent="0" marL="0">
              <a:buNone/>
            </a:pPr>
            <a:r>
              <a:rPr lang="en-US" sz="900" b="1" dirty="0">
                <a:solidFill>
                  <a:srgbClr val="7C3AED"/>
                </a:solidFill>
                <a:latin typeface="Consolas" pitchFamily="34" charset="0"/>
                <a:ea typeface="Consolas" pitchFamily="34" charset="-122"/>
                <a:cs typeface="Consolas" pitchFamily="34" charset="-120"/>
              </a:rPr>
              <a:t>bugfix/navigation</a:t>
            </a:r>
            <a:endParaRPr lang="en-US" sz="900" dirty="0"/>
          </a:p>
        </p:txBody>
      </p:sp>
      <p:sp>
        <p:nvSpPr>
          <p:cNvPr id="35" name="Shape 33"/>
          <p:cNvSpPr/>
          <p:nvPr/>
        </p:nvSpPr>
        <p:spPr>
          <a:xfrm>
            <a:off x="502920" y="4462272"/>
            <a:ext cx="109728" cy="228600"/>
          </a:xfrm>
          <a:prstGeom prst="rect">
            <a:avLst/>
          </a:prstGeom>
          <a:solidFill>
            <a:srgbClr val="EA580C"/>
          </a:solidFill>
          <a:ln/>
        </p:spPr>
      </p:sp>
      <p:sp>
        <p:nvSpPr>
          <p:cNvPr id="36" name="Text 34"/>
          <p:cNvSpPr/>
          <p:nvPr/>
        </p:nvSpPr>
        <p:spPr>
          <a:xfrm>
            <a:off x="685800" y="4480560"/>
            <a:ext cx="1828800" cy="201168"/>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Agent 4 (Antigravity)</a:t>
            </a:r>
            <a:endParaRPr lang="en-US" sz="900" dirty="0"/>
          </a:p>
        </p:txBody>
      </p:sp>
      <p:sp>
        <p:nvSpPr>
          <p:cNvPr id="37" name="Text 35"/>
          <p:cNvSpPr/>
          <p:nvPr/>
        </p:nvSpPr>
        <p:spPr>
          <a:xfrm>
            <a:off x="2560320" y="4480560"/>
            <a:ext cx="2560320" cy="201168"/>
          </a:xfrm>
          <a:prstGeom prst="rect">
            <a:avLst/>
          </a:prstGeom>
          <a:noFill/>
          <a:ln/>
        </p:spPr>
        <p:txBody>
          <a:bodyPr wrap="square" lIns="0" tIns="0" rIns="0" bIns="0" rtlCol="0" anchor="ctr"/>
          <a:lstStyle/>
          <a:p>
            <a:pPr indent="0" marL="0">
              <a:buNone/>
            </a:pPr>
            <a:r>
              <a:rPr lang="en-US" sz="850" dirty="0">
                <a:solidFill>
                  <a:srgbClr val="475569"/>
                </a:solidFill>
                <a:latin typeface="Consolas" pitchFamily="34" charset="0"/>
                <a:ea typeface="Consolas" pitchFamily="34" charset="-122"/>
                <a:cs typeface="Consolas" pitchFamily="34" charset="-120"/>
              </a:rPr>
              <a:t>../wt-feature-dashboard/</a:t>
            </a:r>
            <a:endParaRPr lang="en-US" sz="850" dirty="0"/>
          </a:p>
        </p:txBody>
      </p:sp>
      <p:sp>
        <p:nvSpPr>
          <p:cNvPr id="38" name="Text 36"/>
          <p:cNvSpPr/>
          <p:nvPr/>
        </p:nvSpPr>
        <p:spPr>
          <a:xfrm>
            <a:off x="5212080" y="4480560"/>
            <a:ext cx="3474720" cy="201168"/>
          </a:xfrm>
          <a:prstGeom prst="rect">
            <a:avLst/>
          </a:prstGeom>
          <a:noFill/>
          <a:ln/>
        </p:spPr>
        <p:txBody>
          <a:bodyPr wrap="square" lIns="0" tIns="0" rIns="0" bIns="0" rtlCol="0" anchor="ctr"/>
          <a:lstStyle/>
          <a:p>
            <a:pPr indent="0" marL="0">
              <a:buNone/>
            </a:pPr>
            <a:r>
              <a:rPr lang="en-US" sz="900" b="1" dirty="0">
                <a:solidFill>
                  <a:srgbClr val="EA580C"/>
                </a:solidFill>
                <a:latin typeface="Consolas" pitchFamily="34" charset="0"/>
                <a:ea typeface="Consolas" pitchFamily="34" charset="-122"/>
                <a:cs typeface="Consolas" pitchFamily="34" charset="-120"/>
              </a:rPr>
              <a:t>feature/dashboard</a:t>
            </a:r>
            <a:endParaRPr lang="en-US" sz="900" dirty="0"/>
          </a:p>
        </p:txBody>
      </p:sp>
      <p:sp>
        <p:nvSpPr>
          <p:cNvPr id="39" name="Text 3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88 / 93</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Shape 1"/>
          <p:cNvSpPr/>
          <p:nvPr/>
        </p:nvSpPr>
        <p:spPr>
          <a:xfrm>
            <a:off x="0" y="54864"/>
            <a:ext cx="9144000" cy="822960"/>
          </a:xfrm>
          <a:prstGeom prst="rect">
            <a:avLst/>
          </a:prstGeom>
          <a:solidFill>
            <a:srgbClr val="0F1B2D"/>
          </a:solidFill>
          <a:ln/>
        </p:spPr>
      </p:sp>
      <p:sp>
        <p:nvSpPr>
          <p:cNvPr id="4" name="Text 2"/>
          <p:cNvSpPr/>
          <p:nvPr/>
        </p:nvSpPr>
        <p:spPr>
          <a:xfrm>
            <a:off x="548640" y="109728"/>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Humans + Agents — Working Together</a:t>
            </a:r>
            <a:endParaRPr lang="en-US" sz="2600" dirty="0"/>
          </a:p>
        </p:txBody>
      </p:sp>
      <p:sp>
        <p:nvSpPr>
          <p:cNvPr id="5" name="Shape 3"/>
          <p:cNvSpPr/>
          <p:nvPr/>
        </p:nvSpPr>
        <p:spPr>
          <a:xfrm>
            <a:off x="320040" y="1051560"/>
            <a:ext cx="86410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502920" y="1097280"/>
            <a:ext cx="82296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The Collaborative Development Workflow</a:t>
            </a:r>
            <a:endParaRPr lang="en-US" sz="1400" dirty="0"/>
          </a:p>
        </p:txBody>
      </p:sp>
      <p:sp>
        <p:nvSpPr>
          <p:cNvPr id="7" name="Shape 5"/>
          <p:cNvSpPr/>
          <p:nvPr/>
        </p:nvSpPr>
        <p:spPr>
          <a:xfrm>
            <a:off x="457200" y="1508760"/>
            <a:ext cx="1965960" cy="320040"/>
          </a:xfrm>
          <a:prstGeom prst="rect">
            <a:avLst/>
          </a:prstGeom>
          <a:solidFill>
            <a:srgbClr val="0D9488"/>
          </a:solidFill>
          <a:ln/>
        </p:spPr>
      </p:sp>
      <p:sp>
        <p:nvSpPr>
          <p:cNvPr id="8" name="Text 6"/>
          <p:cNvSpPr/>
          <p:nvPr/>
        </p:nvSpPr>
        <p:spPr>
          <a:xfrm>
            <a:off x="457200" y="1508760"/>
            <a:ext cx="196596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Team Lead / SM</a:t>
            </a:r>
            <a:endParaRPr lang="en-US" sz="1000" dirty="0"/>
          </a:p>
        </p:txBody>
      </p:sp>
      <p:sp>
        <p:nvSpPr>
          <p:cNvPr id="9" name="Shape 7"/>
          <p:cNvSpPr/>
          <p:nvPr/>
        </p:nvSpPr>
        <p:spPr>
          <a:xfrm>
            <a:off x="502920" y="196596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10" name="Text 8"/>
          <p:cNvSpPr/>
          <p:nvPr/>
        </p:nvSpPr>
        <p:spPr>
          <a:xfrm>
            <a:off x="566928" y="201168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Plans sprint with BMAD SM agent</a:t>
            </a:r>
            <a:endParaRPr lang="en-US" sz="850" dirty="0"/>
          </a:p>
        </p:txBody>
      </p:sp>
      <p:sp>
        <p:nvSpPr>
          <p:cNvPr id="11" name="Text 9"/>
          <p:cNvSpPr/>
          <p:nvPr/>
        </p:nvSpPr>
        <p:spPr>
          <a:xfrm>
            <a:off x="1234440" y="2441448"/>
            <a:ext cx="365760" cy="182880"/>
          </a:xfrm>
          <a:prstGeom prst="rect">
            <a:avLst/>
          </a:prstGeom>
          <a:noFill/>
          <a:ln/>
        </p:spPr>
        <p:txBody>
          <a:bodyPr wrap="square" rtlCol="0" anchor="ctr"/>
          <a:lstStyle/>
          <a:p>
            <a:pPr algn="ctr" indent="0" marL="0">
              <a:buNone/>
            </a:pPr>
            <a:r>
              <a:rPr lang="en-US" sz="800" dirty="0">
                <a:solidFill>
                  <a:srgbClr val="0D9488"/>
                </a:solidFill>
              </a:rPr>
              <a:t>▼</a:t>
            </a:r>
            <a:endParaRPr lang="en-US" sz="800" dirty="0"/>
          </a:p>
        </p:txBody>
      </p:sp>
      <p:sp>
        <p:nvSpPr>
          <p:cNvPr id="12" name="Shape 10"/>
          <p:cNvSpPr/>
          <p:nvPr/>
        </p:nvSpPr>
        <p:spPr>
          <a:xfrm>
            <a:off x="502920" y="260604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13" name="Text 11"/>
          <p:cNvSpPr/>
          <p:nvPr/>
        </p:nvSpPr>
        <p:spPr>
          <a:xfrm>
            <a:off x="566928" y="265176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Assigns stories to developers</a:t>
            </a:r>
            <a:endParaRPr lang="en-US" sz="850" dirty="0"/>
          </a:p>
        </p:txBody>
      </p:sp>
      <p:sp>
        <p:nvSpPr>
          <p:cNvPr id="14" name="Text 12"/>
          <p:cNvSpPr/>
          <p:nvPr/>
        </p:nvSpPr>
        <p:spPr>
          <a:xfrm>
            <a:off x="1234440" y="3081528"/>
            <a:ext cx="365760" cy="182880"/>
          </a:xfrm>
          <a:prstGeom prst="rect">
            <a:avLst/>
          </a:prstGeom>
          <a:noFill/>
          <a:ln/>
        </p:spPr>
        <p:txBody>
          <a:bodyPr wrap="square" rtlCol="0" anchor="ctr"/>
          <a:lstStyle/>
          <a:p>
            <a:pPr algn="ctr" indent="0" marL="0">
              <a:buNone/>
            </a:pPr>
            <a:r>
              <a:rPr lang="en-US" sz="800" dirty="0">
                <a:solidFill>
                  <a:srgbClr val="0D9488"/>
                </a:solidFill>
              </a:rPr>
              <a:t>▼</a:t>
            </a:r>
            <a:endParaRPr lang="en-US" sz="800" dirty="0"/>
          </a:p>
        </p:txBody>
      </p:sp>
      <p:sp>
        <p:nvSpPr>
          <p:cNvPr id="15" name="Shape 13"/>
          <p:cNvSpPr/>
          <p:nvPr/>
        </p:nvSpPr>
        <p:spPr>
          <a:xfrm>
            <a:off x="502920" y="324612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16" name="Text 14"/>
          <p:cNvSpPr/>
          <p:nvPr/>
        </p:nvSpPr>
        <p:spPr>
          <a:xfrm>
            <a:off x="566928" y="329184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Reviews and approves PRs</a:t>
            </a:r>
            <a:endParaRPr lang="en-US" sz="850" dirty="0"/>
          </a:p>
        </p:txBody>
      </p:sp>
      <p:sp>
        <p:nvSpPr>
          <p:cNvPr id="17" name="Text 15"/>
          <p:cNvSpPr/>
          <p:nvPr/>
        </p:nvSpPr>
        <p:spPr>
          <a:xfrm>
            <a:off x="1234440" y="3721608"/>
            <a:ext cx="365760" cy="182880"/>
          </a:xfrm>
          <a:prstGeom prst="rect">
            <a:avLst/>
          </a:prstGeom>
          <a:noFill/>
          <a:ln/>
        </p:spPr>
        <p:txBody>
          <a:bodyPr wrap="square" rtlCol="0" anchor="ctr"/>
          <a:lstStyle/>
          <a:p>
            <a:pPr algn="ctr" indent="0" marL="0">
              <a:buNone/>
            </a:pPr>
            <a:r>
              <a:rPr lang="en-US" sz="800" dirty="0">
                <a:solidFill>
                  <a:srgbClr val="0D9488"/>
                </a:solidFill>
              </a:rPr>
              <a:t>▼</a:t>
            </a:r>
            <a:endParaRPr lang="en-US" sz="800" dirty="0"/>
          </a:p>
        </p:txBody>
      </p:sp>
      <p:sp>
        <p:nvSpPr>
          <p:cNvPr id="18" name="Shape 16"/>
          <p:cNvSpPr/>
          <p:nvPr/>
        </p:nvSpPr>
        <p:spPr>
          <a:xfrm>
            <a:off x="502920" y="388620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19" name="Text 17"/>
          <p:cNvSpPr/>
          <p:nvPr/>
        </p:nvSpPr>
        <p:spPr>
          <a:xfrm>
            <a:off x="566928" y="393192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Runs retrospective workflow</a:t>
            </a:r>
            <a:endParaRPr lang="en-US" sz="850" dirty="0"/>
          </a:p>
        </p:txBody>
      </p:sp>
      <p:sp>
        <p:nvSpPr>
          <p:cNvPr id="20" name="Shape 18"/>
          <p:cNvSpPr/>
          <p:nvPr/>
        </p:nvSpPr>
        <p:spPr>
          <a:xfrm>
            <a:off x="2606040" y="1508760"/>
            <a:ext cx="1965960" cy="320040"/>
          </a:xfrm>
          <a:prstGeom prst="rect">
            <a:avLst/>
          </a:prstGeom>
          <a:solidFill>
            <a:srgbClr val="2563EB"/>
          </a:solidFill>
          <a:ln/>
        </p:spPr>
      </p:sp>
      <p:sp>
        <p:nvSpPr>
          <p:cNvPr id="21" name="Text 19"/>
          <p:cNvSpPr/>
          <p:nvPr/>
        </p:nvSpPr>
        <p:spPr>
          <a:xfrm>
            <a:off x="2606040" y="1508760"/>
            <a:ext cx="196596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Developer A</a:t>
            </a:r>
            <a:endParaRPr lang="en-US" sz="1000" dirty="0"/>
          </a:p>
        </p:txBody>
      </p:sp>
      <p:sp>
        <p:nvSpPr>
          <p:cNvPr id="22" name="Shape 20"/>
          <p:cNvSpPr/>
          <p:nvPr/>
        </p:nvSpPr>
        <p:spPr>
          <a:xfrm>
            <a:off x="2651760" y="196596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23" name="Text 21"/>
          <p:cNvSpPr/>
          <p:nvPr/>
        </p:nvSpPr>
        <p:spPr>
          <a:xfrm>
            <a:off x="2715768" y="201168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Creates feature branch</a:t>
            </a:r>
            <a:endParaRPr lang="en-US" sz="850" dirty="0"/>
          </a:p>
        </p:txBody>
      </p:sp>
      <p:sp>
        <p:nvSpPr>
          <p:cNvPr id="24" name="Text 22"/>
          <p:cNvSpPr/>
          <p:nvPr/>
        </p:nvSpPr>
        <p:spPr>
          <a:xfrm>
            <a:off x="3383280" y="2441448"/>
            <a:ext cx="365760" cy="182880"/>
          </a:xfrm>
          <a:prstGeom prst="rect">
            <a:avLst/>
          </a:prstGeom>
          <a:noFill/>
          <a:ln/>
        </p:spPr>
        <p:txBody>
          <a:bodyPr wrap="square" rtlCol="0" anchor="ctr"/>
          <a:lstStyle/>
          <a:p>
            <a:pPr algn="ctr" indent="0" marL="0">
              <a:buNone/>
            </a:pPr>
            <a:r>
              <a:rPr lang="en-US" sz="800" dirty="0">
                <a:solidFill>
                  <a:srgbClr val="2563EB"/>
                </a:solidFill>
              </a:rPr>
              <a:t>▼</a:t>
            </a:r>
            <a:endParaRPr lang="en-US" sz="800" dirty="0"/>
          </a:p>
        </p:txBody>
      </p:sp>
      <p:sp>
        <p:nvSpPr>
          <p:cNvPr id="25" name="Shape 23"/>
          <p:cNvSpPr/>
          <p:nvPr/>
        </p:nvSpPr>
        <p:spPr>
          <a:xfrm>
            <a:off x="2651760" y="260604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26" name="Text 24"/>
          <p:cNvSpPr/>
          <p:nvPr/>
        </p:nvSpPr>
        <p:spPr>
          <a:xfrm>
            <a:off x="2715768" y="265176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Opens worktree for the branch</a:t>
            </a:r>
            <a:endParaRPr lang="en-US" sz="850" dirty="0"/>
          </a:p>
        </p:txBody>
      </p:sp>
      <p:sp>
        <p:nvSpPr>
          <p:cNvPr id="27" name="Text 25"/>
          <p:cNvSpPr/>
          <p:nvPr/>
        </p:nvSpPr>
        <p:spPr>
          <a:xfrm>
            <a:off x="3383280" y="3081528"/>
            <a:ext cx="365760" cy="182880"/>
          </a:xfrm>
          <a:prstGeom prst="rect">
            <a:avLst/>
          </a:prstGeom>
          <a:noFill/>
          <a:ln/>
        </p:spPr>
        <p:txBody>
          <a:bodyPr wrap="square" rtlCol="0" anchor="ctr"/>
          <a:lstStyle/>
          <a:p>
            <a:pPr algn="ctr" indent="0" marL="0">
              <a:buNone/>
            </a:pPr>
            <a:r>
              <a:rPr lang="en-US" sz="800" dirty="0">
                <a:solidFill>
                  <a:srgbClr val="2563EB"/>
                </a:solidFill>
              </a:rPr>
              <a:t>▼</a:t>
            </a:r>
            <a:endParaRPr lang="en-US" sz="800" dirty="0"/>
          </a:p>
        </p:txBody>
      </p:sp>
      <p:sp>
        <p:nvSpPr>
          <p:cNvPr id="28" name="Shape 26"/>
          <p:cNvSpPr/>
          <p:nvPr/>
        </p:nvSpPr>
        <p:spPr>
          <a:xfrm>
            <a:off x="2651760" y="324612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29" name="Text 27"/>
          <p:cNvSpPr/>
          <p:nvPr/>
        </p:nvSpPr>
        <p:spPr>
          <a:xfrm>
            <a:off x="2715768" y="329184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Runs /dev-story with AI agent</a:t>
            </a:r>
            <a:endParaRPr lang="en-US" sz="850" dirty="0"/>
          </a:p>
        </p:txBody>
      </p:sp>
      <p:sp>
        <p:nvSpPr>
          <p:cNvPr id="30" name="Text 28"/>
          <p:cNvSpPr/>
          <p:nvPr/>
        </p:nvSpPr>
        <p:spPr>
          <a:xfrm>
            <a:off x="3383280" y="3721608"/>
            <a:ext cx="365760" cy="182880"/>
          </a:xfrm>
          <a:prstGeom prst="rect">
            <a:avLst/>
          </a:prstGeom>
          <a:noFill/>
          <a:ln/>
        </p:spPr>
        <p:txBody>
          <a:bodyPr wrap="square" rtlCol="0" anchor="ctr"/>
          <a:lstStyle/>
          <a:p>
            <a:pPr algn="ctr" indent="0" marL="0">
              <a:buNone/>
            </a:pPr>
            <a:r>
              <a:rPr lang="en-US" sz="800" dirty="0">
                <a:solidFill>
                  <a:srgbClr val="2563EB"/>
                </a:solidFill>
              </a:rPr>
              <a:t>▼</a:t>
            </a:r>
            <a:endParaRPr lang="en-US" sz="800" dirty="0"/>
          </a:p>
        </p:txBody>
      </p:sp>
      <p:sp>
        <p:nvSpPr>
          <p:cNvPr id="31" name="Shape 29"/>
          <p:cNvSpPr/>
          <p:nvPr/>
        </p:nvSpPr>
        <p:spPr>
          <a:xfrm>
            <a:off x="2651760" y="388620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32" name="Text 30"/>
          <p:cNvSpPr/>
          <p:nvPr/>
        </p:nvSpPr>
        <p:spPr>
          <a:xfrm>
            <a:off x="2715768" y="393192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Pushes code → Opens PR</a:t>
            </a:r>
            <a:endParaRPr lang="en-US" sz="850" dirty="0"/>
          </a:p>
        </p:txBody>
      </p:sp>
      <p:sp>
        <p:nvSpPr>
          <p:cNvPr id="33" name="Shape 31"/>
          <p:cNvSpPr/>
          <p:nvPr/>
        </p:nvSpPr>
        <p:spPr>
          <a:xfrm>
            <a:off x="4754880" y="1508760"/>
            <a:ext cx="1965960" cy="320040"/>
          </a:xfrm>
          <a:prstGeom prst="rect">
            <a:avLst/>
          </a:prstGeom>
          <a:solidFill>
            <a:srgbClr val="7C3AED"/>
          </a:solidFill>
          <a:ln/>
        </p:spPr>
      </p:sp>
      <p:sp>
        <p:nvSpPr>
          <p:cNvPr id="34" name="Text 32"/>
          <p:cNvSpPr/>
          <p:nvPr/>
        </p:nvSpPr>
        <p:spPr>
          <a:xfrm>
            <a:off x="4754880" y="1508760"/>
            <a:ext cx="196596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Developer B</a:t>
            </a:r>
            <a:endParaRPr lang="en-US" sz="1000" dirty="0"/>
          </a:p>
        </p:txBody>
      </p:sp>
      <p:sp>
        <p:nvSpPr>
          <p:cNvPr id="35" name="Shape 33"/>
          <p:cNvSpPr/>
          <p:nvPr/>
        </p:nvSpPr>
        <p:spPr>
          <a:xfrm>
            <a:off x="4800600" y="196596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36" name="Text 34"/>
          <p:cNvSpPr/>
          <p:nvPr/>
        </p:nvSpPr>
        <p:spPr>
          <a:xfrm>
            <a:off x="4864608" y="201168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Creates different feature branch</a:t>
            </a:r>
            <a:endParaRPr lang="en-US" sz="850" dirty="0"/>
          </a:p>
        </p:txBody>
      </p:sp>
      <p:sp>
        <p:nvSpPr>
          <p:cNvPr id="37" name="Text 35"/>
          <p:cNvSpPr/>
          <p:nvPr/>
        </p:nvSpPr>
        <p:spPr>
          <a:xfrm>
            <a:off x="5532120" y="2441448"/>
            <a:ext cx="365760" cy="182880"/>
          </a:xfrm>
          <a:prstGeom prst="rect">
            <a:avLst/>
          </a:prstGeom>
          <a:noFill/>
          <a:ln/>
        </p:spPr>
        <p:txBody>
          <a:bodyPr wrap="square" rtlCol="0" anchor="ctr"/>
          <a:lstStyle/>
          <a:p>
            <a:pPr algn="ctr" indent="0" marL="0">
              <a:buNone/>
            </a:pPr>
            <a:r>
              <a:rPr lang="en-US" sz="800" dirty="0">
                <a:solidFill>
                  <a:srgbClr val="7C3AED"/>
                </a:solidFill>
              </a:rPr>
              <a:t>▼</a:t>
            </a:r>
            <a:endParaRPr lang="en-US" sz="800" dirty="0"/>
          </a:p>
        </p:txBody>
      </p:sp>
      <p:sp>
        <p:nvSpPr>
          <p:cNvPr id="38" name="Shape 36"/>
          <p:cNvSpPr/>
          <p:nvPr/>
        </p:nvSpPr>
        <p:spPr>
          <a:xfrm>
            <a:off x="4800600" y="260604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39" name="Text 37"/>
          <p:cNvSpPr/>
          <p:nvPr/>
        </p:nvSpPr>
        <p:spPr>
          <a:xfrm>
            <a:off x="4864608" y="265176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Opens separate worktree</a:t>
            </a:r>
            <a:endParaRPr lang="en-US" sz="850" dirty="0"/>
          </a:p>
        </p:txBody>
      </p:sp>
      <p:sp>
        <p:nvSpPr>
          <p:cNvPr id="40" name="Text 38"/>
          <p:cNvSpPr/>
          <p:nvPr/>
        </p:nvSpPr>
        <p:spPr>
          <a:xfrm>
            <a:off x="5532120" y="3081528"/>
            <a:ext cx="365760" cy="182880"/>
          </a:xfrm>
          <a:prstGeom prst="rect">
            <a:avLst/>
          </a:prstGeom>
          <a:noFill/>
          <a:ln/>
        </p:spPr>
        <p:txBody>
          <a:bodyPr wrap="square" rtlCol="0" anchor="ctr"/>
          <a:lstStyle/>
          <a:p>
            <a:pPr algn="ctr" indent="0" marL="0">
              <a:buNone/>
            </a:pPr>
            <a:r>
              <a:rPr lang="en-US" sz="800" dirty="0">
                <a:solidFill>
                  <a:srgbClr val="7C3AED"/>
                </a:solidFill>
              </a:rPr>
              <a:t>▼</a:t>
            </a:r>
            <a:endParaRPr lang="en-US" sz="800" dirty="0"/>
          </a:p>
        </p:txBody>
      </p:sp>
      <p:sp>
        <p:nvSpPr>
          <p:cNvPr id="41" name="Shape 39"/>
          <p:cNvSpPr/>
          <p:nvPr/>
        </p:nvSpPr>
        <p:spPr>
          <a:xfrm>
            <a:off x="4800600" y="324612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42" name="Text 40"/>
          <p:cNvSpPr/>
          <p:nvPr/>
        </p:nvSpPr>
        <p:spPr>
          <a:xfrm>
            <a:off x="4864608" y="329184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Works in parallel with Agent</a:t>
            </a:r>
            <a:endParaRPr lang="en-US" sz="850" dirty="0"/>
          </a:p>
        </p:txBody>
      </p:sp>
      <p:sp>
        <p:nvSpPr>
          <p:cNvPr id="43" name="Text 41"/>
          <p:cNvSpPr/>
          <p:nvPr/>
        </p:nvSpPr>
        <p:spPr>
          <a:xfrm>
            <a:off x="5532120" y="3721608"/>
            <a:ext cx="365760" cy="182880"/>
          </a:xfrm>
          <a:prstGeom prst="rect">
            <a:avLst/>
          </a:prstGeom>
          <a:noFill/>
          <a:ln/>
        </p:spPr>
        <p:txBody>
          <a:bodyPr wrap="square" rtlCol="0" anchor="ctr"/>
          <a:lstStyle/>
          <a:p>
            <a:pPr algn="ctr" indent="0" marL="0">
              <a:buNone/>
            </a:pPr>
            <a:r>
              <a:rPr lang="en-US" sz="800" dirty="0">
                <a:solidFill>
                  <a:srgbClr val="7C3AED"/>
                </a:solidFill>
              </a:rPr>
              <a:t>▼</a:t>
            </a:r>
            <a:endParaRPr lang="en-US" sz="800" dirty="0"/>
          </a:p>
        </p:txBody>
      </p:sp>
      <p:sp>
        <p:nvSpPr>
          <p:cNvPr id="44" name="Shape 42"/>
          <p:cNvSpPr/>
          <p:nvPr/>
        </p:nvSpPr>
        <p:spPr>
          <a:xfrm>
            <a:off x="4800600" y="388620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45" name="Text 43"/>
          <p:cNvSpPr/>
          <p:nvPr/>
        </p:nvSpPr>
        <p:spPr>
          <a:xfrm>
            <a:off x="4864608" y="393192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Pushes code → Opens PR</a:t>
            </a:r>
            <a:endParaRPr lang="en-US" sz="850" dirty="0"/>
          </a:p>
        </p:txBody>
      </p:sp>
      <p:sp>
        <p:nvSpPr>
          <p:cNvPr id="46" name="Shape 44"/>
          <p:cNvSpPr/>
          <p:nvPr/>
        </p:nvSpPr>
        <p:spPr>
          <a:xfrm>
            <a:off x="6903720" y="1508760"/>
            <a:ext cx="1965960" cy="320040"/>
          </a:xfrm>
          <a:prstGeom prst="rect">
            <a:avLst/>
          </a:prstGeom>
          <a:solidFill>
            <a:srgbClr val="059669"/>
          </a:solidFill>
          <a:ln/>
        </p:spPr>
      </p:sp>
      <p:sp>
        <p:nvSpPr>
          <p:cNvPr id="47" name="Text 45"/>
          <p:cNvSpPr/>
          <p:nvPr/>
        </p:nvSpPr>
        <p:spPr>
          <a:xfrm>
            <a:off x="6903720" y="1508760"/>
            <a:ext cx="196596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Git Remote (GitLab)</a:t>
            </a:r>
            <a:endParaRPr lang="en-US" sz="1000" dirty="0"/>
          </a:p>
        </p:txBody>
      </p:sp>
      <p:sp>
        <p:nvSpPr>
          <p:cNvPr id="48" name="Shape 46"/>
          <p:cNvSpPr/>
          <p:nvPr/>
        </p:nvSpPr>
        <p:spPr>
          <a:xfrm>
            <a:off x="6949440" y="196596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49" name="Text 47"/>
          <p:cNvSpPr/>
          <p:nvPr/>
        </p:nvSpPr>
        <p:spPr>
          <a:xfrm>
            <a:off x="7013448" y="201168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Receives all branches</a:t>
            </a:r>
            <a:endParaRPr lang="en-US" sz="850" dirty="0"/>
          </a:p>
        </p:txBody>
      </p:sp>
      <p:sp>
        <p:nvSpPr>
          <p:cNvPr id="50" name="Text 48"/>
          <p:cNvSpPr/>
          <p:nvPr/>
        </p:nvSpPr>
        <p:spPr>
          <a:xfrm>
            <a:off x="7680960" y="2441448"/>
            <a:ext cx="365760" cy="182880"/>
          </a:xfrm>
          <a:prstGeom prst="rect">
            <a:avLst/>
          </a:prstGeom>
          <a:noFill/>
          <a:ln/>
        </p:spPr>
        <p:txBody>
          <a:bodyPr wrap="square" rtlCol="0" anchor="ctr"/>
          <a:lstStyle/>
          <a:p>
            <a:pPr algn="ctr" indent="0" marL="0">
              <a:buNone/>
            </a:pPr>
            <a:r>
              <a:rPr lang="en-US" sz="800" dirty="0">
                <a:solidFill>
                  <a:srgbClr val="059669"/>
                </a:solidFill>
              </a:rPr>
              <a:t>▼</a:t>
            </a:r>
            <a:endParaRPr lang="en-US" sz="800" dirty="0"/>
          </a:p>
        </p:txBody>
      </p:sp>
      <p:sp>
        <p:nvSpPr>
          <p:cNvPr id="51" name="Shape 49"/>
          <p:cNvSpPr/>
          <p:nvPr/>
        </p:nvSpPr>
        <p:spPr>
          <a:xfrm>
            <a:off x="6949440" y="260604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52" name="Text 50"/>
          <p:cNvSpPr/>
          <p:nvPr/>
        </p:nvSpPr>
        <p:spPr>
          <a:xfrm>
            <a:off x="7013448" y="265176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Runs CI/CD pipelines</a:t>
            </a:r>
            <a:endParaRPr lang="en-US" sz="850" dirty="0"/>
          </a:p>
        </p:txBody>
      </p:sp>
      <p:sp>
        <p:nvSpPr>
          <p:cNvPr id="53" name="Text 51"/>
          <p:cNvSpPr/>
          <p:nvPr/>
        </p:nvSpPr>
        <p:spPr>
          <a:xfrm>
            <a:off x="7680960" y="3081528"/>
            <a:ext cx="365760" cy="182880"/>
          </a:xfrm>
          <a:prstGeom prst="rect">
            <a:avLst/>
          </a:prstGeom>
          <a:noFill/>
          <a:ln/>
        </p:spPr>
        <p:txBody>
          <a:bodyPr wrap="square" rtlCol="0" anchor="ctr"/>
          <a:lstStyle/>
          <a:p>
            <a:pPr algn="ctr" indent="0" marL="0">
              <a:buNone/>
            </a:pPr>
            <a:r>
              <a:rPr lang="en-US" sz="800" dirty="0">
                <a:solidFill>
                  <a:srgbClr val="059669"/>
                </a:solidFill>
              </a:rPr>
              <a:t>▼</a:t>
            </a:r>
            <a:endParaRPr lang="en-US" sz="800" dirty="0"/>
          </a:p>
        </p:txBody>
      </p:sp>
      <p:sp>
        <p:nvSpPr>
          <p:cNvPr id="54" name="Shape 52"/>
          <p:cNvSpPr/>
          <p:nvPr/>
        </p:nvSpPr>
        <p:spPr>
          <a:xfrm>
            <a:off x="6949440" y="324612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55" name="Text 53"/>
          <p:cNvSpPr/>
          <p:nvPr/>
        </p:nvSpPr>
        <p:spPr>
          <a:xfrm>
            <a:off x="7013448" y="329184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Hosts code reviews (MRs)</a:t>
            </a:r>
            <a:endParaRPr lang="en-US" sz="850" dirty="0"/>
          </a:p>
        </p:txBody>
      </p:sp>
      <p:sp>
        <p:nvSpPr>
          <p:cNvPr id="56" name="Text 54"/>
          <p:cNvSpPr/>
          <p:nvPr/>
        </p:nvSpPr>
        <p:spPr>
          <a:xfrm>
            <a:off x="7680960" y="3721608"/>
            <a:ext cx="365760" cy="182880"/>
          </a:xfrm>
          <a:prstGeom prst="rect">
            <a:avLst/>
          </a:prstGeom>
          <a:noFill/>
          <a:ln/>
        </p:spPr>
        <p:txBody>
          <a:bodyPr wrap="square" rtlCol="0" anchor="ctr"/>
          <a:lstStyle/>
          <a:p>
            <a:pPr algn="ctr" indent="0" marL="0">
              <a:buNone/>
            </a:pPr>
            <a:r>
              <a:rPr lang="en-US" sz="800" dirty="0">
                <a:solidFill>
                  <a:srgbClr val="059669"/>
                </a:solidFill>
              </a:rPr>
              <a:t>▼</a:t>
            </a:r>
            <a:endParaRPr lang="en-US" sz="800" dirty="0"/>
          </a:p>
        </p:txBody>
      </p:sp>
      <p:sp>
        <p:nvSpPr>
          <p:cNvPr id="57" name="Shape 55"/>
          <p:cNvSpPr/>
          <p:nvPr/>
        </p:nvSpPr>
        <p:spPr>
          <a:xfrm>
            <a:off x="6949440" y="3886200"/>
            <a:ext cx="1874520" cy="502920"/>
          </a:xfrm>
          <a:prstGeom prst="rect">
            <a:avLst/>
          </a:prstGeom>
          <a:solidFill>
            <a:srgbClr val="F8FAFC"/>
          </a:solidFill>
          <a:ln/>
          <a:effectLst>
            <a:outerShdw sx="100000" sy="100000" kx="0" ky="0" algn="bl" rotWithShape="0" blurRad="25400" dist="12700" dir="16200000">
              <a:srgbClr val="000000">
                <a:alpha val="10000"/>
              </a:srgbClr>
            </a:outerShdw>
          </a:effectLst>
        </p:spPr>
      </p:sp>
      <p:sp>
        <p:nvSpPr>
          <p:cNvPr id="58" name="Text 56"/>
          <p:cNvSpPr/>
          <p:nvPr/>
        </p:nvSpPr>
        <p:spPr>
          <a:xfrm>
            <a:off x="7013448" y="3931920"/>
            <a:ext cx="1737360" cy="41148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Merges approved code to dev</a:t>
            </a:r>
            <a:endParaRPr lang="en-US" sz="850" dirty="0"/>
          </a:p>
        </p:txBody>
      </p:sp>
      <p:sp>
        <p:nvSpPr>
          <p:cNvPr id="59" name="Text 57"/>
          <p:cNvSpPr/>
          <p:nvPr/>
        </p:nvSpPr>
        <p:spPr>
          <a:xfrm>
            <a:off x="2606040" y="2880360"/>
            <a:ext cx="320040" cy="27432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60" name="Text 58"/>
          <p:cNvSpPr/>
          <p:nvPr/>
        </p:nvSpPr>
        <p:spPr>
          <a:xfrm>
            <a:off x="4754880" y="2880360"/>
            <a:ext cx="320040" cy="274320"/>
          </a:xfrm>
          <a:prstGeom prst="rect">
            <a:avLst/>
          </a:prstGeom>
          <a:noFill/>
          <a:ln/>
        </p:spPr>
        <p:txBody>
          <a:bodyPr wrap="square" rtlCol="0" anchor="ctr"/>
          <a:lstStyle/>
          <a:p>
            <a:pPr algn="ctr" indent="0" marL="0">
              <a:buNone/>
            </a:pPr>
            <a:r>
              <a:rPr lang="en-US" sz="1400" dirty="0">
                <a:solidFill>
                  <a:srgbClr val="0D9488"/>
                </a:solidFill>
              </a:rPr>
              <a:t>▶</a:t>
            </a:r>
            <a:endParaRPr lang="en-US" sz="1400" dirty="0"/>
          </a:p>
        </p:txBody>
      </p:sp>
      <p:sp>
        <p:nvSpPr>
          <p:cNvPr id="61" name="Text 59"/>
          <p:cNvSpPr/>
          <p:nvPr/>
        </p:nvSpPr>
        <p:spPr>
          <a:xfrm>
            <a:off x="320040" y="4709160"/>
            <a:ext cx="8503920" cy="274320"/>
          </a:xfrm>
          <a:prstGeom prst="rect">
            <a:avLst/>
          </a:prstGeom>
          <a:noFill/>
          <a:ln/>
        </p:spPr>
        <p:txBody>
          <a:bodyPr wrap="square" rtlCol="0" anchor="ctr"/>
          <a:lstStyle/>
          <a:p>
            <a:pPr algn="ctr" indent="0" marL="0">
              <a:buNone/>
            </a:pPr>
            <a:r>
              <a:rPr lang="en-US" sz="1000" i="1" dirty="0">
                <a:solidFill>
                  <a:srgbClr val="0D9488"/>
                </a:solidFill>
                <a:latin typeface="Calibri" pitchFamily="34" charset="0"/>
                <a:ea typeface="Calibri" pitchFamily="34" charset="-122"/>
                <a:cs typeface="Calibri" pitchFamily="34" charset="-120"/>
              </a:rPr>
              <a:t>Each developer works in isolation (own branch + worktree). Code only meets at PR review time.</a:t>
            </a:r>
            <a:endParaRPr lang="en-US" sz="1000" dirty="0"/>
          </a:p>
        </p:txBody>
      </p:sp>
      <p:sp>
        <p:nvSpPr>
          <p:cNvPr id="62" name="Text 60"/>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89 / 93</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7F1D1D"/>
          </a:solidFill>
          <a:ln/>
        </p:spPr>
      </p:sp>
      <p:sp>
        <p:nvSpPr>
          <p:cNvPr id="3" name="Shape 1"/>
          <p:cNvSpPr/>
          <p:nvPr/>
        </p:nvSpPr>
        <p:spPr>
          <a:xfrm>
            <a:off x="0" y="0"/>
            <a:ext cx="9144000" cy="54864"/>
          </a:xfrm>
          <a:prstGeom prst="rect">
            <a:avLst/>
          </a:prstGeom>
          <a:solidFill>
            <a:srgbClr val="DC2626"/>
          </a:solidFill>
          <a:ln/>
        </p:spPr>
      </p:sp>
      <p:sp>
        <p:nvSpPr>
          <p:cNvPr id="4" name="Text 2"/>
          <p:cNvSpPr/>
          <p:nvPr/>
        </p:nvSpPr>
        <p:spPr>
          <a:xfrm>
            <a:off x="457200" y="274320"/>
            <a:ext cx="8229600" cy="548640"/>
          </a:xfrm>
          <a:prstGeom prst="rect">
            <a:avLst/>
          </a:prstGeom>
          <a:noFill/>
          <a:ln/>
        </p:spPr>
        <p:txBody>
          <a:bodyPr wrap="square" rtlCol="0" anchor="ctr"/>
          <a:lstStyle/>
          <a:p>
            <a:pPr algn="ctr" indent="0" marL="0">
              <a:buNone/>
            </a:pPr>
            <a:r>
              <a:rPr lang="en-US" sz="2800" b="1" dirty="0">
                <a:solidFill>
                  <a:srgbClr val="FFFFFF"/>
                </a:solidFill>
              </a:rPr>
              <a:t>⚠  Ordered Work Patterns Are Not Optional</a:t>
            </a:r>
            <a:endParaRPr lang="en-US" sz="2800" dirty="0"/>
          </a:p>
        </p:txBody>
      </p:sp>
      <p:sp>
        <p:nvSpPr>
          <p:cNvPr id="5" name="Shape 3"/>
          <p:cNvSpPr/>
          <p:nvPr/>
        </p:nvSpPr>
        <p:spPr>
          <a:xfrm>
            <a:off x="914400" y="914400"/>
            <a:ext cx="7315200" cy="36576"/>
          </a:xfrm>
          <a:prstGeom prst="rect">
            <a:avLst/>
          </a:prstGeom>
          <a:solidFill>
            <a:srgbClr val="DC2626"/>
          </a:solidFill>
          <a:ln/>
        </p:spPr>
      </p:sp>
      <p:sp>
        <p:nvSpPr>
          <p:cNvPr id="6" name="Text 4"/>
          <p:cNvSpPr/>
          <p:nvPr/>
        </p:nvSpPr>
        <p:spPr>
          <a:xfrm>
            <a:off x="457200" y="1051560"/>
            <a:ext cx="8229600" cy="274320"/>
          </a:xfrm>
          <a:prstGeom prst="rect">
            <a:avLst/>
          </a:prstGeom>
          <a:noFill/>
          <a:ln/>
        </p:spPr>
        <p:txBody>
          <a:bodyPr wrap="square" lIns="0" tIns="0" rIns="0" bIns="0" rtlCol="0" anchor="ctr"/>
          <a:lstStyle/>
          <a:p>
            <a:pPr indent="0" marL="0">
              <a:buNone/>
            </a:pPr>
            <a:r>
              <a:rPr lang="en-US" sz="1300" b="1" dirty="0">
                <a:solidFill>
                  <a:srgbClr val="FCA5A5"/>
                </a:solidFill>
                <a:latin typeface="Calibri" pitchFamily="34" charset="0"/>
                <a:ea typeface="Calibri" pitchFamily="34" charset="-122"/>
                <a:cs typeface="Calibri" pitchFamily="34" charset="-120"/>
              </a:rPr>
              <a:t>Without discipline, AI-assisted teams create chaos:</a:t>
            </a:r>
            <a:endParaRPr lang="en-US" sz="1300" dirty="0"/>
          </a:p>
        </p:txBody>
      </p:sp>
      <p:sp>
        <p:nvSpPr>
          <p:cNvPr id="7" name="Text 5"/>
          <p:cNvSpPr/>
          <p:nvPr/>
        </p:nvSpPr>
        <p:spPr>
          <a:xfrm>
            <a:off x="640080" y="1371600"/>
            <a:ext cx="7772400" cy="256032"/>
          </a:xfrm>
          <a:prstGeom prst="rect">
            <a:avLst/>
          </a:prstGeom>
          <a:noFill/>
          <a:ln/>
        </p:spPr>
        <p:txBody>
          <a:bodyPr wrap="square" lIns="0" tIns="0" rIns="0" bIns="0" rtlCol="0" anchor="ctr"/>
          <a:lstStyle/>
          <a:p>
            <a:pPr indent="0" marL="0">
              <a:buNone/>
            </a:pPr>
            <a:r>
              <a:rPr lang="en-US" sz="1050" dirty="0">
                <a:solidFill>
                  <a:srgbClr val="FECACA"/>
                </a:solidFill>
                <a:latin typeface="Calibri" pitchFamily="34" charset="0"/>
                <a:ea typeface="Calibri" pitchFamily="34" charset="-122"/>
                <a:cs typeface="Calibri" pitchFamily="34" charset="-120"/>
              </a:rPr>
              <a:t>✖  Multiple agents editing the same files → merge conflicts everywhere</a:t>
            </a:r>
            <a:endParaRPr lang="en-US" sz="1050" dirty="0"/>
          </a:p>
        </p:txBody>
      </p:sp>
      <p:sp>
        <p:nvSpPr>
          <p:cNvPr id="8" name="Text 6"/>
          <p:cNvSpPr/>
          <p:nvPr/>
        </p:nvSpPr>
        <p:spPr>
          <a:xfrm>
            <a:off x="640080" y="1627632"/>
            <a:ext cx="7772400" cy="256032"/>
          </a:xfrm>
          <a:prstGeom prst="rect">
            <a:avLst/>
          </a:prstGeom>
          <a:noFill/>
          <a:ln/>
        </p:spPr>
        <p:txBody>
          <a:bodyPr wrap="square" lIns="0" tIns="0" rIns="0" bIns="0" rtlCol="0" anchor="ctr"/>
          <a:lstStyle/>
          <a:p>
            <a:pPr indent="0" marL="0">
              <a:buNone/>
            </a:pPr>
            <a:r>
              <a:rPr lang="en-US" sz="1050" dirty="0">
                <a:solidFill>
                  <a:srgbClr val="FECACA"/>
                </a:solidFill>
                <a:latin typeface="Calibri" pitchFamily="34" charset="0"/>
                <a:ea typeface="Calibri" pitchFamily="34" charset="-122"/>
                <a:cs typeface="Calibri" pitchFamily="34" charset="-120"/>
              </a:rPr>
              <a:t>✖  No branches → untested code goes straight to production</a:t>
            </a:r>
            <a:endParaRPr lang="en-US" sz="1050" dirty="0"/>
          </a:p>
        </p:txBody>
      </p:sp>
      <p:sp>
        <p:nvSpPr>
          <p:cNvPr id="9" name="Text 7"/>
          <p:cNvSpPr/>
          <p:nvPr/>
        </p:nvSpPr>
        <p:spPr>
          <a:xfrm>
            <a:off x="640080" y="1883664"/>
            <a:ext cx="7772400" cy="256032"/>
          </a:xfrm>
          <a:prstGeom prst="rect">
            <a:avLst/>
          </a:prstGeom>
          <a:noFill/>
          <a:ln/>
        </p:spPr>
        <p:txBody>
          <a:bodyPr wrap="square" lIns="0" tIns="0" rIns="0" bIns="0" rtlCol="0" anchor="ctr"/>
          <a:lstStyle/>
          <a:p>
            <a:pPr indent="0" marL="0">
              <a:buNone/>
            </a:pPr>
            <a:r>
              <a:rPr lang="en-US" sz="1050" dirty="0">
                <a:solidFill>
                  <a:srgbClr val="FECACA"/>
                </a:solidFill>
                <a:latin typeface="Calibri" pitchFamily="34" charset="0"/>
                <a:ea typeface="Calibri" pitchFamily="34" charset="-122"/>
                <a:cs typeface="Calibri" pitchFamily="34" charset="-120"/>
              </a:rPr>
              <a:t>✖  No PR reviews → AI-generated bugs slip through undetected</a:t>
            </a:r>
            <a:endParaRPr lang="en-US" sz="1050" dirty="0"/>
          </a:p>
        </p:txBody>
      </p:sp>
      <p:sp>
        <p:nvSpPr>
          <p:cNvPr id="10" name="Text 8"/>
          <p:cNvSpPr/>
          <p:nvPr/>
        </p:nvSpPr>
        <p:spPr>
          <a:xfrm>
            <a:off x="640080" y="2139696"/>
            <a:ext cx="7772400" cy="256032"/>
          </a:xfrm>
          <a:prstGeom prst="rect">
            <a:avLst/>
          </a:prstGeom>
          <a:noFill/>
          <a:ln/>
        </p:spPr>
        <p:txBody>
          <a:bodyPr wrap="square" lIns="0" tIns="0" rIns="0" bIns="0" rtlCol="0" anchor="ctr"/>
          <a:lstStyle/>
          <a:p>
            <a:pPr indent="0" marL="0">
              <a:buNone/>
            </a:pPr>
            <a:r>
              <a:rPr lang="en-US" sz="1050" dirty="0">
                <a:solidFill>
                  <a:srgbClr val="FECACA"/>
                </a:solidFill>
                <a:latin typeface="Calibri" pitchFamily="34" charset="0"/>
                <a:ea typeface="Calibri" pitchFamily="34" charset="-122"/>
                <a:cs typeface="Calibri" pitchFamily="34" charset="-120"/>
              </a:rPr>
              <a:t>✖  No story assignment → two people work on the same feature</a:t>
            </a:r>
            <a:endParaRPr lang="en-US" sz="1050" dirty="0"/>
          </a:p>
        </p:txBody>
      </p:sp>
      <p:sp>
        <p:nvSpPr>
          <p:cNvPr id="11" name="Text 9"/>
          <p:cNvSpPr/>
          <p:nvPr/>
        </p:nvSpPr>
        <p:spPr>
          <a:xfrm>
            <a:off x="640080" y="2395728"/>
            <a:ext cx="7772400" cy="256032"/>
          </a:xfrm>
          <a:prstGeom prst="rect">
            <a:avLst/>
          </a:prstGeom>
          <a:noFill/>
          <a:ln/>
        </p:spPr>
        <p:txBody>
          <a:bodyPr wrap="square" lIns="0" tIns="0" rIns="0" bIns="0" rtlCol="0" anchor="ctr"/>
          <a:lstStyle/>
          <a:p>
            <a:pPr indent="0" marL="0">
              <a:buNone/>
            </a:pPr>
            <a:r>
              <a:rPr lang="en-US" sz="1050" dirty="0">
                <a:solidFill>
                  <a:srgbClr val="FECACA"/>
                </a:solidFill>
                <a:latin typeface="Calibri" pitchFamily="34" charset="0"/>
                <a:ea typeface="Calibri" pitchFamily="34" charset="-122"/>
                <a:cs typeface="Calibri" pitchFamily="34" charset="-120"/>
              </a:rPr>
              <a:t>✖  No commit conventions → impossible to track what changed and why</a:t>
            </a:r>
            <a:endParaRPr lang="en-US" sz="1050" dirty="0"/>
          </a:p>
        </p:txBody>
      </p:sp>
      <p:sp>
        <p:nvSpPr>
          <p:cNvPr id="12" name="Shape 10"/>
          <p:cNvSpPr/>
          <p:nvPr/>
        </p:nvSpPr>
        <p:spPr>
          <a:xfrm>
            <a:off x="457200" y="2697480"/>
            <a:ext cx="8229600" cy="36576"/>
          </a:xfrm>
          <a:prstGeom prst="rect">
            <a:avLst/>
          </a:prstGeom>
          <a:solidFill>
            <a:srgbClr val="059669"/>
          </a:solidFill>
          <a:ln/>
        </p:spPr>
      </p:sp>
      <p:sp>
        <p:nvSpPr>
          <p:cNvPr id="13" name="Text 11"/>
          <p:cNvSpPr/>
          <p:nvPr/>
        </p:nvSpPr>
        <p:spPr>
          <a:xfrm>
            <a:off x="457200" y="2834640"/>
            <a:ext cx="8229600" cy="274320"/>
          </a:xfrm>
          <a:prstGeom prst="rect">
            <a:avLst/>
          </a:prstGeom>
          <a:noFill/>
          <a:ln/>
        </p:spPr>
        <p:txBody>
          <a:bodyPr wrap="square" lIns="0" tIns="0" rIns="0" bIns="0" rtlCol="0" anchor="ctr"/>
          <a:lstStyle/>
          <a:p>
            <a:pPr indent="0" marL="0">
              <a:buNone/>
            </a:pPr>
            <a:r>
              <a:rPr lang="en-US" sz="1300" b="1" dirty="0">
                <a:solidFill>
                  <a:srgbClr val="6EE7B7"/>
                </a:solidFill>
                <a:latin typeface="Calibri" pitchFamily="34" charset="0"/>
                <a:ea typeface="Calibri" pitchFamily="34" charset="-122"/>
                <a:cs typeface="Calibri" pitchFamily="34" charset="-120"/>
              </a:rPr>
              <a:t>The Rules That Keep Teams Productive:</a:t>
            </a:r>
            <a:endParaRPr lang="en-US" sz="1300" dirty="0"/>
          </a:p>
        </p:txBody>
      </p:sp>
      <p:sp>
        <p:nvSpPr>
          <p:cNvPr id="14" name="Shape 12"/>
          <p:cNvSpPr/>
          <p:nvPr/>
        </p:nvSpPr>
        <p:spPr>
          <a:xfrm>
            <a:off x="640080" y="3200400"/>
            <a:ext cx="210312" cy="210312"/>
          </a:xfrm>
          <a:prstGeom prst="ellipse">
            <a:avLst/>
          </a:prstGeom>
          <a:solidFill>
            <a:srgbClr val="059669"/>
          </a:solidFill>
          <a:ln/>
        </p:spPr>
      </p:sp>
      <p:sp>
        <p:nvSpPr>
          <p:cNvPr id="15" name="Text 13"/>
          <p:cNvSpPr/>
          <p:nvPr/>
        </p:nvSpPr>
        <p:spPr>
          <a:xfrm>
            <a:off x="640080" y="3200400"/>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6" name="Text 14"/>
          <p:cNvSpPr/>
          <p:nvPr/>
        </p:nvSpPr>
        <p:spPr>
          <a:xfrm>
            <a:off x="941832" y="3200400"/>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One story = one branch = one developer + agent</a:t>
            </a:r>
            <a:endParaRPr lang="en-US" sz="1050" dirty="0"/>
          </a:p>
        </p:txBody>
      </p:sp>
      <p:sp>
        <p:nvSpPr>
          <p:cNvPr id="17" name="Shape 15"/>
          <p:cNvSpPr/>
          <p:nvPr/>
        </p:nvSpPr>
        <p:spPr>
          <a:xfrm>
            <a:off x="640080" y="3447288"/>
            <a:ext cx="210312" cy="210312"/>
          </a:xfrm>
          <a:prstGeom prst="ellipse">
            <a:avLst/>
          </a:prstGeom>
          <a:solidFill>
            <a:srgbClr val="059669"/>
          </a:solidFill>
          <a:ln/>
        </p:spPr>
      </p:sp>
      <p:sp>
        <p:nvSpPr>
          <p:cNvPr id="18" name="Text 16"/>
          <p:cNvSpPr/>
          <p:nvPr/>
        </p:nvSpPr>
        <p:spPr>
          <a:xfrm>
            <a:off x="640080" y="3447288"/>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941832" y="3447288"/>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Always work in feature branches, never on main or dev</a:t>
            </a:r>
            <a:endParaRPr lang="en-US" sz="1050" dirty="0"/>
          </a:p>
        </p:txBody>
      </p:sp>
      <p:sp>
        <p:nvSpPr>
          <p:cNvPr id="20" name="Shape 18"/>
          <p:cNvSpPr/>
          <p:nvPr/>
        </p:nvSpPr>
        <p:spPr>
          <a:xfrm>
            <a:off x="640080" y="3694176"/>
            <a:ext cx="210312" cy="210312"/>
          </a:xfrm>
          <a:prstGeom prst="ellipse">
            <a:avLst/>
          </a:prstGeom>
          <a:solidFill>
            <a:srgbClr val="059669"/>
          </a:solidFill>
          <a:ln/>
        </p:spPr>
      </p:sp>
      <p:sp>
        <p:nvSpPr>
          <p:cNvPr id="21" name="Text 19"/>
          <p:cNvSpPr/>
          <p:nvPr/>
        </p:nvSpPr>
        <p:spPr>
          <a:xfrm>
            <a:off x="640080" y="3694176"/>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20"/>
          <p:cNvSpPr/>
          <p:nvPr/>
        </p:nvSpPr>
        <p:spPr>
          <a:xfrm>
            <a:off x="941832" y="3694176"/>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Use worktrees when running multiple agents in parallel</a:t>
            </a:r>
            <a:endParaRPr lang="en-US" sz="1050" dirty="0"/>
          </a:p>
        </p:txBody>
      </p:sp>
      <p:sp>
        <p:nvSpPr>
          <p:cNvPr id="23" name="Shape 21"/>
          <p:cNvSpPr/>
          <p:nvPr/>
        </p:nvSpPr>
        <p:spPr>
          <a:xfrm>
            <a:off x="640080" y="3941064"/>
            <a:ext cx="210312" cy="210312"/>
          </a:xfrm>
          <a:prstGeom prst="ellipse">
            <a:avLst/>
          </a:prstGeom>
          <a:solidFill>
            <a:srgbClr val="059669"/>
          </a:solidFill>
          <a:ln/>
        </p:spPr>
      </p:sp>
      <p:sp>
        <p:nvSpPr>
          <p:cNvPr id="24" name="Text 22"/>
          <p:cNvSpPr/>
          <p:nvPr/>
        </p:nvSpPr>
        <p:spPr>
          <a:xfrm>
            <a:off x="640080" y="3941064"/>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5" name="Text 23"/>
          <p:cNvSpPr/>
          <p:nvPr/>
        </p:nvSpPr>
        <p:spPr>
          <a:xfrm>
            <a:off x="941832" y="3941064"/>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Every merge goes through a Pull Request with human review</a:t>
            </a:r>
            <a:endParaRPr lang="en-US" sz="1050" dirty="0"/>
          </a:p>
        </p:txBody>
      </p:sp>
      <p:sp>
        <p:nvSpPr>
          <p:cNvPr id="26" name="Shape 24"/>
          <p:cNvSpPr/>
          <p:nvPr/>
        </p:nvSpPr>
        <p:spPr>
          <a:xfrm>
            <a:off x="640080" y="4187952"/>
            <a:ext cx="210312" cy="210312"/>
          </a:xfrm>
          <a:prstGeom prst="ellipse">
            <a:avLst/>
          </a:prstGeom>
          <a:solidFill>
            <a:srgbClr val="059669"/>
          </a:solidFill>
          <a:ln/>
        </p:spPr>
      </p:sp>
      <p:sp>
        <p:nvSpPr>
          <p:cNvPr id="27" name="Text 25"/>
          <p:cNvSpPr/>
          <p:nvPr/>
        </p:nvSpPr>
        <p:spPr>
          <a:xfrm>
            <a:off x="640080" y="4187952"/>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6"/>
          <p:cNvSpPr/>
          <p:nvPr/>
        </p:nvSpPr>
        <p:spPr>
          <a:xfrm>
            <a:off x="941832" y="4187952"/>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Commit messages follow conventions (feat:, fix:, docs:)</a:t>
            </a:r>
            <a:endParaRPr lang="en-US" sz="1050" dirty="0"/>
          </a:p>
        </p:txBody>
      </p:sp>
      <p:sp>
        <p:nvSpPr>
          <p:cNvPr id="29" name="Shape 27"/>
          <p:cNvSpPr/>
          <p:nvPr/>
        </p:nvSpPr>
        <p:spPr>
          <a:xfrm>
            <a:off x="640080" y="4434840"/>
            <a:ext cx="210312" cy="210312"/>
          </a:xfrm>
          <a:prstGeom prst="ellipse">
            <a:avLst/>
          </a:prstGeom>
          <a:solidFill>
            <a:srgbClr val="059669"/>
          </a:solidFill>
          <a:ln/>
        </p:spPr>
      </p:sp>
      <p:sp>
        <p:nvSpPr>
          <p:cNvPr id="30" name="Text 28"/>
          <p:cNvSpPr/>
          <p:nvPr/>
        </p:nvSpPr>
        <p:spPr>
          <a:xfrm>
            <a:off x="640080" y="4434840"/>
            <a:ext cx="210312" cy="21031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1" name="Text 29"/>
          <p:cNvSpPr/>
          <p:nvPr/>
        </p:nvSpPr>
        <p:spPr>
          <a:xfrm>
            <a:off x="941832" y="4434840"/>
            <a:ext cx="7589520" cy="210312"/>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Pull from remote before starting, push often</a:t>
            </a:r>
            <a:endParaRPr lang="en-US" sz="1050" dirty="0"/>
          </a:p>
        </p:txBody>
      </p:sp>
      <p:sp>
        <p:nvSpPr>
          <p:cNvPr id="32" name="Text 30"/>
          <p:cNvSpPr/>
          <p:nvPr/>
        </p:nvSpPr>
        <p:spPr>
          <a:xfrm>
            <a:off x="457200" y="4709160"/>
            <a:ext cx="8229600" cy="274320"/>
          </a:xfrm>
          <a:prstGeom prst="rect">
            <a:avLst/>
          </a:prstGeom>
          <a:noFill/>
          <a:ln/>
        </p:spPr>
        <p:txBody>
          <a:bodyPr wrap="square" rtlCol="0" anchor="ctr"/>
          <a:lstStyle/>
          <a:p>
            <a:pPr algn="ctr" indent="0" marL="0">
              <a:buNone/>
            </a:pPr>
            <a:r>
              <a:rPr lang="en-US" sz="1300" b="1" i="1" dirty="0">
                <a:solidFill>
                  <a:srgbClr val="FFFFFF"/>
                </a:solidFill>
                <a:latin typeface="Calibri" pitchFamily="34" charset="0"/>
                <a:ea typeface="Calibri" pitchFamily="34" charset="-122"/>
                <a:cs typeface="Calibri" pitchFamily="34" charset="-120"/>
              </a:rPr>
              <a:t>Speed without order is just faster chaos.</a:t>
            </a:r>
            <a:endParaRPr lang="en-US" sz="1300" dirty="0"/>
          </a:p>
        </p:txBody>
      </p:sp>
      <p:sp>
        <p:nvSpPr>
          <p:cNvPr id="33" name="Text 31"/>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90 / 93</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2860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Quality Gates &amp; Air-Gapped Environments</a:t>
            </a:r>
            <a:endParaRPr lang="en-US" sz="2800" dirty="0"/>
          </a:p>
        </p:txBody>
      </p:sp>
      <p:sp>
        <p:nvSpPr>
          <p:cNvPr id="4" name="Text 2"/>
          <p:cNvSpPr/>
          <p:nvPr/>
        </p:nvSpPr>
        <p:spPr>
          <a:xfrm>
            <a:off x="457200" y="914400"/>
            <a:ext cx="4114800" cy="32004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Multi-Layered PR Lifecycle</a:t>
            </a:r>
            <a:endParaRPr lang="en-US" sz="1400" dirty="0"/>
          </a:p>
        </p:txBody>
      </p:sp>
      <p:sp>
        <p:nvSpPr>
          <p:cNvPr id="5" name="Shape 3"/>
          <p:cNvSpPr/>
          <p:nvPr/>
        </p:nvSpPr>
        <p:spPr>
          <a:xfrm>
            <a:off x="457200" y="1325880"/>
            <a:ext cx="4114800" cy="411480"/>
          </a:xfrm>
          <a:prstGeom prst="rect">
            <a:avLst/>
          </a:prstGeom>
          <a:solidFill>
            <a:srgbClr val="1A2744"/>
          </a:solidFill>
          <a:ln/>
        </p:spPr>
      </p:sp>
      <p:sp>
        <p:nvSpPr>
          <p:cNvPr id="6" name="Shape 4"/>
          <p:cNvSpPr/>
          <p:nvPr/>
        </p:nvSpPr>
        <p:spPr>
          <a:xfrm>
            <a:off x="548640" y="1389888"/>
            <a:ext cx="274320" cy="274320"/>
          </a:xfrm>
          <a:prstGeom prst="ellipse">
            <a:avLst/>
          </a:prstGeom>
          <a:solidFill>
            <a:srgbClr val="0D9488"/>
          </a:solidFill>
          <a:ln/>
        </p:spPr>
      </p:sp>
      <p:sp>
        <p:nvSpPr>
          <p:cNvPr id="7" name="Text 5"/>
          <p:cNvSpPr/>
          <p:nvPr/>
        </p:nvSpPr>
        <p:spPr>
          <a:xfrm>
            <a:off x="548640" y="138988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960120" y="132588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Dev Agent writes code + tests</a:t>
            </a:r>
            <a:endParaRPr lang="en-US" sz="1100" dirty="0"/>
          </a:p>
        </p:txBody>
      </p:sp>
      <p:sp>
        <p:nvSpPr>
          <p:cNvPr id="9" name="Shape 7"/>
          <p:cNvSpPr/>
          <p:nvPr/>
        </p:nvSpPr>
        <p:spPr>
          <a:xfrm>
            <a:off x="457200" y="1828800"/>
            <a:ext cx="4114800" cy="411480"/>
          </a:xfrm>
          <a:prstGeom prst="rect">
            <a:avLst/>
          </a:prstGeom>
          <a:solidFill>
            <a:srgbClr val="1A2744"/>
          </a:solidFill>
          <a:ln/>
        </p:spPr>
      </p:sp>
      <p:sp>
        <p:nvSpPr>
          <p:cNvPr id="10" name="Shape 8"/>
          <p:cNvSpPr/>
          <p:nvPr/>
        </p:nvSpPr>
        <p:spPr>
          <a:xfrm>
            <a:off x="548640" y="1892808"/>
            <a:ext cx="274320" cy="274320"/>
          </a:xfrm>
          <a:prstGeom prst="ellipse">
            <a:avLst/>
          </a:prstGeom>
          <a:solidFill>
            <a:srgbClr val="0D9488"/>
          </a:solidFill>
          <a:ln/>
        </p:spPr>
      </p:sp>
      <p:sp>
        <p:nvSpPr>
          <p:cNvPr id="11" name="Text 9"/>
          <p:cNvSpPr/>
          <p:nvPr/>
        </p:nvSpPr>
        <p:spPr>
          <a:xfrm>
            <a:off x="548640" y="189280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60120" y="182880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QA Agent reviews quality</a:t>
            </a:r>
            <a:endParaRPr lang="en-US" sz="1100" dirty="0"/>
          </a:p>
        </p:txBody>
      </p:sp>
      <p:sp>
        <p:nvSpPr>
          <p:cNvPr id="13" name="Shape 11"/>
          <p:cNvSpPr/>
          <p:nvPr/>
        </p:nvSpPr>
        <p:spPr>
          <a:xfrm>
            <a:off x="457200" y="2331720"/>
            <a:ext cx="4114800" cy="411480"/>
          </a:xfrm>
          <a:prstGeom prst="rect">
            <a:avLst/>
          </a:prstGeom>
          <a:solidFill>
            <a:srgbClr val="1A2744"/>
          </a:solidFill>
          <a:ln/>
        </p:spPr>
      </p:sp>
      <p:sp>
        <p:nvSpPr>
          <p:cNvPr id="14" name="Shape 12"/>
          <p:cNvSpPr/>
          <p:nvPr/>
        </p:nvSpPr>
        <p:spPr>
          <a:xfrm>
            <a:off x="548640" y="2395728"/>
            <a:ext cx="274320" cy="274320"/>
          </a:xfrm>
          <a:prstGeom prst="ellipse">
            <a:avLst/>
          </a:prstGeom>
          <a:solidFill>
            <a:srgbClr val="0D9488"/>
          </a:solidFill>
          <a:ln/>
        </p:spPr>
      </p:sp>
      <p:sp>
        <p:nvSpPr>
          <p:cNvPr id="15" name="Text 13"/>
          <p:cNvSpPr/>
          <p:nvPr/>
        </p:nvSpPr>
        <p:spPr>
          <a:xfrm>
            <a:off x="548640" y="239572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960120" y="233172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Automated security scan</a:t>
            </a:r>
            <a:endParaRPr lang="en-US" sz="1100" dirty="0"/>
          </a:p>
        </p:txBody>
      </p:sp>
      <p:sp>
        <p:nvSpPr>
          <p:cNvPr id="17" name="Shape 15"/>
          <p:cNvSpPr/>
          <p:nvPr/>
        </p:nvSpPr>
        <p:spPr>
          <a:xfrm>
            <a:off x="457200" y="2834640"/>
            <a:ext cx="4114800" cy="411480"/>
          </a:xfrm>
          <a:prstGeom prst="rect">
            <a:avLst/>
          </a:prstGeom>
          <a:solidFill>
            <a:srgbClr val="1A2744"/>
          </a:solidFill>
          <a:ln/>
        </p:spPr>
      </p:sp>
      <p:sp>
        <p:nvSpPr>
          <p:cNvPr id="18" name="Shape 16"/>
          <p:cNvSpPr/>
          <p:nvPr/>
        </p:nvSpPr>
        <p:spPr>
          <a:xfrm>
            <a:off x="548640" y="2898648"/>
            <a:ext cx="274320" cy="274320"/>
          </a:xfrm>
          <a:prstGeom prst="ellipse">
            <a:avLst/>
          </a:prstGeom>
          <a:solidFill>
            <a:srgbClr val="0D9488"/>
          </a:solidFill>
          <a:ln/>
        </p:spPr>
      </p:sp>
      <p:sp>
        <p:nvSpPr>
          <p:cNvPr id="19" name="Text 17"/>
          <p:cNvSpPr/>
          <p:nvPr/>
        </p:nvSpPr>
        <p:spPr>
          <a:xfrm>
            <a:off x="548640" y="289864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8"/>
          <p:cNvSpPr/>
          <p:nvPr/>
        </p:nvSpPr>
        <p:spPr>
          <a:xfrm>
            <a:off x="960120" y="283464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Human peer review</a:t>
            </a:r>
            <a:endParaRPr lang="en-US" sz="1100" dirty="0"/>
          </a:p>
        </p:txBody>
      </p:sp>
      <p:sp>
        <p:nvSpPr>
          <p:cNvPr id="21" name="Shape 19"/>
          <p:cNvSpPr/>
          <p:nvPr/>
        </p:nvSpPr>
        <p:spPr>
          <a:xfrm>
            <a:off x="457200" y="3337560"/>
            <a:ext cx="4114800" cy="411480"/>
          </a:xfrm>
          <a:prstGeom prst="rect">
            <a:avLst/>
          </a:prstGeom>
          <a:solidFill>
            <a:srgbClr val="1A2744"/>
          </a:solidFill>
          <a:ln/>
        </p:spPr>
      </p:sp>
      <p:sp>
        <p:nvSpPr>
          <p:cNvPr id="22" name="Shape 20"/>
          <p:cNvSpPr/>
          <p:nvPr/>
        </p:nvSpPr>
        <p:spPr>
          <a:xfrm>
            <a:off x="548640" y="3401568"/>
            <a:ext cx="274320" cy="274320"/>
          </a:xfrm>
          <a:prstGeom prst="ellipse">
            <a:avLst/>
          </a:prstGeom>
          <a:solidFill>
            <a:srgbClr val="0D9488"/>
          </a:solidFill>
          <a:ln/>
        </p:spPr>
      </p:sp>
      <p:sp>
        <p:nvSpPr>
          <p:cNvPr id="23" name="Text 21"/>
          <p:cNvSpPr/>
          <p:nvPr/>
        </p:nvSpPr>
        <p:spPr>
          <a:xfrm>
            <a:off x="548640" y="340156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22"/>
          <p:cNvSpPr/>
          <p:nvPr/>
        </p:nvSpPr>
        <p:spPr>
          <a:xfrm>
            <a:off x="960120" y="333756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Architecture compliance check</a:t>
            </a:r>
            <a:endParaRPr lang="en-US" sz="1100" dirty="0"/>
          </a:p>
        </p:txBody>
      </p:sp>
      <p:sp>
        <p:nvSpPr>
          <p:cNvPr id="25" name="Shape 23"/>
          <p:cNvSpPr/>
          <p:nvPr/>
        </p:nvSpPr>
        <p:spPr>
          <a:xfrm>
            <a:off x="457200" y="3840480"/>
            <a:ext cx="4114800" cy="411480"/>
          </a:xfrm>
          <a:prstGeom prst="rect">
            <a:avLst/>
          </a:prstGeom>
          <a:solidFill>
            <a:srgbClr val="1A2744"/>
          </a:solidFill>
          <a:ln/>
        </p:spPr>
      </p:sp>
      <p:sp>
        <p:nvSpPr>
          <p:cNvPr id="26" name="Shape 24"/>
          <p:cNvSpPr/>
          <p:nvPr/>
        </p:nvSpPr>
        <p:spPr>
          <a:xfrm>
            <a:off x="548640" y="3904488"/>
            <a:ext cx="274320" cy="274320"/>
          </a:xfrm>
          <a:prstGeom prst="ellipse">
            <a:avLst/>
          </a:prstGeom>
          <a:solidFill>
            <a:srgbClr val="0D9488"/>
          </a:solidFill>
          <a:ln/>
        </p:spPr>
      </p:sp>
      <p:sp>
        <p:nvSpPr>
          <p:cNvPr id="27" name="Text 25"/>
          <p:cNvSpPr/>
          <p:nvPr/>
        </p:nvSpPr>
        <p:spPr>
          <a:xfrm>
            <a:off x="548640" y="3904488"/>
            <a:ext cx="2743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8" name="Text 26"/>
          <p:cNvSpPr/>
          <p:nvPr/>
        </p:nvSpPr>
        <p:spPr>
          <a:xfrm>
            <a:off x="960120" y="3840480"/>
            <a:ext cx="338328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Merge to main</a:t>
            </a:r>
            <a:endParaRPr lang="en-US" sz="1100" dirty="0"/>
          </a:p>
        </p:txBody>
      </p:sp>
      <p:sp>
        <p:nvSpPr>
          <p:cNvPr id="29" name="Text 27"/>
          <p:cNvSpPr/>
          <p:nvPr/>
        </p:nvSpPr>
        <p:spPr>
          <a:xfrm>
            <a:off x="4846320" y="914400"/>
            <a:ext cx="3931920" cy="32004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Air-Gapped Adaptations</a:t>
            </a:r>
            <a:endParaRPr lang="en-US" sz="1400" dirty="0"/>
          </a:p>
        </p:txBody>
      </p:sp>
      <p:sp>
        <p:nvSpPr>
          <p:cNvPr id="30" name="Shape 28"/>
          <p:cNvSpPr/>
          <p:nvPr/>
        </p:nvSpPr>
        <p:spPr>
          <a:xfrm>
            <a:off x="4846320" y="1325880"/>
            <a:ext cx="3840480" cy="3017520"/>
          </a:xfrm>
          <a:prstGeom prst="rect">
            <a:avLst/>
          </a:prstGeom>
          <a:solidFill>
            <a:srgbClr val="1A2744"/>
          </a:solidFill>
          <a:ln/>
        </p:spPr>
      </p:sp>
      <p:pic>
        <p:nvPicPr>
          <p:cNvPr id="31" name="Image 0" descr="preencoded.png">    </p:cNvPr>
          <p:cNvPicPr>
            <a:picLocks noChangeAspect="1"/>
          </p:cNvPicPr>
          <p:nvPr/>
        </p:nvPicPr>
        <p:blipFill>
          <a:blip r:embed="rId1"/>
          <a:stretch>
            <a:fillRect/>
          </a:stretch>
        </p:blipFill>
        <p:spPr>
          <a:xfrm>
            <a:off x="5029200" y="1536192"/>
            <a:ext cx="201168" cy="201168"/>
          </a:xfrm>
          <a:prstGeom prst="rect">
            <a:avLst/>
          </a:prstGeom>
        </p:spPr>
      </p:pic>
      <p:sp>
        <p:nvSpPr>
          <p:cNvPr id="32" name="Text 29"/>
          <p:cNvSpPr/>
          <p:nvPr/>
        </p:nvSpPr>
        <p:spPr>
          <a:xfrm>
            <a:off x="5349240" y="1490472"/>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Local LLM Support</a:t>
            </a:r>
            <a:endParaRPr lang="en-US" sz="1200" dirty="0"/>
          </a:p>
        </p:txBody>
      </p:sp>
      <p:sp>
        <p:nvSpPr>
          <p:cNvPr id="33" name="Text 30"/>
          <p:cNvSpPr/>
          <p:nvPr/>
        </p:nvSpPr>
        <p:spPr>
          <a:xfrm>
            <a:off x="5349240" y="1764792"/>
            <a:ext cx="3108960" cy="3200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BMAD agents can work with locally hosted models for classified environments</a:t>
            </a:r>
            <a:endParaRPr lang="en-US" sz="1000" dirty="0"/>
          </a:p>
        </p:txBody>
      </p:sp>
      <p:pic>
        <p:nvPicPr>
          <p:cNvPr id="34" name="Image 1" descr="preencoded.png">    </p:cNvPr>
          <p:cNvPicPr>
            <a:picLocks noChangeAspect="1"/>
          </p:cNvPicPr>
          <p:nvPr/>
        </p:nvPicPr>
        <p:blipFill>
          <a:blip r:embed="rId2"/>
          <a:stretch>
            <a:fillRect/>
          </a:stretch>
        </p:blipFill>
        <p:spPr>
          <a:xfrm>
            <a:off x="5029200" y="2221992"/>
            <a:ext cx="201168" cy="201168"/>
          </a:xfrm>
          <a:prstGeom prst="rect">
            <a:avLst/>
          </a:prstGeom>
        </p:spPr>
      </p:pic>
      <p:sp>
        <p:nvSpPr>
          <p:cNvPr id="35" name="Text 31"/>
          <p:cNvSpPr/>
          <p:nvPr/>
        </p:nvSpPr>
        <p:spPr>
          <a:xfrm>
            <a:off x="5349240" y="2176272"/>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Offline Agent Defs</a:t>
            </a:r>
            <a:endParaRPr lang="en-US" sz="1200" dirty="0"/>
          </a:p>
        </p:txBody>
      </p:sp>
      <p:sp>
        <p:nvSpPr>
          <p:cNvPr id="36" name="Text 32"/>
          <p:cNvSpPr/>
          <p:nvPr/>
        </p:nvSpPr>
        <p:spPr>
          <a:xfrm>
            <a:off x="5349240" y="2450592"/>
            <a:ext cx="3108960" cy="3200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All agent definitions are local markdown files — no internet needed</a:t>
            </a:r>
            <a:endParaRPr lang="en-US" sz="1000" dirty="0"/>
          </a:p>
        </p:txBody>
      </p:sp>
      <p:pic>
        <p:nvPicPr>
          <p:cNvPr id="37" name="Image 2" descr="preencoded.png">    </p:cNvPr>
          <p:cNvPicPr>
            <a:picLocks noChangeAspect="1"/>
          </p:cNvPicPr>
          <p:nvPr/>
        </p:nvPicPr>
        <p:blipFill>
          <a:blip r:embed="rId3"/>
          <a:stretch>
            <a:fillRect/>
          </a:stretch>
        </p:blipFill>
        <p:spPr>
          <a:xfrm>
            <a:off x="5029200" y="2907792"/>
            <a:ext cx="201168" cy="201168"/>
          </a:xfrm>
          <a:prstGeom prst="rect">
            <a:avLst/>
          </a:prstGeom>
        </p:spPr>
      </p:pic>
      <p:sp>
        <p:nvSpPr>
          <p:cNvPr id="38" name="Text 33"/>
          <p:cNvSpPr/>
          <p:nvPr/>
        </p:nvSpPr>
        <p:spPr>
          <a:xfrm>
            <a:off x="5349240" y="2862072"/>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Registry-Free Install</a:t>
            </a:r>
            <a:endParaRPr lang="en-US" sz="1200" dirty="0"/>
          </a:p>
        </p:txBody>
      </p:sp>
      <p:sp>
        <p:nvSpPr>
          <p:cNvPr id="39" name="Text 34"/>
          <p:cNvSpPr/>
          <p:nvPr/>
        </p:nvSpPr>
        <p:spPr>
          <a:xfrm>
            <a:off x="5349240" y="3136392"/>
            <a:ext cx="3108960" cy="3200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Pre-packaged installation without npm registry access</a:t>
            </a:r>
            <a:endParaRPr lang="en-US" sz="1000" dirty="0"/>
          </a:p>
        </p:txBody>
      </p:sp>
      <p:pic>
        <p:nvPicPr>
          <p:cNvPr id="40" name="Image 3" descr="preencoded.png">    </p:cNvPr>
          <p:cNvPicPr>
            <a:picLocks noChangeAspect="1"/>
          </p:cNvPicPr>
          <p:nvPr/>
        </p:nvPicPr>
        <p:blipFill>
          <a:blip r:embed="rId4"/>
          <a:stretch>
            <a:fillRect/>
          </a:stretch>
        </p:blipFill>
        <p:spPr>
          <a:xfrm>
            <a:off x="5029200" y="3593592"/>
            <a:ext cx="201168" cy="201168"/>
          </a:xfrm>
          <a:prstGeom prst="rect">
            <a:avLst/>
          </a:prstGeom>
        </p:spPr>
      </p:pic>
      <p:sp>
        <p:nvSpPr>
          <p:cNvPr id="41" name="Text 35"/>
          <p:cNvSpPr/>
          <p:nvPr/>
        </p:nvSpPr>
        <p:spPr>
          <a:xfrm>
            <a:off x="5349240" y="3547872"/>
            <a:ext cx="31089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Approved Stack Only</a:t>
            </a:r>
            <a:endParaRPr lang="en-US" sz="1200" dirty="0"/>
          </a:p>
        </p:txBody>
      </p:sp>
      <p:sp>
        <p:nvSpPr>
          <p:cNvPr id="42" name="Text 36"/>
          <p:cNvSpPr/>
          <p:nvPr/>
        </p:nvSpPr>
        <p:spPr>
          <a:xfrm>
            <a:off x="5349240" y="3822192"/>
            <a:ext cx="3108960" cy="320040"/>
          </a:xfrm>
          <a:prstGeom prst="rect">
            <a:avLst/>
          </a:prstGeom>
          <a:noFill/>
          <a:ln/>
        </p:spPr>
        <p:txBody>
          <a:bodyPr wrap="square" lIns="0" tIns="0" rIns="0" bIns="0" rtlCol="0" anchor="t"/>
          <a:lstStyle/>
          <a:p>
            <a:pPr indent="0" marL="0">
              <a:buNone/>
            </a:pPr>
            <a:r>
              <a:rPr lang="en-US" sz="1000" dirty="0">
                <a:solidFill>
                  <a:srgbClr val="94A3B8"/>
                </a:solidFill>
                <a:latin typeface="Calibri" pitchFamily="34" charset="0"/>
                <a:ea typeface="Calibri" pitchFamily="34" charset="-122"/>
                <a:cs typeface="Calibri" pitchFamily="34" charset="-120"/>
              </a:rPr>
              <a:t>Agents constrained to use only pre-approved, scanned dependencies</a:t>
            </a:r>
            <a:endParaRPr lang="en-US" sz="1000" dirty="0"/>
          </a:p>
        </p:txBody>
      </p:sp>
      <p:sp>
        <p:nvSpPr>
          <p:cNvPr id="43" name="Text 3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91 / 93</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sp>
        <p:nvSpPr>
          <p:cNvPr id="3" name="Text 1"/>
          <p:cNvSpPr/>
          <p:nvPr/>
        </p:nvSpPr>
        <p:spPr>
          <a:xfrm>
            <a:off x="548640" y="2743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Getting Started</a:t>
            </a:r>
            <a:endParaRPr lang="en-US" sz="3200" dirty="0"/>
          </a:p>
        </p:txBody>
      </p:sp>
      <p:sp>
        <p:nvSpPr>
          <p:cNvPr id="4" name="Shape 2"/>
          <p:cNvSpPr/>
          <p:nvPr/>
        </p:nvSpPr>
        <p:spPr>
          <a:xfrm>
            <a:off x="640080" y="1097280"/>
            <a:ext cx="320040" cy="320040"/>
          </a:xfrm>
          <a:prstGeom prst="ellipse">
            <a:avLst/>
          </a:prstGeom>
          <a:solidFill>
            <a:srgbClr val="0D9488"/>
          </a:solidFill>
          <a:ln/>
        </p:spPr>
      </p:sp>
      <p:sp>
        <p:nvSpPr>
          <p:cNvPr id="5" name="Text 3"/>
          <p:cNvSpPr/>
          <p:nvPr/>
        </p:nvSpPr>
        <p:spPr>
          <a:xfrm>
            <a:off x="640080" y="109728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143000" y="1051560"/>
            <a:ext cx="5029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Install BMAD:  npx bmad-method install</a:t>
            </a:r>
            <a:endParaRPr lang="en-US" sz="1300" dirty="0"/>
          </a:p>
        </p:txBody>
      </p:sp>
      <p:sp>
        <p:nvSpPr>
          <p:cNvPr id="7" name="Shape 5"/>
          <p:cNvSpPr/>
          <p:nvPr/>
        </p:nvSpPr>
        <p:spPr>
          <a:xfrm>
            <a:off x="640080" y="1536192"/>
            <a:ext cx="320040" cy="320040"/>
          </a:xfrm>
          <a:prstGeom prst="ellipse">
            <a:avLst/>
          </a:prstGeom>
          <a:solidFill>
            <a:srgbClr val="0D9488"/>
          </a:solidFill>
          <a:ln/>
        </p:spPr>
      </p:sp>
      <p:sp>
        <p:nvSpPr>
          <p:cNvPr id="8" name="Text 6"/>
          <p:cNvSpPr/>
          <p:nvPr/>
        </p:nvSpPr>
        <p:spPr>
          <a:xfrm>
            <a:off x="640080" y="1536192"/>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143000" y="1490472"/>
            <a:ext cx="5029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Install skills:  npx ma-agents install</a:t>
            </a:r>
            <a:endParaRPr lang="en-US" sz="1300" dirty="0"/>
          </a:p>
        </p:txBody>
      </p:sp>
      <p:sp>
        <p:nvSpPr>
          <p:cNvPr id="10" name="Shape 8"/>
          <p:cNvSpPr/>
          <p:nvPr/>
        </p:nvSpPr>
        <p:spPr>
          <a:xfrm>
            <a:off x="640080" y="1975104"/>
            <a:ext cx="320040" cy="320040"/>
          </a:xfrm>
          <a:prstGeom prst="ellipse">
            <a:avLst/>
          </a:prstGeom>
          <a:solidFill>
            <a:srgbClr val="0D9488"/>
          </a:solidFill>
          <a:ln/>
        </p:spPr>
      </p:sp>
      <p:sp>
        <p:nvSpPr>
          <p:cNvPr id="11" name="Text 9"/>
          <p:cNvSpPr/>
          <p:nvPr/>
        </p:nvSpPr>
        <p:spPr>
          <a:xfrm>
            <a:off x="640080" y="1975104"/>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143000" y="1929384"/>
            <a:ext cx="5029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 your project in Claude Code or Cline</a:t>
            </a:r>
            <a:endParaRPr lang="en-US" sz="1300" dirty="0"/>
          </a:p>
        </p:txBody>
      </p:sp>
      <p:sp>
        <p:nvSpPr>
          <p:cNvPr id="13" name="Shape 11"/>
          <p:cNvSpPr/>
          <p:nvPr/>
        </p:nvSpPr>
        <p:spPr>
          <a:xfrm>
            <a:off x="640080" y="2414016"/>
            <a:ext cx="320040" cy="320040"/>
          </a:xfrm>
          <a:prstGeom prst="ellipse">
            <a:avLst/>
          </a:prstGeom>
          <a:solidFill>
            <a:srgbClr val="0D9488"/>
          </a:solidFill>
          <a:ln/>
        </p:spPr>
      </p:sp>
      <p:sp>
        <p:nvSpPr>
          <p:cNvPr id="14" name="Text 12"/>
          <p:cNvSpPr/>
          <p:nvPr/>
        </p:nvSpPr>
        <p:spPr>
          <a:xfrm>
            <a:off x="640080" y="2414016"/>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143000" y="2368296"/>
            <a:ext cx="5029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Choose your path: Quick Flow or Full Planning</a:t>
            </a:r>
            <a:endParaRPr lang="en-US" sz="1300" dirty="0"/>
          </a:p>
        </p:txBody>
      </p:sp>
      <p:sp>
        <p:nvSpPr>
          <p:cNvPr id="16" name="Shape 14"/>
          <p:cNvSpPr/>
          <p:nvPr/>
        </p:nvSpPr>
        <p:spPr>
          <a:xfrm>
            <a:off x="640080" y="2852928"/>
            <a:ext cx="320040" cy="320040"/>
          </a:xfrm>
          <a:prstGeom prst="ellipse">
            <a:avLst/>
          </a:prstGeom>
          <a:solidFill>
            <a:srgbClr val="0D9488"/>
          </a:solidFill>
          <a:ln/>
        </p:spPr>
      </p:sp>
      <p:sp>
        <p:nvSpPr>
          <p:cNvPr id="17" name="Text 15"/>
          <p:cNvSpPr/>
          <p:nvPr/>
        </p:nvSpPr>
        <p:spPr>
          <a:xfrm>
            <a:off x="640080" y="2852928"/>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143000" y="2807208"/>
            <a:ext cx="5029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Follow the guided workflows step by step</a:t>
            </a:r>
            <a:endParaRPr lang="en-US" sz="1300" dirty="0"/>
          </a:p>
        </p:txBody>
      </p:sp>
      <p:sp>
        <p:nvSpPr>
          <p:cNvPr id="19" name="Shape 17"/>
          <p:cNvSpPr/>
          <p:nvPr/>
        </p:nvSpPr>
        <p:spPr>
          <a:xfrm>
            <a:off x="5943600" y="914400"/>
            <a:ext cx="2926080" cy="2560320"/>
          </a:xfrm>
          <a:prstGeom prst="rect">
            <a:avLst/>
          </a:prstGeom>
          <a:solidFill>
            <a:srgbClr val="1A2744"/>
          </a:solidFill>
          <a:ln/>
        </p:spPr>
      </p:sp>
      <p:sp>
        <p:nvSpPr>
          <p:cNvPr id="20" name="Shape 18"/>
          <p:cNvSpPr/>
          <p:nvPr/>
        </p:nvSpPr>
        <p:spPr>
          <a:xfrm>
            <a:off x="5943600" y="914400"/>
            <a:ext cx="2926080" cy="54864"/>
          </a:xfrm>
          <a:prstGeom prst="rect">
            <a:avLst/>
          </a:prstGeom>
          <a:solidFill>
            <a:srgbClr val="0D9488"/>
          </a:solidFill>
          <a:ln/>
        </p:spPr>
      </p:sp>
      <p:sp>
        <p:nvSpPr>
          <p:cNvPr id="21" name="Text 19"/>
          <p:cNvSpPr/>
          <p:nvPr/>
        </p:nvSpPr>
        <p:spPr>
          <a:xfrm>
            <a:off x="6126480" y="1051560"/>
            <a:ext cx="25603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Takeaways</a:t>
            </a:r>
            <a:endParaRPr lang="en-US" sz="1400" dirty="0"/>
          </a:p>
        </p:txBody>
      </p:sp>
      <p:pic>
        <p:nvPicPr>
          <p:cNvPr id="22" name="Image 0" descr="preencoded.png">    </p:cNvPr>
          <p:cNvPicPr>
            <a:picLocks noChangeAspect="1"/>
          </p:cNvPicPr>
          <p:nvPr/>
        </p:nvPicPr>
        <p:blipFill>
          <a:blip r:embed="rId1"/>
          <a:stretch>
            <a:fillRect/>
          </a:stretch>
        </p:blipFill>
        <p:spPr>
          <a:xfrm>
            <a:off x="6126480" y="1508760"/>
            <a:ext cx="182880" cy="182880"/>
          </a:xfrm>
          <a:prstGeom prst="rect">
            <a:avLst/>
          </a:prstGeom>
        </p:spPr>
      </p:pic>
      <p:sp>
        <p:nvSpPr>
          <p:cNvPr id="23" name="Text 20"/>
          <p:cNvSpPr/>
          <p:nvPr/>
        </p:nvSpPr>
        <p:spPr>
          <a:xfrm>
            <a:off x="6400800" y="1463040"/>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Structured AI, not random prompting</a:t>
            </a:r>
            <a:endParaRPr lang="en-US" sz="1000" dirty="0"/>
          </a:p>
        </p:txBody>
      </p:sp>
      <p:pic>
        <p:nvPicPr>
          <p:cNvPr id="24" name="Image 1" descr="preencoded.png">    </p:cNvPr>
          <p:cNvPicPr>
            <a:picLocks noChangeAspect="1"/>
          </p:cNvPicPr>
          <p:nvPr/>
        </p:nvPicPr>
        <p:blipFill>
          <a:blip r:embed="rId2"/>
          <a:stretch>
            <a:fillRect/>
          </a:stretch>
        </p:blipFill>
        <p:spPr>
          <a:xfrm>
            <a:off x="6126480" y="1856232"/>
            <a:ext cx="182880" cy="182880"/>
          </a:xfrm>
          <a:prstGeom prst="rect">
            <a:avLst/>
          </a:prstGeom>
        </p:spPr>
      </p:pic>
      <p:sp>
        <p:nvSpPr>
          <p:cNvPr id="25" name="Text 21"/>
          <p:cNvSpPr/>
          <p:nvPr/>
        </p:nvSpPr>
        <p:spPr>
          <a:xfrm>
            <a:off x="6400800" y="1810512"/>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Documentation-first like MIL-STD-498</a:t>
            </a:r>
            <a:endParaRPr lang="en-US" sz="1000" dirty="0"/>
          </a:p>
        </p:txBody>
      </p:sp>
      <p:pic>
        <p:nvPicPr>
          <p:cNvPr id="26" name="Image 2" descr="preencoded.png">    </p:cNvPr>
          <p:cNvPicPr>
            <a:picLocks noChangeAspect="1"/>
          </p:cNvPicPr>
          <p:nvPr/>
        </p:nvPicPr>
        <p:blipFill>
          <a:blip r:embed="rId3"/>
          <a:stretch>
            <a:fillRect/>
          </a:stretch>
        </p:blipFill>
        <p:spPr>
          <a:xfrm>
            <a:off x="6126480" y="2203704"/>
            <a:ext cx="182880" cy="182880"/>
          </a:xfrm>
          <a:prstGeom prst="rect">
            <a:avLst/>
          </a:prstGeom>
        </p:spPr>
      </p:pic>
      <p:sp>
        <p:nvSpPr>
          <p:cNvPr id="27" name="Text 22"/>
          <p:cNvSpPr/>
          <p:nvPr/>
        </p:nvSpPr>
        <p:spPr>
          <a:xfrm>
            <a:off x="6400800" y="2157984"/>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Full traceability from req to code</a:t>
            </a:r>
            <a:endParaRPr lang="en-US" sz="1000" dirty="0"/>
          </a:p>
        </p:txBody>
      </p:sp>
      <p:pic>
        <p:nvPicPr>
          <p:cNvPr id="28" name="Image 3" descr="preencoded.png">    </p:cNvPr>
          <p:cNvPicPr>
            <a:picLocks noChangeAspect="1"/>
          </p:cNvPicPr>
          <p:nvPr/>
        </p:nvPicPr>
        <p:blipFill>
          <a:blip r:embed="rId4"/>
          <a:stretch>
            <a:fillRect/>
          </a:stretch>
        </p:blipFill>
        <p:spPr>
          <a:xfrm>
            <a:off x="6126480" y="2551176"/>
            <a:ext cx="182880" cy="182880"/>
          </a:xfrm>
          <a:prstGeom prst="rect">
            <a:avLst/>
          </a:prstGeom>
        </p:spPr>
      </p:pic>
      <p:sp>
        <p:nvSpPr>
          <p:cNvPr id="29" name="Text 23"/>
          <p:cNvSpPr/>
          <p:nvPr/>
        </p:nvSpPr>
        <p:spPr>
          <a:xfrm>
            <a:off x="6400800" y="2505456"/>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27 skills enforce org standards</a:t>
            </a:r>
            <a:endParaRPr lang="en-US" sz="1000" dirty="0"/>
          </a:p>
        </p:txBody>
      </p:sp>
      <p:pic>
        <p:nvPicPr>
          <p:cNvPr id="30" name="Image 4" descr="preencoded.png">    </p:cNvPr>
          <p:cNvPicPr>
            <a:picLocks noChangeAspect="1"/>
          </p:cNvPicPr>
          <p:nvPr/>
        </p:nvPicPr>
        <p:blipFill>
          <a:blip r:embed="rId5"/>
          <a:stretch>
            <a:fillRect/>
          </a:stretch>
        </p:blipFill>
        <p:spPr>
          <a:xfrm>
            <a:off x="6126480" y="2898648"/>
            <a:ext cx="182880" cy="182880"/>
          </a:xfrm>
          <a:prstGeom prst="rect">
            <a:avLst/>
          </a:prstGeom>
        </p:spPr>
      </p:pic>
      <p:sp>
        <p:nvSpPr>
          <p:cNvPr id="31" name="Text 24"/>
          <p:cNvSpPr/>
          <p:nvPr/>
        </p:nvSpPr>
        <p:spPr>
          <a:xfrm>
            <a:off x="6400800" y="2852928"/>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Works in air-gapped environments</a:t>
            </a:r>
            <a:endParaRPr lang="en-US" sz="1000" dirty="0"/>
          </a:p>
        </p:txBody>
      </p:sp>
      <p:sp>
        <p:nvSpPr>
          <p:cNvPr id="32" name="Shape 25"/>
          <p:cNvSpPr/>
          <p:nvPr/>
        </p:nvSpPr>
        <p:spPr>
          <a:xfrm>
            <a:off x="0" y="3749040"/>
            <a:ext cx="9144000" cy="1394460"/>
          </a:xfrm>
          <a:prstGeom prst="rect">
            <a:avLst/>
          </a:prstGeom>
          <a:solidFill>
            <a:srgbClr val="1A2744"/>
          </a:solidFill>
          <a:ln/>
        </p:spPr>
      </p:sp>
      <p:sp>
        <p:nvSpPr>
          <p:cNvPr id="33" name="Text 26"/>
          <p:cNvSpPr/>
          <p:nvPr/>
        </p:nvSpPr>
        <p:spPr>
          <a:xfrm>
            <a:off x="548640" y="3840480"/>
            <a:ext cx="8229600" cy="32004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Resources</a:t>
            </a:r>
            <a:endParaRPr lang="en-US" sz="1400" dirty="0"/>
          </a:p>
        </p:txBody>
      </p:sp>
      <p:sp>
        <p:nvSpPr>
          <p:cNvPr id="34" name="Text 27"/>
          <p:cNvSpPr/>
          <p:nvPr/>
        </p:nvSpPr>
        <p:spPr>
          <a:xfrm>
            <a:off x="548640" y="4206240"/>
            <a:ext cx="1645920" cy="32004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BMAD GitHub:</a:t>
            </a:r>
            <a:endParaRPr lang="en-US" sz="1000" dirty="0"/>
          </a:p>
        </p:txBody>
      </p:sp>
      <p:sp>
        <p:nvSpPr>
          <p:cNvPr id="35" name="Text 28"/>
          <p:cNvSpPr/>
          <p:nvPr/>
        </p:nvSpPr>
        <p:spPr>
          <a:xfrm>
            <a:off x="2194560" y="4206240"/>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github.com/bmad-code-org/BMAD-METHOD</a:t>
            </a:r>
            <a:endParaRPr lang="en-US" sz="1000" dirty="0"/>
          </a:p>
        </p:txBody>
      </p:sp>
      <p:sp>
        <p:nvSpPr>
          <p:cNvPr id="36" name="Text 29"/>
          <p:cNvSpPr/>
          <p:nvPr/>
        </p:nvSpPr>
        <p:spPr>
          <a:xfrm>
            <a:off x="4663440" y="4206240"/>
            <a:ext cx="1645920" cy="32004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ma-agents:</a:t>
            </a:r>
            <a:endParaRPr lang="en-US" sz="1000" dirty="0"/>
          </a:p>
        </p:txBody>
      </p:sp>
      <p:sp>
        <p:nvSpPr>
          <p:cNvPr id="37" name="Text 30"/>
          <p:cNvSpPr/>
          <p:nvPr/>
        </p:nvSpPr>
        <p:spPr>
          <a:xfrm>
            <a:off x="6309360" y="4206240"/>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npmjs.com/package/ma-agents</a:t>
            </a:r>
            <a:endParaRPr lang="en-US" sz="1000" dirty="0"/>
          </a:p>
        </p:txBody>
      </p:sp>
      <p:sp>
        <p:nvSpPr>
          <p:cNvPr id="38" name="Text 31"/>
          <p:cNvSpPr/>
          <p:nvPr/>
        </p:nvSpPr>
        <p:spPr>
          <a:xfrm>
            <a:off x="548640" y="4572000"/>
            <a:ext cx="1645920" cy="32004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BMAD Docs:</a:t>
            </a:r>
            <a:endParaRPr lang="en-US" sz="1000" dirty="0"/>
          </a:p>
        </p:txBody>
      </p:sp>
      <p:sp>
        <p:nvSpPr>
          <p:cNvPr id="39" name="Text 32"/>
          <p:cNvSpPr/>
          <p:nvPr/>
        </p:nvSpPr>
        <p:spPr>
          <a:xfrm>
            <a:off x="2194560" y="4572000"/>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docs.bmad-method.org</a:t>
            </a:r>
            <a:endParaRPr lang="en-US" sz="1000" dirty="0"/>
          </a:p>
        </p:txBody>
      </p:sp>
      <p:sp>
        <p:nvSpPr>
          <p:cNvPr id="40" name="Text 33"/>
          <p:cNvSpPr/>
          <p:nvPr/>
        </p:nvSpPr>
        <p:spPr>
          <a:xfrm>
            <a:off x="4663440" y="4572000"/>
            <a:ext cx="1645920" cy="32004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Chief Architect - Software CTO:</a:t>
            </a:r>
            <a:endParaRPr lang="en-US" sz="1000" dirty="0"/>
          </a:p>
        </p:txBody>
      </p:sp>
      <p:sp>
        <p:nvSpPr>
          <p:cNvPr id="41" name="Text 34"/>
          <p:cNvSpPr/>
          <p:nvPr/>
        </p:nvSpPr>
        <p:spPr>
          <a:xfrm>
            <a:off x="6309360" y="4572000"/>
            <a:ext cx="2286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Internal Confluence Space</a:t>
            </a:r>
            <a:endParaRPr lang="en-US" sz="1000" dirty="0"/>
          </a:p>
        </p:txBody>
      </p:sp>
      <p:sp>
        <p:nvSpPr>
          <p:cNvPr id="42" name="Text 35"/>
          <p:cNvSpPr/>
          <p:nvPr/>
        </p:nvSpPr>
        <p:spPr>
          <a:xfrm>
            <a:off x="457200" y="4754880"/>
            <a:ext cx="822960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Chief Architect - Software CTO  |  2026</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0"/>
            <a:ext cx="9144000" cy="54864"/>
          </a:xfrm>
          <a:prstGeom prst="rect">
            <a:avLst/>
          </a:prstGeom>
          <a:solidFill>
            <a:srgbClr val="0D9488"/>
          </a:solidFill>
          <a:ln/>
        </p:spPr>
      </p:sp>
      <p:sp>
        <p:nvSpPr>
          <p:cNvPr id="4" name="Shape 2"/>
          <p:cNvSpPr/>
          <p:nvPr/>
        </p:nvSpPr>
        <p:spPr>
          <a:xfrm>
            <a:off x="914400" y="1371600"/>
            <a:ext cx="7315200" cy="36576"/>
          </a:xfrm>
          <a:prstGeom prst="rect">
            <a:avLst/>
          </a:prstGeom>
          <a:solidFill>
            <a:srgbClr val="0D9488"/>
          </a:solidFill>
          <a:ln/>
        </p:spPr>
      </p:sp>
      <p:sp>
        <p:nvSpPr>
          <p:cNvPr id="5" name="Text 3"/>
          <p:cNvSpPr/>
          <p:nvPr/>
        </p:nvSpPr>
        <p:spPr>
          <a:xfrm>
            <a:off x="457200" y="1645920"/>
            <a:ext cx="8229600" cy="914400"/>
          </a:xfrm>
          <a:prstGeom prst="rect">
            <a:avLst/>
          </a:prstGeom>
          <a:noFill/>
          <a:ln/>
        </p:spPr>
        <p:txBody>
          <a:bodyPr wrap="square" rtlCol="0" anchor="ctr"/>
          <a:lstStyle/>
          <a:p>
            <a:pPr algn="ctr" indent="0" marL="0">
              <a:buNone/>
            </a:pPr>
            <a:r>
              <a:rPr lang="en-US" sz="5200" b="1" dirty="0">
                <a:solidFill>
                  <a:srgbClr val="FFFFFF"/>
                </a:solidFill>
              </a:rPr>
              <a:t>Thank You</a:t>
            </a:r>
            <a:endParaRPr lang="en-US" sz="5200" dirty="0"/>
          </a:p>
        </p:txBody>
      </p:sp>
      <p:sp>
        <p:nvSpPr>
          <p:cNvPr id="6" name="Text 4"/>
          <p:cNvSpPr/>
          <p:nvPr/>
        </p:nvSpPr>
        <p:spPr>
          <a:xfrm>
            <a:off x="457200" y="2560320"/>
            <a:ext cx="8229600" cy="640080"/>
          </a:xfrm>
          <a:prstGeom prst="rect">
            <a:avLst/>
          </a:prstGeom>
          <a:noFill/>
          <a:ln/>
        </p:spPr>
        <p:txBody>
          <a:bodyPr wrap="square" rtlCol="0" anchor="ctr"/>
          <a:lstStyle/>
          <a:p>
            <a:pPr algn="ctr" indent="0" marL="0">
              <a:buNone/>
            </a:pPr>
            <a:r>
              <a:rPr lang="en-US" sz="3200" dirty="0">
                <a:solidFill>
                  <a:srgbClr val="14B8A6"/>
                </a:solidFill>
              </a:rPr>
              <a:t>And Happy Vibing</a:t>
            </a:r>
            <a:endParaRPr lang="en-US" sz="3200" dirty="0"/>
          </a:p>
        </p:txBody>
      </p:sp>
      <p:sp>
        <p:nvSpPr>
          <p:cNvPr id="7" name="Shape 5"/>
          <p:cNvSpPr/>
          <p:nvPr/>
        </p:nvSpPr>
        <p:spPr>
          <a:xfrm>
            <a:off x="914400" y="3383280"/>
            <a:ext cx="7315200" cy="36576"/>
          </a:xfrm>
          <a:prstGeom prst="rect">
            <a:avLst/>
          </a:prstGeom>
          <a:solidFill>
            <a:srgbClr val="0D9488"/>
          </a:solidFill>
          <a:ln/>
        </p:spPr>
      </p:sp>
      <p:sp>
        <p:nvSpPr>
          <p:cNvPr id="8" name="Text 6"/>
          <p:cNvSpPr/>
          <p:nvPr/>
        </p:nvSpPr>
        <p:spPr>
          <a:xfrm>
            <a:off x="914400" y="3657600"/>
            <a:ext cx="7315200" cy="36576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Structure your AI workflows. Ship better software. Faster.</a:t>
            </a:r>
            <a:endParaRPr lang="en-US" sz="1400" dirty="0"/>
          </a:p>
        </p:txBody>
      </p:sp>
      <p:sp>
        <p:nvSpPr>
          <p:cNvPr id="9" name="Text 7"/>
          <p:cNvSpPr/>
          <p:nvPr/>
        </p:nvSpPr>
        <p:spPr>
          <a:xfrm>
            <a:off x="8229600" y="4800600"/>
            <a:ext cx="731520" cy="27432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93 / 93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Development with BMAD Method</dc:title>
  <dc:subject>PptxGenJS Presentation</dc:subject>
  <dc:creator>Chief Architect - Software CTO</dc:creator>
  <cp:lastModifiedBy>Chief Architect - Software CTO</cp:lastModifiedBy>
  <cp:revision>1</cp:revision>
  <dcterms:created xsi:type="dcterms:W3CDTF">2026-03-15T07:25:41Z</dcterms:created>
  <dcterms:modified xsi:type="dcterms:W3CDTF">2026-03-15T07:25:41Z</dcterms:modified>
</cp:coreProperties>
</file>